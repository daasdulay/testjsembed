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4" r:id="rId2"/>
    <p:sldId id="266" r:id="rId3"/>
    <p:sldId id="265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85888" autoAdjust="0"/>
  </p:normalViewPr>
  <p:slideViewPr>
    <p:cSldViewPr snapToGrid="0" snapToObjects="1">
      <p:cViewPr varScale="1">
        <p:scale>
          <a:sx n="61" d="100"/>
          <a:sy n="61" d="100"/>
        </p:scale>
        <p:origin x="9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44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5889F-ECD4-6DC7-3570-6DA20E31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F788B-D018-6668-EE48-763116156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5913D-6876-D1BA-D0DA-6085BB168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48197-2A4B-A286-7590-3652D9D78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38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F4F7-81C6-45EE-0829-73EBDC92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C3806-C81F-0055-3512-062222D20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D73FF-D209-6886-DB90-DA9065F7E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  <a:p>
            <a:r>
              <a:rPr lang="en-US" dirty="0"/>
              <a:t>*There will be 2 access – Applicant access and Admin access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1EEC6-C81C-19CC-4AF0-1BD6EF3E8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94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CB94-54E4-503C-A1C9-1726A0F1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78F0F-E5F4-9260-52F6-47CB7008F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C2B98-B1E6-3158-D908-173A10A06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  <a:p>
            <a:r>
              <a:rPr lang="en-US" dirty="0"/>
              <a:t>*There will be 2 access – Applicant access and Admin access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2-18E3-1DD4-4C39-51E5EE9EE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29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F854D-7D6D-5881-8501-E36217DCF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7D249C-9F7A-87E6-4FE2-691F21F4ED1D}"/>
              </a:ext>
            </a:extLst>
          </p:cNvPr>
          <p:cNvSpPr/>
          <p:nvPr/>
        </p:nvSpPr>
        <p:spPr>
          <a:xfrm>
            <a:off x="530352" y="2926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MAP</a:t>
            </a:r>
            <a:endParaRPr lang="en-US" sz="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CF80A1-6966-183C-0DAA-818E41B688A0}"/>
              </a:ext>
            </a:extLst>
          </p:cNvPr>
          <p:cNvSpPr/>
          <p:nvPr/>
        </p:nvSpPr>
        <p:spPr>
          <a:xfrm>
            <a:off x="530352" y="603504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CATalyze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4074C1F-373B-2FE5-3599-F2359F672676}"/>
              </a:ext>
            </a:extLst>
          </p:cNvPr>
          <p:cNvSpPr/>
          <p:nvPr/>
        </p:nvSpPr>
        <p:spPr>
          <a:xfrm>
            <a:off x="3617883" y="2759469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DCA2A10-3484-9B9D-A8BA-263C74B8F4DD}"/>
              </a:ext>
            </a:extLst>
          </p:cNvPr>
          <p:cNvSpPr/>
          <p:nvPr/>
        </p:nvSpPr>
        <p:spPr>
          <a:xfrm>
            <a:off x="5080923" y="2759469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6714449-89DE-DAC9-59EA-BCB9D30BECDC}"/>
              </a:ext>
            </a:extLst>
          </p:cNvPr>
          <p:cNvSpPr/>
          <p:nvPr/>
        </p:nvSpPr>
        <p:spPr>
          <a:xfrm>
            <a:off x="2429163" y="2283981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blurRad="161290000" dist="64516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56F6E34-A34F-428D-A299-2DDFE822A65C}"/>
              </a:ext>
            </a:extLst>
          </p:cNvPr>
          <p:cNvSpPr/>
          <p:nvPr/>
        </p:nvSpPr>
        <p:spPr>
          <a:xfrm>
            <a:off x="2557179" y="2430285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F720C0-87D7-BCB3-8B4D-14764B2E52FB}"/>
              </a:ext>
            </a:extLst>
          </p:cNvPr>
          <p:cNvSpPr/>
          <p:nvPr/>
        </p:nvSpPr>
        <p:spPr>
          <a:xfrm>
            <a:off x="2557179" y="253086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465774E-42D2-9969-B363-7A05F8E11819}"/>
              </a:ext>
            </a:extLst>
          </p:cNvPr>
          <p:cNvSpPr/>
          <p:nvPr/>
        </p:nvSpPr>
        <p:spPr>
          <a:xfrm>
            <a:off x="3005235" y="2512581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</a:rPr>
              <a:t>Log-in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</a:rPr>
              <a:t>Screen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F086C3D-FA6B-4E23-E575-C3251D951011}"/>
              </a:ext>
            </a:extLst>
          </p:cNvPr>
          <p:cNvSpPr/>
          <p:nvPr/>
        </p:nvSpPr>
        <p:spPr>
          <a:xfrm>
            <a:off x="2651667" y="2820259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for Applicant access</a:t>
            </a:r>
            <a:endParaRPr lang="en-US" sz="73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6099CB8-3138-1F25-0205-7A30A95624A3}"/>
              </a:ext>
            </a:extLst>
          </p:cNvPr>
          <p:cNvSpPr/>
          <p:nvPr/>
        </p:nvSpPr>
        <p:spPr>
          <a:xfrm>
            <a:off x="3892203" y="2283981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B1E347E-27F1-B98F-8CB4-0FFA6A0E1EAE}"/>
              </a:ext>
            </a:extLst>
          </p:cNvPr>
          <p:cNvSpPr/>
          <p:nvPr/>
        </p:nvSpPr>
        <p:spPr>
          <a:xfrm>
            <a:off x="4020219" y="2430285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DD56490-00C9-4EEC-C280-33B22D976E2E}"/>
              </a:ext>
            </a:extLst>
          </p:cNvPr>
          <p:cNvSpPr/>
          <p:nvPr/>
        </p:nvSpPr>
        <p:spPr>
          <a:xfrm>
            <a:off x="4020219" y="253086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EDEEAC6-06D9-BDE6-CBB8-B20744466707}"/>
              </a:ext>
            </a:extLst>
          </p:cNvPr>
          <p:cNvSpPr/>
          <p:nvPr/>
        </p:nvSpPr>
        <p:spPr>
          <a:xfrm>
            <a:off x="4449987" y="252172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</a:p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72A9570-E84F-DB50-7713-145BF13AB5D5}"/>
              </a:ext>
            </a:extLst>
          </p:cNvPr>
          <p:cNvSpPr/>
          <p:nvPr/>
        </p:nvSpPr>
        <p:spPr>
          <a:xfrm>
            <a:off x="4102515" y="2750325"/>
            <a:ext cx="866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Voice, </a:t>
            </a:r>
            <a:r>
              <a:rPr lang="en-US" sz="730" dirty="0">
                <a:solidFill>
                  <a:srgbClr val="6E6E73"/>
                </a:solidFill>
                <a:latin typeface="Aptos" pitchFamily="34" charset="0"/>
              </a:rPr>
              <a:t>Written, </a:t>
            </a:r>
          </a:p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</a:rPr>
              <a:t>Role-Based</a:t>
            </a:r>
            <a:endParaRPr lang="en-US" sz="73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E045A06-37B6-4FC3-5840-74D9483D790F}"/>
              </a:ext>
            </a:extLst>
          </p:cNvPr>
          <p:cNvSpPr/>
          <p:nvPr/>
        </p:nvSpPr>
        <p:spPr>
          <a:xfrm>
            <a:off x="5355243" y="2283981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C9DB650-5FB7-5549-84A7-FEB951CDABE2}"/>
              </a:ext>
            </a:extLst>
          </p:cNvPr>
          <p:cNvSpPr/>
          <p:nvPr/>
        </p:nvSpPr>
        <p:spPr>
          <a:xfrm>
            <a:off x="5483259" y="2430285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911555B-C1FE-14F3-768A-90674C0374E3}"/>
              </a:ext>
            </a:extLst>
          </p:cNvPr>
          <p:cNvSpPr/>
          <p:nvPr/>
        </p:nvSpPr>
        <p:spPr>
          <a:xfrm>
            <a:off x="5483259" y="253086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16B74CC-3A52-5F3E-CBE7-3299ACDCF383}"/>
              </a:ext>
            </a:extLst>
          </p:cNvPr>
          <p:cNvSpPr/>
          <p:nvPr/>
        </p:nvSpPr>
        <p:spPr>
          <a:xfrm>
            <a:off x="5922171" y="2512581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Information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0DF3E80-8663-8734-37E6-402521F21CA1}"/>
              </a:ext>
            </a:extLst>
          </p:cNvPr>
          <p:cNvSpPr/>
          <p:nvPr/>
        </p:nvSpPr>
        <p:spPr>
          <a:xfrm>
            <a:off x="5538123" y="2820259"/>
            <a:ext cx="859536" cy="350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Applicant information</a:t>
            </a:r>
            <a:endParaRPr lang="en-US" sz="73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251C703-801A-D528-E782-D71EF661BDF9}"/>
              </a:ext>
            </a:extLst>
          </p:cNvPr>
          <p:cNvSpPr/>
          <p:nvPr/>
        </p:nvSpPr>
        <p:spPr>
          <a:xfrm>
            <a:off x="1452451" y="559612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outcome: candidate receives confirmation, data posted in dashboard, recruiter/CAT Team sees score</a:t>
            </a:r>
            <a:endParaRPr lang="en-US" sz="9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D5EB101D-01C3-3F04-9051-FE34393100C6}"/>
              </a:ext>
            </a:extLst>
          </p:cNvPr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2A459D74-156B-0F97-327B-27330344B180}"/>
              </a:ext>
            </a:extLst>
          </p:cNvPr>
          <p:cNvSpPr/>
          <p:nvPr/>
        </p:nvSpPr>
        <p:spPr>
          <a:xfrm>
            <a:off x="11356848" y="655624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868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D4C11410-452B-9D2F-0150-EDEBC0D8F7C8}"/>
              </a:ext>
            </a:extLst>
          </p:cNvPr>
          <p:cNvSpPr/>
          <p:nvPr/>
        </p:nvSpPr>
        <p:spPr>
          <a:xfrm>
            <a:off x="2829467" y="3228522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</a:t>
            </a:r>
            <a:endParaRPr lang="en-US" sz="730" b="1" dirty="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770C43BC-E210-74AB-EAFE-6F5DCDD26CC6}"/>
              </a:ext>
            </a:extLst>
          </p:cNvPr>
          <p:cNvSpPr/>
          <p:nvPr/>
        </p:nvSpPr>
        <p:spPr>
          <a:xfrm>
            <a:off x="4276251" y="3237496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</a:t>
            </a:r>
            <a:endParaRPr lang="en-US" sz="730" b="1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F3631B61-5971-9C56-70AA-D10E500FE84C}"/>
              </a:ext>
            </a:extLst>
          </p:cNvPr>
          <p:cNvSpPr/>
          <p:nvPr/>
        </p:nvSpPr>
        <p:spPr>
          <a:xfrm>
            <a:off x="5536599" y="3229030"/>
            <a:ext cx="1140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 or Applicant</a:t>
            </a:r>
            <a:endParaRPr lang="en-US" sz="730" b="1" dirty="0"/>
          </a:p>
        </p:txBody>
      </p:sp>
      <p:sp>
        <p:nvSpPr>
          <p:cNvPr id="92" name="Text 0">
            <a:extLst>
              <a:ext uri="{FF2B5EF4-FFF2-40B4-BE49-F238E27FC236}">
                <a16:creationId xmlns:a16="http://schemas.microsoft.com/office/drawing/2014/main" id="{267127D0-20EA-E42F-031A-28526C3F5719}"/>
              </a:ext>
            </a:extLst>
          </p:cNvPr>
          <p:cNvSpPr/>
          <p:nvPr/>
        </p:nvSpPr>
        <p:spPr>
          <a:xfrm>
            <a:off x="533396" y="1043769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 Happy Path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93" name="Text 2">
            <a:extLst>
              <a:ext uri="{FF2B5EF4-FFF2-40B4-BE49-F238E27FC236}">
                <a16:creationId xmlns:a16="http://schemas.microsoft.com/office/drawing/2014/main" id="{8FE3677E-E803-FA40-445B-27838B7531BB}"/>
              </a:ext>
            </a:extLst>
          </p:cNvPr>
          <p:cNvSpPr/>
          <p:nvPr/>
        </p:nvSpPr>
        <p:spPr>
          <a:xfrm>
            <a:off x="533395" y="1174636"/>
            <a:ext cx="94012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From applicant information to completed assessment, recruiter/CAT team data review, and data management.</a:t>
            </a:r>
            <a:endParaRPr lang="en-US" sz="1400" dirty="0"/>
          </a:p>
        </p:txBody>
      </p:sp>
      <p:sp>
        <p:nvSpPr>
          <p:cNvPr id="94" name="Shape 3">
            <a:extLst>
              <a:ext uri="{FF2B5EF4-FFF2-40B4-BE49-F238E27FC236}">
                <a16:creationId xmlns:a16="http://schemas.microsoft.com/office/drawing/2014/main" id="{42C4976D-4959-0021-ABBC-8D386A2A6163}"/>
              </a:ext>
            </a:extLst>
          </p:cNvPr>
          <p:cNvSpPr/>
          <p:nvPr/>
        </p:nvSpPr>
        <p:spPr>
          <a:xfrm>
            <a:off x="8026209" y="2759469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2AB31A0F-3475-60DA-D7EA-6F3CC35EF435}"/>
              </a:ext>
            </a:extLst>
          </p:cNvPr>
          <p:cNvSpPr/>
          <p:nvPr/>
        </p:nvSpPr>
        <p:spPr>
          <a:xfrm>
            <a:off x="6837489" y="2283981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blurRad="161290000" dist="64516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156ED905-096B-740F-B23B-9F0BC28B9148}"/>
              </a:ext>
            </a:extLst>
          </p:cNvPr>
          <p:cNvSpPr/>
          <p:nvPr/>
        </p:nvSpPr>
        <p:spPr>
          <a:xfrm>
            <a:off x="6965505" y="2430285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7D1FFED3-F638-E4CA-9B06-5912AD16FCE7}"/>
              </a:ext>
            </a:extLst>
          </p:cNvPr>
          <p:cNvSpPr/>
          <p:nvPr/>
        </p:nvSpPr>
        <p:spPr>
          <a:xfrm>
            <a:off x="6965505" y="253086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AC6F9EE7-FC5B-5D54-81AF-DD7F80A75A02}"/>
              </a:ext>
            </a:extLst>
          </p:cNvPr>
          <p:cNvSpPr/>
          <p:nvPr/>
        </p:nvSpPr>
        <p:spPr>
          <a:xfrm>
            <a:off x="7388161" y="2512581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</a:rPr>
              <a:t>Assessment</a:t>
            </a:r>
            <a:endParaRPr lang="en-US" sz="80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49E2B444-7883-A51A-B0AF-477B9A9688DD}"/>
              </a:ext>
            </a:extLst>
          </p:cNvPr>
          <p:cNvSpPr/>
          <p:nvPr/>
        </p:nvSpPr>
        <p:spPr>
          <a:xfrm>
            <a:off x="7059993" y="2820259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Activities</a:t>
            </a:r>
            <a:endParaRPr lang="en-US" sz="73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486AA6C9-B62A-B489-7DAC-89137546215C}"/>
              </a:ext>
            </a:extLst>
          </p:cNvPr>
          <p:cNvSpPr/>
          <p:nvPr/>
        </p:nvSpPr>
        <p:spPr>
          <a:xfrm>
            <a:off x="8300529" y="2283981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0039003B-1CD1-376E-47FB-41509FE651D1}"/>
              </a:ext>
            </a:extLst>
          </p:cNvPr>
          <p:cNvSpPr/>
          <p:nvPr/>
        </p:nvSpPr>
        <p:spPr>
          <a:xfrm>
            <a:off x="8428545" y="2430285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D204F8A7-38DF-2D8F-F417-12DAB70BA804}"/>
              </a:ext>
            </a:extLst>
          </p:cNvPr>
          <p:cNvSpPr/>
          <p:nvPr/>
        </p:nvSpPr>
        <p:spPr>
          <a:xfrm>
            <a:off x="8428545" y="253086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399B278D-4D52-F8EF-0238-0F9935C03B75}"/>
              </a:ext>
            </a:extLst>
          </p:cNvPr>
          <p:cNvSpPr/>
          <p:nvPr/>
        </p:nvSpPr>
        <p:spPr>
          <a:xfrm>
            <a:off x="8858313" y="252172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800" dirty="0"/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0EB2D556-A046-3402-1E22-3EA02D353CF9}"/>
              </a:ext>
            </a:extLst>
          </p:cNvPr>
          <p:cNvSpPr/>
          <p:nvPr/>
        </p:nvSpPr>
        <p:spPr>
          <a:xfrm>
            <a:off x="8510841" y="2750325"/>
            <a:ext cx="866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</a:rPr>
              <a:t>Applicant completed the assessment</a:t>
            </a:r>
            <a:endParaRPr lang="en-US" sz="730" dirty="0"/>
          </a:p>
        </p:txBody>
      </p:sp>
      <p:sp>
        <p:nvSpPr>
          <p:cNvPr id="111" name="Text 12">
            <a:extLst>
              <a:ext uri="{FF2B5EF4-FFF2-40B4-BE49-F238E27FC236}">
                <a16:creationId xmlns:a16="http://schemas.microsoft.com/office/drawing/2014/main" id="{680AD5FE-90BA-9947-7110-85138D52934F}"/>
              </a:ext>
            </a:extLst>
          </p:cNvPr>
          <p:cNvSpPr/>
          <p:nvPr/>
        </p:nvSpPr>
        <p:spPr>
          <a:xfrm>
            <a:off x="7237793" y="3228522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</a:t>
            </a:r>
            <a:endParaRPr lang="en-US" sz="730" b="1" dirty="0"/>
          </a:p>
        </p:txBody>
      </p:sp>
      <p:sp>
        <p:nvSpPr>
          <p:cNvPr id="112" name="Text 12">
            <a:extLst>
              <a:ext uri="{FF2B5EF4-FFF2-40B4-BE49-F238E27FC236}">
                <a16:creationId xmlns:a16="http://schemas.microsoft.com/office/drawing/2014/main" id="{0363F160-F59E-39E1-05C2-172ED37E6EBB}"/>
              </a:ext>
            </a:extLst>
          </p:cNvPr>
          <p:cNvSpPr/>
          <p:nvPr/>
        </p:nvSpPr>
        <p:spPr>
          <a:xfrm>
            <a:off x="8684577" y="3237496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</a:t>
            </a:r>
            <a:endParaRPr lang="en-US" sz="730" b="1" dirty="0"/>
          </a:p>
        </p:txBody>
      </p:sp>
      <p:sp>
        <p:nvSpPr>
          <p:cNvPr id="114" name="Shape 4">
            <a:extLst>
              <a:ext uri="{FF2B5EF4-FFF2-40B4-BE49-F238E27FC236}">
                <a16:creationId xmlns:a16="http://schemas.microsoft.com/office/drawing/2014/main" id="{390F2EBD-D684-370F-C673-A378A773D53E}"/>
              </a:ext>
            </a:extLst>
          </p:cNvPr>
          <p:cNvSpPr/>
          <p:nvPr/>
        </p:nvSpPr>
        <p:spPr>
          <a:xfrm>
            <a:off x="6543963" y="2743213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3">
            <a:extLst>
              <a:ext uri="{FF2B5EF4-FFF2-40B4-BE49-F238E27FC236}">
                <a16:creationId xmlns:a16="http://schemas.microsoft.com/office/drawing/2014/main" id="{2A3963A0-9231-4E05-B6AD-7F3BEC7AF098}"/>
              </a:ext>
            </a:extLst>
          </p:cNvPr>
          <p:cNvSpPr/>
          <p:nvPr/>
        </p:nvSpPr>
        <p:spPr>
          <a:xfrm>
            <a:off x="8908097" y="3658628"/>
            <a:ext cx="0" cy="319011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3">
            <a:extLst>
              <a:ext uri="{FF2B5EF4-FFF2-40B4-BE49-F238E27FC236}">
                <a16:creationId xmlns:a16="http://schemas.microsoft.com/office/drawing/2014/main" id="{79D470AF-0F50-E01C-B0FC-7905E25A44A8}"/>
              </a:ext>
            </a:extLst>
          </p:cNvPr>
          <p:cNvSpPr/>
          <p:nvPr/>
        </p:nvSpPr>
        <p:spPr>
          <a:xfrm flipH="1">
            <a:off x="4449987" y="3964605"/>
            <a:ext cx="4435656" cy="13034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3">
            <a:extLst>
              <a:ext uri="{FF2B5EF4-FFF2-40B4-BE49-F238E27FC236}">
                <a16:creationId xmlns:a16="http://schemas.microsoft.com/office/drawing/2014/main" id="{0092D921-B305-A6E8-0C44-09F56B07CF51}"/>
              </a:ext>
            </a:extLst>
          </p:cNvPr>
          <p:cNvSpPr/>
          <p:nvPr/>
        </p:nvSpPr>
        <p:spPr>
          <a:xfrm flipV="1">
            <a:off x="4465768" y="3574273"/>
            <a:ext cx="0" cy="387157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1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8FB5-DB6B-74AC-782A-943F2C3EA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5">
            <a:extLst>
              <a:ext uri="{FF2B5EF4-FFF2-40B4-BE49-F238E27FC236}">
                <a16:creationId xmlns:a16="http://schemas.microsoft.com/office/drawing/2014/main" id="{130FE3CD-B620-94BA-8FA2-C5C0E13FD7F2}"/>
              </a:ext>
            </a:extLst>
          </p:cNvPr>
          <p:cNvSpPr/>
          <p:nvPr/>
        </p:nvSpPr>
        <p:spPr>
          <a:xfrm>
            <a:off x="6675199" y="3911381"/>
            <a:ext cx="0" cy="288884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20DCAF8-39A3-979B-5944-86C007628A82}"/>
              </a:ext>
            </a:extLst>
          </p:cNvPr>
          <p:cNvSpPr/>
          <p:nvPr/>
        </p:nvSpPr>
        <p:spPr>
          <a:xfrm>
            <a:off x="530352" y="2926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MAP</a:t>
            </a:r>
            <a:endParaRPr lang="en-US" sz="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A3F16F-DF19-27C8-8216-18D403425AFD}"/>
              </a:ext>
            </a:extLst>
          </p:cNvPr>
          <p:cNvSpPr/>
          <p:nvPr/>
        </p:nvSpPr>
        <p:spPr>
          <a:xfrm>
            <a:off x="530352" y="603504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Path (Voice)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F7FCF1-BE48-351B-DD7D-914C9F8BE1DD}"/>
              </a:ext>
            </a:extLst>
          </p:cNvPr>
          <p:cNvSpPr/>
          <p:nvPr/>
        </p:nvSpPr>
        <p:spPr>
          <a:xfrm>
            <a:off x="530352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candidate journey branches into three assessment experiences, then reconverges for submission and human review.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22D55F3-127D-01A2-8D1B-78976B4DC631}"/>
              </a:ext>
            </a:extLst>
          </p:cNvPr>
          <p:cNvSpPr/>
          <p:nvPr/>
        </p:nvSpPr>
        <p:spPr>
          <a:xfrm>
            <a:off x="2211403" y="2304288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B1AD46D-7293-9B64-D787-AE352F660AED}"/>
              </a:ext>
            </a:extLst>
          </p:cNvPr>
          <p:cNvSpPr/>
          <p:nvPr/>
        </p:nvSpPr>
        <p:spPr>
          <a:xfrm>
            <a:off x="3674443" y="2304288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68BD438-8B7D-47A9-A4EB-25B902DCD189}"/>
              </a:ext>
            </a:extLst>
          </p:cNvPr>
          <p:cNvSpPr/>
          <p:nvPr/>
        </p:nvSpPr>
        <p:spPr>
          <a:xfrm>
            <a:off x="5137483" y="2304288"/>
            <a:ext cx="917956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AE01FC9-E7A4-074E-3ED0-E44901BCA9C5}"/>
              </a:ext>
            </a:extLst>
          </p:cNvPr>
          <p:cNvSpPr/>
          <p:nvPr/>
        </p:nvSpPr>
        <p:spPr>
          <a:xfrm>
            <a:off x="9660375" y="2304288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2F69CE0-95C5-800B-9B57-5AA56BDFF6B5}"/>
              </a:ext>
            </a:extLst>
          </p:cNvPr>
          <p:cNvSpPr/>
          <p:nvPr/>
        </p:nvSpPr>
        <p:spPr>
          <a:xfrm>
            <a:off x="1022683" y="182880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blurRad="161290000" dist="64516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50DE268-CC97-5C3E-3214-647235565C18}"/>
              </a:ext>
            </a:extLst>
          </p:cNvPr>
          <p:cNvSpPr/>
          <p:nvPr/>
        </p:nvSpPr>
        <p:spPr>
          <a:xfrm>
            <a:off x="1150699" y="19751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E22097B-7197-0D71-0A55-A4CF936B6BAC}"/>
              </a:ext>
            </a:extLst>
          </p:cNvPr>
          <p:cNvSpPr/>
          <p:nvPr/>
        </p:nvSpPr>
        <p:spPr>
          <a:xfrm>
            <a:off x="1150699" y="20756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1F1C11D-E065-C9D7-22A2-9AE3EFE9A3EE}"/>
              </a:ext>
            </a:extLst>
          </p:cNvPr>
          <p:cNvSpPr/>
          <p:nvPr/>
        </p:nvSpPr>
        <p:spPr>
          <a:xfrm>
            <a:off x="1598755" y="20574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</a:rPr>
              <a:t>Log-in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</a:rPr>
              <a:t>Screen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40C81EA-C625-6324-9AB9-570A27D89DE8}"/>
              </a:ext>
            </a:extLst>
          </p:cNvPr>
          <p:cNvSpPr/>
          <p:nvPr/>
        </p:nvSpPr>
        <p:spPr>
          <a:xfrm>
            <a:off x="1245187" y="2365078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Applicant access credentials</a:t>
            </a:r>
            <a:endParaRPr lang="en-US" sz="73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3AE3126-F242-7FBB-9033-C5E5D6DDFF7F}"/>
              </a:ext>
            </a:extLst>
          </p:cNvPr>
          <p:cNvSpPr/>
          <p:nvPr/>
        </p:nvSpPr>
        <p:spPr>
          <a:xfrm>
            <a:off x="2485723" y="182880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9630FFB-7E80-EE5D-1F3D-F5D8D538069F}"/>
              </a:ext>
            </a:extLst>
          </p:cNvPr>
          <p:cNvSpPr/>
          <p:nvPr/>
        </p:nvSpPr>
        <p:spPr>
          <a:xfrm>
            <a:off x="2613739" y="19751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9D4434-4AF7-F14F-7CF8-20714A40F922}"/>
              </a:ext>
            </a:extLst>
          </p:cNvPr>
          <p:cNvSpPr/>
          <p:nvPr/>
        </p:nvSpPr>
        <p:spPr>
          <a:xfrm>
            <a:off x="2613739" y="20756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34E3843-CDE4-3569-BB91-B174C96B1A9D}"/>
              </a:ext>
            </a:extLst>
          </p:cNvPr>
          <p:cNvSpPr/>
          <p:nvPr/>
        </p:nvSpPr>
        <p:spPr>
          <a:xfrm>
            <a:off x="3043507" y="2066545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</a:p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B4B0959-B76D-8BB6-94E3-588423549F2A}"/>
              </a:ext>
            </a:extLst>
          </p:cNvPr>
          <p:cNvSpPr/>
          <p:nvPr/>
        </p:nvSpPr>
        <p:spPr>
          <a:xfrm>
            <a:off x="2696035" y="2295144"/>
            <a:ext cx="866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Voice, </a:t>
            </a:r>
            <a:r>
              <a:rPr lang="en-US" sz="730" dirty="0">
                <a:solidFill>
                  <a:srgbClr val="6E6E73"/>
                </a:solidFill>
                <a:latin typeface="Aptos" pitchFamily="34" charset="0"/>
              </a:rPr>
              <a:t>Written, </a:t>
            </a:r>
          </a:p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</a:rPr>
              <a:t>Role-Based</a:t>
            </a:r>
            <a:endParaRPr lang="en-US" sz="73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881F877-DF14-4F8E-E2CA-5D0771B32BD9}"/>
              </a:ext>
            </a:extLst>
          </p:cNvPr>
          <p:cNvSpPr/>
          <p:nvPr/>
        </p:nvSpPr>
        <p:spPr>
          <a:xfrm>
            <a:off x="3948763" y="182880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E04EB60-A66D-C483-4130-73903750933B}"/>
              </a:ext>
            </a:extLst>
          </p:cNvPr>
          <p:cNvSpPr/>
          <p:nvPr/>
        </p:nvSpPr>
        <p:spPr>
          <a:xfrm>
            <a:off x="4076779" y="19751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3BAF19D-6B37-4718-7143-5D83E8E94CCF}"/>
              </a:ext>
            </a:extLst>
          </p:cNvPr>
          <p:cNvSpPr/>
          <p:nvPr/>
        </p:nvSpPr>
        <p:spPr>
          <a:xfrm>
            <a:off x="4076779" y="20756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8B3CBBA-AF77-54C6-D88E-795B0B1FE32F}"/>
              </a:ext>
            </a:extLst>
          </p:cNvPr>
          <p:cNvSpPr/>
          <p:nvPr/>
        </p:nvSpPr>
        <p:spPr>
          <a:xfrm>
            <a:off x="4515691" y="20574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Information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B86E8FF-1052-DC86-69D4-7E37128C0D99}"/>
              </a:ext>
            </a:extLst>
          </p:cNvPr>
          <p:cNvSpPr/>
          <p:nvPr/>
        </p:nvSpPr>
        <p:spPr>
          <a:xfrm>
            <a:off x="4131643" y="2365078"/>
            <a:ext cx="859536" cy="350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Applicant information</a:t>
            </a:r>
            <a:endParaRPr lang="en-US" sz="73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99C6D84-3B9F-4C50-1888-58D711068FD4}"/>
              </a:ext>
            </a:extLst>
          </p:cNvPr>
          <p:cNvGrpSpPr/>
          <p:nvPr/>
        </p:nvGrpSpPr>
        <p:grpSpPr>
          <a:xfrm>
            <a:off x="697310" y="3161115"/>
            <a:ext cx="2918458" cy="2103117"/>
            <a:chOff x="5074920" y="1481328"/>
            <a:chExt cx="3474720" cy="256032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CAAE42C0-8F5B-0A81-6DF9-E167D539AF67}"/>
                </a:ext>
              </a:extLst>
            </p:cNvPr>
            <p:cNvSpPr/>
            <p:nvPr/>
          </p:nvSpPr>
          <p:spPr>
            <a:xfrm>
              <a:off x="5074920" y="1481328"/>
              <a:ext cx="3474720" cy="256032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0160">
              <a:solidFill>
                <a:srgbClr val="BFD8F5"/>
              </a:solidFill>
              <a:prstDash val="solid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E3FED1D9-757B-B1B8-8540-97AE46C8935F}"/>
                </a:ext>
              </a:extLst>
            </p:cNvPr>
            <p:cNvSpPr/>
            <p:nvPr/>
          </p:nvSpPr>
          <p:spPr>
            <a:xfrm>
              <a:off x="5382290" y="1719071"/>
              <a:ext cx="2971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71E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COMPLETE ASSIGNED ASSESSMENT</a:t>
              </a:r>
              <a:endParaRPr lang="en-US" sz="800" dirty="0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A09B58A7-3113-7433-7AEC-028056178400}"/>
                </a:ext>
              </a:extLst>
            </p:cNvPr>
            <p:cNvSpPr/>
            <p:nvPr/>
          </p:nvSpPr>
          <p:spPr>
            <a:xfrm>
              <a:off x="5349240" y="2121408"/>
              <a:ext cx="2907792" cy="402336"/>
            </a:xfrm>
            <a:prstGeom prst="roundRect">
              <a:avLst>
                <a:gd name="adj" fmla="val 13636"/>
              </a:avLst>
            </a:prstGeom>
            <a:solidFill>
              <a:srgbClr val="E8F2FF"/>
            </a:solidFill>
            <a:ln w="10160">
              <a:solidFill>
                <a:srgbClr val="E8F2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92F58A16-4CFA-948C-F2D8-B3C335D84520}"/>
                </a:ext>
              </a:extLst>
            </p:cNvPr>
            <p:cNvSpPr/>
            <p:nvPr/>
          </p:nvSpPr>
          <p:spPr>
            <a:xfrm>
              <a:off x="5504688" y="2240280"/>
              <a:ext cx="7498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71E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Voice</a:t>
              </a:r>
              <a:endParaRPr lang="en-US" sz="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F314FF1F-1AB6-9AD5-FC9B-5D538FAAC751}"/>
                </a:ext>
              </a:extLst>
            </p:cNvPr>
            <p:cNvSpPr/>
            <p:nvPr/>
          </p:nvSpPr>
          <p:spPr>
            <a:xfrm>
              <a:off x="6309360" y="2240280"/>
              <a:ext cx="178308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 dirty="0">
                  <a:solidFill>
                    <a:srgbClr val="6E6E7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Reading • Listening • Speaking </a:t>
              </a:r>
              <a:endParaRPr lang="en-US" sz="700" dirty="0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6248C2DD-02E1-3A61-B31B-86AC0A94DDE9}"/>
                </a:ext>
              </a:extLst>
            </p:cNvPr>
            <p:cNvSpPr/>
            <p:nvPr/>
          </p:nvSpPr>
          <p:spPr>
            <a:xfrm>
              <a:off x="5349240" y="2651760"/>
              <a:ext cx="2907792" cy="402336"/>
            </a:xfrm>
            <a:prstGeom prst="roundRect">
              <a:avLst>
                <a:gd name="adj" fmla="val 13636"/>
              </a:avLst>
            </a:prstGeom>
            <a:solidFill>
              <a:srgbClr val="F6EAFB"/>
            </a:solidFill>
            <a:ln w="10160">
              <a:solidFill>
                <a:srgbClr val="F6EAF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4948C67B-97C9-1024-F117-8C1E55445B0C}"/>
                </a:ext>
              </a:extLst>
            </p:cNvPr>
            <p:cNvSpPr/>
            <p:nvPr/>
          </p:nvSpPr>
          <p:spPr>
            <a:xfrm>
              <a:off x="5504688" y="2770632"/>
              <a:ext cx="7498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AF52D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Written</a:t>
              </a:r>
              <a:endParaRPr lang="en-US" sz="800" dirty="0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83E3C7A8-6D00-7A6D-F464-56D54FAC11ED}"/>
                </a:ext>
              </a:extLst>
            </p:cNvPr>
            <p:cNvSpPr/>
            <p:nvPr/>
          </p:nvSpPr>
          <p:spPr>
            <a:xfrm>
              <a:off x="6309360" y="2770632"/>
              <a:ext cx="178308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6E6E7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Email • Chat</a:t>
              </a:r>
              <a:endParaRPr lang="en-US" sz="700" dirty="0"/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2A6A68C8-D137-916A-68F2-DE92CAB16592}"/>
                </a:ext>
              </a:extLst>
            </p:cNvPr>
            <p:cNvSpPr/>
            <p:nvPr/>
          </p:nvSpPr>
          <p:spPr>
            <a:xfrm>
              <a:off x="5349240" y="3182112"/>
              <a:ext cx="2907792" cy="402336"/>
            </a:xfrm>
            <a:prstGeom prst="roundRect">
              <a:avLst>
                <a:gd name="adj" fmla="val 13636"/>
              </a:avLst>
            </a:prstGeom>
            <a:solidFill>
              <a:srgbClr val="FFF4DF"/>
            </a:solidFill>
            <a:ln w="10160">
              <a:solidFill>
                <a:srgbClr val="FFF4D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4FCF8F52-FBF0-11A2-0015-ECC4F0DBF06E}"/>
                </a:ext>
              </a:extLst>
            </p:cNvPr>
            <p:cNvSpPr/>
            <p:nvPr/>
          </p:nvSpPr>
          <p:spPr>
            <a:xfrm>
              <a:off x="5504688" y="3300984"/>
              <a:ext cx="7498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9F0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Role-based</a:t>
              </a:r>
              <a:endParaRPr lang="en-US" sz="800" dirty="0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75715212-E70E-6240-979C-69C78410AC23}"/>
                </a:ext>
              </a:extLst>
            </p:cNvPr>
            <p:cNvSpPr/>
            <p:nvPr/>
          </p:nvSpPr>
          <p:spPr>
            <a:xfrm>
              <a:off x="6309360" y="3300984"/>
              <a:ext cx="178308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6E6E7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Cognitive • Behavioral • SJT • Simulation</a:t>
              </a:r>
              <a:endParaRPr lang="en-US" sz="700" dirty="0"/>
            </a:p>
          </p:txBody>
        </p:sp>
      </p:grpSp>
      <p:sp>
        <p:nvSpPr>
          <p:cNvPr id="36" name="Shape 34">
            <a:extLst>
              <a:ext uri="{FF2B5EF4-FFF2-40B4-BE49-F238E27FC236}">
                <a16:creationId xmlns:a16="http://schemas.microsoft.com/office/drawing/2014/main" id="{ABD38F26-D1AD-A378-42A2-0F22E32E2088}"/>
              </a:ext>
            </a:extLst>
          </p:cNvPr>
          <p:cNvSpPr/>
          <p:nvPr/>
        </p:nvSpPr>
        <p:spPr>
          <a:xfrm>
            <a:off x="8372087" y="1828800"/>
            <a:ext cx="128828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0D526A8-F50A-FCDA-8C6B-2F5EE0BFDCDC}"/>
              </a:ext>
            </a:extLst>
          </p:cNvPr>
          <p:cNvSpPr/>
          <p:nvPr/>
        </p:nvSpPr>
        <p:spPr>
          <a:xfrm>
            <a:off x="8507131" y="194259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34C759"/>
          </a:solidFill>
          <a:ln w="1016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2FC3D1E-2198-8FD5-046D-A05469AB69FE}"/>
              </a:ext>
            </a:extLst>
          </p:cNvPr>
          <p:cNvSpPr/>
          <p:nvPr/>
        </p:nvSpPr>
        <p:spPr>
          <a:xfrm>
            <a:off x="8507131" y="2066545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9025BEC-EB94-3E04-9C78-6DF6B49398B5}"/>
              </a:ext>
            </a:extLst>
          </p:cNvPr>
          <p:cNvSpPr/>
          <p:nvPr/>
        </p:nvSpPr>
        <p:spPr>
          <a:xfrm>
            <a:off x="8989647" y="2039113"/>
            <a:ext cx="51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0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8F29FFB-E959-AB94-9D1C-516F1054EAB3}"/>
              </a:ext>
            </a:extLst>
          </p:cNvPr>
          <p:cNvSpPr/>
          <p:nvPr/>
        </p:nvSpPr>
        <p:spPr>
          <a:xfrm>
            <a:off x="8580283" y="2285493"/>
            <a:ext cx="952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completed</a:t>
            </a:r>
            <a:endParaRPr lang="en-US" sz="73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B6D1C9B-1A7D-47F5-A905-C60CA78E830B}"/>
              </a:ext>
            </a:extLst>
          </p:cNvPr>
          <p:cNvSpPr/>
          <p:nvPr/>
        </p:nvSpPr>
        <p:spPr>
          <a:xfrm>
            <a:off x="9934695" y="182880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9CF19FEA-0DAB-432A-249E-B0F6FAC11B72}"/>
              </a:ext>
            </a:extLst>
          </p:cNvPr>
          <p:cNvSpPr/>
          <p:nvPr/>
        </p:nvSpPr>
        <p:spPr>
          <a:xfrm>
            <a:off x="10062711" y="19751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D8F7E1C-DA42-6B9E-F90C-FDB855C536DA}"/>
              </a:ext>
            </a:extLst>
          </p:cNvPr>
          <p:cNvSpPr/>
          <p:nvPr/>
        </p:nvSpPr>
        <p:spPr>
          <a:xfrm>
            <a:off x="10062711" y="20756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887B914-F6A5-A182-0093-7858819BDADE}"/>
              </a:ext>
            </a:extLst>
          </p:cNvPr>
          <p:cNvSpPr/>
          <p:nvPr/>
        </p:nvSpPr>
        <p:spPr>
          <a:xfrm>
            <a:off x="10500267" y="20568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A933A3F-9A02-6BF3-E5AB-2720FB86E283}"/>
              </a:ext>
            </a:extLst>
          </p:cNvPr>
          <p:cNvSpPr/>
          <p:nvPr/>
        </p:nvSpPr>
        <p:spPr>
          <a:xfrm>
            <a:off x="10209015" y="2285324"/>
            <a:ext cx="9262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evaluates</a:t>
            </a:r>
            <a:endParaRPr lang="en-US" sz="73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F9E9400-8520-0754-3444-BD84AAB90766}"/>
              </a:ext>
            </a:extLst>
          </p:cNvPr>
          <p:cNvSpPr/>
          <p:nvPr/>
        </p:nvSpPr>
        <p:spPr>
          <a:xfrm>
            <a:off x="10602207" y="2788920"/>
            <a:ext cx="0" cy="868680"/>
          </a:xfrm>
          <a:prstGeom prst="line">
            <a:avLst/>
          </a:prstGeom>
          <a:noFill/>
          <a:ln w="19050">
            <a:solidFill>
              <a:srgbClr val="34C7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0B4DB78-F626-56F3-365E-67CDCFF78D0B}"/>
              </a:ext>
            </a:extLst>
          </p:cNvPr>
          <p:cNvSpPr/>
          <p:nvPr/>
        </p:nvSpPr>
        <p:spPr>
          <a:xfrm>
            <a:off x="8105895" y="3657600"/>
            <a:ext cx="3154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CEEA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C175C6C-FFC8-3EF2-88DE-7F49D1A1603F}"/>
              </a:ext>
            </a:extLst>
          </p:cNvPr>
          <p:cNvSpPr/>
          <p:nvPr/>
        </p:nvSpPr>
        <p:spPr>
          <a:xfrm>
            <a:off x="8352783" y="39136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C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CONTINUATION</a:t>
            </a:r>
            <a:endParaRPr lang="en-US" sz="7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BD4CF406-E32F-F252-70C1-45C4E6623F56}"/>
              </a:ext>
            </a:extLst>
          </p:cNvPr>
          <p:cNvSpPr/>
          <p:nvPr/>
        </p:nvSpPr>
        <p:spPr>
          <a:xfrm>
            <a:off x="8352783" y="4279392"/>
            <a:ext cx="2723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→ Candidate result → Recruiter/CAT team review → Record / Export</a:t>
            </a:r>
            <a:endParaRPr lang="en-US" sz="10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35A0FCD-E515-B389-AA8C-0014030AA52F}"/>
              </a:ext>
            </a:extLst>
          </p:cNvPr>
          <p:cNvSpPr/>
          <p:nvPr/>
        </p:nvSpPr>
        <p:spPr>
          <a:xfrm>
            <a:off x="1205563" y="5440680"/>
            <a:ext cx="6675120" cy="475488"/>
          </a:xfrm>
          <a:prstGeom prst="roundRect">
            <a:avLst>
              <a:gd name="adj" fmla="val 13462"/>
            </a:avLst>
          </a:prstGeom>
          <a:solidFill>
            <a:srgbClr val="111214"/>
          </a:solidFill>
          <a:ln w="10160">
            <a:solidFill>
              <a:srgbClr val="11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893F3AA-766A-F5EB-B532-F0F222FE76C1}"/>
              </a:ext>
            </a:extLst>
          </p:cNvPr>
          <p:cNvSpPr/>
          <p:nvPr/>
        </p:nvSpPr>
        <p:spPr>
          <a:xfrm>
            <a:off x="1452451" y="559612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outcome: candidate receives confirmation, data posted in dashboard, recruiter/CAT Team sees score</a:t>
            </a:r>
            <a:endParaRPr lang="en-US" sz="9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064E003-6426-FE0B-C5B6-F84E1EF4756A}"/>
              </a:ext>
            </a:extLst>
          </p:cNvPr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3F28B14-0BFA-68F5-2669-9F4DB8090335}"/>
              </a:ext>
            </a:extLst>
          </p:cNvPr>
          <p:cNvSpPr/>
          <p:nvPr/>
        </p:nvSpPr>
        <p:spPr>
          <a:xfrm>
            <a:off x="11356848" y="655624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868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9565EA54-171A-9313-A6A7-A27F330DDE51}"/>
              </a:ext>
            </a:extLst>
          </p:cNvPr>
          <p:cNvSpPr/>
          <p:nvPr/>
        </p:nvSpPr>
        <p:spPr>
          <a:xfrm>
            <a:off x="1422987" y="2773341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</a:t>
            </a:r>
            <a:endParaRPr lang="en-US" sz="730" b="1" dirty="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E4F7C8B1-48E5-CA8D-AC67-AEBB8FA53976}"/>
              </a:ext>
            </a:extLst>
          </p:cNvPr>
          <p:cNvSpPr/>
          <p:nvPr/>
        </p:nvSpPr>
        <p:spPr>
          <a:xfrm>
            <a:off x="2869771" y="2782315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</a:t>
            </a:r>
            <a:endParaRPr lang="en-US" sz="730" b="1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0FC936D8-227F-E33B-E20E-DD7C5BDDC771}"/>
              </a:ext>
            </a:extLst>
          </p:cNvPr>
          <p:cNvSpPr/>
          <p:nvPr/>
        </p:nvSpPr>
        <p:spPr>
          <a:xfrm>
            <a:off x="4130119" y="2773849"/>
            <a:ext cx="1140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 or Applicant</a:t>
            </a:r>
            <a:endParaRPr lang="en-US" sz="730" b="1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23876CC-7D5A-AE15-25BD-2FD5ACFA9083}"/>
              </a:ext>
            </a:extLst>
          </p:cNvPr>
          <p:cNvGrpSpPr/>
          <p:nvPr/>
        </p:nvGrpSpPr>
        <p:grpSpPr>
          <a:xfrm>
            <a:off x="3816429" y="3280350"/>
            <a:ext cx="1837944" cy="1508066"/>
            <a:chOff x="7818120" y="1905003"/>
            <a:chExt cx="3611880" cy="3493008"/>
          </a:xfrm>
        </p:grpSpPr>
        <p:sp>
          <p:nvSpPr>
            <p:cNvPr id="59" name="Shape 18">
              <a:extLst>
                <a:ext uri="{FF2B5EF4-FFF2-40B4-BE49-F238E27FC236}">
                  <a16:creationId xmlns:a16="http://schemas.microsoft.com/office/drawing/2014/main" id="{0C478ABD-1B81-246B-C66A-5B787B7B514B}"/>
                </a:ext>
              </a:extLst>
            </p:cNvPr>
            <p:cNvSpPr/>
            <p:nvPr/>
          </p:nvSpPr>
          <p:spPr>
            <a:xfrm>
              <a:off x="7818120" y="1905003"/>
              <a:ext cx="3611880" cy="3493008"/>
            </a:xfrm>
            <a:prstGeom prst="roundRect">
              <a:avLst>
                <a:gd name="adj" fmla="val 4051"/>
              </a:avLst>
            </a:prstGeom>
            <a:solidFill>
              <a:srgbClr val="F5F5F7"/>
            </a:solidFill>
            <a:ln w="10160">
              <a:solidFill>
                <a:srgbClr val="F5F5F7"/>
              </a:solidFill>
              <a:prstDash val="solid"/>
            </a:ln>
            <a:effectLst>
              <a:outerShdw blurRad="12700" dist="508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19">
              <a:extLst>
                <a:ext uri="{FF2B5EF4-FFF2-40B4-BE49-F238E27FC236}">
                  <a16:creationId xmlns:a16="http://schemas.microsoft.com/office/drawing/2014/main" id="{4D24F113-C464-AEA5-94E7-DD724066596C}"/>
                </a:ext>
              </a:extLst>
            </p:cNvPr>
            <p:cNvSpPr/>
            <p:nvPr/>
          </p:nvSpPr>
          <p:spPr>
            <a:xfrm>
              <a:off x="8183880" y="2270763"/>
              <a:ext cx="25603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0071E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Please  enter the applicant’s information</a:t>
              </a:r>
              <a:endParaRPr lang="en-US" sz="700" dirty="0"/>
            </a:p>
          </p:txBody>
        </p:sp>
        <p:sp>
          <p:nvSpPr>
            <p:cNvPr id="61" name="Shape 20">
              <a:extLst>
                <a:ext uri="{FF2B5EF4-FFF2-40B4-BE49-F238E27FC236}">
                  <a16:creationId xmlns:a16="http://schemas.microsoft.com/office/drawing/2014/main" id="{0E0F4DEB-AE16-FD94-46E0-A0603280152D}"/>
                </a:ext>
              </a:extLst>
            </p:cNvPr>
            <p:cNvSpPr/>
            <p:nvPr/>
          </p:nvSpPr>
          <p:spPr>
            <a:xfrm>
              <a:off x="8183880" y="2791971"/>
              <a:ext cx="2788920" cy="347472"/>
            </a:xfrm>
            <a:prstGeom prst="roundRect">
              <a:avLst>
                <a:gd name="adj" fmla="val 15789"/>
              </a:avLst>
            </a:prstGeom>
            <a:solidFill>
              <a:srgbClr val="E8F2FF"/>
            </a:solidFill>
            <a:ln w="10160">
              <a:solidFill>
                <a:srgbClr val="0071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21">
              <a:extLst>
                <a:ext uri="{FF2B5EF4-FFF2-40B4-BE49-F238E27FC236}">
                  <a16:creationId xmlns:a16="http://schemas.microsoft.com/office/drawing/2014/main" id="{3712A986-D22D-A8C9-93E5-3760D6B57488}"/>
                </a:ext>
              </a:extLst>
            </p:cNvPr>
            <p:cNvSpPr/>
            <p:nvPr/>
          </p:nvSpPr>
          <p:spPr>
            <a:xfrm>
              <a:off x="8366760" y="2910843"/>
              <a:ext cx="24231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D1D1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Candidate Name</a:t>
              </a:r>
              <a:endParaRPr lang="en-US" sz="800" dirty="0"/>
            </a:p>
          </p:txBody>
        </p:sp>
        <p:sp>
          <p:nvSpPr>
            <p:cNvPr id="63" name="Shape 22">
              <a:extLst>
                <a:ext uri="{FF2B5EF4-FFF2-40B4-BE49-F238E27FC236}">
                  <a16:creationId xmlns:a16="http://schemas.microsoft.com/office/drawing/2014/main" id="{4769EAD6-97BF-7AC4-5169-05F9B07907E5}"/>
                </a:ext>
              </a:extLst>
            </p:cNvPr>
            <p:cNvSpPr/>
            <p:nvPr/>
          </p:nvSpPr>
          <p:spPr>
            <a:xfrm>
              <a:off x="8183880" y="3322323"/>
              <a:ext cx="2788920" cy="347472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10160">
              <a:solidFill>
                <a:srgbClr val="D2D2D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23">
              <a:extLst>
                <a:ext uri="{FF2B5EF4-FFF2-40B4-BE49-F238E27FC236}">
                  <a16:creationId xmlns:a16="http://schemas.microsoft.com/office/drawing/2014/main" id="{33CF8844-E7EF-DD6B-B0FA-F342CA1AE8EF}"/>
                </a:ext>
              </a:extLst>
            </p:cNvPr>
            <p:cNvSpPr/>
            <p:nvPr/>
          </p:nvSpPr>
          <p:spPr>
            <a:xfrm>
              <a:off x="8366760" y="3441195"/>
              <a:ext cx="24231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dirty="0"/>
                <a:t>BLAST ID</a:t>
              </a:r>
            </a:p>
          </p:txBody>
        </p:sp>
        <p:sp>
          <p:nvSpPr>
            <p:cNvPr id="65" name="Shape 24">
              <a:extLst>
                <a:ext uri="{FF2B5EF4-FFF2-40B4-BE49-F238E27FC236}">
                  <a16:creationId xmlns:a16="http://schemas.microsoft.com/office/drawing/2014/main" id="{C869857D-3F4D-153E-D816-5114FBC6BFAE}"/>
                </a:ext>
              </a:extLst>
            </p:cNvPr>
            <p:cNvSpPr/>
            <p:nvPr/>
          </p:nvSpPr>
          <p:spPr>
            <a:xfrm>
              <a:off x="8183880" y="3852675"/>
              <a:ext cx="2788920" cy="347472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10160">
              <a:solidFill>
                <a:srgbClr val="D2D2D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25">
              <a:extLst>
                <a:ext uri="{FF2B5EF4-FFF2-40B4-BE49-F238E27FC236}">
                  <a16:creationId xmlns:a16="http://schemas.microsoft.com/office/drawing/2014/main" id="{C05C5E1B-D12B-68EB-8AA4-9CC2D7AC044B}"/>
                </a:ext>
              </a:extLst>
            </p:cNvPr>
            <p:cNvSpPr/>
            <p:nvPr/>
          </p:nvSpPr>
          <p:spPr>
            <a:xfrm>
              <a:off x="8366760" y="3971547"/>
              <a:ext cx="24231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D1D1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Location</a:t>
              </a:r>
              <a:endParaRPr lang="en-US" sz="800" dirty="0"/>
            </a:p>
          </p:txBody>
        </p:sp>
        <p:sp>
          <p:nvSpPr>
            <p:cNvPr id="67" name="Shape 26">
              <a:extLst>
                <a:ext uri="{FF2B5EF4-FFF2-40B4-BE49-F238E27FC236}">
                  <a16:creationId xmlns:a16="http://schemas.microsoft.com/office/drawing/2014/main" id="{5273402D-27C7-96A2-E19B-9E750321FD9E}"/>
                </a:ext>
              </a:extLst>
            </p:cNvPr>
            <p:cNvSpPr/>
            <p:nvPr/>
          </p:nvSpPr>
          <p:spPr>
            <a:xfrm>
              <a:off x="8183880" y="4383027"/>
              <a:ext cx="2788920" cy="347472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10160">
              <a:solidFill>
                <a:srgbClr val="D2D2D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27">
              <a:extLst>
                <a:ext uri="{FF2B5EF4-FFF2-40B4-BE49-F238E27FC236}">
                  <a16:creationId xmlns:a16="http://schemas.microsoft.com/office/drawing/2014/main" id="{2852348C-38D7-57B2-9CD4-C6554A8DF2EA}"/>
                </a:ext>
              </a:extLst>
            </p:cNvPr>
            <p:cNvSpPr/>
            <p:nvPr/>
          </p:nvSpPr>
          <p:spPr>
            <a:xfrm>
              <a:off x="8366760" y="4501899"/>
              <a:ext cx="24231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D1D1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Candidate Type</a:t>
              </a:r>
              <a:endParaRPr lang="en-US" sz="800" dirty="0"/>
            </a:p>
          </p:txBody>
        </p:sp>
      </p:grpSp>
      <p:sp>
        <p:nvSpPr>
          <p:cNvPr id="70" name="Shape 5">
            <a:extLst>
              <a:ext uri="{FF2B5EF4-FFF2-40B4-BE49-F238E27FC236}">
                <a16:creationId xmlns:a16="http://schemas.microsoft.com/office/drawing/2014/main" id="{CAEDD7F0-488D-F624-2631-128EF44099C8}"/>
              </a:ext>
            </a:extLst>
          </p:cNvPr>
          <p:cNvSpPr/>
          <p:nvPr/>
        </p:nvSpPr>
        <p:spPr>
          <a:xfrm>
            <a:off x="6675199" y="2687997"/>
            <a:ext cx="0" cy="288884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18">
            <a:extLst>
              <a:ext uri="{FF2B5EF4-FFF2-40B4-BE49-F238E27FC236}">
                <a16:creationId xmlns:a16="http://schemas.microsoft.com/office/drawing/2014/main" id="{197114C6-B765-66A1-A737-788DC7C46FAC}"/>
              </a:ext>
            </a:extLst>
          </p:cNvPr>
          <p:cNvSpPr/>
          <p:nvPr/>
        </p:nvSpPr>
        <p:spPr>
          <a:xfrm>
            <a:off x="6055439" y="1801029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19">
            <a:extLst>
              <a:ext uri="{FF2B5EF4-FFF2-40B4-BE49-F238E27FC236}">
                <a16:creationId xmlns:a16="http://schemas.microsoft.com/office/drawing/2014/main" id="{9D8DD1A7-3223-DB04-91F0-3CF1CB738D6B}"/>
              </a:ext>
            </a:extLst>
          </p:cNvPr>
          <p:cNvSpPr/>
          <p:nvPr/>
        </p:nvSpPr>
        <p:spPr>
          <a:xfrm>
            <a:off x="6183455" y="1947333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D93696A5-2B75-471A-051D-4C12EAFF95FB}"/>
              </a:ext>
            </a:extLst>
          </p:cNvPr>
          <p:cNvSpPr/>
          <p:nvPr/>
        </p:nvSpPr>
        <p:spPr>
          <a:xfrm>
            <a:off x="6183455" y="2047917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DE429C65-E07B-11A4-365E-E2AF00C5DC60}"/>
              </a:ext>
            </a:extLst>
          </p:cNvPr>
          <p:cNvSpPr/>
          <p:nvPr/>
        </p:nvSpPr>
        <p:spPr>
          <a:xfrm>
            <a:off x="6622367" y="2029629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</a:t>
            </a:r>
            <a:endParaRPr lang="en-US" sz="800" dirty="0"/>
          </a:p>
        </p:txBody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4FF06C23-46BC-B2DB-1019-D99FF40FBBEF}"/>
              </a:ext>
            </a:extLst>
          </p:cNvPr>
          <p:cNvSpPr/>
          <p:nvPr/>
        </p:nvSpPr>
        <p:spPr>
          <a:xfrm>
            <a:off x="6238319" y="2337307"/>
            <a:ext cx="859536" cy="350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Activity</a:t>
            </a:r>
            <a:endParaRPr lang="en-US" sz="730" dirty="0"/>
          </a:p>
        </p:txBody>
      </p:sp>
      <p:sp>
        <p:nvSpPr>
          <p:cNvPr id="77" name="Shape 18">
            <a:extLst>
              <a:ext uri="{FF2B5EF4-FFF2-40B4-BE49-F238E27FC236}">
                <a16:creationId xmlns:a16="http://schemas.microsoft.com/office/drawing/2014/main" id="{DDB1DB0B-9C64-2F50-558E-4E2C574446AB}"/>
              </a:ext>
            </a:extLst>
          </p:cNvPr>
          <p:cNvSpPr/>
          <p:nvPr/>
        </p:nvSpPr>
        <p:spPr>
          <a:xfrm>
            <a:off x="6074743" y="2992121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19">
            <a:extLst>
              <a:ext uri="{FF2B5EF4-FFF2-40B4-BE49-F238E27FC236}">
                <a16:creationId xmlns:a16="http://schemas.microsoft.com/office/drawing/2014/main" id="{B8E1B180-6986-94FF-5901-FD832065F8D1}"/>
              </a:ext>
            </a:extLst>
          </p:cNvPr>
          <p:cNvSpPr/>
          <p:nvPr/>
        </p:nvSpPr>
        <p:spPr>
          <a:xfrm>
            <a:off x="6202759" y="3138425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C156248D-BFD0-7462-A1C3-618D2F757582}"/>
              </a:ext>
            </a:extLst>
          </p:cNvPr>
          <p:cNvSpPr/>
          <p:nvPr/>
        </p:nvSpPr>
        <p:spPr>
          <a:xfrm>
            <a:off x="6202759" y="323900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5F5D74AE-C9DD-4E29-B2ED-58F997316F37}"/>
              </a:ext>
            </a:extLst>
          </p:cNvPr>
          <p:cNvSpPr/>
          <p:nvPr/>
        </p:nvSpPr>
        <p:spPr>
          <a:xfrm>
            <a:off x="6641671" y="3220721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Listening</a:t>
            </a:r>
            <a:endParaRPr lang="en-US" sz="800" dirty="0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F071DAE4-4B4A-AA4A-572E-221DDB8E4913}"/>
              </a:ext>
            </a:extLst>
          </p:cNvPr>
          <p:cNvSpPr/>
          <p:nvPr/>
        </p:nvSpPr>
        <p:spPr>
          <a:xfrm>
            <a:off x="6257623" y="3528399"/>
            <a:ext cx="859536" cy="350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Listening Activity</a:t>
            </a:r>
            <a:endParaRPr lang="en-US" sz="730" dirty="0"/>
          </a:p>
        </p:txBody>
      </p:sp>
      <p:sp>
        <p:nvSpPr>
          <p:cNvPr id="82" name="Shape 5">
            <a:extLst>
              <a:ext uri="{FF2B5EF4-FFF2-40B4-BE49-F238E27FC236}">
                <a16:creationId xmlns:a16="http://schemas.microsoft.com/office/drawing/2014/main" id="{8E4BF1C6-6723-5C5F-0325-1AC9E8E9AEA8}"/>
              </a:ext>
            </a:extLst>
          </p:cNvPr>
          <p:cNvSpPr/>
          <p:nvPr/>
        </p:nvSpPr>
        <p:spPr>
          <a:xfrm>
            <a:off x="7296991" y="4681534"/>
            <a:ext cx="45720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18">
            <a:extLst>
              <a:ext uri="{FF2B5EF4-FFF2-40B4-BE49-F238E27FC236}">
                <a16:creationId xmlns:a16="http://schemas.microsoft.com/office/drawing/2014/main" id="{6DB7A2D7-53FD-4168-8292-93357564C043}"/>
              </a:ext>
            </a:extLst>
          </p:cNvPr>
          <p:cNvSpPr/>
          <p:nvPr/>
        </p:nvSpPr>
        <p:spPr>
          <a:xfrm>
            <a:off x="6108271" y="4206046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19">
            <a:extLst>
              <a:ext uri="{FF2B5EF4-FFF2-40B4-BE49-F238E27FC236}">
                <a16:creationId xmlns:a16="http://schemas.microsoft.com/office/drawing/2014/main" id="{6390EF4C-1B48-3FF8-478B-5F0EBB8D8DD0}"/>
              </a:ext>
            </a:extLst>
          </p:cNvPr>
          <p:cNvSpPr/>
          <p:nvPr/>
        </p:nvSpPr>
        <p:spPr>
          <a:xfrm>
            <a:off x="6236287" y="435235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BDA31CB7-0728-9839-C532-8F48E7697D27}"/>
              </a:ext>
            </a:extLst>
          </p:cNvPr>
          <p:cNvSpPr/>
          <p:nvPr/>
        </p:nvSpPr>
        <p:spPr>
          <a:xfrm>
            <a:off x="6236287" y="445293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54964067-9063-EA05-FD6E-285F9282A1B6}"/>
              </a:ext>
            </a:extLst>
          </p:cNvPr>
          <p:cNvSpPr/>
          <p:nvPr/>
        </p:nvSpPr>
        <p:spPr>
          <a:xfrm>
            <a:off x="6675199" y="4434646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Speaking</a:t>
            </a:r>
            <a:endParaRPr lang="en-US" sz="800" dirty="0"/>
          </a:p>
        </p:txBody>
      </p:sp>
      <p:sp>
        <p:nvSpPr>
          <p:cNvPr id="87" name="Text 22">
            <a:extLst>
              <a:ext uri="{FF2B5EF4-FFF2-40B4-BE49-F238E27FC236}">
                <a16:creationId xmlns:a16="http://schemas.microsoft.com/office/drawing/2014/main" id="{2109D2EA-7C9A-946F-DAEC-1E8A9165C85B}"/>
              </a:ext>
            </a:extLst>
          </p:cNvPr>
          <p:cNvSpPr/>
          <p:nvPr/>
        </p:nvSpPr>
        <p:spPr>
          <a:xfrm>
            <a:off x="6291151" y="4742324"/>
            <a:ext cx="859536" cy="350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Speaking Activity</a:t>
            </a:r>
            <a:endParaRPr lang="en-US" sz="730" dirty="0"/>
          </a:p>
        </p:txBody>
      </p:sp>
      <p:sp>
        <p:nvSpPr>
          <p:cNvPr id="89" name="Shape 5">
            <a:extLst>
              <a:ext uri="{FF2B5EF4-FFF2-40B4-BE49-F238E27FC236}">
                <a16:creationId xmlns:a16="http://schemas.microsoft.com/office/drawing/2014/main" id="{66609258-19DE-C74E-F739-AAB814913C4D}"/>
              </a:ext>
            </a:extLst>
          </p:cNvPr>
          <p:cNvSpPr/>
          <p:nvPr/>
        </p:nvSpPr>
        <p:spPr>
          <a:xfrm flipH="1" flipV="1">
            <a:off x="7683747" y="2304288"/>
            <a:ext cx="14056" cy="2341734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5">
            <a:extLst>
              <a:ext uri="{FF2B5EF4-FFF2-40B4-BE49-F238E27FC236}">
                <a16:creationId xmlns:a16="http://schemas.microsoft.com/office/drawing/2014/main" id="{E2DDDD5E-AE04-988B-5F6A-4BFBDD1F8BD6}"/>
              </a:ext>
            </a:extLst>
          </p:cNvPr>
          <p:cNvSpPr/>
          <p:nvPr/>
        </p:nvSpPr>
        <p:spPr>
          <a:xfrm flipV="1">
            <a:off x="7697803" y="2322575"/>
            <a:ext cx="674284" cy="9807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FA097A2-6971-9070-6961-00D485E936AF}"/>
              </a:ext>
            </a:extLst>
          </p:cNvPr>
          <p:cNvSpPr/>
          <p:nvPr/>
        </p:nvSpPr>
        <p:spPr>
          <a:xfrm>
            <a:off x="889000" y="3657600"/>
            <a:ext cx="2523061" cy="3846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5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B608-978D-FC8E-668D-3933CC21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5">
            <a:extLst>
              <a:ext uri="{FF2B5EF4-FFF2-40B4-BE49-F238E27FC236}">
                <a16:creationId xmlns:a16="http://schemas.microsoft.com/office/drawing/2014/main" id="{C6418665-34D4-2DDC-8E09-A9180A8BC472}"/>
              </a:ext>
            </a:extLst>
          </p:cNvPr>
          <p:cNvSpPr/>
          <p:nvPr/>
        </p:nvSpPr>
        <p:spPr>
          <a:xfrm>
            <a:off x="7253303" y="3501428"/>
            <a:ext cx="45720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8ED7201-E0DA-EB27-1B15-5ABFB43770A6}"/>
              </a:ext>
            </a:extLst>
          </p:cNvPr>
          <p:cNvSpPr/>
          <p:nvPr/>
        </p:nvSpPr>
        <p:spPr>
          <a:xfrm>
            <a:off x="530352" y="2926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MAP</a:t>
            </a:r>
            <a:endParaRPr lang="en-US" sz="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C031D9-A6A9-C71E-EF3E-A60827CB1990}"/>
              </a:ext>
            </a:extLst>
          </p:cNvPr>
          <p:cNvSpPr/>
          <p:nvPr/>
        </p:nvSpPr>
        <p:spPr>
          <a:xfrm>
            <a:off x="530352" y="603504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Path (Written)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FDF91B-20C8-5F81-7D20-9E065AFB8FCE}"/>
              </a:ext>
            </a:extLst>
          </p:cNvPr>
          <p:cNvSpPr/>
          <p:nvPr/>
        </p:nvSpPr>
        <p:spPr>
          <a:xfrm>
            <a:off x="530352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candidate journey branches into three assessment experiences, then reconverges for submission and human review.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499EFE-A2B6-29C2-3B04-D1755C9E4FA1}"/>
              </a:ext>
            </a:extLst>
          </p:cNvPr>
          <p:cNvSpPr/>
          <p:nvPr/>
        </p:nvSpPr>
        <p:spPr>
          <a:xfrm>
            <a:off x="2211403" y="2304288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067780-DB6F-A802-3AD0-D7BBD4E90BEA}"/>
              </a:ext>
            </a:extLst>
          </p:cNvPr>
          <p:cNvSpPr/>
          <p:nvPr/>
        </p:nvSpPr>
        <p:spPr>
          <a:xfrm>
            <a:off x="3674443" y="2304288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5B6B691-64D6-DC00-47C3-8F5270E3F6AA}"/>
              </a:ext>
            </a:extLst>
          </p:cNvPr>
          <p:cNvSpPr/>
          <p:nvPr/>
        </p:nvSpPr>
        <p:spPr>
          <a:xfrm>
            <a:off x="5137483" y="2304288"/>
            <a:ext cx="917956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E44541F-ABB9-2740-6D5D-47E409297EFC}"/>
              </a:ext>
            </a:extLst>
          </p:cNvPr>
          <p:cNvSpPr/>
          <p:nvPr/>
        </p:nvSpPr>
        <p:spPr>
          <a:xfrm>
            <a:off x="9660375" y="2304288"/>
            <a:ext cx="27432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2CCE41E-0C8B-42F3-D655-351701EC9AB7}"/>
              </a:ext>
            </a:extLst>
          </p:cNvPr>
          <p:cNvSpPr/>
          <p:nvPr/>
        </p:nvSpPr>
        <p:spPr>
          <a:xfrm>
            <a:off x="1022683" y="182880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blurRad="161290000" dist="64516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C1EF185-8ECC-F2A7-449E-E8046ACF496A}"/>
              </a:ext>
            </a:extLst>
          </p:cNvPr>
          <p:cNvSpPr/>
          <p:nvPr/>
        </p:nvSpPr>
        <p:spPr>
          <a:xfrm>
            <a:off x="1150699" y="19751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B419B80-71A7-60C6-B963-0B6D251A783B}"/>
              </a:ext>
            </a:extLst>
          </p:cNvPr>
          <p:cNvSpPr/>
          <p:nvPr/>
        </p:nvSpPr>
        <p:spPr>
          <a:xfrm>
            <a:off x="1150699" y="20756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ECFAF8C-F82B-29DC-4F10-58CE5DB3D432}"/>
              </a:ext>
            </a:extLst>
          </p:cNvPr>
          <p:cNvSpPr/>
          <p:nvPr/>
        </p:nvSpPr>
        <p:spPr>
          <a:xfrm>
            <a:off x="1598755" y="20574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</a:rPr>
              <a:t>Log-in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</a:rPr>
              <a:t>Screen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0E7337-9D43-D1F9-ECFA-881239D8695E}"/>
              </a:ext>
            </a:extLst>
          </p:cNvPr>
          <p:cNvSpPr/>
          <p:nvPr/>
        </p:nvSpPr>
        <p:spPr>
          <a:xfrm>
            <a:off x="1245187" y="2365078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Applicant access credentials</a:t>
            </a:r>
            <a:endParaRPr lang="en-US" sz="73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9518D97-FF56-5BBC-4C21-06E7FC3F86FE}"/>
              </a:ext>
            </a:extLst>
          </p:cNvPr>
          <p:cNvSpPr/>
          <p:nvPr/>
        </p:nvSpPr>
        <p:spPr>
          <a:xfrm>
            <a:off x="2485723" y="182880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4E61BE5-0B5D-D213-4717-966C95EE69AF}"/>
              </a:ext>
            </a:extLst>
          </p:cNvPr>
          <p:cNvSpPr/>
          <p:nvPr/>
        </p:nvSpPr>
        <p:spPr>
          <a:xfrm>
            <a:off x="2613739" y="19751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F040384-4C53-96CA-91E1-E1A3081D34AB}"/>
              </a:ext>
            </a:extLst>
          </p:cNvPr>
          <p:cNvSpPr/>
          <p:nvPr/>
        </p:nvSpPr>
        <p:spPr>
          <a:xfrm>
            <a:off x="2613739" y="20756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A7D55C-FF07-D50D-4D06-8066059D7673}"/>
              </a:ext>
            </a:extLst>
          </p:cNvPr>
          <p:cNvSpPr/>
          <p:nvPr/>
        </p:nvSpPr>
        <p:spPr>
          <a:xfrm>
            <a:off x="3043507" y="2066545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</a:p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59BA22D-F2AA-E3B5-567A-8F01798DF147}"/>
              </a:ext>
            </a:extLst>
          </p:cNvPr>
          <p:cNvSpPr/>
          <p:nvPr/>
        </p:nvSpPr>
        <p:spPr>
          <a:xfrm>
            <a:off x="2696035" y="2295144"/>
            <a:ext cx="866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Voice, </a:t>
            </a:r>
            <a:r>
              <a:rPr lang="en-US" sz="730" dirty="0">
                <a:solidFill>
                  <a:srgbClr val="6E6E73"/>
                </a:solidFill>
                <a:latin typeface="Aptos" pitchFamily="34" charset="0"/>
              </a:rPr>
              <a:t>Written, </a:t>
            </a:r>
          </a:p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</a:rPr>
              <a:t>Role-Based</a:t>
            </a:r>
            <a:endParaRPr lang="en-US" sz="73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D2046DD-1833-6885-A1FA-366EB1272C6D}"/>
              </a:ext>
            </a:extLst>
          </p:cNvPr>
          <p:cNvSpPr/>
          <p:nvPr/>
        </p:nvSpPr>
        <p:spPr>
          <a:xfrm>
            <a:off x="3948763" y="1828800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E16FEBD-36D8-AAF4-67FF-9A90CAE68273}"/>
              </a:ext>
            </a:extLst>
          </p:cNvPr>
          <p:cNvSpPr/>
          <p:nvPr/>
        </p:nvSpPr>
        <p:spPr>
          <a:xfrm>
            <a:off x="4076779" y="19751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FBA22E5-0778-21C3-C19C-A1D38B75CF3C}"/>
              </a:ext>
            </a:extLst>
          </p:cNvPr>
          <p:cNvSpPr/>
          <p:nvPr/>
        </p:nvSpPr>
        <p:spPr>
          <a:xfrm>
            <a:off x="4076779" y="20756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1905871-3A0F-D193-2D20-16B63B8C38FF}"/>
              </a:ext>
            </a:extLst>
          </p:cNvPr>
          <p:cNvSpPr/>
          <p:nvPr/>
        </p:nvSpPr>
        <p:spPr>
          <a:xfrm>
            <a:off x="4515691" y="20574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Information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13F45D4-74AC-8594-48F1-D822B0E26B74}"/>
              </a:ext>
            </a:extLst>
          </p:cNvPr>
          <p:cNvSpPr/>
          <p:nvPr/>
        </p:nvSpPr>
        <p:spPr>
          <a:xfrm>
            <a:off x="4131643" y="2365078"/>
            <a:ext cx="859536" cy="350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Applicant information</a:t>
            </a:r>
            <a:endParaRPr lang="en-US" sz="73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31B32C9-A850-E6DD-048C-1ABE4FC448B6}"/>
              </a:ext>
            </a:extLst>
          </p:cNvPr>
          <p:cNvGrpSpPr/>
          <p:nvPr/>
        </p:nvGrpSpPr>
        <p:grpSpPr>
          <a:xfrm>
            <a:off x="697310" y="3161115"/>
            <a:ext cx="2918458" cy="2103117"/>
            <a:chOff x="5074920" y="1481328"/>
            <a:chExt cx="3474720" cy="256032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21BE2435-DDED-8A8E-07C9-565D7CA6B36E}"/>
                </a:ext>
              </a:extLst>
            </p:cNvPr>
            <p:cNvSpPr/>
            <p:nvPr/>
          </p:nvSpPr>
          <p:spPr>
            <a:xfrm>
              <a:off x="5074920" y="1481328"/>
              <a:ext cx="3474720" cy="256032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0160">
              <a:solidFill>
                <a:srgbClr val="BFD8F5"/>
              </a:solidFill>
              <a:prstDash val="solid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37C94DCE-40F0-BB8D-EA7B-086692D4183C}"/>
                </a:ext>
              </a:extLst>
            </p:cNvPr>
            <p:cNvSpPr/>
            <p:nvPr/>
          </p:nvSpPr>
          <p:spPr>
            <a:xfrm>
              <a:off x="5382290" y="1719071"/>
              <a:ext cx="2971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71E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COMPLETE ASSIGNED ASSESSMENT</a:t>
              </a:r>
              <a:endParaRPr lang="en-US" sz="800" dirty="0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0217F0EE-303A-3C6F-69AA-7BD78D11CA04}"/>
                </a:ext>
              </a:extLst>
            </p:cNvPr>
            <p:cNvSpPr/>
            <p:nvPr/>
          </p:nvSpPr>
          <p:spPr>
            <a:xfrm>
              <a:off x="5349240" y="2121408"/>
              <a:ext cx="2907792" cy="402336"/>
            </a:xfrm>
            <a:prstGeom prst="roundRect">
              <a:avLst>
                <a:gd name="adj" fmla="val 13636"/>
              </a:avLst>
            </a:prstGeom>
            <a:solidFill>
              <a:srgbClr val="E8F2FF"/>
            </a:solidFill>
            <a:ln w="10160">
              <a:solidFill>
                <a:srgbClr val="E8F2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49598B6A-5481-2B46-A20A-6A54805077E6}"/>
                </a:ext>
              </a:extLst>
            </p:cNvPr>
            <p:cNvSpPr/>
            <p:nvPr/>
          </p:nvSpPr>
          <p:spPr>
            <a:xfrm>
              <a:off x="5504688" y="2240280"/>
              <a:ext cx="7498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071E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Voice</a:t>
              </a:r>
              <a:endParaRPr lang="en-US" sz="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592A35B1-46F1-1033-DB79-6C9012FE49D7}"/>
                </a:ext>
              </a:extLst>
            </p:cNvPr>
            <p:cNvSpPr/>
            <p:nvPr/>
          </p:nvSpPr>
          <p:spPr>
            <a:xfrm>
              <a:off x="6309360" y="2240280"/>
              <a:ext cx="178308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00" dirty="0">
                  <a:solidFill>
                    <a:srgbClr val="6E6E7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Reading • Listening • Speaking </a:t>
              </a:r>
              <a:endParaRPr lang="en-US" sz="700" dirty="0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45738B5D-60D1-C12D-203A-D7EA10709722}"/>
                </a:ext>
              </a:extLst>
            </p:cNvPr>
            <p:cNvSpPr/>
            <p:nvPr/>
          </p:nvSpPr>
          <p:spPr>
            <a:xfrm>
              <a:off x="5349240" y="2651760"/>
              <a:ext cx="2907792" cy="402336"/>
            </a:xfrm>
            <a:prstGeom prst="roundRect">
              <a:avLst>
                <a:gd name="adj" fmla="val 13636"/>
              </a:avLst>
            </a:prstGeom>
            <a:solidFill>
              <a:srgbClr val="F6EAFB"/>
            </a:solidFill>
            <a:ln w="10160">
              <a:solidFill>
                <a:srgbClr val="F6EAF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6B434ED1-EBCB-B056-8DB0-955FD6F1677B}"/>
                </a:ext>
              </a:extLst>
            </p:cNvPr>
            <p:cNvSpPr/>
            <p:nvPr/>
          </p:nvSpPr>
          <p:spPr>
            <a:xfrm>
              <a:off x="5504688" y="2770632"/>
              <a:ext cx="7498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AF52D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Written</a:t>
              </a:r>
              <a:endParaRPr lang="en-US" sz="800" dirty="0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55BEA05B-4D1A-1249-B7F6-3E5062F0E84D}"/>
                </a:ext>
              </a:extLst>
            </p:cNvPr>
            <p:cNvSpPr/>
            <p:nvPr/>
          </p:nvSpPr>
          <p:spPr>
            <a:xfrm>
              <a:off x="6309360" y="2770632"/>
              <a:ext cx="178308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6E6E7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Email • Chat</a:t>
              </a:r>
              <a:endParaRPr lang="en-US" sz="700" dirty="0"/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3477F585-4EB4-CBB8-185A-3680C8F082A3}"/>
                </a:ext>
              </a:extLst>
            </p:cNvPr>
            <p:cNvSpPr/>
            <p:nvPr/>
          </p:nvSpPr>
          <p:spPr>
            <a:xfrm>
              <a:off x="5349240" y="3182112"/>
              <a:ext cx="2907792" cy="402336"/>
            </a:xfrm>
            <a:prstGeom prst="roundRect">
              <a:avLst>
                <a:gd name="adj" fmla="val 13636"/>
              </a:avLst>
            </a:prstGeom>
            <a:solidFill>
              <a:srgbClr val="FFF4DF"/>
            </a:solidFill>
            <a:ln w="10160">
              <a:solidFill>
                <a:srgbClr val="FFF4D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C41A99A1-0316-1D71-FD67-BFA6BD72C12C}"/>
                </a:ext>
              </a:extLst>
            </p:cNvPr>
            <p:cNvSpPr/>
            <p:nvPr/>
          </p:nvSpPr>
          <p:spPr>
            <a:xfrm>
              <a:off x="5504688" y="3300984"/>
              <a:ext cx="7498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9F0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Role-based</a:t>
              </a:r>
              <a:endParaRPr lang="en-US" sz="800" dirty="0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BEAE92BC-E461-3CC6-08D1-B2FE62A13235}"/>
                </a:ext>
              </a:extLst>
            </p:cNvPr>
            <p:cNvSpPr/>
            <p:nvPr/>
          </p:nvSpPr>
          <p:spPr>
            <a:xfrm>
              <a:off x="6309360" y="3300984"/>
              <a:ext cx="178308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6E6E7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Cognitive • Behavioral • SJT • Simulation</a:t>
              </a:r>
              <a:endParaRPr lang="en-US" sz="700" dirty="0"/>
            </a:p>
          </p:txBody>
        </p:sp>
      </p:grpSp>
      <p:sp>
        <p:nvSpPr>
          <p:cNvPr id="36" name="Shape 34">
            <a:extLst>
              <a:ext uri="{FF2B5EF4-FFF2-40B4-BE49-F238E27FC236}">
                <a16:creationId xmlns:a16="http://schemas.microsoft.com/office/drawing/2014/main" id="{954F172B-3192-085A-A4CE-BCE0E7FC9011}"/>
              </a:ext>
            </a:extLst>
          </p:cNvPr>
          <p:cNvSpPr/>
          <p:nvPr/>
        </p:nvSpPr>
        <p:spPr>
          <a:xfrm>
            <a:off x="8372087" y="1828800"/>
            <a:ext cx="128828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1ADDDC5-FC71-62B8-7648-9EF700AA7E79}"/>
              </a:ext>
            </a:extLst>
          </p:cNvPr>
          <p:cNvSpPr/>
          <p:nvPr/>
        </p:nvSpPr>
        <p:spPr>
          <a:xfrm>
            <a:off x="8507131" y="194259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34C759"/>
          </a:solidFill>
          <a:ln w="1016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C8C8DC6-D021-A54B-73F6-A4C748645537}"/>
              </a:ext>
            </a:extLst>
          </p:cNvPr>
          <p:cNvSpPr/>
          <p:nvPr/>
        </p:nvSpPr>
        <p:spPr>
          <a:xfrm>
            <a:off x="8507131" y="2066545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894CDDC-91AE-D786-330B-A98CC33FD3AC}"/>
              </a:ext>
            </a:extLst>
          </p:cNvPr>
          <p:cNvSpPr/>
          <p:nvPr/>
        </p:nvSpPr>
        <p:spPr>
          <a:xfrm>
            <a:off x="8989647" y="2039113"/>
            <a:ext cx="51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0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829394A-759F-C48D-3EEB-DFB6B8C629E5}"/>
              </a:ext>
            </a:extLst>
          </p:cNvPr>
          <p:cNvSpPr/>
          <p:nvPr/>
        </p:nvSpPr>
        <p:spPr>
          <a:xfrm>
            <a:off x="8580283" y="2285493"/>
            <a:ext cx="952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completed</a:t>
            </a:r>
            <a:endParaRPr lang="en-US" sz="73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02FC04C-41CB-4B2C-5E96-4A47EE916359}"/>
              </a:ext>
            </a:extLst>
          </p:cNvPr>
          <p:cNvSpPr/>
          <p:nvPr/>
        </p:nvSpPr>
        <p:spPr>
          <a:xfrm>
            <a:off x="9934695" y="182880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05F19FF-B954-6FEF-C2B3-6E066E881CDA}"/>
              </a:ext>
            </a:extLst>
          </p:cNvPr>
          <p:cNvSpPr/>
          <p:nvPr/>
        </p:nvSpPr>
        <p:spPr>
          <a:xfrm>
            <a:off x="10062711" y="19751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A1D4CB38-E323-2F47-5A25-04731D505FEB}"/>
              </a:ext>
            </a:extLst>
          </p:cNvPr>
          <p:cNvSpPr/>
          <p:nvPr/>
        </p:nvSpPr>
        <p:spPr>
          <a:xfrm>
            <a:off x="10062711" y="20756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D85CD5C-845C-27BF-6DCB-89DDA42D8510}"/>
              </a:ext>
            </a:extLst>
          </p:cNvPr>
          <p:cNvSpPr/>
          <p:nvPr/>
        </p:nvSpPr>
        <p:spPr>
          <a:xfrm>
            <a:off x="10500267" y="20568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86AF9EF-50E2-421B-A541-53D7E130508F}"/>
              </a:ext>
            </a:extLst>
          </p:cNvPr>
          <p:cNvSpPr/>
          <p:nvPr/>
        </p:nvSpPr>
        <p:spPr>
          <a:xfrm>
            <a:off x="10209015" y="2285324"/>
            <a:ext cx="9262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evaluates</a:t>
            </a:r>
            <a:endParaRPr lang="en-US" sz="73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34ACC8B-E911-24BB-4CD5-162282305F01}"/>
              </a:ext>
            </a:extLst>
          </p:cNvPr>
          <p:cNvSpPr/>
          <p:nvPr/>
        </p:nvSpPr>
        <p:spPr>
          <a:xfrm>
            <a:off x="10602207" y="2788920"/>
            <a:ext cx="0" cy="868680"/>
          </a:xfrm>
          <a:prstGeom prst="line">
            <a:avLst/>
          </a:prstGeom>
          <a:noFill/>
          <a:ln w="19050">
            <a:solidFill>
              <a:srgbClr val="34C7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0955871-CAAF-849F-FCF1-CC03B6BE3221}"/>
              </a:ext>
            </a:extLst>
          </p:cNvPr>
          <p:cNvSpPr/>
          <p:nvPr/>
        </p:nvSpPr>
        <p:spPr>
          <a:xfrm>
            <a:off x="8105895" y="3657600"/>
            <a:ext cx="3154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CEEA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DDA27BF-163B-4E84-83F8-D48009206CC5}"/>
              </a:ext>
            </a:extLst>
          </p:cNvPr>
          <p:cNvSpPr/>
          <p:nvPr/>
        </p:nvSpPr>
        <p:spPr>
          <a:xfrm>
            <a:off x="8352783" y="39136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C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CONTINUATION</a:t>
            </a:r>
            <a:endParaRPr lang="en-US" sz="7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B582900-F18F-748D-4445-1253A4862A33}"/>
              </a:ext>
            </a:extLst>
          </p:cNvPr>
          <p:cNvSpPr/>
          <p:nvPr/>
        </p:nvSpPr>
        <p:spPr>
          <a:xfrm>
            <a:off x="8352783" y="4279392"/>
            <a:ext cx="2723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→ Candidate result → Recruiter/CAT team review → Record / Export</a:t>
            </a:r>
            <a:endParaRPr lang="en-US" sz="10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84FFB89-EBF6-ECFB-8E95-2C4F01CE361B}"/>
              </a:ext>
            </a:extLst>
          </p:cNvPr>
          <p:cNvSpPr/>
          <p:nvPr/>
        </p:nvSpPr>
        <p:spPr>
          <a:xfrm>
            <a:off x="1205563" y="5440680"/>
            <a:ext cx="6675120" cy="475488"/>
          </a:xfrm>
          <a:prstGeom prst="roundRect">
            <a:avLst>
              <a:gd name="adj" fmla="val 13462"/>
            </a:avLst>
          </a:prstGeom>
          <a:solidFill>
            <a:srgbClr val="111214"/>
          </a:solidFill>
          <a:ln w="10160">
            <a:solidFill>
              <a:srgbClr val="111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E6DE2D1E-5E55-F3B5-588C-C1C07C1DBF31}"/>
              </a:ext>
            </a:extLst>
          </p:cNvPr>
          <p:cNvSpPr/>
          <p:nvPr/>
        </p:nvSpPr>
        <p:spPr>
          <a:xfrm>
            <a:off x="1452451" y="559612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outcome: candidate receives confirmation, data posted in dashboard, recruiter/CAT Team sees score</a:t>
            </a:r>
            <a:endParaRPr lang="en-US" sz="9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1F5CA9A-3732-5299-4957-E5BD3A7B6749}"/>
              </a:ext>
            </a:extLst>
          </p:cNvPr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F156DF5E-A7A4-2CEA-D967-C93831B71988}"/>
              </a:ext>
            </a:extLst>
          </p:cNvPr>
          <p:cNvSpPr/>
          <p:nvPr/>
        </p:nvSpPr>
        <p:spPr>
          <a:xfrm>
            <a:off x="11356848" y="655624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868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1B6E66BD-0A2E-15BF-D970-1415F50FA462}"/>
              </a:ext>
            </a:extLst>
          </p:cNvPr>
          <p:cNvSpPr/>
          <p:nvPr/>
        </p:nvSpPr>
        <p:spPr>
          <a:xfrm>
            <a:off x="1422987" y="2773341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</a:t>
            </a:r>
            <a:endParaRPr lang="en-US" sz="730" b="1" dirty="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F63F16DE-3E04-C51E-7A88-BD0C8DE77003}"/>
              </a:ext>
            </a:extLst>
          </p:cNvPr>
          <p:cNvSpPr/>
          <p:nvPr/>
        </p:nvSpPr>
        <p:spPr>
          <a:xfrm>
            <a:off x="2869771" y="2782315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</a:t>
            </a:r>
            <a:endParaRPr lang="en-US" sz="730" b="1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8B9DE4E9-F42B-C76F-D2FA-6DBC40FE1D26}"/>
              </a:ext>
            </a:extLst>
          </p:cNvPr>
          <p:cNvSpPr/>
          <p:nvPr/>
        </p:nvSpPr>
        <p:spPr>
          <a:xfrm>
            <a:off x="4130119" y="2773849"/>
            <a:ext cx="1140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 or Applicant</a:t>
            </a:r>
            <a:endParaRPr lang="en-US" sz="730" b="1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8EE6EF0-1382-0595-B099-05E4531FA901}"/>
              </a:ext>
            </a:extLst>
          </p:cNvPr>
          <p:cNvGrpSpPr/>
          <p:nvPr/>
        </p:nvGrpSpPr>
        <p:grpSpPr>
          <a:xfrm>
            <a:off x="3816429" y="3280350"/>
            <a:ext cx="1837944" cy="1508066"/>
            <a:chOff x="7818120" y="1905003"/>
            <a:chExt cx="3611880" cy="3493008"/>
          </a:xfrm>
        </p:grpSpPr>
        <p:sp>
          <p:nvSpPr>
            <p:cNvPr id="59" name="Shape 18">
              <a:extLst>
                <a:ext uri="{FF2B5EF4-FFF2-40B4-BE49-F238E27FC236}">
                  <a16:creationId xmlns:a16="http://schemas.microsoft.com/office/drawing/2014/main" id="{148465E0-518A-154E-B10D-CF16B6D8D077}"/>
                </a:ext>
              </a:extLst>
            </p:cNvPr>
            <p:cNvSpPr/>
            <p:nvPr/>
          </p:nvSpPr>
          <p:spPr>
            <a:xfrm>
              <a:off x="7818120" y="1905003"/>
              <a:ext cx="3611880" cy="3493008"/>
            </a:xfrm>
            <a:prstGeom prst="roundRect">
              <a:avLst>
                <a:gd name="adj" fmla="val 4051"/>
              </a:avLst>
            </a:prstGeom>
            <a:solidFill>
              <a:srgbClr val="F5F5F7"/>
            </a:solidFill>
            <a:ln w="10160">
              <a:solidFill>
                <a:srgbClr val="F5F5F7"/>
              </a:solidFill>
              <a:prstDash val="solid"/>
            </a:ln>
            <a:effectLst>
              <a:outerShdw blurRad="12700" dist="508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19">
              <a:extLst>
                <a:ext uri="{FF2B5EF4-FFF2-40B4-BE49-F238E27FC236}">
                  <a16:creationId xmlns:a16="http://schemas.microsoft.com/office/drawing/2014/main" id="{7D45776E-5994-261E-AB2E-02E1AE110458}"/>
                </a:ext>
              </a:extLst>
            </p:cNvPr>
            <p:cNvSpPr/>
            <p:nvPr/>
          </p:nvSpPr>
          <p:spPr>
            <a:xfrm>
              <a:off x="8183880" y="2270763"/>
              <a:ext cx="25603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0071E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Please  enter the applicant’s information</a:t>
              </a:r>
              <a:endParaRPr lang="en-US" sz="700" dirty="0"/>
            </a:p>
          </p:txBody>
        </p:sp>
        <p:sp>
          <p:nvSpPr>
            <p:cNvPr id="61" name="Shape 20">
              <a:extLst>
                <a:ext uri="{FF2B5EF4-FFF2-40B4-BE49-F238E27FC236}">
                  <a16:creationId xmlns:a16="http://schemas.microsoft.com/office/drawing/2014/main" id="{FB0915CE-C9B9-5C33-6386-E8E9C85ADC90}"/>
                </a:ext>
              </a:extLst>
            </p:cNvPr>
            <p:cNvSpPr/>
            <p:nvPr/>
          </p:nvSpPr>
          <p:spPr>
            <a:xfrm>
              <a:off x="8183880" y="2791971"/>
              <a:ext cx="2788920" cy="347472"/>
            </a:xfrm>
            <a:prstGeom prst="roundRect">
              <a:avLst>
                <a:gd name="adj" fmla="val 15789"/>
              </a:avLst>
            </a:prstGeom>
            <a:solidFill>
              <a:srgbClr val="E8F2FF"/>
            </a:solidFill>
            <a:ln w="10160">
              <a:solidFill>
                <a:srgbClr val="0071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21">
              <a:extLst>
                <a:ext uri="{FF2B5EF4-FFF2-40B4-BE49-F238E27FC236}">
                  <a16:creationId xmlns:a16="http://schemas.microsoft.com/office/drawing/2014/main" id="{6A35A74D-1EBD-844A-AE86-F369745F9A8D}"/>
                </a:ext>
              </a:extLst>
            </p:cNvPr>
            <p:cNvSpPr/>
            <p:nvPr/>
          </p:nvSpPr>
          <p:spPr>
            <a:xfrm>
              <a:off x="8366760" y="2910843"/>
              <a:ext cx="24231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D1D1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Candidate Name</a:t>
              </a:r>
              <a:endParaRPr lang="en-US" sz="800" dirty="0"/>
            </a:p>
          </p:txBody>
        </p:sp>
        <p:sp>
          <p:nvSpPr>
            <p:cNvPr id="63" name="Shape 22">
              <a:extLst>
                <a:ext uri="{FF2B5EF4-FFF2-40B4-BE49-F238E27FC236}">
                  <a16:creationId xmlns:a16="http://schemas.microsoft.com/office/drawing/2014/main" id="{18D29E97-27A8-A899-F646-0193DE0A076A}"/>
                </a:ext>
              </a:extLst>
            </p:cNvPr>
            <p:cNvSpPr/>
            <p:nvPr/>
          </p:nvSpPr>
          <p:spPr>
            <a:xfrm>
              <a:off x="8183880" y="3322323"/>
              <a:ext cx="2788920" cy="347472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10160">
              <a:solidFill>
                <a:srgbClr val="D2D2D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23">
              <a:extLst>
                <a:ext uri="{FF2B5EF4-FFF2-40B4-BE49-F238E27FC236}">
                  <a16:creationId xmlns:a16="http://schemas.microsoft.com/office/drawing/2014/main" id="{8E320F84-554B-B2A5-C5F9-105D1F8B711E}"/>
                </a:ext>
              </a:extLst>
            </p:cNvPr>
            <p:cNvSpPr/>
            <p:nvPr/>
          </p:nvSpPr>
          <p:spPr>
            <a:xfrm>
              <a:off x="8366760" y="3441195"/>
              <a:ext cx="24231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dirty="0"/>
                <a:t>BLAST ID</a:t>
              </a:r>
            </a:p>
          </p:txBody>
        </p:sp>
        <p:sp>
          <p:nvSpPr>
            <p:cNvPr id="65" name="Shape 24">
              <a:extLst>
                <a:ext uri="{FF2B5EF4-FFF2-40B4-BE49-F238E27FC236}">
                  <a16:creationId xmlns:a16="http://schemas.microsoft.com/office/drawing/2014/main" id="{A7C2FA49-78B9-C1CE-2238-2CB4C819886C}"/>
                </a:ext>
              </a:extLst>
            </p:cNvPr>
            <p:cNvSpPr/>
            <p:nvPr/>
          </p:nvSpPr>
          <p:spPr>
            <a:xfrm>
              <a:off x="8183880" y="3852675"/>
              <a:ext cx="2788920" cy="347472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10160">
              <a:solidFill>
                <a:srgbClr val="D2D2D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25">
              <a:extLst>
                <a:ext uri="{FF2B5EF4-FFF2-40B4-BE49-F238E27FC236}">
                  <a16:creationId xmlns:a16="http://schemas.microsoft.com/office/drawing/2014/main" id="{514C596B-C42C-76FC-3CCB-964B7DDAA9B0}"/>
                </a:ext>
              </a:extLst>
            </p:cNvPr>
            <p:cNvSpPr/>
            <p:nvPr/>
          </p:nvSpPr>
          <p:spPr>
            <a:xfrm>
              <a:off x="8366760" y="3971547"/>
              <a:ext cx="24231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D1D1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Location</a:t>
              </a:r>
              <a:endParaRPr lang="en-US" sz="800" dirty="0"/>
            </a:p>
          </p:txBody>
        </p:sp>
        <p:sp>
          <p:nvSpPr>
            <p:cNvPr id="67" name="Shape 26">
              <a:extLst>
                <a:ext uri="{FF2B5EF4-FFF2-40B4-BE49-F238E27FC236}">
                  <a16:creationId xmlns:a16="http://schemas.microsoft.com/office/drawing/2014/main" id="{EC4ACE30-4090-36AD-4EDC-C38D59F01585}"/>
                </a:ext>
              </a:extLst>
            </p:cNvPr>
            <p:cNvSpPr/>
            <p:nvPr/>
          </p:nvSpPr>
          <p:spPr>
            <a:xfrm>
              <a:off x="8183880" y="4383027"/>
              <a:ext cx="2788920" cy="347472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10160">
              <a:solidFill>
                <a:srgbClr val="D2D2D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27">
              <a:extLst>
                <a:ext uri="{FF2B5EF4-FFF2-40B4-BE49-F238E27FC236}">
                  <a16:creationId xmlns:a16="http://schemas.microsoft.com/office/drawing/2014/main" id="{8A7A9712-B221-6EA9-BA28-3E8B22CFEC5E}"/>
                </a:ext>
              </a:extLst>
            </p:cNvPr>
            <p:cNvSpPr/>
            <p:nvPr/>
          </p:nvSpPr>
          <p:spPr>
            <a:xfrm>
              <a:off x="8366760" y="4501899"/>
              <a:ext cx="24231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D1D1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Candidate Type</a:t>
              </a:r>
              <a:endParaRPr lang="en-US" sz="800" dirty="0"/>
            </a:p>
          </p:txBody>
        </p:sp>
      </p:grpSp>
      <p:sp>
        <p:nvSpPr>
          <p:cNvPr id="70" name="Shape 5">
            <a:extLst>
              <a:ext uri="{FF2B5EF4-FFF2-40B4-BE49-F238E27FC236}">
                <a16:creationId xmlns:a16="http://schemas.microsoft.com/office/drawing/2014/main" id="{DF84DFBB-8913-976D-AAAB-E90EF743A292}"/>
              </a:ext>
            </a:extLst>
          </p:cNvPr>
          <p:cNvSpPr/>
          <p:nvPr/>
        </p:nvSpPr>
        <p:spPr>
          <a:xfrm>
            <a:off x="6675199" y="2687997"/>
            <a:ext cx="0" cy="288884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18">
            <a:extLst>
              <a:ext uri="{FF2B5EF4-FFF2-40B4-BE49-F238E27FC236}">
                <a16:creationId xmlns:a16="http://schemas.microsoft.com/office/drawing/2014/main" id="{AC328A28-B205-3DDC-885B-92130E1F0B44}"/>
              </a:ext>
            </a:extLst>
          </p:cNvPr>
          <p:cNvSpPr/>
          <p:nvPr/>
        </p:nvSpPr>
        <p:spPr>
          <a:xfrm>
            <a:off x="6055439" y="1801029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19">
            <a:extLst>
              <a:ext uri="{FF2B5EF4-FFF2-40B4-BE49-F238E27FC236}">
                <a16:creationId xmlns:a16="http://schemas.microsoft.com/office/drawing/2014/main" id="{527D70DF-0868-1C45-1B0E-1A379EE12E8F}"/>
              </a:ext>
            </a:extLst>
          </p:cNvPr>
          <p:cNvSpPr/>
          <p:nvPr/>
        </p:nvSpPr>
        <p:spPr>
          <a:xfrm>
            <a:off x="6183455" y="1947333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7B77E3A7-96D0-C520-AAFA-EAF2358CF784}"/>
              </a:ext>
            </a:extLst>
          </p:cNvPr>
          <p:cNvSpPr/>
          <p:nvPr/>
        </p:nvSpPr>
        <p:spPr>
          <a:xfrm>
            <a:off x="6183455" y="2047917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7C8BED25-4A3A-7A89-0F92-35AA5F5FFC4E}"/>
              </a:ext>
            </a:extLst>
          </p:cNvPr>
          <p:cNvSpPr/>
          <p:nvPr/>
        </p:nvSpPr>
        <p:spPr>
          <a:xfrm>
            <a:off x="6622367" y="2029629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800" dirty="0"/>
          </a:p>
        </p:txBody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6DD5957F-927E-FD16-E94C-9A0A5700D52F}"/>
              </a:ext>
            </a:extLst>
          </p:cNvPr>
          <p:cNvSpPr/>
          <p:nvPr/>
        </p:nvSpPr>
        <p:spPr>
          <a:xfrm>
            <a:off x="6238319" y="2337307"/>
            <a:ext cx="859536" cy="350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Activity</a:t>
            </a:r>
            <a:endParaRPr lang="en-US" sz="730" dirty="0"/>
          </a:p>
        </p:txBody>
      </p:sp>
      <p:sp>
        <p:nvSpPr>
          <p:cNvPr id="77" name="Shape 18">
            <a:extLst>
              <a:ext uri="{FF2B5EF4-FFF2-40B4-BE49-F238E27FC236}">
                <a16:creationId xmlns:a16="http://schemas.microsoft.com/office/drawing/2014/main" id="{55ACC5BF-0082-BF30-6065-D39BE0DFF919}"/>
              </a:ext>
            </a:extLst>
          </p:cNvPr>
          <p:cNvSpPr/>
          <p:nvPr/>
        </p:nvSpPr>
        <p:spPr>
          <a:xfrm>
            <a:off x="6074743" y="2992121"/>
            <a:ext cx="1188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1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19">
            <a:extLst>
              <a:ext uri="{FF2B5EF4-FFF2-40B4-BE49-F238E27FC236}">
                <a16:creationId xmlns:a16="http://schemas.microsoft.com/office/drawing/2014/main" id="{F953F105-B7DA-14B1-A83F-33693F33B119}"/>
              </a:ext>
            </a:extLst>
          </p:cNvPr>
          <p:cNvSpPr/>
          <p:nvPr/>
        </p:nvSpPr>
        <p:spPr>
          <a:xfrm>
            <a:off x="6202759" y="3138425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71E3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2EFE7400-3E00-5125-DFF7-52E6F5EB0DEA}"/>
              </a:ext>
            </a:extLst>
          </p:cNvPr>
          <p:cNvSpPr/>
          <p:nvPr/>
        </p:nvSpPr>
        <p:spPr>
          <a:xfrm>
            <a:off x="6202759" y="323900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A4146515-E68F-BC08-84F7-63B61F711697}"/>
              </a:ext>
            </a:extLst>
          </p:cNvPr>
          <p:cNvSpPr/>
          <p:nvPr/>
        </p:nvSpPr>
        <p:spPr>
          <a:xfrm>
            <a:off x="6641671" y="3220721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1D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Listening</a:t>
            </a:r>
            <a:endParaRPr lang="en-US" sz="800" dirty="0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CD7A1205-AC3B-DD28-4655-D60B864E354C}"/>
              </a:ext>
            </a:extLst>
          </p:cNvPr>
          <p:cNvSpPr/>
          <p:nvPr/>
        </p:nvSpPr>
        <p:spPr>
          <a:xfrm>
            <a:off x="6257623" y="3528399"/>
            <a:ext cx="859536" cy="350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6E6E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Activity</a:t>
            </a:r>
            <a:endParaRPr lang="en-US" sz="730" dirty="0"/>
          </a:p>
        </p:txBody>
      </p:sp>
      <p:sp>
        <p:nvSpPr>
          <p:cNvPr id="89" name="Shape 5">
            <a:extLst>
              <a:ext uri="{FF2B5EF4-FFF2-40B4-BE49-F238E27FC236}">
                <a16:creationId xmlns:a16="http://schemas.microsoft.com/office/drawing/2014/main" id="{DDA60F24-23A5-F3BE-5F9F-1470853B230A}"/>
              </a:ext>
            </a:extLst>
          </p:cNvPr>
          <p:cNvSpPr/>
          <p:nvPr/>
        </p:nvSpPr>
        <p:spPr>
          <a:xfrm flipH="1" flipV="1">
            <a:off x="7683747" y="2304286"/>
            <a:ext cx="14052" cy="1197141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5">
            <a:extLst>
              <a:ext uri="{FF2B5EF4-FFF2-40B4-BE49-F238E27FC236}">
                <a16:creationId xmlns:a16="http://schemas.microsoft.com/office/drawing/2014/main" id="{71DD5E02-28C6-848B-D1F5-23D184412E6B}"/>
              </a:ext>
            </a:extLst>
          </p:cNvPr>
          <p:cNvSpPr/>
          <p:nvPr/>
        </p:nvSpPr>
        <p:spPr>
          <a:xfrm flipV="1">
            <a:off x="7697803" y="2322575"/>
            <a:ext cx="674284" cy="9807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5D0346E-5A86-E345-CB72-2EF4D676F6F8}"/>
              </a:ext>
            </a:extLst>
          </p:cNvPr>
          <p:cNvSpPr/>
          <p:nvPr/>
        </p:nvSpPr>
        <p:spPr>
          <a:xfrm>
            <a:off x="889000" y="4093342"/>
            <a:ext cx="2523061" cy="3846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1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384</Words>
  <Application>Microsoft Office PowerPoint</Application>
  <PresentationFormat>Widescreen</PresentationFormat>
  <Paragraphs>131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Communication Assessment — UX Happy Path</dc:title>
  <dc:subject>Candidate and administrator happy-path UX flow</dc:subject>
  <dc:creator>Ke, Jesus John T</dc:creator>
  <cp:lastModifiedBy>Ke, Jesus John T</cp:lastModifiedBy>
  <cp:revision>8</cp:revision>
  <dcterms:created xsi:type="dcterms:W3CDTF">2026-07-14T02:50:56Z</dcterms:created>
  <dcterms:modified xsi:type="dcterms:W3CDTF">2026-07-15T08:21:00Z</dcterms:modified>
</cp:coreProperties>
</file>
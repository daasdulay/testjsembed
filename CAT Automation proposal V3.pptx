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4" r:id="rId5"/>
    <p:sldMasterId id="2147483736" r:id="rId6"/>
  </p:sldMasterIdLst>
  <p:notesMasterIdLst>
    <p:notesMasterId r:id="rId38"/>
  </p:notesMasterIdLst>
  <p:sldIdLst>
    <p:sldId id="2147483592" r:id="rId7"/>
    <p:sldId id="2147483597" r:id="rId8"/>
    <p:sldId id="2147483644" r:id="rId9"/>
    <p:sldId id="2147483645" r:id="rId10"/>
    <p:sldId id="2147483646" r:id="rId11"/>
    <p:sldId id="2147483647" r:id="rId12"/>
    <p:sldId id="265" r:id="rId13"/>
    <p:sldId id="2147483635" r:id="rId14"/>
    <p:sldId id="2147483641" r:id="rId15"/>
    <p:sldId id="2147483642" r:id="rId16"/>
    <p:sldId id="257" r:id="rId17"/>
    <p:sldId id="267" r:id="rId18"/>
    <p:sldId id="2147483643" r:id="rId19"/>
    <p:sldId id="492" r:id="rId20"/>
    <p:sldId id="256" r:id="rId21"/>
    <p:sldId id="261" r:id="rId22"/>
    <p:sldId id="258" r:id="rId23"/>
    <p:sldId id="260" r:id="rId24"/>
    <p:sldId id="262" r:id="rId25"/>
    <p:sldId id="263" r:id="rId26"/>
    <p:sldId id="259" r:id="rId27"/>
    <p:sldId id="264" r:id="rId28"/>
    <p:sldId id="266" r:id="rId29"/>
    <p:sldId id="268" r:id="rId30"/>
    <p:sldId id="269" r:id="rId31"/>
    <p:sldId id="271" r:id="rId32"/>
    <p:sldId id="2147483600" r:id="rId33"/>
    <p:sldId id="2147483599" r:id="rId34"/>
    <p:sldId id="2145706585" r:id="rId35"/>
    <p:sldId id="495" r:id="rId36"/>
    <p:sldId id="50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T Overview" id="{36C1CEF2-6722-4378-9B0D-4C7502492908}">
          <p14:sldIdLst>
            <p14:sldId id="2147483592"/>
            <p14:sldId id="2147483597"/>
            <p14:sldId id="2147483644"/>
            <p14:sldId id="2147483645"/>
            <p14:sldId id="2147483646"/>
            <p14:sldId id="2147483647"/>
            <p14:sldId id="265"/>
            <p14:sldId id="2147483635"/>
            <p14:sldId id="2147483641"/>
            <p14:sldId id="2147483642"/>
          </p14:sldIdLst>
        </p14:section>
        <p14:section name="CATalyze AI" id="{F4C2A00A-C855-4767-935D-4AB0C76252EA}">
          <p14:sldIdLst>
            <p14:sldId id="257"/>
            <p14:sldId id="267"/>
            <p14:sldId id="2147483643"/>
            <p14:sldId id="492"/>
            <p14:sldId id="256"/>
            <p14:sldId id="261"/>
            <p14:sldId id="258"/>
            <p14:sldId id="260"/>
            <p14:sldId id="262"/>
            <p14:sldId id="263"/>
            <p14:sldId id="259"/>
            <p14:sldId id="264"/>
            <p14:sldId id="266"/>
          </p14:sldIdLst>
        </p14:section>
        <p14:section name="CATalyze Platform Design" id="{E01CE410-1D83-45F6-8867-AEDD541C45F1}">
          <p14:sldIdLst>
            <p14:sldId id="268"/>
            <p14:sldId id="269"/>
            <p14:sldId id="271"/>
            <p14:sldId id="2147483600"/>
            <p14:sldId id="2147483599"/>
            <p14:sldId id="2145706585"/>
            <p14:sldId id="495"/>
            <p14:sldId id="50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0DB803-2C25-E0B7-DFDF-8FEC70C95752}" name="Magade, Jeetendra S" initials="" userId="S::jeetendra_magade@optum.com::9e42c688-3e2e-4922-b553-245b510ee263" providerId="AD"/>
  <p188:author id="{584C1B0D-D4C0-33E0-8040-5F44BEB40E44}" name="Tolosa, Anina" initials="MT" userId="S::maria_tolosa@optum.com::400091a6-41e1-497a-a825-91a872447ba8" providerId="AD"/>
  <p188:author id="{CC4BADD6-615B-1B4E-F274-13606BE10204}" name="Dimapindan, Kristelle Joy M" initials="" userId="S::kristelle_dimapindan@optum.com::187ad378-e651-4dce-b9ab-6c6eac91bdc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E8E0"/>
    <a:srgbClr val="D74120"/>
    <a:srgbClr val="F9A667"/>
    <a:srgbClr val="FFD1AB"/>
    <a:srgbClr val="3D3C38"/>
    <a:srgbClr val="FBFAF5"/>
    <a:srgbClr val="D9F6FC"/>
    <a:srgbClr val="FCE3C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F17453-B16D-4A6F-8540-38405D75F4FC}" v="3" dt="2026-07-17T16:43:10.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losa, Anina" userId="400091a6-41e1-497a-a825-91a872447ba8" providerId="ADAL" clId="{CE64827D-5DF2-498E-A9E0-EFD8AE8C756A}"/>
    <pc:docChg chg="undo custSel addSld delSld modSld modSection">
      <pc:chgData name="Tolosa, Anina" userId="400091a6-41e1-497a-a825-91a872447ba8" providerId="ADAL" clId="{CE64827D-5DF2-498E-A9E0-EFD8AE8C756A}" dt="2026-07-20T14:08:26.597" v="2051" actId="20577"/>
      <pc:docMkLst>
        <pc:docMk/>
      </pc:docMkLst>
      <pc:sldChg chg="addSp delSp modSp mod">
        <pc:chgData name="Tolosa, Anina" userId="400091a6-41e1-497a-a825-91a872447ba8" providerId="ADAL" clId="{CE64827D-5DF2-498E-A9E0-EFD8AE8C756A}" dt="2026-07-20T14:08:26.597" v="2051" actId="20577"/>
        <pc:sldMkLst>
          <pc:docMk/>
          <pc:sldMk cId="1521255559" sldId="268"/>
        </pc:sldMkLst>
        <pc:spChg chg="mod">
          <ac:chgData name="Tolosa, Anina" userId="400091a6-41e1-497a-a825-91a872447ba8" providerId="ADAL" clId="{CE64827D-5DF2-498E-A9E0-EFD8AE8C756A}" dt="2026-07-20T14:08:14.026" v="2045" actId="20577"/>
          <ac:spMkLst>
            <pc:docMk/>
            <pc:sldMk cId="1521255559" sldId="268"/>
            <ac:spMk id="2" creationId="{BFFB472E-2F61-036D-C05F-D22738DDDFFE}"/>
          </ac:spMkLst>
        </pc:spChg>
        <pc:spChg chg="mod">
          <ac:chgData name="Tolosa, Anina" userId="400091a6-41e1-497a-a825-91a872447ba8" providerId="ADAL" clId="{CE64827D-5DF2-498E-A9E0-EFD8AE8C756A}" dt="2026-07-17T16:42:33.757" v="1970" actId="14100"/>
          <ac:spMkLst>
            <pc:docMk/>
            <pc:sldMk cId="1521255559" sldId="268"/>
            <ac:spMk id="21" creationId="{C445D1C2-6A77-00B9-1693-0A6B9CD2BD48}"/>
          </ac:spMkLst>
        </pc:spChg>
        <pc:spChg chg="mod topLvl">
          <ac:chgData name="Tolosa, Anina" userId="400091a6-41e1-497a-a825-91a872447ba8" providerId="ADAL" clId="{CE64827D-5DF2-498E-A9E0-EFD8AE8C756A}" dt="2026-07-17T16:42:44.346" v="1974" actId="20577"/>
          <ac:spMkLst>
            <pc:docMk/>
            <pc:sldMk cId="1521255559" sldId="268"/>
            <ac:spMk id="23" creationId="{26B773FC-40B9-7B52-858E-F4E127A3B07D}"/>
          </ac:spMkLst>
        </pc:spChg>
        <pc:spChg chg="mod">
          <ac:chgData name="Tolosa, Anina" userId="400091a6-41e1-497a-a825-91a872447ba8" providerId="ADAL" clId="{CE64827D-5DF2-498E-A9E0-EFD8AE8C756A}" dt="2026-07-17T16:42:12.881" v="1955" actId="1037"/>
          <ac:spMkLst>
            <pc:docMk/>
            <pc:sldMk cId="1521255559" sldId="268"/>
            <ac:spMk id="27" creationId="{62AE47D9-1515-DD6F-8320-0FF360259D5B}"/>
          </ac:spMkLst>
        </pc:spChg>
        <pc:spChg chg="mod">
          <ac:chgData name="Tolosa, Anina" userId="400091a6-41e1-497a-a825-91a872447ba8" providerId="ADAL" clId="{CE64827D-5DF2-498E-A9E0-EFD8AE8C756A}" dt="2026-07-17T16:42:41.916" v="1972" actId="20577"/>
          <ac:spMkLst>
            <pc:docMk/>
            <pc:sldMk cId="1521255559" sldId="268"/>
            <ac:spMk id="28" creationId="{1D986FE2-7447-F6D5-85F6-3D4F2502208A}"/>
          </ac:spMkLst>
        </pc:spChg>
        <pc:spChg chg="mod">
          <ac:chgData name="Tolosa, Anina" userId="400091a6-41e1-497a-a825-91a872447ba8" providerId="ADAL" clId="{CE64827D-5DF2-498E-A9E0-EFD8AE8C756A}" dt="2026-07-20T14:08:26.597" v="2051" actId="20577"/>
          <ac:spMkLst>
            <pc:docMk/>
            <pc:sldMk cId="1521255559" sldId="268"/>
            <ac:spMk id="32" creationId="{F8A373FD-0048-D64C-FE48-1AD11A322C61}"/>
          </ac:spMkLst>
        </pc:spChg>
        <pc:spChg chg="mod">
          <ac:chgData name="Tolosa, Anina" userId="400091a6-41e1-497a-a825-91a872447ba8" providerId="ADAL" clId="{CE64827D-5DF2-498E-A9E0-EFD8AE8C756A}" dt="2026-07-17T16:41:48.166" v="1877" actId="1076"/>
          <ac:spMkLst>
            <pc:docMk/>
            <pc:sldMk cId="1521255559" sldId="268"/>
            <ac:spMk id="36" creationId="{FAB9461B-3CA6-35FB-9E5B-50953ECC1BE1}"/>
          </ac:spMkLst>
        </pc:spChg>
        <pc:spChg chg="mod topLvl">
          <ac:chgData name="Tolosa, Anina" userId="400091a6-41e1-497a-a825-91a872447ba8" providerId="ADAL" clId="{CE64827D-5DF2-498E-A9E0-EFD8AE8C756A}" dt="2026-07-17T16:42:30.830" v="1969" actId="165"/>
          <ac:spMkLst>
            <pc:docMk/>
            <pc:sldMk cId="1521255559" sldId="268"/>
            <ac:spMk id="46" creationId="{006B7753-12DC-57A5-A16C-28EF1CCCFF48}"/>
          </ac:spMkLst>
        </pc:spChg>
        <pc:spChg chg="mod topLvl">
          <ac:chgData name="Tolosa, Anina" userId="400091a6-41e1-497a-a825-91a872447ba8" providerId="ADAL" clId="{CE64827D-5DF2-498E-A9E0-EFD8AE8C756A}" dt="2026-07-17T16:42:30.830" v="1969" actId="165"/>
          <ac:spMkLst>
            <pc:docMk/>
            <pc:sldMk cId="1521255559" sldId="268"/>
            <ac:spMk id="70" creationId="{E0F5C413-C37E-6541-6566-15225510C0D9}"/>
          </ac:spMkLst>
        </pc:spChg>
        <pc:spChg chg="mod topLvl">
          <ac:chgData name="Tolosa, Anina" userId="400091a6-41e1-497a-a825-91a872447ba8" providerId="ADAL" clId="{CE64827D-5DF2-498E-A9E0-EFD8AE8C756A}" dt="2026-07-17T16:42:30.830" v="1969" actId="165"/>
          <ac:spMkLst>
            <pc:docMk/>
            <pc:sldMk cId="1521255559" sldId="268"/>
            <ac:spMk id="71" creationId="{C18E5F79-1C38-E0CD-0BAF-FBE396EF55EE}"/>
          </ac:spMkLst>
        </pc:spChg>
        <pc:spChg chg="mod topLvl">
          <ac:chgData name="Tolosa, Anina" userId="400091a6-41e1-497a-a825-91a872447ba8" providerId="ADAL" clId="{CE64827D-5DF2-498E-A9E0-EFD8AE8C756A}" dt="2026-07-17T16:42:30.830" v="1969" actId="165"/>
          <ac:spMkLst>
            <pc:docMk/>
            <pc:sldMk cId="1521255559" sldId="268"/>
            <ac:spMk id="72" creationId="{E681BC14-857B-EEC7-9480-643C766C135B}"/>
          </ac:spMkLst>
        </pc:spChg>
        <pc:spChg chg="mod topLvl">
          <ac:chgData name="Tolosa, Anina" userId="400091a6-41e1-497a-a825-91a872447ba8" providerId="ADAL" clId="{CE64827D-5DF2-498E-A9E0-EFD8AE8C756A}" dt="2026-07-17T16:42:30.830" v="1969" actId="165"/>
          <ac:spMkLst>
            <pc:docMk/>
            <pc:sldMk cId="1521255559" sldId="268"/>
            <ac:spMk id="73" creationId="{57E246CA-E28B-ED06-0C7A-0843A617D4CB}"/>
          </ac:spMkLst>
        </pc:spChg>
        <pc:spChg chg="mod topLvl">
          <ac:chgData name="Tolosa, Anina" userId="400091a6-41e1-497a-a825-91a872447ba8" providerId="ADAL" clId="{CE64827D-5DF2-498E-A9E0-EFD8AE8C756A}" dt="2026-07-17T16:42:30.830" v="1969" actId="165"/>
          <ac:spMkLst>
            <pc:docMk/>
            <pc:sldMk cId="1521255559" sldId="268"/>
            <ac:spMk id="75" creationId="{37EBC03D-C8C6-4C0C-BF3D-330789CEBCAE}"/>
          </ac:spMkLst>
        </pc:spChg>
        <pc:spChg chg="mod topLvl">
          <ac:chgData name="Tolosa, Anina" userId="400091a6-41e1-497a-a825-91a872447ba8" providerId="ADAL" clId="{CE64827D-5DF2-498E-A9E0-EFD8AE8C756A}" dt="2026-07-17T16:42:30.830" v="1969" actId="165"/>
          <ac:spMkLst>
            <pc:docMk/>
            <pc:sldMk cId="1521255559" sldId="268"/>
            <ac:spMk id="76" creationId="{5F5F51AA-6A84-E114-2240-08830D399DA1}"/>
          </ac:spMkLst>
        </pc:spChg>
        <pc:spChg chg="mod topLvl">
          <ac:chgData name="Tolosa, Anina" userId="400091a6-41e1-497a-a825-91a872447ba8" providerId="ADAL" clId="{CE64827D-5DF2-498E-A9E0-EFD8AE8C756A}" dt="2026-07-17T16:42:30.830" v="1969" actId="165"/>
          <ac:spMkLst>
            <pc:docMk/>
            <pc:sldMk cId="1521255559" sldId="268"/>
            <ac:spMk id="78" creationId="{07517273-226A-F959-7EA7-61B9CE1239B9}"/>
          </ac:spMkLst>
        </pc:spChg>
        <pc:spChg chg="mod">
          <ac:chgData name="Tolosa, Anina" userId="400091a6-41e1-497a-a825-91a872447ba8" providerId="ADAL" clId="{CE64827D-5DF2-498E-A9E0-EFD8AE8C756A}" dt="2026-07-17T16:42:12.881" v="1955" actId="1037"/>
          <ac:spMkLst>
            <pc:docMk/>
            <pc:sldMk cId="1521255559" sldId="268"/>
            <ac:spMk id="80" creationId="{52E8CDEE-8921-FF98-C7AA-8BB15CC915D7}"/>
          </ac:spMkLst>
        </pc:spChg>
        <pc:spChg chg="mod">
          <ac:chgData name="Tolosa, Anina" userId="400091a6-41e1-497a-a825-91a872447ba8" providerId="ADAL" clId="{CE64827D-5DF2-498E-A9E0-EFD8AE8C756A}" dt="2026-07-17T16:42:12.881" v="1955" actId="1037"/>
          <ac:spMkLst>
            <pc:docMk/>
            <pc:sldMk cId="1521255559" sldId="268"/>
            <ac:spMk id="81" creationId="{BB14F96A-6EC4-1386-A8E2-B5C37DFFBD29}"/>
          </ac:spMkLst>
        </pc:spChg>
        <pc:spChg chg="mod">
          <ac:chgData name="Tolosa, Anina" userId="400091a6-41e1-497a-a825-91a872447ba8" providerId="ADAL" clId="{CE64827D-5DF2-498E-A9E0-EFD8AE8C756A}" dt="2026-07-17T16:42:12.881" v="1955" actId="1037"/>
          <ac:spMkLst>
            <pc:docMk/>
            <pc:sldMk cId="1521255559" sldId="268"/>
            <ac:spMk id="82" creationId="{26CB749B-6531-3CAE-B7E2-4F7037EB0B3C}"/>
          </ac:spMkLst>
        </pc:spChg>
        <pc:spChg chg="mod">
          <ac:chgData name="Tolosa, Anina" userId="400091a6-41e1-497a-a825-91a872447ba8" providerId="ADAL" clId="{CE64827D-5DF2-498E-A9E0-EFD8AE8C756A}" dt="2026-07-17T16:42:12.881" v="1955" actId="1037"/>
          <ac:spMkLst>
            <pc:docMk/>
            <pc:sldMk cId="1521255559" sldId="268"/>
            <ac:spMk id="83" creationId="{C5E449DA-B34E-BEEC-C542-964D2BE3C620}"/>
          </ac:spMkLst>
        </pc:spChg>
        <pc:spChg chg="mod">
          <ac:chgData name="Tolosa, Anina" userId="400091a6-41e1-497a-a825-91a872447ba8" providerId="ADAL" clId="{CE64827D-5DF2-498E-A9E0-EFD8AE8C756A}" dt="2026-07-17T16:42:12.881" v="1955" actId="1037"/>
          <ac:spMkLst>
            <pc:docMk/>
            <pc:sldMk cId="1521255559" sldId="268"/>
            <ac:spMk id="86" creationId="{CD8162B9-DB52-67C2-FD18-E777872F15FF}"/>
          </ac:spMkLst>
        </pc:spChg>
        <pc:spChg chg="mod">
          <ac:chgData name="Tolosa, Anina" userId="400091a6-41e1-497a-a825-91a872447ba8" providerId="ADAL" clId="{CE64827D-5DF2-498E-A9E0-EFD8AE8C756A}" dt="2026-07-17T16:42:12.881" v="1955" actId="1037"/>
          <ac:spMkLst>
            <pc:docMk/>
            <pc:sldMk cId="1521255559" sldId="268"/>
            <ac:spMk id="88" creationId="{AED94E69-B70A-1763-1BFB-1140C80ABC65}"/>
          </ac:spMkLst>
        </pc:spChg>
        <pc:spChg chg="mod">
          <ac:chgData name="Tolosa, Anina" userId="400091a6-41e1-497a-a825-91a872447ba8" providerId="ADAL" clId="{CE64827D-5DF2-498E-A9E0-EFD8AE8C756A}" dt="2026-07-17T16:42:12.881" v="1955" actId="1037"/>
          <ac:spMkLst>
            <pc:docMk/>
            <pc:sldMk cId="1521255559" sldId="268"/>
            <ac:spMk id="89" creationId="{AC903255-9605-EBFF-5585-5A886665CC84}"/>
          </ac:spMkLst>
        </pc:spChg>
        <pc:spChg chg="mod topLvl">
          <ac:chgData name="Tolosa, Anina" userId="400091a6-41e1-497a-a825-91a872447ba8" providerId="ADAL" clId="{CE64827D-5DF2-498E-A9E0-EFD8AE8C756A}" dt="2026-07-17T16:42:30.830" v="1969" actId="165"/>
          <ac:spMkLst>
            <pc:docMk/>
            <pc:sldMk cId="1521255559" sldId="268"/>
            <ac:spMk id="90" creationId="{C03A6448-E3C9-7CA8-59CB-7208AADAB7E3}"/>
          </ac:spMkLst>
        </pc:spChg>
        <pc:spChg chg="mod">
          <ac:chgData name="Tolosa, Anina" userId="400091a6-41e1-497a-a825-91a872447ba8" providerId="ADAL" clId="{CE64827D-5DF2-498E-A9E0-EFD8AE8C756A}" dt="2026-07-17T16:42:12.881" v="1955" actId="1037"/>
          <ac:spMkLst>
            <pc:docMk/>
            <pc:sldMk cId="1521255559" sldId="268"/>
            <ac:spMk id="91" creationId="{E59B5189-7E58-241E-CB50-E0BC33AEFD40}"/>
          </ac:spMkLst>
        </pc:spChg>
        <pc:cxnChg chg="mod">
          <ac:chgData name="Tolosa, Anina" userId="400091a6-41e1-497a-a825-91a872447ba8" providerId="ADAL" clId="{CE64827D-5DF2-498E-A9E0-EFD8AE8C756A}" dt="2026-07-17T16:42:17.550" v="1967" actId="1037"/>
          <ac:cxnSpMkLst>
            <pc:docMk/>
            <pc:sldMk cId="1521255559" sldId="268"/>
            <ac:cxnSpMk id="24" creationId="{4C9A6BE8-1CA6-7CB7-EB09-FB0A3E343C40}"/>
          </ac:cxnSpMkLst>
        </pc:cxnChg>
      </pc:sldChg>
      <pc:sldChg chg="modSp mod">
        <pc:chgData name="Tolosa, Anina" userId="400091a6-41e1-497a-a825-91a872447ba8" providerId="ADAL" clId="{CE64827D-5DF2-498E-A9E0-EFD8AE8C756A}" dt="2026-07-14T16:14:33.028" v="154" actId="20577"/>
        <pc:sldMkLst>
          <pc:docMk/>
          <pc:sldMk cId="3367583302" sldId="269"/>
        </pc:sldMkLst>
        <pc:graphicFrameChg chg="modGraphic">
          <ac:chgData name="Tolosa, Anina" userId="400091a6-41e1-497a-a825-91a872447ba8" providerId="ADAL" clId="{CE64827D-5DF2-498E-A9E0-EFD8AE8C756A}" dt="2026-07-14T16:14:33.028" v="154" actId="20577"/>
          <ac:graphicFrameMkLst>
            <pc:docMk/>
            <pc:sldMk cId="3367583302" sldId="269"/>
            <ac:graphicFrameMk id="3" creationId="{D642DEBD-1F10-6661-348C-900FFCD535E7}"/>
          </ac:graphicFrameMkLst>
        </pc:graphicFrameChg>
      </pc:sldChg>
      <pc:sldChg chg="add">
        <pc:chgData name="Tolosa, Anina" userId="400091a6-41e1-497a-a825-91a872447ba8" providerId="ADAL" clId="{CE64827D-5DF2-498E-A9E0-EFD8AE8C756A}" dt="2026-07-17T16:43:10.400" v="1975"/>
        <pc:sldMkLst>
          <pc:docMk/>
          <pc:sldMk cId="1774709772"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BF47F6-EDF8-4DC7-BD83-752A2A4C5A0E}" type="datetimeFigureOut">
              <a:rPr lang="en-US" smtClean="0"/>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5A71EE-14B6-4621-9D4C-D94712C28722}" type="slidenum">
              <a:rPr lang="en-US" smtClean="0"/>
              <a:t>‹#›</a:t>
            </a:fld>
            <a:endParaRPr lang="en-US"/>
          </a:p>
        </p:txBody>
      </p:sp>
    </p:spTree>
    <p:extLst>
      <p:ext uri="{BB962C8B-B14F-4D97-AF65-F5344CB8AC3E}">
        <p14:creationId xmlns:p14="http://schemas.microsoft.com/office/powerpoint/2010/main" val="1147511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6D07B-76DF-4C18-AED9-1FDB27E3B9B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3509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2F5A-0A42-5B5C-E77A-EBC0F087E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5A276-9D8E-907D-34CB-18248784B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04DCD-06FA-4BD6-26C5-8E08F77B5D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495D04-042F-E301-91D3-20C03D6B08FA}"/>
              </a:ext>
            </a:extLst>
          </p:cNvPr>
          <p:cNvSpPr>
            <a:spLocks noGrp="1"/>
          </p:cNvSpPr>
          <p:nvPr>
            <p:ph type="sldNum" sz="quarter" idx="5"/>
          </p:nvPr>
        </p:nvSpPr>
        <p:spPr/>
        <p:txBody>
          <a:bodyPr/>
          <a:lstStyle/>
          <a:p>
            <a:fld id="{2D5E816B-EE8A-4A59-BF27-832760D86835}" type="slidenum">
              <a:rPr lang="en-US" smtClean="0"/>
              <a:t>8</a:t>
            </a:fld>
            <a:endParaRPr lang="en-US"/>
          </a:p>
        </p:txBody>
      </p:sp>
    </p:spTree>
    <p:extLst>
      <p:ext uri="{BB962C8B-B14F-4D97-AF65-F5344CB8AC3E}">
        <p14:creationId xmlns:p14="http://schemas.microsoft.com/office/powerpoint/2010/main" val="888796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BC7E-55EB-1882-D14C-5E84A3847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D6AA5-C7E0-536C-67AE-32458FE02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CB860-A819-A509-B60B-5647761D9F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980C35-090F-16E6-0C68-345113976CA9}"/>
              </a:ext>
            </a:extLst>
          </p:cNvPr>
          <p:cNvSpPr>
            <a:spLocks noGrp="1"/>
          </p:cNvSpPr>
          <p:nvPr>
            <p:ph type="sldNum" sz="quarter" idx="5"/>
          </p:nvPr>
        </p:nvSpPr>
        <p:spPr/>
        <p:txBody>
          <a:bodyPr/>
          <a:lstStyle/>
          <a:p>
            <a:fld id="{2D5E816B-EE8A-4A59-BF27-832760D86835}" type="slidenum">
              <a:rPr lang="en-US" smtClean="0"/>
              <a:t>9</a:t>
            </a:fld>
            <a:endParaRPr lang="en-US"/>
          </a:p>
        </p:txBody>
      </p:sp>
    </p:spTree>
    <p:extLst>
      <p:ext uri="{BB962C8B-B14F-4D97-AF65-F5344CB8AC3E}">
        <p14:creationId xmlns:p14="http://schemas.microsoft.com/office/powerpoint/2010/main" val="4018454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5A71EE-14B6-4621-9D4C-D94712C28722}" type="slidenum">
              <a:rPr lang="en-US" smtClean="0"/>
              <a:t>12</a:t>
            </a:fld>
            <a:endParaRPr lang="en-US"/>
          </a:p>
        </p:txBody>
      </p:sp>
    </p:spTree>
    <p:extLst>
      <p:ext uri="{BB962C8B-B14F-4D97-AF65-F5344CB8AC3E}">
        <p14:creationId xmlns:p14="http://schemas.microsoft.com/office/powerpoint/2010/main" val="543495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45A71EE-14B6-4621-9D4C-D94712C28722}" type="slidenum">
              <a:rPr lang="en-US" smtClean="0"/>
              <a:t>24</a:t>
            </a:fld>
            <a:endParaRPr lang="en-US"/>
          </a:p>
        </p:txBody>
      </p:sp>
    </p:spTree>
    <p:extLst>
      <p:ext uri="{BB962C8B-B14F-4D97-AF65-F5344CB8AC3E}">
        <p14:creationId xmlns:p14="http://schemas.microsoft.com/office/powerpoint/2010/main" val="581763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2D5E816B-EE8A-4A59-BF27-832760D86835}" type="slidenum">
              <a:rPr lang="en-US" smtClean="0"/>
              <a:t>27</a:t>
            </a:fld>
            <a:endParaRPr lang="en-US"/>
          </a:p>
        </p:txBody>
      </p:sp>
    </p:spTree>
    <p:extLst>
      <p:ext uri="{BB962C8B-B14F-4D97-AF65-F5344CB8AC3E}">
        <p14:creationId xmlns:p14="http://schemas.microsoft.com/office/powerpoint/2010/main" val="40591187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388377"/>
            <a:ext cx="3211725" cy="1384995"/>
          </a:xfrm>
          <a:prstGeom prst="rect">
            <a:avLst/>
          </a:prstGeom>
          <a:noFill/>
        </p:spPr>
        <p:txBody>
          <a:bodyPr wrap="square" lIns="0" tIns="0" rIns="0" bIns="0" rtlCol="0">
            <a:spAutoFit/>
          </a:bodyPr>
          <a:lstStyle/>
          <a:p>
            <a:pPr algn="l">
              <a:lnSpc>
                <a:spcPct val="90000"/>
              </a:lnSpc>
              <a:spcBef>
                <a:spcPts val="0"/>
              </a:spcBef>
            </a:pPr>
            <a:r>
              <a:rPr lang="en-US" sz="5000" b="0" spc="0" baseline="0">
                <a:solidFill>
                  <a:schemeClr val="tx1"/>
                </a:solidFill>
                <a:latin typeface="+mj-lt"/>
              </a:rPr>
              <a:t>On-screen 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December 2026</a:t>
            </a:r>
          </a:p>
        </p:txBody>
      </p:sp>
      <p:pic>
        <p:nvPicPr>
          <p:cNvPr id="5" name="Picture 15">
            <a:extLst>
              <a:ext uri="{FF2B5EF4-FFF2-40B4-BE49-F238E27FC236}">
                <a16:creationId xmlns:a16="http://schemas.microsoft.com/office/drawing/2014/main" id="{988C516D-72E0-1E11-8DEB-841DAEC518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1572" r="1572"/>
          <a:stretch/>
        </p:blipFill>
        <p:spPr bwMode="gray">
          <a:xfrm>
            <a:off x="827390" y="4941778"/>
            <a:ext cx="585216" cy="604208"/>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tx1"/>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29" r="29"/>
          <a:stretch/>
        </p:blipFill>
        <p:spPr bwMode="gray">
          <a:xfrm>
            <a:off x="5121967" y="525529"/>
            <a:ext cx="6609434" cy="3720283"/>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134" r="134"/>
          <a:stretch/>
        </p:blipFill>
        <p:spPr bwMode="gray">
          <a:xfrm>
            <a:off x="5122888" y="4245508"/>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rcRect l="24" r="24"/>
          <a:stretch/>
        </p:blipFill>
        <p:spPr bwMode="gray">
          <a:xfrm>
            <a:off x="8421497" y="4245508"/>
            <a:ext cx="3309903" cy="1859623"/>
          </a:xfrm>
          <a:prstGeom prst="rect">
            <a:avLst/>
          </a:prstGeom>
          <a:ln w="6350">
            <a:solidFill>
              <a:schemeClr val="accent2"/>
            </a:solidFill>
          </a:ln>
        </p:spPr>
      </p:pic>
    </p:spTree>
    <p:extLst>
      <p:ext uri="{BB962C8B-B14F-4D97-AF65-F5344CB8AC3E}">
        <p14:creationId xmlns:p14="http://schemas.microsoft.com/office/powerpoint/2010/main" val="3865084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895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pic>
        <p:nvPicPr>
          <p:cNvPr id="14" name="Effervescent Os">
            <a:extLst>
              <a:ext uri="{FF2B5EF4-FFF2-40B4-BE49-F238E27FC236}">
                <a16:creationId xmlns:a16="http://schemas.microsoft.com/office/drawing/2014/main" id="{D1C60B49-87D9-5317-CAB6-BAA4F3ABDF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9" name="Optum Logo" descr="Optum">
            <a:extLst>
              <a:ext uri="{FF2B5EF4-FFF2-40B4-BE49-F238E27FC236}">
                <a16:creationId xmlns:a16="http://schemas.microsoft.com/office/drawing/2014/main" id="{EA1167EF-E311-C282-E3BA-7E1A3F1F9C6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2181661" y="860296"/>
            <a:ext cx="1913130" cy="553943"/>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187967" y="2193123"/>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187967" y="4125732"/>
            <a:ext cx="45720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187967" y="5334953"/>
            <a:ext cx="45720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3387868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368">
          <p15:clr>
            <a:srgbClr val="5ACBF0"/>
          </p15:clr>
        </p15:guide>
        <p15:guide id="3" orient="horz" pos="2431">
          <p15:clr>
            <a:srgbClr val="5ACBF0"/>
          </p15:clr>
        </p15:guide>
        <p15:guide id="4" orient="horz" pos="2590">
          <p15:clr>
            <a:srgbClr val="5ACBF0"/>
          </p15:clr>
        </p15:guide>
        <p15:guide id="5" pos="6280">
          <p15:clr>
            <a:srgbClr val="5ACBF0"/>
          </p15:clr>
        </p15:guide>
        <p15:guide id="6" pos="426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5" name="Optum Logo" descr="Optum">
            <a:extLst>
              <a:ext uri="{FF2B5EF4-FFF2-40B4-BE49-F238E27FC236}">
                <a16:creationId xmlns:a16="http://schemas.microsoft.com/office/drawing/2014/main" id="{DF18BD8F-34A2-D1E4-F62D-FAB96200D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956816" cy="685800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797608" y="1614065"/>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797608" y="3478603"/>
            <a:ext cx="59436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r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2797608" y="4654602"/>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797608" y="4993156"/>
            <a:ext cx="59436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396923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752">
          <p15:clr>
            <a:srgbClr val="5ACBF0"/>
          </p15:clr>
        </p15:guide>
        <p15:guide id="3" orient="horz" pos="2068">
          <p15:clr>
            <a:srgbClr val="5ACBF0"/>
          </p15:clr>
        </p15:guide>
        <p15:guide id="4" orient="horz" pos="2180">
          <p15:clr>
            <a:srgbClr val="5ACBF0"/>
          </p15:clr>
        </p15:guide>
        <p15:guide id="5" pos="6666">
          <p15:clr>
            <a:srgbClr val="5ACBF0"/>
          </p15:clr>
        </p15:guide>
        <p15:guide id="6" pos="551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grpSp>
        <p:nvGrpSpPr>
          <p:cNvPr id="20" name="Stadium and circles">
            <a:extLst>
              <a:ext uri="{FF2B5EF4-FFF2-40B4-BE49-F238E27FC236}">
                <a16:creationId xmlns:a16="http://schemas.microsoft.com/office/drawing/2014/main" id="{23BC9AAE-0BEC-DEC5-9E59-ABD1E467B4DF}"/>
              </a:ext>
              <a:ext uri="{C183D7F6-B498-43B3-948B-1728B52AA6E4}">
                <adec:decorative xmlns:adec="http://schemas.microsoft.com/office/drawing/2017/decorative" val="1"/>
              </a:ext>
            </a:extLst>
          </p:cNvPr>
          <p:cNvGrpSpPr/>
          <p:nvPr userDrawn="1"/>
        </p:nvGrpSpPr>
        <p:grpSpPr bwMode="gray">
          <a:xfrm>
            <a:off x="6377781" y="552369"/>
            <a:ext cx="5814219" cy="5797909"/>
            <a:chOff x="6377781" y="552369"/>
            <a:chExt cx="5814219" cy="5797909"/>
          </a:xfrm>
        </p:grpSpPr>
        <p:sp>
          <p:nvSpPr>
            <p:cNvPr id="36" name="Oval 35">
              <a:extLst>
                <a:ext uri="{FF2B5EF4-FFF2-40B4-BE49-F238E27FC236}">
                  <a16:creationId xmlns:a16="http://schemas.microsoft.com/office/drawing/2014/main" id="{F89AB704-FC51-EB86-838F-E814A0310B37}"/>
                </a:ext>
              </a:extLst>
            </p:cNvPr>
            <p:cNvSpPr/>
            <p:nvPr userDrawn="1"/>
          </p:nvSpPr>
          <p:spPr bwMode="gray">
            <a:xfrm>
              <a:off x="9869185" y="5188990"/>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Rectangle: Rounded Corners 36">
              <a:extLst>
                <a:ext uri="{FF2B5EF4-FFF2-40B4-BE49-F238E27FC236}">
                  <a16:creationId xmlns:a16="http://schemas.microsoft.com/office/drawing/2014/main" id="{4842FE88-32AA-5F17-A770-3F78643AAEC7}"/>
                </a:ext>
              </a:extLst>
            </p:cNvPr>
            <p:cNvSpPr/>
            <p:nvPr userDrawn="1"/>
          </p:nvSpPr>
          <p:spPr bwMode="gray">
            <a:xfrm>
              <a:off x="6377781" y="5188990"/>
              <a:ext cx="3493785"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34469358-F45B-0BF7-73BA-787CF55C2CE0}"/>
                </a:ext>
              </a:extLst>
            </p:cNvPr>
            <p:cNvSpPr/>
            <p:nvPr userDrawn="1"/>
          </p:nvSpPr>
          <p:spPr bwMode="gray">
            <a:xfrm>
              <a:off x="11032577" y="5188990"/>
              <a:ext cx="1159423" cy="115942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5E1253CA-8370-4395-2B7B-3C392688BA8F}"/>
                </a:ext>
              </a:extLst>
            </p:cNvPr>
            <p:cNvSpPr/>
            <p:nvPr userDrawn="1"/>
          </p:nvSpPr>
          <p:spPr bwMode="gray">
            <a:xfrm>
              <a:off x="11032577"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0" name="Oval 39">
              <a:extLst>
                <a:ext uri="{FF2B5EF4-FFF2-40B4-BE49-F238E27FC236}">
                  <a16:creationId xmlns:a16="http://schemas.microsoft.com/office/drawing/2014/main" id="{05638A30-970F-56A6-1ABF-5C22B175E163}"/>
                </a:ext>
              </a:extLst>
            </p:cNvPr>
            <p:cNvSpPr/>
            <p:nvPr userDrawn="1"/>
          </p:nvSpPr>
          <p:spPr bwMode="gray">
            <a:xfrm>
              <a:off x="11032577"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1" name="Oval 40">
              <a:extLst>
                <a:ext uri="{FF2B5EF4-FFF2-40B4-BE49-F238E27FC236}">
                  <a16:creationId xmlns:a16="http://schemas.microsoft.com/office/drawing/2014/main" id="{2D46F4D7-4BDD-4F15-7D64-3F1E2AF080A5}"/>
                </a:ext>
              </a:extLst>
            </p:cNvPr>
            <p:cNvSpPr/>
            <p:nvPr userDrawn="1"/>
          </p:nvSpPr>
          <p:spPr bwMode="gray">
            <a:xfrm>
              <a:off x="11032577"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Oval 41">
              <a:extLst>
                <a:ext uri="{FF2B5EF4-FFF2-40B4-BE49-F238E27FC236}">
                  <a16:creationId xmlns:a16="http://schemas.microsoft.com/office/drawing/2014/main" id="{C8B6397E-9EB7-A830-5A0D-B8A8CA659419}"/>
                </a:ext>
              </a:extLst>
            </p:cNvPr>
            <p:cNvSpPr/>
            <p:nvPr userDrawn="1"/>
          </p:nvSpPr>
          <p:spPr bwMode="gray">
            <a:xfrm>
              <a:off x="11032577"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6" name="Oval 45">
              <a:extLst>
                <a:ext uri="{FF2B5EF4-FFF2-40B4-BE49-F238E27FC236}">
                  <a16:creationId xmlns:a16="http://schemas.microsoft.com/office/drawing/2014/main" id="{C3FE14A0-6A0F-4F3A-E7B1-2B16FA868838}"/>
                </a:ext>
              </a:extLst>
            </p:cNvPr>
            <p:cNvSpPr/>
            <p:nvPr userDrawn="1"/>
          </p:nvSpPr>
          <p:spPr bwMode="gray">
            <a:xfrm>
              <a:off x="9869185"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7" name="Oval 46">
              <a:extLst>
                <a:ext uri="{FF2B5EF4-FFF2-40B4-BE49-F238E27FC236}">
                  <a16:creationId xmlns:a16="http://schemas.microsoft.com/office/drawing/2014/main" id="{3907818E-9997-DA31-93E5-CACD64CE77CE}"/>
                </a:ext>
              </a:extLst>
            </p:cNvPr>
            <p:cNvSpPr/>
            <p:nvPr userDrawn="1"/>
          </p:nvSpPr>
          <p:spPr bwMode="gray">
            <a:xfrm>
              <a:off x="9869185"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8" name="Oval 47">
              <a:extLst>
                <a:ext uri="{FF2B5EF4-FFF2-40B4-BE49-F238E27FC236}">
                  <a16:creationId xmlns:a16="http://schemas.microsoft.com/office/drawing/2014/main" id="{67BD36F9-6CE0-A542-A13E-C1CBE043FB9B}"/>
                </a:ext>
              </a:extLst>
            </p:cNvPr>
            <p:cNvSpPr/>
            <p:nvPr userDrawn="1"/>
          </p:nvSpPr>
          <p:spPr bwMode="gray">
            <a:xfrm>
              <a:off x="9869185"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9" name="Oval 48">
              <a:extLst>
                <a:ext uri="{FF2B5EF4-FFF2-40B4-BE49-F238E27FC236}">
                  <a16:creationId xmlns:a16="http://schemas.microsoft.com/office/drawing/2014/main" id="{1EF8455A-96B8-65CB-A60F-AB7829229569}"/>
                </a:ext>
              </a:extLst>
            </p:cNvPr>
            <p:cNvSpPr/>
            <p:nvPr userDrawn="1"/>
          </p:nvSpPr>
          <p:spPr bwMode="gray">
            <a:xfrm>
              <a:off x="8713731"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Oval 17">
              <a:extLst>
                <a:ext uri="{FF2B5EF4-FFF2-40B4-BE49-F238E27FC236}">
                  <a16:creationId xmlns:a16="http://schemas.microsoft.com/office/drawing/2014/main" id="{8A5C6592-3390-2352-5BB3-19C2E3A5BE2C}"/>
                </a:ext>
              </a:extLst>
            </p:cNvPr>
            <p:cNvSpPr/>
            <p:nvPr userDrawn="1"/>
          </p:nvSpPr>
          <p:spPr bwMode="gray">
            <a:xfrm>
              <a:off x="7718424"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1" name="Rectangle: Rounded Corners 50">
              <a:extLst>
                <a:ext uri="{FF2B5EF4-FFF2-40B4-BE49-F238E27FC236}">
                  <a16:creationId xmlns:a16="http://schemas.microsoft.com/office/drawing/2014/main" id="{9B51F2C6-228A-6780-2DE0-376C52812942}"/>
                </a:ext>
              </a:extLst>
            </p:cNvPr>
            <p:cNvSpPr/>
            <p:nvPr userDrawn="1"/>
          </p:nvSpPr>
          <p:spPr bwMode="gray">
            <a:xfrm>
              <a:off x="7720805" y="2872493"/>
              <a:ext cx="2148840"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2" name="Rectangle: Rounded Corners 51">
              <a:extLst>
                <a:ext uri="{FF2B5EF4-FFF2-40B4-BE49-F238E27FC236}">
                  <a16:creationId xmlns:a16="http://schemas.microsoft.com/office/drawing/2014/main" id="{7E1F60E6-4807-72F1-B01E-3E5BB3CA28BA}"/>
                </a:ext>
              </a:extLst>
            </p:cNvPr>
            <p:cNvSpPr/>
            <p:nvPr userDrawn="1"/>
          </p:nvSpPr>
          <p:spPr bwMode="gray">
            <a:xfrm>
              <a:off x="8877054" y="4030741"/>
              <a:ext cx="2151554"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206895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grpSp>
        <p:nvGrpSpPr>
          <p:cNvPr id="3" name="Stadiums and circles">
            <a:extLst>
              <a:ext uri="{FF2B5EF4-FFF2-40B4-BE49-F238E27FC236}">
                <a16:creationId xmlns:a16="http://schemas.microsoft.com/office/drawing/2014/main" id="{A13497BD-EDFC-01BC-7BC9-2367A53F38A7}"/>
              </a:ext>
              <a:ext uri="{C183D7F6-B498-43B3-948B-1728B52AA6E4}">
                <adec:decorative xmlns:adec="http://schemas.microsoft.com/office/drawing/2017/decorative" val="1"/>
              </a:ext>
            </a:extLst>
          </p:cNvPr>
          <p:cNvGrpSpPr/>
          <p:nvPr userDrawn="1"/>
        </p:nvGrpSpPr>
        <p:grpSpPr bwMode="gray">
          <a:xfrm>
            <a:off x="0" y="0"/>
            <a:ext cx="11220824" cy="5921203"/>
            <a:chOff x="0" y="0"/>
            <a:chExt cx="11220824" cy="5921203"/>
          </a:xfrm>
          <a:solidFill>
            <a:schemeClr val="bg1"/>
          </a:solidFill>
        </p:grpSpPr>
        <p:sp>
          <p:nvSpPr>
            <p:cNvPr id="5" name="Oval 4">
              <a:extLst>
                <a:ext uri="{FF2B5EF4-FFF2-40B4-BE49-F238E27FC236}">
                  <a16:creationId xmlns:a16="http://schemas.microsoft.com/office/drawing/2014/main" id="{D8485C0F-EFFA-23F6-667B-A4BC678A67CD}"/>
                </a:ext>
              </a:extLst>
            </p:cNvPr>
            <p:cNvSpPr/>
            <p:nvPr userDrawn="1"/>
          </p:nvSpPr>
          <p:spPr bwMode="gray">
            <a:xfrm>
              <a:off x="9559365"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9" name="Oval 8">
              <a:extLst>
                <a:ext uri="{FF2B5EF4-FFF2-40B4-BE49-F238E27FC236}">
                  <a16:creationId xmlns:a16="http://schemas.microsoft.com/office/drawing/2014/main" id="{6EC73BA9-913A-5069-D0F9-F943C501567B}"/>
                </a:ext>
              </a:extLst>
            </p:cNvPr>
            <p:cNvSpPr/>
            <p:nvPr userDrawn="1"/>
          </p:nvSpPr>
          <p:spPr bwMode="gray">
            <a:xfrm>
              <a:off x="7897906"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1" name="Oval 10">
              <a:extLst>
                <a:ext uri="{FF2B5EF4-FFF2-40B4-BE49-F238E27FC236}">
                  <a16:creationId xmlns:a16="http://schemas.microsoft.com/office/drawing/2014/main" id="{C268D53C-A768-7CB8-26AF-10AD3978E58D}"/>
                </a:ext>
              </a:extLst>
            </p:cNvPr>
            <p:cNvSpPr/>
            <p:nvPr userDrawn="1"/>
          </p:nvSpPr>
          <p:spPr bwMode="gray">
            <a:xfrm>
              <a:off x="6236447"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84F7029-5753-9BD3-7D9D-B600046394F3}"/>
                </a:ext>
              </a:extLst>
            </p:cNvPr>
            <p:cNvSpPr/>
            <p:nvPr userDrawn="1"/>
          </p:nvSpPr>
          <p:spPr bwMode="gray">
            <a:xfrm>
              <a:off x="4574988"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CB469DEC-AD2E-11CE-6BA2-FC7DCD007312}"/>
                </a:ext>
              </a:extLst>
            </p:cNvPr>
            <p:cNvSpPr/>
            <p:nvPr userDrawn="1"/>
          </p:nvSpPr>
          <p:spPr bwMode="gray">
            <a:xfrm>
              <a:off x="2913529"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Oval 18">
              <a:extLst>
                <a:ext uri="{FF2B5EF4-FFF2-40B4-BE49-F238E27FC236}">
                  <a16:creationId xmlns:a16="http://schemas.microsoft.com/office/drawing/2014/main" id="{152344B4-8287-5830-A317-7313DE62E20D}"/>
                </a:ext>
              </a:extLst>
            </p:cNvPr>
            <p:cNvSpPr/>
            <p:nvPr userDrawn="1"/>
          </p:nvSpPr>
          <p:spPr bwMode="gray">
            <a:xfrm>
              <a:off x="1252070"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Freeform: Shape 20">
              <a:extLst>
                <a:ext uri="{FF2B5EF4-FFF2-40B4-BE49-F238E27FC236}">
                  <a16:creationId xmlns:a16="http://schemas.microsoft.com/office/drawing/2014/main" id="{EA48D75A-FB42-145B-0910-A4A480961F18}"/>
                </a:ext>
              </a:extLst>
            </p:cNvPr>
            <p:cNvSpPr/>
            <p:nvPr userDrawn="1"/>
          </p:nvSpPr>
          <p:spPr bwMode="gray">
            <a:xfrm>
              <a:off x="0" y="4259743"/>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7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4ED6C9DA-4658-F236-AEAF-031AAACC8B13}"/>
                </a:ext>
              </a:extLst>
            </p:cNvPr>
            <p:cNvSpPr/>
            <p:nvPr userDrawn="1"/>
          </p:nvSpPr>
          <p:spPr bwMode="gray">
            <a:xfrm>
              <a:off x="9559365"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Oval 22">
              <a:extLst>
                <a:ext uri="{FF2B5EF4-FFF2-40B4-BE49-F238E27FC236}">
                  <a16:creationId xmlns:a16="http://schemas.microsoft.com/office/drawing/2014/main" id="{54D2A8A2-15A9-6A6B-7D39-7BA9ABA5F342}"/>
                </a:ext>
              </a:extLst>
            </p:cNvPr>
            <p:cNvSpPr/>
            <p:nvPr userDrawn="1"/>
          </p:nvSpPr>
          <p:spPr bwMode="gray">
            <a:xfrm>
              <a:off x="7897906"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3036C069-2C31-15CB-7D8B-FA4C4F7D9CCE}"/>
                </a:ext>
              </a:extLst>
            </p:cNvPr>
            <p:cNvSpPr/>
            <p:nvPr userDrawn="1"/>
          </p:nvSpPr>
          <p:spPr bwMode="gray">
            <a:xfrm>
              <a:off x="6236447"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Oval 24">
              <a:extLst>
                <a:ext uri="{FF2B5EF4-FFF2-40B4-BE49-F238E27FC236}">
                  <a16:creationId xmlns:a16="http://schemas.microsoft.com/office/drawing/2014/main" id="{7FA47BA6-459F-B694-8013-B5B563D39B44}"/>
                </a:ext>
              </a:extLst>
            </p:cNvPr>
            <p:cNvSpPr/>
            <p:nvPr userDrawn="1"/>
          </p:nvSpPr>
          <p:spPr bwMode="gray">
            <a:xfrm>
              <a:off x="4574988"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6" name="Oval 25">
              <a:extLst>
                <a:ext uri="{FF2B5EF4-FFF2-40B4-BE49-F238E27FC236}">
                  <a16:creationId xmlns:a16="http://schemas.microsoft.com/office/drawing/2014/main" id="{5B3E158A-2E27-4756-25B7-E0FAB636E006}"/>
                </a:ext>
              </a:extLst>
            </p:cNvPr>
            <p:cNvSpPr/>
            <p:nvPr userDrawn="1"/>
          </p:nvSpPr>
          <p:spPr bwMode="gray">
            <a:xfrm>
              <a:off x="2913529"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6106B5C9-2CB0-48C5-9804-85FAE5358A04}"/>
                </a:ext>
              </a:extLst>
            </p:cNvPr>
            <p:cNvSpPr/>
            <p:nvPr userDrawn="1"/>
          </p:nvSpPr>
          <p:spPr bwMode="gray">
            <a:xfrm>
              <a:off x="1252070"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8" name="Freeform: Shape 27">
              <a:extLst>
                <a:ext uri="{FF2B5EF4-FFF2-40B4-BE49-F238E27FC236}">
                  <a16:creationId xmlns:a16="http://schemas.microsoft.com/office/drawing/2014/main" id="{B69DA9D7-A15C-1C04-3DB5-B89AEE4C149E}"/>
                </a:ext>
              </a:extLst>
            </p:cNvPr>
            <p:cNvSpPr/>
            <p:nvPr userDrawn="1"/>
          </p:nvSpPr>
          <p:spPr bwMode="gray">
            <a:xfrm>
              <a:off x="0" y="2598269"/>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Oval 28">
              <a:extLst>
                <a:ext uri="{FF2B5EF4-FFF2-40B4-BE49-F238E27FC236}">
                  <a16:creationId xmlns:a16="http://schemas.microsoft.com/office/drawing/2014/main" id="{391221E8-EA2B-ED43-9D07-4FFA6AD5E04A}"/>
                </a:ext>
              </a:extLst>
            </p:cNvPr>
            <p:cNvSpPr/>
            <p:nvPr userDrawn="1"/>
          </p:nvSpPr>
          <p:spPr bwMode="gray">
            <a:xfrm>
              <a:off x="9559365"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0" name="Oval 29">
              <a:extLst>
                <a:ext uri="{FF2B5EF4-FFF2-40B4-BE49-F238E27FC236}">
                  <a16:creationId xmlns:a16="http://schemas.microsoft.com/office/drawing/2014/main" id="{D9B75DCC-2FF0-EE80-94BE-D90D5D588A97}"/>
                </a:ext>
              </a:extLst>
            </p:cNvPr>
            <p:cNvSpPr/>
            <p:nvPr userDrawn="1"/>
          </p:nvSpPr>
          <p:spPr bwMode="gray">
            <a:xfrm>
              <a:off x="7897906"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1" name="Oval 30">
              <a:extLst>
                <a:ext uri="{FF2B5EF4-FFF2-40B4-BE49-F238E27FC236}">
                  <a16:creationId xmlns:a16="http://schemas.microsoft.com/office/drawing/2014/main" id="{D0B0A03E-06CA-DE72-15DC-022BAE9AB78A}"/>
                </a:ext>
              </a:extLst>
            </p:cNvPr>
            <p:cNvSpPr/>
            <p:nvPr userDrawn="1"/>
          </p:nvSpPr>
          <p:spPr bwMode="gray">
            <a:xfrm>
              <a:off x="6236447"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2" name="Oval 31">
              <a:extLst>
                <a:ext uri="{FF2B5EF4-FFF2-40B4-BE49-F238E27FC236}">
                  <a16:creationId xmlns:a16="http://schemas.microsoft.com/office/drawing/2014/main" id="{D7EC66BF-2D9E-61D5-A5DC-FA01643CFC9B}"/>
                </a:ext>
              </a:extLst>
            </p:cNvPr>
            <p:cNvSpPr/>
            <p:nvPr userDrawn="1"/>
          </p:nvSpPr>
          <p:spPr bwMode="gray">
            <a:xfrm>
              <a:off x="4574988"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Oval 32">
              <a:extLst>
                <a:ext uri="{FF2B5EF4-FFF2-40B4-BE49-F238E27FC236}">
                  <a16:creationId xmlns:a16="http://schemas.microsoft.com/office/drawing/2014/main" id="{FB5A41BC-C1BE-4D0A-937D-CCDFDC17AECF}"/>
                </a:ext>
              </a:extLst>
            </p:cNvPr>
            <p:cNvSpPr/>
            <p:nvPr userDrawn="1"/>
          </p:nvSpPr>
          <p:spPr bwMode="gray">
            <a:xfrm>
              <a:off x="2913529"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4" name="Oval 33">
              <a:extLst>
                <a:ext uri="{FF2B5EF4-FFF2-40B4-BE49-F238E27FC236}">
                  <a16:creationId xmlns:a16="http://schemas.microsoft.com/office/drawing/2014/main" id="{FE3E6B1A-F095-E087-8B92-44041A25EB45}"/>
                </a:ext>
              </a:extLst>
            </p:cNvPr>
            <p:cNvSpPr/>
            <p:nvPr userDrawn="1"/>
          </p:nvSpPr>
          <p:spPr bwMode="gray">
            <a:xfrm>
              <a:off x="1252070"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Freeform: Shape 34">
              <a:extLst>
                <a:ext uri="{FF2B5EF4-FFF2-40B4-BE49-F238E27FC236}">
                  <a16:creationId xmlns:a16="http://schemas.microsoft.com/office/drawing/2014/main" id="{98D2546C-E18C-46AC-B8FF-ACEF4C909A48}"/>
                </a:ext>
              </a:extLst>
            </p:cNvPr>
            <p:cNvSpPr/>
            <p:nvPr userDrawn="1"/>
          </p:nvSpPr>
          <p:spPr bwMode="gray">
            <a:xfrm>
              <a:off x="0" y="936795"/>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8" name="Freeform: Shape 37">
              <a:extLst>
                <a:ext uri="{FF2B5EF4-FFF2-40B4-BE49-F238E27FC236}">
                  <a16:creationId xmlns:a16="http://schemas.microsoft.com/office/drawing/2014/main" id="{19654A5F-9FCF-4BAC-3C58-AF666C8EFEFA}"/>
                </a:ext>
              </a:extLst>
            </p:cNvPr>
            <p:cNvSpPr/>
            <p:nvPr userDrawn="1"/>
          </p:nvSpPr>
          <p:spPr bwMode="gray">
            <a:xfrm>
              <a:off x="9559364"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10B5BB75-0167-66D5-4F3C-8000D5182C9F}"/>
                </a:ext>
              </a:extLst>
            </p:cNvPr>
            <p:cNvSpPr/>
            <p:nvPr userDrawn="1"/>
          </p:nvSpPr>
          <p:spPr bwMode="gray">
            <a:xfrm>
              <a:off x="7897905"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0528863C-CFF0-BFF7-83D2-8AE71EC094F3}"/>
                </a:ext>
              </a:extLst>
            </p:cNvPr>
            <p:cNvSpPr/>
            <p:nvPr userDrawn="1"/>
          </p:nvSpPr>
          <p:spPr bwMode="gray">
            <a:xfrm>
              <a:off x="6236446"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Freeform: Shape 43">
              <a:extLst>
                <a:ext uri="{FF2B5EF4-FFF2-40B4-BE49-F238E27FC236}">
                  <a16:creationId xmlns:a16="http://schemas.microsoft.com/office/drawing/2014/main" id="{80114763-24E8-65F1-FD20-BEC2DD15993E}"/>
                </a:ext>
              </a:extLst>
            </p:cNvPr>
            <p:cNvSpPr/>
            <p:nvPr userDrawn="1"/>
          </p:nvSpPr>
          <p:spPr bwMode="gray">
            <a:xfrm>
              <a:off x="4574987"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Freeform: Shape 44">
              <a:extLst>
                <a:ext uri="{FF2B5EF4-FFF2-40B4-BE49-F238E27FC236}">
                  <a16:creationId xmlns:a16="http://schemas.microsoft.com/office/drawing/2014/main" id="{22CCBE72-BF65-E4C0-A522-CEB74B4A25F7}"/>
                </a:ext>
              </a:extLst>
            </p:cNvPr>
            <p:cNvSpPr/>
            <p:nvPr userDrawn="1"/>
          </p:nvSpPr>
          <p:spPr bwMode="gray">
            <a:xfrm>
              <a:off x="2913528"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Freeform: Shape 49">
              <a:extLst>
                <a:ext uri="{FF2B5EF4-FFF2-40B4-BE49-F238E27FC236}">
                  <a16:creationId xmlns:a16="http://schemas.microsoft.com/office/drawing/2014/main" id="{A9C7495F-6A7E-4C4B-E491-39B263A91183}"/>
                </a:ext>
              </a:extLst>
            </p:cNvPr>
            <p:cNvSpPr/>
            <p:nvPr userDrawn="1"/>
          </p:nvSpPr>
          <p:spPr bwMode="gray">
            <a:xfrm>
              <a:off x="1252069"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3" name="Freeform: Shape 52">
              <a:extLst>
                <a:ext uri="{FF2B5EF4-FFF2-40B4-BE49-F238E27FC236}">
                  <a16:creationId xmlns:a16="http://schemas.microsoft.com/office/drawing/2014/main" id="{C1ECD438-911A-89DE-3692-3731FDAE84B9}"/>
                </a:ext>
              </a:extLst>
            </p:cNvPr>
            <p:cNvSpPr/>
            <p:nvPr userDrawn="1"/>
          </p:nvSpPr>
          <p:spPr bwMode="gray">
            <a:xfrm>
              <a:off x="0" y="0"/>
              <a:ext cx="1252071" cy="936789"/>
            </a:xfrm>
            <a:custGeom>
              <a:avLst/>
              <a:gdLst>
                <a:gd name="connsiteX0" fmla="*/ 0 w 1252071"/>
                <a:gd name="connsiteY0" fmla="*/ 0 h 936789"/>
                <a:gd name="connsiteX1" fmla="*/ 1244559 w 1252071"/>
                <a:gd name="connsiteY1" fmla="*/ 0 h 936789"/>
                <a:gd name="connsiteX2" fmla="*/ 1247782 w 1252071"/>
                <a:gd name="connsiteY2" fmla="*/ 21122 h 936789"/>
                <a:gd name="connsiteX3" fmla="*/ 1252071 w 1252071"/>
                <a:gd name="connsiteY3" fmla="*/ 106059 h 936789"/>
                <a:gd name="connsiteX4" fmla="*/ 421341 w 1252071"/>
                <a:gd name="connsiteY4" fmla="*/ 936789 h 936789"/>
                <a:gd name="connsiteX5" fmla="*/ 97983 w 1252071"/>
                <a:gd name="connsiteY5" fmla="*/ 871506 h 936789"/>
                <a:gd name="connsiteX6" fmla="*/ 0 w 1252071"/>
                <a:gd name="connsiteY6" fmla="*/ 818323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7941992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Sky Blue">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2572584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Dawn">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6056346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524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pic>
        <p:nvPicPr>
          <p:cNvPr id="17" name="Effervescent Background">
            <a:extLst>
              <a:ext uri="{FF2B5EF4-FFF2-40B4-BE49-F238E27FC236}">
                <a16:creationId xmlns:a16="http://schemas.microsoft.com/office/drawing/2014/main" id="{77505517-54EF-7E54-5259-EE37C36DD28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37543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186206"/>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6540917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459">
          <p15:clr>
            <a:srgbClr val="5ACBF0"/>
          </p15:clr>
        </p15:guide>
        <p15:guide id="4" orient="horz" pos="263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02">
    <p:bg>
      <p:bgPr>
        <a:solidFill>
          <a:schemeClr val="bg1"/>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395D6C80-30F4-E89F-4785-D24A52C579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8690542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03">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B182F32D-9E08-7913-D9C1-F4408AF9F96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6989457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04">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a:solidFill>
            <a:schemeClr val="bg1"/>
          </a:solidFill>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7D20C80F-10C6-380F-767C-5DE5099AFED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0056813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ection Header 05">
    <p:bg>
      <p:bgPr>
        <a:solidFill>
          <a:schemeClr val="bg2"/>
        </a:solidFill>
        <a:effectLst/>
      </p:bgPr>
    </p:bg>
    <p:spTree>
      <p:nvGrpSpPr>
        <p:cNvPr id="1" name=""/>
        <p:cNvGrpSpPr/>
        <p:nvPr/>
      </p:nvGrpSpPr>
      <p:grpSpPr>
        <a:xfrm>
          <a:off x="0" y="0"/>
          <a:ext cx="0" cy="0"/>
          <a:chOff x="0" y="0"/>
          <a:chExt cx="0" cy="0"/>
        </a:xfrm>
      </p:grpSpPr>
      <p:sp>
        <p:nvSpPr>
          <p:cNvPr id="13" name="Orange Title Block">
            <a:extLst>
              <a:ext uri="{FF2B5EF4-FFF2-40B4-BE49-F238E27FC236}">
                <a16:creationId xmlns:a16="http://schemas.microsoft.com/office/drawing/2014/main" id="{28BF8FD6-F40C-8C7C-FF94-4DA25C3DA2C3}"/>
              </a:ext>
              <a:ext uri="{C183D7F6-B498-43B3-948B-1728B52AA6E4}">
                <adec:decorative xmlns:adec="http://schemas.microsoft.com/office/drawing/2017/decorative" val="1"/>
              </a:ext>
            </a:extLst>
          </p:cNvPr>
          <p:cNvSpPr/>
          <p:nvPr userDrawn="1"/>
        </p:nvSpPr>
        <p:spPr bwMode="gray">
          <a:xfrm>
            <a:off x="0" y="2456160"/>
            <a:ext cx="140027" cy="1377898"/>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44043"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3172598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4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06">
    <p:bg>
      <p:bgPr>
        <a:solidFill>
          <a:schemeClr val="bg2"/>
        </a:solidFill>
        <a:effectLst/>
      </p:bgPr>
    </p:bg>
    <p:spTree>
      <p:nvGrpSpPr>
        <p:cNvPr id="1" name=""/>
        <p:cNvGrpSpPr/>
        <p:nvPr/>
      </p:nvGrpSpPr>
      <p:grpSpPr>
        <a:xfrm>
          <a:off x="0" y="0"/>
          <a:ext cx="0" cy="0"/>
          <a:chOff x="0" y="0"/>
          <a:chExt cx="0" cy="0"/>
        </a:xfrm>
      </p:grpSpPr>
      <p:sp>
        <p:nvSpPr>
          <p:cNvPr id="11" name="Dynamic O">
            <a:extLst>
              <a:ext uri="{FF2B5EF4-FFF2-40B4-BE49-F238E27FC236}">
                <a16:creationId xmlns:a16="http://schemas.microsoft.com/office/drawing/2014/main" id="{FA219C5D-76EB-3271-5225-511B46D0905B}"/>
              </a:ext>
              <a:ext uri="{C183D7F6-B498-43B3-948B-1728B52AA6E4}">
                <adec:decorative xmlns:adec="http://schemas.microsoft.com/office/drawing/2017/decorative" val="1"/>
              </a:ext>
            </a:extLst>
          </p:cNvPr>
          <p:cNvSpPr/>
          <p:nvPr userDrawn="1"/>
        </p:nvSpPr>
        <p:spPr bwMode="gray">
          <a:xfrm>
            <a:off x="0" y="1814381"/>
            <a:ext cx="1105958" cy="2661455"/>
          </a:xfrm>
          <a:custGeom>
            <a:avLst/>
            <a:gdLst>
              <a:gd name="connsiteX0" fmla="*/ 0 w 1105958"/>
              <a:gd name="connsiteY0" fmla="*/ 0 h 2661455"/>
              <a:gd name="connsiteX1" fmla="*/ 24371 w 1105958"/>
              <a:gd name="connsiteY1" fmla="*/ 3721 h 2661455"/>
              <a:gd name="connsiteX2" fmla="*/ 1105958 w 1105958"/>
              <a:gd name="connsiteY2" fmla="*/ 1330728 h 2661455"/>
              <a:gd name="connsiteX3" fmla="*/ 24371 w 1105958"/>
              <a:gd name="connsiteY3" fmla="*/ 2657734 h 2661455"/>
              <a:gd name="connsiteX4" fmla="*/ 0 w 1105958"/>
              <a:gd name="connsiteY4" fmla="*/ 2661455 h 2661455"/>
              <a:gd name="connsiteX5" fmla="*/ 0 w 1105958"/>
              <a:gd name="connsiteY5" fmla="*/ 1981014 h 2661455"/>
              <a:gd name="connsiteX6" fmla="*/ 23235 w 1105958"/>
              <a:gd name="connsiteY6" fmla="*/ 1973802 h 2661455"/>
              <a:gd name="connsiteX7" fmla="*/ 449371 w 1105958"/>
              <a:gd name="connsiteY7" fmla="*/ 1330728 h 2661455"/>
              <a:gd name="connsiteX8" fmla="*/ 23235 w 1105958"/>
              <a:gd name="connsiteY8" fmla="*/ 687655 h 2661455"/>
              <a:gd name="connsiteX9" fmla="*/ 0 w 1105958"/>
              <a:gd name="connsiteY9" fmla="*/ 680442 h 266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551912" y="2397212"/>
            <a:ext cx="3610638"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296867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96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07">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D676019-CFD3-FD0A-81AC-A6D13354F759}"/>
              </a:ext>
              <a:ext uri="{C183D7F6-B498-43B3-948B-1728B52AA6E4}">
                <adec:decorative xmlns:adec="http://schemas.microsoft.com/office/drawing/2017/decorative" val="1"/>
              </a:ext>
            </a:extLst>
          </p:cNvPr>
          <p:cNvSpPr/>
          <p:nvPr/>
        </p:nvSpPr>
        <p:spPr bwMode="gray">
          <a:xfrm>
            <a:off x="10272839" y="0"/>
            <a:ext cx="1919161" cy="1848256"/>
          </a:xfrm>
          <a:custGeom>
            <a:avLst/>
            <a:gdLst>
              <a:gd name="connsiteX0" fmla="*/ 0 w 1919161"/>
              <a:gd name="connsiteY0" fmla="*/ 0 h 1848256"/>
              <a:gd name="connsiteX1" fmla="*/ 928773 w 1919161"/>
              <a:gd name="connsiteY1" fmla="*/ 0 h 1848256"/>
              <a:gd name="connsiteX2" fmla="*/ 930451 w 1919161"/>
              <a:gd name="connsiteY2" fmla="*/ 33244 h 1848256"/>
              <a:gd name="connsiteX3" fmla="*/ 1912618 w 1919161"/>
              <a:gd name="connsiteY3" fmla="*/ 919488 h 1848256"/>
              <a:gd name="connsiteX4" fmla="*/ 1919161 w 1919161"/>
              <a:gd name="connsiteY4" fmla="*/ 919158 h 1848256"/>
              <a:gd name="connsiteX5" fmla="*/ 1919161 w 1919161"/>
              <a:gd name="connsiteY5" fmla="*/ 1847926 h 1848256"/>
              <a:gd name="connsiteX6" fmla="*/ 1912618 w 1919161"/>
              <a:gd name="connsiteY6" fmla="*/ 1848256 h 1848256"/>
              <a:gd name="connsiteX7" fmla="*/ 6471 w 1919161"/>
              <a:gd name="connsiteY7" fmla="*/ 128094 h 184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2038014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08">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454858E-F681-1D4B-86DB-CAC8E494A65D}"/>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26411699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52">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Header 09">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F55B9041-0F47-9F80-6CDD-3B89753F446F}"/>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4181160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4">
          <p15:clr>
            <a:srgbClr val="5ACBF0"/>
          </p15:clr>
        </p15:guide>
        <p15:guide id="5" pos="65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10">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D04B8F56-963D-7D87-B3A4-F13FC8B0B209}"/>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9" name="Picture Placeholder">
            <a:extLst>
              <a:ext uri="{FF2B5EF4-FFF2-40B4-BE49-F238E27FC236}">
                <a16:creationId xmlns:a16="http://schemas.microsoft.com/office/drawing/2014/main" id="{12375231-D91B-0897-471C-42A4E82A50C8}"/>
              </a:ext>
            </a:extLst>
          </p:cNvPr>
          <p:cNvSpPr>
            <a:spLocks noGrp="1" noRot="1" noMove="1" noResize="1" noEditPoints="1" noAdjustHandles="1" noChangeArrowheads="1" noChangeShapeType="1"/>
          </p:cNvSpPr>
          <p:nvPr>
            <p:ph type="pic" sz="quarter" idx="13" hasCustomPrompt="1"/>
          </p:nvPr>
        </p:nvSpPr>
        <p:spPr bwMode="gray">
          <a:xfrm>
            <a:off x="906051" y="800100"/>
            <a:ext cx="5257800" cy="5257800"/>
          </a:xfrm>
          <a:custGeom>
            <a:avLst/>
            <a:gdLst>
              <a:gd name="connsiteX0" fmla="*/ 885245 w 5257800"/>
              <a:gd name="connsiteY0" fmla="*/ 0 h 5257800"/>
              <a:gd name="connsiteX1" fmla="*/ 5257800 w 5257800"/>
              <a:gd name="connsiteY1" fmla="*/ 0 h 5257800"/>
              <a:gd name="connsiteX2" fmla="*/ 5257800 w 5257800"/>
              <a:gd name="connsiteY2" fmla="*/ 5257800 h 5257800"/>
              <a:gd name="connsiteX3" fmla="*/ 0 w 5257800"/>
              <a:gd name="connsiteY3" fmla="*/ 5257800 h 5257800"/>
              <a:gd name="connsiteX4" fmla="*/ 0 w 5257800"/>
              <a:gd name="connsiteY4" fmla="*/ 980303 h 5257800"/>
              <a:gd name="connsiteX5" fmla="*/ 21473 w 5257800"/>
              <a:gd name="connsiteY5" fmla="*/ 969957 h 5257800"/>
              <a:gd name="connsiteX6" fmla="*/ 874061 w 5257800"/>
              <a:gd name="connsiteY6" fmla="*/ 30549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0" h="5257800">
                <a:moveTo>
                  <a:pt x="885245" y="0"/>
                </a:moveTo>
                <a:lnTo>
                  <a:pt x="5257800" y="0"/>
                </a:lnTo>
                <a:lnTo>
                  <a:pt x="5257800" y="5257800"/>
                </a:lnTo>
                <a:lnTo>
                  <a:pt x="0" y="5257800"/>
                </a:lnTo>
                <a:lnTo>
                  <a:pt x="0" y="980303"/>
                </a:lnTo>
                <a:lnTo>
                  <a:pt x="21473" y="969957"/>
                </a:lnTo>
                <a:cubicBezTo>
                  <a:pt x="401710" y="763364"/>
                  <a:pt x="704285" y="431849"/>
                  <a:pt x="874061" y="30549"/>
                </a:cubicBezTo>
                <a:close/>
              </a:path>
            </a:pathLst>
          </a:custGeom>
        </p:spPr>
        <p:txBody>
          <a:bodyPr wrap="square" lIns="0" rIns="0">
            <a:noAutofit/>
          </a:bodyPr>
          <a:lstStyle>
            <a:lvl1pPr algn="ctr">
              <a:defRPr sz="1400"/>
            </a:lvl1pPr>
          </a:lstStyle>
          <a:p>
            <a:br>
              <a:rPr lang="en-US"/>
            </a:br>
            <a:br>
              <a:rPr lang="en-US"/>
            </a:br>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12701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11">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017E2C4C-635A-5655-9467-072CF55397B5}"/>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664752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12">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pic>
        <p:nvPicPr>
          <p:cNvPr id="3" name="Optum Logo" descr="Optum">
            <a:extLst>
              <a:ext uri="{FF2B5EF4-FFF2-40B4-BE49-F238E27FC236}">
                <a16:creationId xmlns:a16="http://schemas.microsoft.com/office/drawing/2014/main" id="{CB4EB4D9-021E-309E-E9AB-13969D40271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9337014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Header 13">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sp>
        <p:nvSpPr>
          <p:cNvPr id="8" name="Picture Placeholder">
            <a:extLst>
              <a:ext uri="{FF2B5EF4-FFF2-40B4-BE49-F238E27FC236}">
                <a16:creationId xmlns:a16="http://schemas.microsoft.com/office/drawing/2014/main" id="{FE81ABCA-5D37-ECA2-D05A-2E2C8ECB6EBE}"/>
              </a:ext>
            </a:extLst>
          </p:cNvPr>
          <p:cNvSpPr>
            <a:spLocks noGrp="1"/>
          </p:cNvSpPr>
          <p:nvPr>
            <p:ph type="pic" sz="quarter" idx="13" hasCustomPrompt="1"/>
          </p:nvPr>
        </p:nvSpPr>
        <p:spPr bwMode="gray">
          <a:xfrm>
            <a:off x="6419850" y="274320"/>
            <a:ext cx="5486400" cy="6583680"/>
          </a:xfrm>
        </p:spPr>
        <p:txBody>
          <a:bodyPr lIns="457200" rIns="457200"/>
          <a:lstStyle>
            <a:lvl1pPr algn="ctr">
              <a:defRPr sz="1400"/>
            </a:lvl1pPr>
          </a:lstStyle>
          <a:p>
            <a:br>
              <a:rPr lang="en-US"/>
            </a:br>
            <a:r>
              <a:rPr lang="en-US"/>
              <a:t>Traditional, grayscale portraiture with removed background to be inserted into this placeholder with unchanged dimensions (7.2” H x 6.0”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9" name="Optum Logo" descr="Optum">
            <a:extLst>
              <a:ext uri="{FF2B5EF4-FFF2-40B4-BE49-F238E27FC236}">
                <a16:creationId xmlns:a16="http://schemas.microsoft.com/office/drawing/2014/main" id="{E26ADF6D-5767-1CA6-A7AA-4DF77A8D44B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0076642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a:t>
            </a:r>
            <a:r>
              <a:rPr lang="en-US" sz="15000" b="0">
                <a:solidFill>
                  <a:schemeClr val="bg1"/>
                </a:solidFill>
              </a:rPr>
              <a:t>(Themes)</a:t>
            </a:r>
            <a:endParaRPr lang="en-US" sz="15000" b="1">
              <a:solidFill>
                <a:schemeClr val="bg1"/>
              </a:solidFill>
            </a:endParaRP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423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92195281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hoto">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9" name="Picture Placeholder">
            <a:extLst>
              <a:ext uri="{FF2B5EF4-FFF2-40B4-BE49-F238E27FC236}">
                <a16:creationId xmlns:a16="http://schemas.microsoft.com/office/drawing/2014/main" id="{8FD5E99F-A0CE-C07B-347B-4E35F401E345}"/>
              </a:ext>
            </a:extLst>
          </p:cNvPr>
          <p:cNvSpPr>
            <a:spLocks noGrp="1"/>
          </p:cNvSpPr>
          <p:nvPr>
            <p:ph type="pic" sz="quarter" idx="13" hasCustomPrompt="1"/>
          </p:nvPr>
        </p:nvSpPr>
        <p:spPr bwMode="gray">
          <a:xfrm>
            <a:off x="7528560" y="0"/>
            <a:ext cx="4663440" cy="6858000"/>
          </a:xfrm>
        </p:spPr>
        <p:txBody>
          <a:bodyPr lIns="457200" rIns="457200"/>
          <a:lstStyle>
            <a:lvl1pPr algn="ctr">
              <a:defRPr sz="1400"/>
            </a:lvl1pPr>
          </a:lstStyle>
          <a:p>
            <a:br>
              <a:rPr lang="en-US"/>
            </a:br>
            <a:r>
              <a:rPr lang="en-US"/>
              <a:t>Photography should be inserted into this placeholder with unchanged dimensions (7.5” H x 5.1”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a:p>
            <a:endParaRPr lang="en-US"/>
          </a:p>
        </p:txBody>
      </p:sp>
      <p:sp>
        <p:nvSpPr>
          <p:cNvPr id="10" name="Page # Hide Box">
            <a:extLst>
              <a:ext uri="{FF2B5EF4-FFF2-40B4-BE49-F238E27FC236}">
                <a16:creationId xmlns:a16="http://schemas.microsoft.com/office/drawing/2014/main" id="{3A3E004B-6BE7-6816-DB37-9CA2FEFA1422}"/>
              </a:ext>
              <a:ext uri="{C183D7F6-B498-43B3-948B-1728B52AA6E4}">
                <adec:decorative xmlns:adec="http://schemas.microsoft.com/office/drawing/2017/decorative" val="1"/>
              </a:ext>
            </a:extLst>
          </p:cNvPr>
          <p:cNvSpPr/>
          <p:nvPr userDrawn="1"/>
        </p:nvSpPr>
        <p:spPr bwMode="gray">
          <a:xfrm>
            <a:off x="11347450" y="6362700"/>
            <a:ext cx="463550" cy="22225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16936798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head">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1291901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491040681"/>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282181247"/>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763806335"/>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410859"/>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936446145"/>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head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306372533"/>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Two Lines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a:xfrm>
            <a:off x="0" y="7177230"/>
            <a:ext cx="914400" cy="30778"/>
          </a:xfrm>
        </p:spPr>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279107684"/>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1013">
          <p15:clr>
            <a:srgbClr val="5ACBF0"/>
          </p15:clr>
        </p15:guide>
        <p15:guide id="4" orient="horz" pos="34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257300"/>
            <a:ext cx="9144000" cy="3964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780085417"/>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319272474"/>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34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643475"/>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 Effervescent">
    <p:spTree>
      <p:nvGrpSpPr>
        <p:cNvPr id="1" name=""/>
        <p:cNvGrpSpPr/>
        <p:nvPr/>
      </p:nvGrpSpPr>
      <p:grpSpPr>
        <a:xfrm>
          <a:off x="0" y="0"/>
          <a:ext cx="0" cy="0"/>
          <a:chOff x="0" y="0"/>
          <a:chExt cx="0" cy="0"/>
        </a:xfrm>
      </p:grpSpPr>
      <p:sp>
        <p:nvSpPr>
          <p:cNvPr id="10" name="Warm White Header">
            <a:extLst>
              <a:ext uri="{FF2B5EF4-FFF2-40B4-BE49-F238E27FC236}">
                <a16:creationId xmlns:a16="http://schemas.microsoft.com/office/drawing/2014/main" id="{DD73845D-CD64-79D1-8425-96318ACE26B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8" name="Effervescent Os">
            <a:extLst>
              <a:ext uri="{FF2B5EF4-FFF2-40B4-BE49-F238E27FC236}">
                <a16:creationId xmlns:a16="http://schemas.microsoft.com/office/drawing/2014/main" id="{E615D592-124C-83E3-A66F-9E644040DC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459642417"/>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56">
          <p15:clr>
            <a:srgbClr val="5ACBF0"/>
          </p15:clr>
        </p15:guide>
        <p15:guide id="4" orient="horz" pos="34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head - Effervescent">
    <p:bg>
      <p:bgPr>
        <a:solidFill>
          <a:schemeClr val="bg1"/>
        </a:solidFill>
        <a:effectLst/>
      </p:bgPr>
    </p:bg>
    <p:spTree>
      <p:nvGrpSpPr>
        <p:cNvPr id="1" name=""/>
        <p:cNvGrpSpPr/>
        <p:nvPr/>
      </p:nvGrpSpPr>
      <p:grpSpPr>
        <a:xfrm>
          <a:off x="0" y="0"/>
          <a:ext cx="0" cy="0"/>
          <a:chOff x="0" y="0"/>
          <a:chExt cx="0" cy="0"/>
        </a:xfrm>
      </p:grpSpPr>
      <p:sp>
        <p:nvSpPr>
          <p:cNvPr id="7" name="Warm White Header">
            <a:extLst>
              <a:ext uri="{FF2B5EF4-FFF2-40B4-BE49-F238E27FC236}">
                <a16:creationId xmlns:a16="http://schemas.microsoft.com/office/drawing/2014/main" id="{5E699A90-2986-06DD-E06B-2752FC311656}"/>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 name="Effervescent Os">
            <a:extLst>
              <a:ext uri="{FF2B5EF4-FFF2-40B4-BE49-F238E27FC236}">
                <a16:creationId xmlns:a16="http://schemas.microsoft.com/office/drawing/2014/main" id="{1A1059DC-B75D-C98B-CC52-8E14BE9763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(1 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907383316"/>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56">
          <p15:clr>
            <a:srgbClr val="5ACBF0"/>
          </p15:clr>
        </p15:guide>
        <p15:guide id="4" orient="horz" pos="34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Two Lines - Effervescent">
    <p:spTree>
      <p:nvGrpSpPr>
        <p:cNvPr id="1" name=""/>
        <p:cNvGrpSpPr/>
        <p:nvPr/>
      </p:nvGrpSpPr>
      <p:grpSpPr>
        <a:xfrm>
          <a:off x="0" y="0"/>
          <a:ext cx="0" cy="0"/>
          <a:chOff x="0" y="0"/>
          <a:chExt cx="0" cy="0"/>
        </a:xfrm>
      </p:grpSpPr>
      <p:sp>
        <p:nvSpPr>
          <p:cNvPr id="4" name="Warm White Header">
            <a:extLst>
              <a:ext uri="{FF2B5EF4-FFF2-40B4-BE49-F238E27FC236}">
                <a16:creationId xmlns:a16="http://schemas.microsoft.com/office/drawing/2014/main" id="{1882A4AD-148D-013D-7533-0E6CBEDA2F8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3" name="Effervescent Os">
            <a:extLst>
              <a:ext uri="{FF2B5EF4-FFF2-40B4-BE49-F238E27FC236}">
                <a16:creationId xmlns:a16="http://schemas.microsoft.com/office/drawing/2014/main" id="{A6D485F7-A9E9-B8F1-3134-F2EF4A5616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847322010"/>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056">
          <p15:clr>
            <a:srgbClr val="5ACBF0"/>
          </p15:clr>
        </p15:guide>
        <p15:guide id="3" orient="horz" pos="34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 Effervescent">
    <p:bg bwMode="gray">
      <p:bgRef idx="1001">
        <a:schemeClr val="bg1"/>
      </p:bgRef>
    </p:bg>
    <p:spTree>
      <p:nvGrpSpPr>
        <p:cNvPr id="1" name=""/>
        <p:cNvGrpSpPr/>
        <p:nvPr/>
      </p:nvGrpSpPr>
      <p:grpSpPr>
        <a:xfrm>
          <a:off x="0" y="0"/>
          <a:ext cx="0" cy="0"/>
          <a:chOff x="0" y="0"/>
          <a:chExt cx="0" cy="0"/>
        </a:xfrm>
      </p:grpSpPr>
      <p:pic>
        <p:nvPicPr>
          <p:cNvPr id="7" name="Effervescent Os">
            <a:extLst>
              <a:ext uri="{FF2B5EF4-FFF2-40B4-BE49-F238E27FC236}">
                <a16:creationId xmlns:a16="http://schemas.microsoft.com/office/drawing/2014/main" id="{71C2CAC8-6FDD-6AAD-5324-0AEE67268C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32739425"/>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80004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3"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3399020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02 - Left Rail">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11" name="Warm White Box">
            <a:extLst>
              <a:ext uri="{FF2B5EF4-FFF2-40B4-BE49-F238E27FC236}">
                <a16:creationId xmlns:a16="http://schemas.microsoft.com/office/drawing/2014/main" id="{011336AB-7999-186F-DE45-125C45C42903}"/>
              </a:ext>
              <a:ext uri="{C183D7F6-B498-43B3-948B-1728B52AA6E4}">
                <adec:decorative xmlns:adec="http://schemas.microsoft.com/office/drawing/2017/decorative" val="1"/>
              </a:ext>
            </a:extLst>
          </p:cNvPr>
          <p:cNvSpPr/>
          <p:nvPr userDrawn="1"/>
        </p:nvSpPr>
        <p:spPr bwMode="gray">
          <a:xfrm>
            <a:off x="7525684" y="2875"/>
            <a:ext cx="4663439" cy="6852249"/>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 name="Page Number">
            <a:extLst>
              <a:ext uri="{FF2B5EF4-FFF2-40B4-BE49-F238E27FC236}">
                <a16:creationId xmlns:a16="http://schemas.microsoft.com/office/drawing/2014/main" id="{77442741-A3C6-CDFF-AE9F-1DCB6CB5608E}"/>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302911959"/>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03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 name="Orange Title Block">
            <a:extLst>
              <a:ext uri="{FF2B5EF4-FFF2-40B4-BE49-F238E27FC236}">
                <a16:creationId xmlns:a16="http://schemas.microsoft.com/office/drawing/2014/main" id="{37CCE16F-69CB-62C6-2C39-8169483F6862}"/>
              </a:ext>
              <a:ext uri="{C183D7F6-B498-43B3-948B-1728B52AA6E4}">
                <adec:decorative xmlns:adec="http://schemas.microsoft.com/office/drawing/2017/decorative" val="1"/>
              </a:ext>
            </a:extLst>
          </p:cNvPr>
          <p:cNvSpPr/>
          <p:nvPr userDrawn="1"/>
        </p:nvSpPr>
        <p:spPr bwMode="gray">
          <a:xfrm>
            <a:off x="0" y="2150388"/>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4" y="2176437"/>
            <a:ext cx="3840480" cy="304699"/>
          </a:xfrm>
        </p:spPr>
        <p:txBody>
          <a:bodyPr/>
          <a:lstStyle>
            <a:lvl1pPr>
              <a:defRPr>
                <a:solidFill>
                  <a:schemeClr val="tx1"/>
                </a:solidFill>
                <a:latin typeface="+mj-lt"/>
              </a:defRPr>
            </a:lvl1pPr>
          </a:lstStyle>
          <a:p>
            <a:r>
              <a:rPr lang="en-US"/>
              <a:t>Slide title; Georgia Pro 22pt.</a:t>
            </a:r>
          </a:p>
        </p:txBody>
      </p:sp>
      <p:sp>
        <p:nvSpPr>
          <p:cNvPr id="14" name="Text Placeholder 13">
            <a:extLst>
              <a:ext uri="{FF2B5EF4-FFF2-40B4-BE49-F238E27FC236}">
                <a16:creationId xmlns:a16="http://schemas.microsoft.com/office/drawing/2014/main" id="{1F10D86D-52E8-A8B6-AAFC-D4A919C77F6A}"/>
              </a:ext>
            </a:extLst>
          </p:cNvPr>
          <p:cNvSpPr>
            <a:spLocks noGrp="1"/>
          </p:cNvSpPr>
          <p:nvPr>
            <p:ph type="body" sz="quarter" idx="13" hasCustomPrompt="1"/>
          </p:nvPr>
        </p:nvSpPr>
        <p:spPr bwMode="gray">
          <a:xfrm>
            <a:off x="467924" y="2676747"/>
            <a:ext cx="3840480" cy="1491101"/>
          </a:xfrm>
        </p:spPr>
        <p:txBody>
          <a:bodyPr/>
          <a:lstStyle>
            <a:lvl1pPr>
              <a:defRPr sz="1400"/>
            </a:lvl1pPr>
            <a:lvl2pPr>
              <a:defRPr sz="1400"/>
            </a:lvl2pPr>
            <a:lvl3pPr>
              <a:defRPr sz="1400"/>
            </a:lvl3pPr>
            <a:lvl4pPr>
              <a:defRPr sz="1400"/>
            </a:lvl4pPr>
            <a:lvl5pPr>
              <a:defRPr sz="1400"/>
            </a:lvl5pPr>
          </a:lstStyle>
          <a:p>
            <a:pPr lvl="0"/>
            <a:r>
              <a:rPr lang="en-US"/>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8204309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guide id="4" pos="2720">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ubhead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581331F8-6172-016F-FC39-27F13F84DD18}"/>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840480" cy="609398"/>
          </a:xfrm>
        </p:spPr>
        <p:txBody>
          <a:bodyPr/>
          <a:lstStyle>
            <a:lvl1pPr>
              <a:defRPr>
                <a:solidFill>
                  <a:schemeClr val="tx1"/>
                </a:solidFill>
                <a:latin typeface="+mj-lt"/>
              </a:defRPr>
            </a:lvl1pPr>
          </a:lstStyle>
          <a:p>
            <a:r>
              <a:rPr lang="en-US"/>
              <a:t>Slide title; Georgia Pro 22pt regular,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840480" cy="492443"/>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3166577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 Left Rail">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7033015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498473"/>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 Dynamic O">
    <p:spTree>
      <p:nvGrpSpPr>
        <p:cNvPr id="1" name=""/>
        <p:cNvGrpSpPr/>
        <p:nvPr/>
      </p:nvGrpSpPr>
      <p:grpSpPr>
        <a:xfrm>
          <a:off x="0" y="0"/>
          <a:ext cx="0" cy="0"/>
          <a:chOff x="0" y="0"/>
          <a:chExt cx="0" cy="0"/>
        </a:xfrm>
      </p:grpSpPr>
      <p:cxnSp>
        <p:nvCxnSpPr>
          <p:cNvPr id="10" name="Stroke">
            <a:extLst>
              <a:ext uri="{FF2B5EF4-FFF2-40B4-BE49-F238E27FC236}">
                <a16:creationId xmlns:a16="http://schemas.microsoft.com/office/drawing/2014/main" id="{2B3D0455-97C9-6B15-468A-48954B80E220}"/>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pic>
        <p:nvPicPr>
          <p:cNvPr id="9" name="Dynamic O">
            <a:extLst>
              <a:ext uri="{FF2B5EF4-FFF2-40B4-BE49-F238E27FC236}">
                <a16:creationId xmlns:a16="http://schemas.microsoft.com/office/drawing/2014/main" id="{2DAEF8D2-19A9-6266-45C3-0C543F40669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58916410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head - Dynamic O">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7" name="Dynamic O">
            <a:extLst>
              <a:ext uri="{FF2B5EF4-FFF2-40B4-BE49-F238E27FC236}">
                <a16:creationId xmlns:a16="http://schemas.microsoft.com/office/drawing/2014/main" id="{B6360653-C8FF-57B1-C6F2-74B14BEF6D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71404781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Two Lines - Dynamic O">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pic>
        <p:nvPicPr>
          <p:cNvPr id="4" name="Dynamic O">
            <a:extLst>
              <a:ext uri="{FF2B5EF4-FFF2-40B4-BE49-F238E27FC236}">
                <a16:creationId xmlns:a16="http://schemas.microsoft.com/office/drawing/2014/main" id="{C7D6EF7F-409E-5E5A-0010-087530584C3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4014701733"/>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 Dynamic O">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398201" y="1557210"/>
            <a:ext cx="774065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8" name="Dynamic O">
            <a:extLst>
              <a:ext uri="{FF2B5EF4-FFF2-40B4-BE49-F238E27FC236}">
                <a16:creationId xmlns:a16="http://schemas.microsoft.com/office/drawing/2014/main" id="{B7010C59-C99C-6A30-D988-20EDF6E7BC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47923251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 Dynamic O">
    <p:bg bwMode="gray">
      <p:bgRef idx="1001">
        <a:schemeClr val="bg1"/>
      </p:bgRef>
    </p:bg>
    <p:spTree>
      <p:nvGrpSpPr>
        <p:cNvPr id="1" name=""/>
        <p:cNvGrpSpPr/>
        <p:nvPr/>
      </p:nvGrpSpPr>
      <p:grpSpPr>
        <a:xfrm>
          <a:off x="0" y="0"/>
          <a:ext cx="0" cy="0"/>
          <a:chOff x="0" y="0"/>
          <a:chExt cx="0" cy="0"/>
        </a:xfrm>
      </p:grpSpPr>
      <p:pic>
        <p:nvPicPr>
          <p:cNvPr id="5" name="Dynamic O">
            <a:extLst>
              <a:ext uri="{FF2B5EF4-FFF2-40B4-BE49-F238E27FC236}">
                <a16:creationId xmlns:a16="http://schemas.microsoft.com/office/drawing/2014/main" id="{43D14A94-F29C-229F-3EC0-7FEF399A9B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004746824"/>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673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SpPr/>
          <p:nvPr/>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46619" cy="2871369"/>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Georgia Pro 32pt, sentence case. Don’t modify size or placement of textbox.”</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5713686" y="5207977"/>
            <a:ext cx="4800600" cy="215444"/>
          </a:xfrm>
        </p:spPr>
        <p:txBody>
          <a:bodyPr wrap="square" anchor="b">
            <a:spAutoFit/>
          </a:bodyPr>
          <a:lstStyle>
            <a:lvl1pPr algn="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5713686" y="5449865"/>
            <a:ext cx="4800600" cy="184666"/>
          </a:xfrm>
        </p:spPr>
        <p:txBody>
          <a:bodyPr wrap="square" anchor="t">
            <a:spAutoFit/>
          </a:bodyPr>
          <a:lstStyle>
            <a:lvl1pPr algn="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6B997ACD-FFD4-42B7-9BA4-F3C2403892BC}"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886210125"/>
      </p:ext>
    </p:extLst>
  </p:cSld>
  <p:clrMapOvr>
    <a:masterClrMapping/>
  </p:clrMapOvr>
  <p:extLst>
    <p:ext uri="{DCECCB84-F9BA-43D5-87BE-67443E8EF086}">
      <p15:sldGuideLst xmlns:p15="http://schemas.microsoft.com/office/powerpoint/2012/main">
        <p15:guide id="1" orient="horz" pos="1251">
          <p15:clr>
            <a:srgbClr val="5ACBF0"/>
          </p15:clr>
        </p15:guide>
        <p15:guide id="2" pos="1053">
          <p15:clr>
            <a:srgbClr val="5ACBF0"/>
          </p15:clr>
        </p15:guide>
        <p15:guide id="3" pos="6630">
          <p15:clr>
            <a:srgbClr val="5ACBF0"/>
          </p15:clr>
        </p15:guide>
        <p15:guide id="4" orient="horz" pos="307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2" name="Quotemark">
            <a:extLst>
              <a:ext uri="{FF2B5EF4-FFF2-40B4-BE49-F238E27FC236}">
                <a16:creationId xmlns:a16="http://schemas.microsoft.com/office/drawing/2014/main" id="{D0DB7721-8B40-E9C3-9C0E-F32FEBBA4C5D}"/>
              </a:ext>
              <a:ext uri="{C183D7F6-B498-43B3-948B-1728B52AA6E4}">
                <adec:decorative xmlns:adec="http://schemas.microsoft.com/office/drawing/2017/decorative" val="1"/>
              </a:ext>
            </a:extLst>
          </p:cNvPr>
          <p:cNvSpPr/>
          <p:nvPr userDrawn="1"/>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51392" cy="2011126"/>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Georgia Pro 32pt, sentence case. Don’t modify size or placement of textbox.”</a:t>
            </a:r>
          </a:p>
        </p:txBody>
      </p:sp>
      <p:sp>
        <p:nvSpPr>
          <p:cNvPr id="13" name="Headshot Placeholder">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3337823" y="4492053"/>
            <a:ext cx="1046830" cy="1046830"/>
          </a:xfrm>
          <a:prstGeom prst="ellipse">
            <a:avLst/>
          </a:prstGeom>
        </p:spPr>
        <p:txBody>
          <a:bodyPr>
            <a:normAutofit/>
          </a:bodyPr>
          <a:lstStyle>
            <a:lvl1pPr algn="ctr">
              <a:spcBef>
                <a:spcPts val="0"/>
              </a:spcBef>
              <a:defRPr sz="800">
                <a:solidFill>
                  <a:schemeClr val="tx1"/>
                </a:solidFill>
              </a:defRPr>
            </a:lvl1pPr>
          </a:lstStyle>
          <a:p>
            <a:r>
              <a:rPr lang="en-US"/>
              <a:t>Insert attribution</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4673162" y="4786149"/>
            <a:ext cx="3657600" cy="215444"/>
          </a:xfrm>
        </p:spPr>
        <p:txBody>
          <a:bodyPr wrap="square" anchor="b">
            <a:spAutoFit/>
          </a:bodyPr>
          <a:lstStyle>
            <a:lvl1pPr algn="l">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4673162" y="5028037"/>
            <a:ext cx="3657600" cy="184666"/>
          </a:xfrm>
        </p:spPr>
        <p:txBody>
          <a:bodyPr wrap="square" anchor="t">
            <a:spAutoFit/>
          </a:bodyPr>
          <a:lstStyle>
            <a:lvl1pPr algn="l">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2BD6EE-B5F9-44F3-A830-8ED994B9F4E4}"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380717078"/>
      </p:ext>
    </p:extLst>
  </p:cSld>
  <p:clrMapOvr>
    <a:masterClrMapping/>
  </p:clrMapOvr>
  <p:extLst>
    <p:ext uri="{DCECCB84-F9BA-43D5-87BE-67443E8EF086}">
      <p15:sldGuideLst xmlns:p15="http://schemas.microsoft.com/office/powerpoint/2012/main">
        <p15:guide id="1" pos="1053">
          <p15:clr>
            <a:srgbClr val="5ACBF0"/>
          </p15:clr>
        </p15:guide>
        <p15:guide id="2" pos="6632">
          <p15:clr>
            <a:srgbClr val="5ACBF0"/>
          </p15:clr>
        </p15:guide>
        <p15:guide id="3" orient="horz" pos="1248">
          <p15:clr>
            <a:srgbClr val="5ACBF0"/>
          </p15:clr>
        </p15:guide>
        <p15:guide id="4" orient="horz" pos="2522">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3828346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g Fact - Sky Blue">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542504797"/>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ig Fact - Dawn">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6172958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6F5C39BF-69B3-2837-3539-9EC6AC63B6E4}"/>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1">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1">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7" name="Fact Placeholder 2">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8" name="Content Placeholder 2">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188F3D36-6F24-466D-BEC2-9B7949FEAF1E}"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68627436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06884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0"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24186376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losing Slide - Alt">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0" name="Optum Logo" descr="Optum">
            <a:extLst>
              <a:ext uri="{FF2B5EF4-FFF2-40B4-BE49-F238E27FC236}">
                <a16:creationId xmlns:a16="http://schemas.microsoft.com/office/drawing/2014/main" id="{1A7A9804-2478-CD00-E2AF-A61CDE018953}"/>
              </a:ext>
              <a:ext uri="{C183D7F6-B498-43B3-948B-1728B52AA6E4}">
                <adec:decorative xmlns:adec="http://schemas.microsoft.com/office/drawing/2017/decorative" val="0"/>
              </a:ext>
            </a:extLst>
          </p:cNvPr>
          <p:cNvSpPr/>
          <p:nvPr/>
        </p:nvSpPr>
        <p:spPr bwMode="gray">
          <a:xfrm>
            <a:off x="184404" y="1349116"/>
            <a:ext cx="11823192" cy="3534131"/>
          </a:xfrm>
          <a:custGeom>
            <a:avLst/>
            <a:gdLst>
              <a:gd name="connsiteX0" fmla="*/ 3997943 w 11823192"/>
              <a:gd name="connsiteY0" fmla="*/ 1184415 h 3534131"/>
              <a:gd name="connsiteX1" fmla="*/ 3511808 w 11823192"/>
              <a:gd name="connsiteY1" fmla="*/ 1697581 h 3534131"/>
              <a:gd name="connsiteX2" fmla="*/ 3997943 w 11823192"/>
              <a:gd name="connsiteY2" fmla="*/ 2214536 h 3534131"/>
              <a:gd name="connsiteX3" fmla="*/ 4480290 w 11823192"/>
              <a:gd name="connsiteY3" fmla="*/ 1697581 h 3534131"/>
              <a:gd name="connsiteX4" fmla="*/ 3997943 w 11823192"/>
              <a:gd name="connsiteY4" fmla="*/ 1184415 h 3534131"/>
              <a:gd name="connsiteX5" fmla="*/ 6725845 w 11823192"/>
              <a:gd name="connsiteY5" fmla="*/ 663672 h 3534131"/>
              <a:gd name="connsiteX6" fmla="*/ 7397273 w 11823192"/>
              <a:gd name="connsiteY6" fmla="*/ 663672 h 3534131"/>
              <a:gd name="connsiteX7" fmla="*/ 7397273 w 11823192"/>
              <a:gd name="connsiteY7" fmla="*/ 1925406 h 3534131"/>
              <a:gd name="connsiteX8" fmla="*/ 7690538 w 11823192"/>
              <a:gd name="connsiteY8" fmla="*/ 2222457 h 3534131"/>
              <a:gd name="connsiteX9" fmla="*/ 7983804 w 11823192"/>
              <a:gd name="connsiteY9" fmla="*/ 1925406 h 3534131"/>
              <a:gd name="connsiteX10" fmla="*/ 7983804 w 11823192"/>
              <a:gd name="connsiteY10" fmla="*/ 663672 h 3534131"/>
              <a:gd name="connsiteX11" fmla="*/ 8655232 w 11823192"/>
              <a:gd name="connsiteY11" fmla="*/ 663672 h 3534131"/>
              <a:gd name="connsiteX12" fmla="*/ 8655232 w 11823192"/>
              <a:gd name="connsiteY12" fmla="*/ 1944521 h 3534131"/>
              <a:gd name="connsiteX13" fmla="*/ 8654887 w 11823192"/>
              <a:gd name="connsiteY13" fmla="*/ 1944521 h 3534131"/>
              <a:gd name="connsiteX14" fmla="*/ 7690366 w 11823192"/>
              <a:gd name="connsiteY14" fmla="*/ 2777986 h 3534131"/>
              <a:gd name="connsiteX15" fmla="*/ 6725845 w 11823192"/>
              <a:gd name="connsiteY15" fmla="*/ 1944521 h 3534131"/>
              <a:gd name="connsiteX16" fmla="*/ 1227678 w 11823192"/>
              <a:gd name="connsiteY16" fmla="*/ 640425 h 3534131"/>
              <a:gd name="connsiteX17" fmla="*/ 525426 w 11823192"/>
              <a:gd name="connsiteY17" fmla="*/ 1381244 h 3534131"/>
              <a:gd name="connsiteX18" fmla="*/ 1227678 w 11823192"/>
              <a:gd name="connsiteY18" fmla="*/ 2122063 h 3534131"/>
              <a:gd name="connsiteX19" fmla="*/ 1929931 w 11823192"/>
              <a:gd name="connsiteY19" fmla="*/ 1381244 h 3534131"/>
              <a:gd name="connsiteX20" fmla="*/ 1227678 w 11823192"/>
              <a:gd name="connsiteY20" fmla="*/ 640425 h 3534131"/>
              <a:gd name="connsiteX21" fmla="*/ 10086256 w 11823192"/>
              <a:gd name="connsiteY21" fmla="*/ 632848 h 3534131"/>
              <a:gd name="connsiteX22" fmla="*/ 10676576 w 11823192"/>
              <a:gd name="connsiteY22" fmla="*/ 968472 h 3534131"/>
              <a:gd name="connsiteX23" fmla="*/ 11309258 w 11823192"/>
              <a:gd name="connsiteY23" fmla="*/ 632848 h 3534131"/>
              <a:gd name="connsiteX24" fmla="*/ 11728549 w 11823192"/>
              <a:gd name="connsiteY24" fmla="*/ 762880 h 3534131"/>
              <a:gd name="connsiteX25" fmla="*/ 11823192 w 11823192"/>
              <a:gd name="connsiteY25" fmla="*/ 851969 h 3534131"/>
              <a:gd name="connsiteX26" fmla="*/ 11823192 w 11823192"/>
              <a:gd name="connsiteY26" fmla="*/ 2731835 h 3534131"/>
              <a:gd name="connsiteX27" fmla="*/ 11340082 w 11823192"/>
              <a:gd name="connsiteY27" fmla="*/ 2731835 h 3534131"/>
              <a:gd name="connsiteX28" fmla="*/ 11340082 w 11823192"/>
              <a:gd name="connsiteY28" fmla="*/ 1500925 h 3534131"/>
              <a:gd name="connsiteX29" fmla="*/ 11058355 w 11823192"/>
              <a:gd name="connsiteY29" fmla="*/ 1180627 h 3534131"/>
              <a:gd name="connsiteX30" fmla="*/ 10776627 w 11823192"/>
              <a:gd name="connsiteY30" fmla="*/ 1500925 h 3534131"/>
              <a:gd name="connsiteX31" fmla="*/ 10776627 w 11823192"/>
              <a:gd name="connsiteY31" fmla="*/ 2731663 h 3534131"/>
              <a:gd name="connsiteX32" fmla="*/ 10109160 w 11823192"/>
              <a:gd name="connsiteY32" fmla="*/ 2731663 h 3534131"/>
              <a:gd name="connsiteX33" fmla="*/ 10109160 w 11823192"/>
              <a:gd name="connsiteY33" fmla="*/ 1500925 h 3534131"/>
              <a:gd name="connsiteX34" fmla="*/ 9827432 w 11823192"/>
              <a:gd name="connsiteY34" fmla="*/ 1180627 h 3534131"/>
              <a:gd name="connsiteX35" fmla="*/ 9545705 w 11823192"/>
              <a:gd name="connsiteY35" fmla="*/ 1500925 h 3534131"/>
              <a:gd name="connsiteX36" fmla="*/ 9545705 w 11823192"/>
              <a:gd name="connsiteY36" fmla="*/ 2731663 h 3534131"/>
              <a:gd name="connsiteX37" fmla="*/ 8878581 w 11823192"/>
              <a:gd name="connsiteY37" fmla="*/ 2731663 h 3534131"/>
              <a:gd name="connsiteX38" fmla="*/ 8878581 w 11823192"/>
              <a:gd name="connsiteY38" fmla="*/ 663672 h 3534131"/>
              <a:gd name="connsiteX39" fmla="*/ 9534511 w 11823192"/>
              <a:gd name="connsiteY39" fmla="*/ 663672 h 3534131"/>
              <a:gd name="connsiteX40" fmla="*/ 9538299 w 11823192"/>
              <a:gd name="connsiteY40" fmla="*/ 910612 h 3534131"/>
              <a:gd name="connsiteX41" fmla="*/ 10086256 w 11823192"/>
              <a:gd name="connsiteY41" fmla="*/ 632848 h 3534131"/>
              <a:gd name="connsiteX42" fmla="*/ 4152239 w 11823192"/>
              <a:gd name="connsiteY42" fmla="*/ 632675 h 3534131"/>
              <a:gd name="connsiteX43" fmla="*/ 5151545 w 11823192"/>
              <a:gd name="connsiteY43" fmla="*/ 1697581 h 3534131"/>
              <a:gd name="connsiteX44" fmla="*/ 4152239 w 11823192"/>
              <a:gd name="connsiteY44" fmla="*/ 2766276 h 3534131"/>
              <a:gd name="connsiteX45" fmla="*/ 3511808 w 11823192"/>
              <a:gd name="connsiteY45" fmla="*/ 2515548 h 3534131"/>
              <a:gd name="connsiteX46" fmla="*/ 3511808 w 11823192"/>
              <a:gd name="connsiteY46" fmla="*/ 3534131 h 3534131"/>
              <a:gd name="connsiteX47" fmla="*/ 2840552 w 11823192"/>
              <a:gd name="connsiteY47" fmla="*/ 3534131 h 3534131"/>
              <a:gd name="connsiteX48" fmla="*/ 2840552 w 11823192"/>
              <a:gd name="connsiteY48" fmla="*/ 663500 h 3534131"/>
              <a:gd name="connsiteX49" fmla="*/ 3488732 w 11823192"/>
              <a:gd name="connsiteY49" fmla="*/ 663500 h 3534131"/>
              <a:gd name="connsiteX50" fmla="*/ 3492521 w 11823192"/>
              <a:gd name="connsiteY50" fmla="*/ 902690 h 3534131"/>
              <a:gd name="connsiteX51" fmla="*/ 4152239 w 11823192"/>
              <a:gd name="connsiteY51" fmla="*/ 632675 h 3534131"/>
              <a:gd name="connsiteX52" fmla="*/ 5325128 w 11823192"/>
              <a:gd name="connsiteY52" fmla="*/ 135007 h 3534131"/>
              <a:gd name="connsiteX53" fmla="*/ 5992596 w 11823192"/>
              <a:gd name="connsiteY53" fmla="*/ 135007 h 3534131"/>
              <a:gd name="connsiteX54" fmla="*/ 5992596 w 11823192"/>
              <a:gd name="connsiteY54" fmla="*/ 663672 h 3534131"/>
              <a:gd name="connsiteX55" fmla="*/ 6544341 w 11823192"/>
              <a:gd name="connsiteY55" fmla="*/ 663672 h 3534131"/>
              <a:gd name="connsiteX56" fmla="*/ 6544341 w 11823192"/>
              <a:gd name="connsiteY56" fmla="*/ 1196125 h 3534131"/>
              <a:gd name="connsiteX57" fmla="*/ 5992596 w 11823192"/>
              <a:gd name="connsiteY57" fmla="*/ 1196125 h 3534131"/>
              <a:gd name="connsiteX58" fmla="*/ 5992596 w 11823192"/>
              <a:gd name="connsiteY58" fmla="*/ 1936772 h 3534131"/>
              <a:gd name="connsiteX59" fmla="*/ 6289650 w 11823192"/>
              <a:gd name="connsiteY59" fmla="*/ 2206787 h 3534131"/>
              <a:gd name="connsiteX60" fmla="*/ 6544341 w 11823192"/>
              <a:gd name="connsiteY60" fmla="*/ 2164425 h 3534131"/>
              <a:gd name="connsiteX61" fmla="*/ 6544341 w 11823192"/>
              <a:gd name="connsiteY61" fmla="*/ 2693089 h 3534131"/>
              <a:gd name="connsiteX62" fmla="*/ 6119855 w 11823192"/>
              <a:gd name="connsiteY62" fmla="*/ 2762487 h 3534131"/>
              <a:gd name="connsiteX63" fmla="*/ 5325128 w 11823192"/>
              <a:gd name="connsiteY63" fmla="*/ 1990844 h 3534131"/>
              <a:gd name="connsiteX64" fmla="*/ 1227678 w 11823192"/>
              <a:gd name="connsiteY64" fmla="*/ 0 h 3534131"/>
              <a:gd name="connsiteX65" fmla="*/ 2639761 w 11823192"/>
              <a:gd name="connsiteY65" fmla="*/ 1381244 h 3534131"/>
              <a:gd name="connsiteX66" fmla="*/ 1227678 w 11823192"/>
              <a:gd name="connsiteY66" fmla="*/ 2762487 h 3534131"/>
              <a:gd name="connsiteX67" fmla="*/ 53840 w 11823192"/>
              <a:gd name="connsiteY67" fmla="*/ 2155714 h 3534131"/>
              <a:gd name="connsiteX68" fmla="*/ 0 w 11823192"/>
              <a:gd name="connsiteY68" fmla="*/ 2068189 h 3534131"/>
              <a:gd name="connsiteX69" fmla="*/ 0 w 11823192"/>
              <a:gd name="connsiteY69" fmla="*/ 694299 h 3534131"/>
              <a:gd name="connsiteX70" fmla="*/ 53840 w 11823192"/>
              <a:gd name="connsiteY70" fmla="*/ 606774 h 3534131"/>
              <a:gd name="connsiteX71" fmla="*/ 1227678 w 11823192"/>
              <a:gd name="connsiteY71" fmla="*/ 0 h 353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cap="flat">
            <a:noFill/>
            <a:prstDash val="solid"/>
            <a:miter/>
          </a:ln>
        </p:spPr>
        <p:txBody>
          <a:bodyPr rtlCol="0" anchor="ctr"/>
          <a:lstStyle/>
          <a:p>
            <a:endParaRPr lang="en-US"/>
          </a:p>
        </p:txBody>
      </p:sp>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3147865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1842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70105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04220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860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16657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8017264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143186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1285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704462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304155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5802487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96962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Instruc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3310477-1515-4A0A-A5E0-880E71B4E025}"/>
              </a:ext>
              <a:ext uri="{C183D7F6-B498-43B3-948B-1728B52AA6E4}">
                <adec:decorative xmlns:adec="http://schemas.microsoft.com/office/drawing/2017/decorative" val="1"/>
              </a:ext>
            </a:extLst>
          </p:cNvPr>
          <p:cNvSpPr/>
          <p:nvPr userDrawn="1"/>
        </p:nvSpPr>
        <p:spPr bwMode="gray">
          <a:xfrm>
            <a:off x="0" y="1"/>
            <a:ext cx="4556043" cy="6858002"/>
          </a:xfrm>
          <a:prstGeom prst="rect">
            <a:avLst/>
          </a:prstGeom>
          <a:solidFill>
            <a:srgbClr val="FBF9F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0677" tIns="65339" rIns="130677" bIns="65339" numCol="1" spcCol="0" rtlCol="0" fromWordArt="0" anchor="t" anchorCtr="0" forceAA="0" compatLnSpc="1">
            <a:prstTxWarp prst="textNoShape">
              <a:avLst/>
            </a:prstTxWarp>
            <a:noAutofit/>
          </a:bodyPr>
          <a:lstStyle/>
          <a:p>
            <a:pPr algn="ctr">
              <a:spcBef>
                <a:spcPts val="714"/>
              </a:spcBef>
            </a:pPr>
            <a:endParaRPr lang="en-US" sz="1429">
              <a:solidFill>
                <a:schemeClr val="bg1"/>
              </a:solidFill>
            </a:endParaRPr>
          </a:p>
        </p:txBody>
      </p:sp>
      <p:pic>
        <p:nvPicPr>
          <p:cNvPr id="23" name="Optum logo" descr="Optum">
            <a:extLst>
              <a:ext uri="{FF2B5EF4-FFF2-40B4-BE49-F238E27FC236}">
                <a16:creationId xmlns:a16="http://schemas.microsoft.com/office/drawing/2014/main" id="{33540F47-FA69-40F1-B951-BB6DF057FA9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824247" y="523904"/>
            <a:ext cx="2438884" cy="706174"/>
          </a:xfrm>
          <a:prstGeom prst="rect">
            <a:avLst/>
          </a:prstGeom>
        </p:spPr>
      </p:pic>
      <p:sp>
        <p:nvSpPr>
          <p:cNvPr id="8" name="TextBox 7">
            <a:extLst>
              <a:ext uri="{FF2B5EF4-FFF2-40B4-BE49-F238E27FC236}">
                <a16:creationId xmlns:a16="http://schemas.microsoft.com/office/drawing/2014/main" id="{144308BD-A2EF-404E-BE32-E7DA086E8C83}"/>
              </a:ext>
            </a:extLst>
          </p:cNvPr>
          <p:cNvSpPr txBox="1"/>
          <p:nvPr userDrawn="1"/>
        </p:nvSpPr>
        <p:spPr bwMode="gray">
          <a:xfrm>
            <a:off x="824247" y="2388377"/>
            <a:ext cx="3211725" cy="1384995"/>
          </a:xfrm>
          <a:prstGeom prst="rect">
            <a:avLst/>
          </a:prstGeom>
          <a:noFill/>
        </p:spPr>
        <p:txBody>
          <a:bodyPr wrap="square" lIns="0" tIns="0" rIns="0" bIns="0" rtlCol="0">
            <a:spAutoFit/>
          </a:bodyPr>
          <a:lstStyle/>
          <a:p>
            <a:pPr algn="l">
              <a:lnSpc>
                <a:spcPct val="90000"/>
              </a:lnSpc>
              <a:spcBef>
                <a:spcPts val="0"/>
              </a:spcBef>
            </a:pPr>
            <a:r>
              <a:rPr lang="en-US" sz="5000" b="0" spc="0" baseline="0">
                <a:solidFill>
                  <a:schemeClr val="tx1"/>
                </a:solidFill>
                <a:latin typeface="+mj-lt"/>
              </a:rPr>
              <a:t>On-screen template</a:t>
            </a:r>
          </a:p>
        </p:txBody>
      </p:sp>
      <p:sp>
        <p:nvSpPr>
          <p:cNvPr id="10" name="TextBox 9">
            <a:extLst>
              <a:ext uri="{FF2B5EF4-FFF2-40B4-BE49-F238E27FC236}">
                <a16:creationId xmlns:a16="http://schemas.microsoft.com/office/drawing/2014/main" id="{FD38DA28-EF8F-43D1-AD7F-CCB3640760DD}"/>
              </a:ext>
            </a:extLst>
          </p:cNvPr>
          <p:cNvSpPr txBox="1"/>
          <p:nvPr userDrawn="1"/>
        </p:nvSpPr>
        <p:spPr bwMode="gray">
          <a:xfrm>
            <a:off x="822196" y="4177368"/>
            <a:ext cx="3584240" cy="200055"/>
          </a:xfrm>
          <a:prstGeom prst="rect">
            <a:avLst/>
          </a:prstGeom>
          <a:noFill/>
        </p:spPr>
        <p:txBody>
          <a:bodyPr wrap="square" lIns="0" tIns="0" rIns="0" bIns="0" rtlCol="0">
            <a:spAutoFit/>
          </a:bodyPr>
          <a:lstStyle/>
          <a:p>
            <a:pPr algn="l">
              <a:spcBef>
                <a:spcPts val="714"/>
              </a:spcBef>
            </a:pPr>
            <a:r>
              <a:rPr lang="en-US" sz="1300" noProof="0">
                <a:solidFill>
                  <a:schemeClr val="tx1"/>
                </a:solidFill>
              </a:rPr>
              <a:t>Released January 2026</a:t>
            </a:r>
          </a:p>
        </p:txBody>
      </p:sp>
      <p:pic>
        <p:nvPicPr>
          <p:cNvPr id="5" name="Picture 15">
            <a:extLst>
              <a:ext uri="{FF2B5EF4-FFF2-40B4-BE49-F238E27FC236}">
                <a16:creationId xmlns:a16="http://schemas.microsoft.com/office/drawing/2014/main" id="{988C516D-72E0-1E11-8DEB-841DAEC518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1572" r="1572"/>
          <a:stretch/>
        </p:blipFill>
        <p:spPr bwMode="gray">
          <a:xfrm>
            <a:off x="827390" y="4941778"/>
            <a:ext cx="585216" cy="604208"/>
          </a:xfrm>
          <a:prstGeom prst="rect">
            <a:avLst/>
          </a:prstGeom>
        </p:spPr>
      </p:pic>
      <p:sp>
        <p:nvSpPr>
          <p:cNvPr id="11" name="TextBox 10">
            <a:extLst>
              <a:ext uri="{FF2B5EF4-FFF2-40B4-BE49-F238E27FC236}">
                <a16:creationId xmlns:a16="http://schemas.microsoft.com/office/drawing/2014/main" id="{9145794E-DC8C-4B31-A9C2-C6C3CF44B391}"/>
              </a:ext>
            </a:extLst>
          </p:cNvPr>
          <p:cNvSpPr txBox="1"/>
          <p:nvPr userDrawn="1"/>
        </p:nvSpPr>
        <p:spPr bwMode="gray">
          <a:xfrm>
            <a:off x="822196" y="5589173"/>
            <a:ext cx="2834865" cy="507831"/>
          </a:xfrm>
          <a:prstGeom prst="rect">
            <a:avLst/>
          </a:prstGeom>
          <a:noFill/>
        </p:spPr>
        <p:txBody>
          <a:bodyPr wrap="square" lIns="0" tIns="0" rIns="0" bIns="0" rtlCol="0">
            <a:spAutoFit/>
          </a:bodyPr>
          <a:lstStyle/>
          <a:p>
            <a:pPr>
              <a:spcBef>
                <a:spcPts val="600"/>
              </a:spcBef>
            </a:pPr>
            <a:r>
              <a:rPr lang="en-US" sz="1100" b="1">
                <a:solidFill>
                  <a:schemeClr val="tx1"/>
                </a:solidFill>
              </a:rPr>
              <a:t>Reminder: </a:t>
            </a:r>
            <a:r>
              <a:rPr lang="en-US" sz="1100">
                <a:solidFill>
                  <a:schemeClr val="tx1"/>
                </a:solidFill>
              </a:rPr>
              <a:t>Download a new template from</a:t>
            </a:r>
            <a:br>
              <a:rPr lang="en-US" sz="1100">
                <a:solidFill>
                  <a:schemeClr val="tx1"/>
                </a:solidFill>
              </a:rPr>
            </a:br>
            <a:r>
              <a:rPr lang="en-US" sz="1100">
                <a:solidFill>
                  <a:schemeClr val="tx1"/>
                </a:solidFill>
              </a:rPr>
              <a:t>Optum Brand Center </a:t>
            </a:r>
            <a:r>
              <a:rPr lang="en-US" sz="1100" b="1">
                <a:solidFill>
                  <a:schemeClr val="tx1"/>
                </a:solidFill>
              </a:rPr>
              <a:t>each time</a:t>
            </a:r>
            <a:r>
              <a:rPr lang="en-US" sz="1100">
                <a:solidFill>
                  <a:schemeClr val="tx1"/>
                </a:solidFill>
              </a:rPr>
              <a:t> a document is started. Templates continuously evolve.</a:t>
            </a:r>
          </a:p>
        </p:txBody>
      </p:sp>
      <p:pic>
        <p:nvPicPr>
          <p:cNvPr id="3" name="Picture 2">
            <a:extLst>
              <a:ext uri="{FF2B5EF4-FFF2-40B4-BE49-F238E27FC236}">
                <a16:creationId xmlns:a16="http://schemas.microsoft.com/office/drawing/2014/main" id="{EB8C1BEC-5C50-EC82-6813-2CCF2BF25A5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29" r="29"/>
          <a:stretch/>
        </p:blipFill>
        <p:spPr bwMode="gray">
          <a:xfrm>
            <a:off x="5121967" y="525529"/>
            <a:ext cx="6609434" cy="3720283"/>
          </a:xfrm>
          <a:prstGeom prst="rect">
            <a:avLst/>
          </a:prstGeom>
          <a:ln w="6350">
            <a:solidFill>
              <a:schemeClr val="accent2"/>
            </a:solidFill>
          </a:ln>
        </p:spPr>
      </p:pic>
      <p:pic>
        <p:nvPicPr>
          <p:cNvPr id="18" name="Picture 17">
            <a:extLst>
              <a:ext uri="{FF2B5EF4-FFF2-40B4-BE49-F238E27FC236}">
                <a16:creationId xmlns:a16="http://schemas.microsoft.com/office/drawing/2014/main" id="{0B9B688F-3869-4ECE-BE40-DE3ADDF3F073}"/>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134" r="134"/>
          <a:stretch/>
        </p:blipFill>
        <p:spPr bwMode="gray">
          <a:xfrm>
            <a:off x="5122888" y="4248012"/>
            <a:ext cx="3298222" cy="1857119"/>
          </a:xfrm>
          <a:prstGeom prst="rect">
            <a:avLst/>
          </a:prstGeom>
          <a:ln w="6350">
            <a:solidFill>
              <a:schemeClr val="accent2"/>
            </a:solidFill>
          </a:ln>
        </p:spPr>
      </p:pic>
      <p:pic>
        <p:nvPicPr>
          <p:cNvPr id="4" name="Picture 3">
            <a:extLst>
              <a:ext uri="{FF2B5EF4-FFF2-40B4-BE49-F238E27FC236}">
                <a16:creationId xmlns:a16="http://schemas.microsoft.com/office/drawing/2014/main" id="{11A66DFB-0BA7-42B4-63AA-F29DED25E097}"/>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rcRect l="24" r="24"/>
          <a:stretch/>
        </p:blipFill>
        <p:spPr bwMode="gray">
          <a:xfrm>
            <a:off x="8421497" y="4245508"/>
            <a:ext cx="3309903" cy="1859623"/>
          </a:xfrm>
          <a:prstGeom prst="rect">
            <a:avLst/>
          </a:prstGeom>
          <a:ln w="6350">
            <a:solidFill>
              <a:schemeClr val="accent2"/>
            </a:solidFill>
          </a:ln>
        </p:spPr>
      </p:pic>
    </p:spTree>
    <p:extLst>
      <p:ext uri="{BB962C8B-B14F-4D97-AF65-F5344CB8AC3E}">
        <p14:creationId xmlns:p14="http://schemas.microsoft.com/office/powerpoint/2010/main" val="343814377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43EA1280-EBAC-4C3E-A925-EA7813219784}"/>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Covers</a:t>
            </a:r>
          </a:p>
        </p:txBody>
      </p:sp>
      <p:cxnSp>
        <p:nvCxnSpPr>
          <p:cNvPr id="10" name="Arrow">
            <a:extLst>
              <a:ext uri="{FF2B5EF4-FFF2-40B4-BE49-F238E27FC236}">
                <a16:creationId xmlns:a16="http://schemas.microsoft.com/office/drawing/2014/main" id="{D7EC898B-19BB-48BB-BC12-6D8AA83D7AD6}"/>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5047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over">
    <p:bg>
      <p:bgRef idx="1001">
        <a:schemeClr val="bg1"/>
      </p:bgRef>
    </p:bg>
    <p:spTree>
      <p:nvGrpSpPr>
        <p:cNvPr id="1" name=""/>
        <p:cNvGrpSpPr/>
        <p:nvPr/>
      </p:nvGrpSpPr>
      <p:grpSpPr>
        <a:xfrm>
          <a:off x="0" y="0"/>
          <a:ext cx="0" cy="0"/>
          <a:chOff x="0" y="0"/>
          <a:chExt cx="0" cy="0"/>
        </a:xfrm>
      </p:grpSpPr>
      <p:pic>
        <p:nvPicPr>
          <p:cNvPr id="14" name="Effervescent Os">
            <a:extLst>
              <a:ext uri="{FF2B5EF4-FFF2-40B4-BE49-F238E27FC236}">
                <a16:creationId xmlns:a16="http://schemas.microsoft.com/office/drawing/2014/main" id="{D1C60B49-87D9-5317-CAB6-BAA4F3ABDF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pic>
        <p:nvPicPr>
          <p:cNvPr id="19" name="Optum Logo" descr="Optum">
            <a:extLst>
              <a:ext uri="{FF2B5EF4-FFF2-40B4-BE49-F238E27FC236}">
                <a16:creationId xmlns:a16="http://schemas.microsoft.com/office/drawing/2014/main" id="{EA1167EF-E311-C282-E3BA-7E1A3F1F9C6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2181661" y="860296"/>
            <a:ext cx="1913130" cy="553943"/>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187967" y="2193123"/>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187967" y="4125732"/>
            <a:ext cx="45720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187967" y="5334953"/>
            <a:ext cx="45720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3553863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368">
          <p15:clr>
            <a:srgbClr val="5ACBF0"/>
          </p15:clr>
        </p15:guide>
        <p15:guide id="3" orient="horz" pos="2431">
          <p15:clr>
            <a:srgbClr val="5ACBF0"/>
          </p15:clr>
        </p15:guide>
        <p15:guide id="4" orient="horz" pos="2590">
          <p15:clr>
            <a:srgbClr val="5ACBF0"/>
          </p15:clr>
        </p15:guide>
        <p15:guide id="5" pos="6280">
          <p15:clr>
            <a:srgbClr val="5ACBF0"/>
          </p15:clr>
        </p15:guide>
        <p15:guide id="6" pos="4260">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Cover 02">
    <p:bg>
      <p:bgRef idx="1001">
        <a:schemeClr val="bg1"/>
      </p:bgRef>
    </p:bg>
    <p:spTree>
      <p:nvGrpSpPr>
        <p:cNvPr id="1" name=""/>
        <p:cNvGrpSpPr/>
        <p:nvPr/>
      </p:nvGrpSpPr>
      <p:grpSpPr>
        <a:xfrm>
          <a:off x="0" y="0"/>
          <a:ext cx="0" cy="0"/>
          <a:chOff x="0" y="0"/>
          <a:chExt cx="0" cy="0"/>
        </a:xfrm>
      </p:grpSpPr>
      <p:pic>
        <p:nvPicPr>
          <p:cNvPr id="5" name="Optum Logo" descr="Optum">
            <a:extLst>
              <a:ext uri="{FF2B5EF4-FFF2-40B4-BE49-F238E27FC236}">
                <a16:creationId xmlns:a16="http://schemas.microsoft.com/office/drawing/2014/main" id="{DF18BD8F-34A2-D1E4-F62D-FAB96200D9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956816" cy="685800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2797608" y="1614065"/>
            <a:ext cx="7772400" cy="1661993"/>
          </a:xfrm>
        </p:spPr>
        <p:txBody>
          <a:bodyPr anchor="b"/>
          <a:lstStyle>
            <a:lvl1pPr>
              <a:defRPr sz="60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2797608" y="3478603"/>
            <a:ext cx="59436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r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2797608" y="4654602"/>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2797608" y="4993156"/>
            <a:ext cx="59436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9273351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1752">
          <p15:clr>
            <a:srgbClr val="5ACBF0"/>
          </p15:clr>
        </p15:guide>
        <p15:guide id="3" orient="horz" pos="2068">
          <p15:clr>
            <a:srgbClr val="5ACBF0"/>
          </p15:clr>
        </p15:guide>
        <p15:guide id="4" orient="horz" pos="2180">
          <p15:clr>
            <a:srgbClr val="5ACBF0"/>
          </p15:clr>
        </p15:guide>
        <p15:guide id="5" pos="6666">
          <p15:clr>
            <a:srgbClr val="5ACBF0"/>
          </p15:clr>
        </p15:guide>
        <p15:guide id="6" pos="551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over 03">
    <p:bg>
      <p:bgPr>
        <a:solidFill>
          <a:schemeClr val="bg2"/>
        </a:solidFill>
        <a:effectLst/>
      </p:bgPr>
    </p:bg>
    <p:spTree>
      <p:nvGrpSpPr>
        <p:cNvPr id="1" name=""/>
        <p:cNvGrpSpPr/>
        <p:nvPr/>
      </p:nvGrpSpPr>
      <p:grpSpPr>
        <a:xfrm>
          <a:off x="0" y="0"/>
          <a:ext cx="0" cy="0"/>
          <a:chOff x="0" y="0"/>
          <a:chExt cx="0" cy="0"/>
        </a:xfrm>
      </p:grpSpPr>
      <p:grpSp>
        <p:nvGrpSpPr>
          <p:cNvPr id="20" name="Stadium and circles">
            <a:extLst>
              <a:ext uri="{FF2B5EF4-FFF2-40B4-BE49-F238E27FC236}">
                <a16:creationId xmlns:a16="http://schemas.microsoft.com/office/drawing/2014/main" id="{23BC9AAE-0BEC-DEC5-9E59-ABD1E467B4DF}"/>
              </a:ext>
              <a:ext uri="{C183D7F6-B498-43B3-948B-1728B52AA6E4}">
                <adec:decorative xmlns:adec="http://schemas.microsoft.com/office/drawing/2017/decorative" val="1"/>
              </a:ext>
            </a:extLst>
          </p:cNvPr>
          <p:cNvGrpSpPr/>
          <p:nvPr userDrawn="1"/>
        </p:nvGrpSpPr>
        <p:grpSpPr bwMode="gray">
          <a:xfrm>
            <a:off x="6377781" y="552369"/>
            <a:ext cx="5814219" cy="5797909"/>
            <a:chOff x="6377781" y="552369"/>
            <a:chExt cx="5814219" cy="5797909"/>
          </a:xfrm>
        </p:grpSpPr>
        <p:sp>
          <p:nvSpPr>
            <p:cNvPr id="36" name="Oval 35">
              <a:extLst>
                <a:ext uri="{FF2B5EF4-FFF2-40B4-BE49-F238E27FC236}">
                  <a16:creationId xmlns:a16="http://schemas.microsoft.com/office/drawing/2014/main" id="{F89AB704-FC51-EB86-838F-E814A0310B37}"/>
                </a:ext>
              </a:extLst>
            </p:cNvPr>
            <p:cNvSpPr/>
            <p:nvPr userDrawn="1"/>
          </p:nvSpPr>
          <p:spPr bwMode="gray">
            <a:xfrm>
              <a:off x="9869185" y="5188990"/>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7" name="Rectangle: Rounded Corners 36">
              <a:extLst>
                <a:ext uri="{FF2B5EF4-FFF2-40B4-BE49-F238E27FC236}">
                  <a16:creationId xmlns:a16="http://schemas.microsoft.com/office/drawing/2014/main" id="{4842FE88-32AA-5F17-A770-3F78643AAEC7}"/>
                </a:ext>
              </a:extLst>
            </p:cNvPr>
            <p:cNvSpPr/>
            <p:nvPr userDrawn="1"/>
          </p:nvSpPr>
          <p:spPr bwMode="gray">
            <a:xfrm>
              <a:off x="6377781" y="5188990"/>
              <a:ext cx="3493785"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34469358-F45B-0BF7-73BA-787CF55C2CE0}"/>
                </a:ext>
              </a:extLst>
            </p:cNvPr>
            <p:cNvSpPr/>
            <p:nvPr userDrawn="1"/>
          </p:nvSpPr>
          <p:spPr bwMode="gray">
            <a:xfrm>
              <a:off x="11032577" y="5188990"/>
              <a:ext cx="1159423" cy="115942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5" name="Oval 14">
              <a:extLst>
                <a:ext uri="{FF2B5EF4-FFF2-40B4-BE49-F238E27FC236}">
                  <a16:creationId xmlns:a16="http://schemas.microsoft.com/office/drawing/2014/main" id="{5E1253CA-8370-4395-2B7B-3C392688BA8F}"/>
                </a:ext>
              </a:extLst>
            </p:cNvPr>
            <p:cNvSpPr/>
            <p:nvPr userDrawn="1"/>
          </p:nvSpPr>
          <p:spPr bwMode="gray">
            <a:xfrm>
              <a:off x="11032577"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0" name="Oval 39">
              <a:extLst>
                <a:ext uri="{FF2B5EF4-FFF2-40B4-BE49-F238E27FC236}">
                  <a16:creationId xmlns:a16="http://schemas.microsoft.com/office/drawing/2014/main" id="{05638A30-970F-56A6-1ABF-5C22B175E163}"/>
                </a:ext>
              </a:extLst>
            </p:cNvPr>
            <p:cNvSpPr/>
            <p:nvPr userDrawn="1"/>
          </p:nvSpPr>
          <p:spPr bwMode="gray">
            <a:xfrm>
              <a:off x="11032577"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1" name="Oval 40">
              <a:extLst>
                <a:ext uri="{FF2B5EF4-FFF2-40B4-BE49-F238E27FC236}">
                  <a16:creationId xmlns:a16="http://schemas.microsoft.com/office/drawing/2014/main" id="{2D46F4D7-4BDD-4F15-7D64-3F1E2AF080A5}"/>
                </a:ext>
              </a:extLst>
            </p:cNvPr>
            <p:cNvSpPr/>
            <p:nvPr userDrawn="1"/>
          </p:nvSpPr>
          <p:spPr bwMode="gray">
            <a:xfrm>
              <a:off x="11032577"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Oval 41">
              <a:extLst>
                <a:ext uri="{FF2B5EF4-FFF2-40B4-BE49-F238E27FC236}">
                  <a16:creationId xmlns:a16="http://schemas.microsoft.com/office/drawing/2014/main" id="{C8B6397E-9EB7-A830-5A0D-B8A8CA659419}"/>
                </a:ext>
              </a:extLst>
            </p:cNvPr>
            <p:cNvSpPr/>
            <p:nvPr userDrawn="1"/>
          </p:nvSpPr>
          <p:spPr bwMode="gray">
            <a:xfrm>
              <a:off x="11032577"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6" name="Oval 45">
              <a:extLst>
                <a:ext uri="{FF2B5EF4-FFF2-40B4-BE49-F238E27FC236}">
                  <a16:creationId xmlns:a16="http://schemas.microsoft.com/office/drawing/2014/main" id="{C3FE14A0-6A0F-4F3A-E7B1-2B16FA868838}"/>
                </a:ext>
              </a:extLst>
            </p:cNvPr>
            <p:cNvSpPr/>
            <p:nvPr userDrawn="1"/>
          </p:nvSpPr>
          <p:spPr bwMode="gray">
            <a:xfrm>
              <a:off x="9869185" y="2872493"/>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7" name="Oval 46">
              <a:extLst>
                <a:ext uri="{FF2B5EF4-FFF2-40B4-BE49-F238E27FC236}">
                  <a16:creationId xmlns:a16="http://schemas.microsoft.com/office/drawing/2014/main" id="{3907818E-9997-DA31-93E5-CACD64CE77CE}"/>
                </a:ext>
              </a:extLst>
            </p:cNvPr>
            <p:cNvSpPr/>
            <p:nvPr userDrawn="1"/>
          </p:nvSpPr>
          <p:spPr bwMode="gray">
            <a:xfrm>
              <a:off x="9869185"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8" name="Oval 47">
              <a:extLst>
                <a:ext uri="{FF2B5EF4-FFF2-40B4-BE49-F238E27FC236}">
                  <a16:creationId xmlns:a16="http://schemas.microsoft.com/office/drawing/2014/main" id="{67BD36F9-6CE0-A542-A13E-C1CBE043FB9B}"/>
                </a:ext>
              </a:extLst>
            </p:cNvPr>
            <p:cNvSpPr/>
            <p:nvPr userDrawn="1"/>
          </p:nvSpPr>
          <p:spPr bwMode="gray">
            <a:xfrm>
              <a:off x="9869185" y="552369"/>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9" name="Oval 48">
              <a:extLst>
                <a:ext uri="{FF2B5EF4-FFF2-40B4-BE49-F238E27FC236}">
                  <a16:creationId xmlns:a16="http://schemas.microsoft.com/office/drawing/2014/main" id="{1EF8455A-96B8-65CB-A60F-AB7829229569}"/>
                </a:ext>
              </a:extLst>
            </p:cNvPr>
            <p:cNvSpPr/>
            <p:nvPr userDrawn="1"/>
          </p:nvSpPr>
          <p:spPr bwMode="gray">
            <a:xfrm>
              <a:off x="8713731" y="1711205"/>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Oval 17">
              <a:extLst>
                <a:ext uri="{FF2B5EF4-FFF2-40B4-BE49-F238E27FC236}">
                  <a16:creationId xmlns:a16="http://schemas.microsoft.com/office/drawing/2014/main" id="{8A5C6592-3390-2352-5BB3-19C2E3A5BE2C}"/>
                </a:ext>
              </a:extLst>
            </p:cNvPr>
            <p:cNvSpPr/>
            <p:nvPr userDrawn="1"/>
          </p:nvSpPr>
          <p:spPr bwMode="gray">
            <a:xfrm>
              <a:off x="7718424" y="4030741"/>
              <a:ext cx="1159423" cy="1159423"/>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1" name="Rectangle: Rounded Corners 50">
              <a:extLst>
                <a:ext uri="{FF2B5EF4-FFF2-40B4-BE49-F238E27FC236}">
                  <a16:creationId xmlns:a16="http://schemas.microsoft.com/office/drawing/2014/main" id="{9B51F2C6-228A-6780-2DE0-376C52812942}"/>
                </a:ext>
              </a:extLst>
            </p:cNvPr>
            <p:cNvSpPr/>
            <p:nvPr userDrawn="1"/>
          </p:nvSpPr>
          <p:spPr bwMode="gray">
            <a:xfrm>
              <a:off x="7720805" y="2872493"/>
              <a:ext cx="2148840"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2" name="Rectangle: Rounded Corners 51">
              <a:extLst>
                <a:ext uri="{FF2B5EF4-FFF2-40B4-BE49-F238E27FC236}">
                  <a16:creationId xmlns:a16="http://schemas.microsoft.com/office/drawing/2014/main" id="{7E1F60E6-4807-72F1-B01E-3E5BB3CA28BA}"/>
                </a:ext>
              </a:extLst>
            </p:cNvPr>
            <p:cNvSpPr/>
            <p:nvPr userDrawn="1"/>
          </p:nvSpPr>
          <p:spPr bwMode="gray">
            <a:xfrm>
              <a:off x="8877054" y="4030741"/>
              <a:ext cx="2151554" cy="1161288"/>
            </a:xfrm>
            <a:prstGeom prst="roundRect">
              <a:avLst>
                <a:gd name="adj" fmla="val 50000"/>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2766555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over 04">
    <p:bg>
      <p:bgPr>
        <a:solidFill>
          <a:schemeClr val="bg2"/>
        </a:solidFill>
        <a:effectLst/>
      </p:bgPr>
    </p:bg>
    <p:spTree>
      <p:nvGrpSpPr>
        <p:cNvPr id="1" name=""/>
        <p:cNvGrpSpPr/>
        <p:nvPr/>
      </p:nvGrpSpPr>
      <p:grpSpPr>
        <a:xfrm>
          <a:off x="0" y="0"/>
          <a:ext cx="0" cy="0"/>
          <a:chOff x="0" y="0"/>
          <a:chExt cx="0" cy="0"/>
        </a:xfrm>
      </p:grpSpPr>
      <p:grpSp>
        <p:nvGrpSpPr>
          <p:cNvPr id="3" name="Stadiums and circles">
            <a:extLst>
              <a:ext uri="{FF2B5EF4-FFF2-40B4-BE49-F238E27FC236}">
                <a16:creationId xmlns:a16="http://schemas.microsoft.com/office/drawing/2014/main" id="{A13497BD-EDFC-01BC-7BC9-2367A53F38A7}"/>
              </a:ext>
              <a:ext uri="{C183D7F6-B498-43B3-948B-1728B52AA6E4}">
                <adec:decorative xmlns:adec="http://schemas.microsoft.com/office/drawing/2017/decorative" val="1"/>
              </a:ext>
            </a:extLst>
          </p:cNvPr>
          <p:cNvGrpSpPr/>
          <p:nvPr userDrawn="1"/>
        </p:nvGrpSpPr>
        <p:grpSpPr bwMode="gray">
          <a:xfrm>
            <a:off x="0" y="0"/>
            <a:ext cx="11220824" cy="5921203"/>
            <a:chOff x="0" y="0"/>
            <a:chExt cx="11220824" cy="5921203"/>
          </a:xfrm>
          <a:solidFill>
            <a:schemeClr val="bg1"/>
          </a:solidFill>
        </p:grpSpPr>
        <p:sp>
          <p:nvSpPr>
            <p:cNvPr id="5" name="Oval 4">
              <a:extLst>
                <a:ext uri="{FF2B5EF4-FFF2-40B4-BE49-F238E27FC236}">
                  <a16:creationId xmlns:a16="http://schemas.microsoft.com/office/drawing/2014/main" id="{D8485C0F-EFFA-23F6-667B-A4BC678A67CD}"/>
                </a:ext>
              </a:extLst>
            </p:cNvPr>
            <p:cNvSpPr/>
            <p:nvPr userDrawn="1"/>
          </p:nvSpPr>
          <p:spPr bwMode="gray">
            <a:xfrm>
              <a:off x="9559365"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9" name="Oval 8">
              <a:extLst>
                <a:ext uri="{FF2B5EF4-FFF2-40B4-BE49-F238E27FC236}">
                  <a16:creationId xmlns:a16="http://schemas.microsoft.com/office/drawing/2014/main" id="{6EC73BA9-913A-5069-D0F9-F943C501567B}"/>
                </a:ext>
              </a:extLst>
            </p:cNvPr>
            <p:cNvSpPr/>
            <p:nvPr userDrawn="1"/>
          </p:nvSpPr>
          <p:spPr bwMode="gray">
            <a:xfrm>
              <a:off x="7897906"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1" name="Oval 10">
              <a:extLst>
                <a:ext uri="{FF2B5EF4-FFF2-40B4-BE49-F238E27FC236}">
                  <a16:creationId xmlns:a16="http://schemas.microsoft.com/office/drawing/2014/main" id="{C268D53C-A768-7CB8-26AF-10AD3978E58D}"/>
                </a:ext>
              </a:extLst>
            </p:cNvPr>
            <p:cNvSpPr/>
            <p:nvPr userDrawn="1"/>
          </p:nvSpPr>
          <p:spPr bwMode="gray">
            <a:xfrm>
              <a:off x="6236447"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84F7029-5753-9BD3-7D9D-B600046394F3}"/>
                </a:ext>
              </a:extLst>
            </p:cNvPr>
            <p:cNvSpPr/>
            <p:nvPr userDrawn="1"/>
          </p:nvSpPr>
          <p:spPr bwMode="gray">
            <a:xfrm>
              <a:off x="4574988"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3" name="Oval 12">
              <a:extLst>
                <a:ext uri="{FF2B5EF4-FFF2-40B4-BE49-F238E27FC236}">
                  <a16:creationId xmlns:a16="http://schemas.microsoft.com/office/drawing/2014/main" id="{CB469DEC-AD2E-11CE-6BA2-FC7DCD007312}"/>
                </a:ext>
              </a:extLst>
            </p:cNvPr>
            <p:cNvSpPr/>
            <p:nvPr userDrawn="1"/>
          </p:nvSpPr>
          <p:spPr bwMode="gray">
            <a:xfrm>
              <a:off x="2913529"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Oval 18">
              <a:extLst>
                <a:ext uri="{FF2B5EF4-FFF2-40B4-BE49-F238E27FC236}">
                  <a16:creationId xmlns:a16="http://schemas.microsoft.com/office/drawing/2014/main" id="{152344B4-8287-5830-A317-7313DE62E20D}"/>
                </a:ext>
              </a:extLst>
            </p:cNvPr>
            <p:cNvSpPr/>
            <p:nvPr userDrawn="1"/>
          </p:nvSpPr>
          <p:spPr bwMode="gray">
            <a:xfrm>
              <a:off x="1252070" y="4259744"/>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1" name="Freeform: Shape 20">
              <a:extLst>
                <a:ext uri="{FF2B5EF4-FFF2-40B4-BE49-F238E27FC236}">
                  <a16:creationId xmlns:a16="http://schemas.microsoft.com/office/drawing/2014/main" id="{EA48D75A-FB42-145B-0910-A4A480961F18}"/>
                </a:ext>
              </a:extLst>
            </p:cNvPr>
            <p:cNvSpPr/>
            <p:nvPr userDrawn="1"/>
          </p:nvSpPr>
          <p:spPr bwMode="gray">
            <a:xfrm>
              <a:off x="0" y="4259743"/>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7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2" name="Oval 21">
              <a:extLst>
                <a:ext uri="{FF2B5EF4-FFF2-40B4-BE49-F238E27FC236}">
                  <a16:creationId xmlns:a16="http://schemas.microsoft.com/office/drawing/2014/main" id="{4ED6C9DA-4658-F236-AEAF-031AAACC8B13}"/>
                </a:ext>
              </a:extLst>
            </p:cNvPr>
            <p:cNvSpPr/>
            <p:nvPr userDrawn="1"/>
          </p:nvSpPr>
          <p:spPr bwMode="gray">
            <a:xfrm>
              <a:off x="9559365"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Oval 22">
              <a:extLst>
                <a:ext uri="{FF2B5EF4-FFF2-40B4-BE49-F238E27FC236}">
                  <a16:creationId xmlns:a16="http://schemas.microsoft.com/office/drawing/2014/main" id="{54D2A8A2-15A9-6A6B-7D39-7BA9ABA5F342}"/>
                </a:ext>
              </a:extLst>
            </p:cNvPr>
            <p:cNvSpPr/>
            <p:nvPr userDrawn="1"/>
          </p:nvSpPr>
          <p:spPr bwMode="gray">
            <a:xfrm>
              <a:off x="7897906"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4" name="Oval 23">
              <a:extLst>
                <a:ext uri="{FF2B5EF4-FFF2-40B4-BE49-F238E27FC236}">
                  <a16:creationId xmlns:a16="http://schemas.microsoft.com/office/drawing/2014/main" id="{3036C069-2C31-15CB-7D8B-FA4C4F7D9CCE}"/>
                </a:ext>
              </a:extLst>
            </p:cNvPr>
            <p:cNvSpPr/>
            <p:nvPr userDrawn="1"/>
          </p:nvSpPr>
          <p:spPr bwMode="gray">
            <a:xfrm>
              <a:off x="6236447"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Oval 24">
              <a:extLst>
                <a:ext uri="{FF2B5EF4-FFF2-40B4-BE49-F238E27FC236}">
                  <a16:creationId xmlns:a16="http://schemas.microsoft.com/office/drawing/2014/main" id="{7FA47BA6-459F-B694-8013-B5B563D39B44}"/>
                </a:ext>
              </a:extLst>
            </p:cNvPr>
            <p:cNvSpPr/>
            <p:nvPr userDrawn="1"/>
          </p:nvSpPr>
          <p:spPr bwMode="gray">
            <a:xfrm>
              <a:off x="4574988"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6" name="Oval 25">
              <a:extLst>
                <a:ext uri="{FF2B5EF4-FFF2-40B4-BE49-F238E27FC236}">
                  <a16:creationId xmlns:a16="http://schemas.microsoft.com/office/drawing/2014/main" id="{5B3E158A-2E27-4756-25B7-E0FAB636E006}"/>
                </a:ext>
              </a:extLst>
            </p:cNvPr>
            <p:cNvSpPr/>
            <p:nvPr userDrawn="1"/>
          </p:nvSpPr>
          <p:spPr bwMode="gray">
            <a:xfrm>
              <a:off x="2913529"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Oval 26">
              <a:extLst>
                <a:ext uri="{FF2B5EF4-FFF2-40B4-BE49-F238E27FC236}">
                  <a16:creationId xmlns:a16="http://schemas.microsoft.com/office/drawing/2014/main" id="{6106B5C9-2CB0-48C5-9804-85FAE5358A04}"/>
                </a:ext>
              </a:extLst>
            </p:cNvPr>
            <p:cNvSpPr/>
            <p:nvPr userDrawn="1"/>
          </p:nvSpPr>
          <p:spPr bwMode="gray">
            <a:xfrm>
              <a:off x="1252070" y="2598270"/>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8" name="Freeform: Shape 27">
              <a:extLst>
                <a:ext uri="{FF2B5EF4-FFF2-40B4-BE49-F238E27FC236}">
                  <a16:creationId xmlns:a16="http://schemas.microsoft.com/office/drawing/2014/main" id="{B69DA9D7-A15C-1C04-3DB5-B89AEE4C149E}"/>
                </a:ext>
              </a:extLst>
            </p:cNvPr>
            <p:cNvSpPr/>
            <p:nvPr userDrawn="1"/>
          </p:nvSpPr>
          <p:spPr bwMode="gray">
            <a:xfrm>
              <a:off x="0" y="2598269"/>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Oval 28">
              <a:extLst>
                <a:ext uri="{FF2B5EF4-FFF2-40B4-BE49-F238E27FC236}">
                  <a16:creationId xmlns:a16="http://schemas.microsoft.com/office/drawing/2014/main" id="{391221E8-EA2B-ED43-9D07-4FFA6AD5E04A}"/>
                </a:ext>
              </a:extLst>
            </p:cNvPr>
            <p:cNvSpPr/>
            <p:nvPr userDrawn="1"/>
          </p:nvSpPr>
          <p:spPr bwMode="gray">
            <a:xfrm>
              <a:off x="9559365"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0" name="Oval 29">
              <a:extLst>
                <a:ext uri="{FF2B5EF4-FFF2-40B4-BE49-F238E27FC236}">
                  <a16:creationId xmlns:a16="http://schemas.microsoft.com/office/drawing/2014/main" id="{D9B75DCC-2FF0-EE80-94BE-D90D5D588A97}"/>
                </a:ext>
              </a:extLst>
            </p:cNvPr>
            <p:cNvSpPr/>
            <p:nvPr userDrawn="1"/>
          </p:nvSpPr>
          <p:spPr bwMode="gray">
            <a:xfrm>
              <a:off x="7897906"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1" name="Oval 30">
              <a:extLst>
                <a:ext uri="{FF2B5EF4-FFF2-40B4-BE49-F238E27FC236}">
                  <a16:creationId xmlns:a16="http://schemas.microsoft.com/office/drawing/2014/main" id="{D0B0A03E-06CA-DE72-15DC-022BAE9AB78A}"/>
                </a:ext>
              </a:extLst>
            </p:cNvPr>
            <p:cNvSpPr/>
            <p:nvPr userDrawn="1"/>
          </p:nvSpPr>
          <p:spPr bwMode="gray">
            <a:xfrm>
              <a:off x="6236447"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2" name="Oval 31">
              <a:extLst>
                <a:ext uri="{FF2B5EF4-FFF2-40B4-BE49-F238E27FC236}">
                  <a16:creationId xmlns:a16="http://schemas.microsoft.com/office/drawing/2014/main" id="{D7EC66BF-2D9E-61D5-A5DC-FA01643CFC9B}"/>
                </a:ext>
              </a:extLst>
            </p:cNvPr>
            <p:cNvSpPr/>
            <p:nvPr userDrawn="1"/>
          </p:nvSpPr>
          <p:spPr bwMode="gray">
            <a:xfrm>
              <a:off x="4574988"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3" name="Oval 32">
              <a:extLst>
                <a:ext uri="{FF2B5EF4-FFF2-40B4-BE49-F238E27FC236}">
                  <a16:creationId xmlns:a16="http://schemas.microsoft.com/office/drawing/2014/main" id="{FB5A41BC-C1BE-4D0A-937D-CCDFDC17AECF}"/>
                </a:ext>
              </a:extLst>
            </p:cNvPr>
            <p:cNvSpPr/>
            <p:nvPr userDrawn="1"/>
          </p:nvSpPr>
          <p:spPr bwMode="gray">
            <a:xfrm>
              <a:off x="2913529"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4" name="Oval 33">
              <a:extLst>
                <a:ext uri="{FF2B5EF4-FFF2-40B4-BE49-F238E27FC236}">
                  <a16:creationId xmlns:a16="http://schemas.microsoft.com/office/drawing/2014/main" id="{FE3E6B1A-F095-E087-8B92-44041A25EB45}"/>
                </a:ext>
              </a:extLst>
            </p:cNvPr>
            <p:cNvSpPr/>
            <p:nvPr userDrawn="1"/>
          </p:nvSpPr>
          <p:spPr bwMode="gray">
            <a:xfrm>
              <a:off x="1252070" y="936796"/>
              <a:ext cx="1661459" cy="1661459"/>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5" name="Freeform: Shape 34">
              <a:extLst>
                <a:ext uri="{FF2B5EF4-FFF2-40B4-BE49-F238E27FC236}">
                  <a16:creationId xmlns:a16="http://schemas.microsoft.com/office/drawing/2014/main" id="{98D2546C-E18C-46AC-B8FF-ACEF4C909A48}"/>
                </a:ext>
              </a:extLst>
            </p:cNvPr>
            <p:cNvSpPr/>
            <p:nvPr userDrawn="1"/>
          </p:nvSpPr>
          <p:spPr bwMode="gray">
            <a:xfrm>
              <a:off x="0" y="936795"/>
              <a:ext cx="1252071" cy="1661460"/>
            </a:xfrm>
            <a:custGeom>
              <a:avLst/>
              <a:gdLst>
                <a:gd name="connsiteX0" fmla="*/ 421341 w 1252071"/>
                <a:gd name="connsiteY0" fmla="*/ 0 h 1661460"/>
                <a:gd name="connsiteX1" fmla="*/ 1252071 w 1252071"/>
                <a:gd name="connsiteY1" fmla="*/ 830730 h 1661460"/>
                <a:gd name="connsiteX2" fmla="*/ 421341 w 1252071"/>
                <a:gd name="connsiteY2" fmla="*/ 1661460 h 1661460"/>
                <a:gd name="connsiteX3" fmla="*/ 97983 w 1252071"/>
                <a:gd name="connsiteY3" fmla="*/ 1596177 h 1661460"/>
                <a:gd name="connsiteX4" fmla="*/ 0 w 1252071"/>
                <a:gd name="connsiteY4" fmla="*/ 1542994 h 1661460"/>
                <a:gd name="connsiteX5" fmla="*/ 0 w 1252071"/>
                <a:gd name="connsiteY5" fmla="*/ 118466 h 1661460"/>
                <a:gd name="connsiteX6" fmla="*/ 97983 w 1252071"/>
                <a:gd name="connsiteY6" fmla="*/ 65283 h 1661460"/>
                <a:gd name="connsiteX7" fmla="*/ 421341 w 1252071"/>
                <a:gd name="connsiteY7" fmla="*/ 0 h 166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8" name="Freeform: Shape 37">
              <a:extLst>
                <a:ext uri="{FF2B5EF4-FFF2-40B4-BE49-F238E27FC236}">
                  <a16:creationId xmlns:a16="http://schemas.microsoft.com/office/drawing/2014/main" id="{19654A5F-9FCF-4BAC-3C58-AF666C8EFEFA}"/>
                </a:ext>
              </a:extLst>
            </p:cNvPr>
            <p:cNvSpPr/>
            <p:nvPr userDrawn="1"/>
          </p:nvSpPr>
          <p:spPr bwMode="gray">
            <a:xfrm>
              <a:off x="9559364"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9" name="Freeform: Shape 38">
              <a:extLst>
                <a:ext uri="{FF2B5EF4-FFF2-40B4-BE49-F238E27FC236}">
                  <a16:creationId xmlns:a16="http://schemas.microsoft.com/office/drawing/2014/main" id="{10B5BB75-0167-66D5-4F3C-8000D5182C9F}"/>
                </a:ext>
              </a:extLst>
            </p:cNvPr>
            <p:cNvSpPr/>
            <p:nvPr userDrawn="1"/>
          </p:nvSpPr>
          <p:spPr bwMode="gray">
            <a:xfrm>
              <a:off x="7897905"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3" name="Freeform: Shape 42">
              <a:extLst>
                <a:ext uri="{FF2B5EF4-FFF2-40B4-BE49-F238E27FC236}">
                  <a16:creationId xmlns:a16="http://schemas.microsoft.com/office/drawing/2014/main" id="{0528863C-CFF0-BFF7-83D2-8AE71EC094F3}"/>
                </a:ext>
              </a:extLst>
            </p:cNvPr>
            <p:cNvSpPr/>
            <p:nvPr userDrawn="1"/>
          </p:nvSpPr>
          <p:spPr bwMode="gray">
            <a:xfrm>
              <a:off x="6236446"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Freeform: Shape 43">
              <a:extLst>
                <a:ext uri="{FF2B5EF4-FFF2-40B4-BE49-F238E27FC236}">
                  <a16:creationId xmlns:a16="http://schemas.microsoft.com/office/drawing/2014/main" id="{80114763-24E8-65F1-FD20-BEC2DD15993E}"/>
                </a:ext>
              </a:extLst>
            </p:cNvPr>
            <p:cNvSpPr/>
            <p:nvPr userDrawn="1"/>
          </p:nvSpPr>
          <p:spPr bwMode="gray">
            <a:xfrm>
              <a:off x="4574987"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5" name="Freeform: Shape 44">
              <a:extLst>
                <a:ext uri="{FF2B5EF4-FFF2-40B4-BE49-F238E27FC236}">
                  <a16:creationId xmlns:a16="http://schemas.microsoft.com/office/drawing/2014/main" id="{22CCBE72-BF65-E4C0-A522-CEB74B4A25F7}"/>
                </a:ext>
              </a:extLst>
            </p:cNvPr>
            <p:cNvSpPr/>
            <p:nvPr userDrawn="1"/>
          </p:nvSpPr>
          <p:spPr bwMode="gray">
            <a:xfrm>
              <a:off x="2913528"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Freeform: Shape 49">
              <a:extLst>
                <a:ext uri="{FF2B5EF4-FFF2-40B4-BE49-F238E27FC236}">
                  <a16:creationId xmlns:a16="http://schemas.microsoft.com/office/drawing/2014/main" id="{A9C7495F-6A7E-4C4B-E491-39B263A91183}"/>
                </a:ext>
              </a:extLst>
            </p:cNvPr>
            <p:cNvSpPr/>
            <p:nvPr userDrawn="1"/>
          </p:nvSpPr>
          <p:spPr bwMode="gray">
            <a:xfrm>
              <a:off x="1252069" y="0"/>
              <a:ext cx="1661460" cy="936789"/>
            </a:xfrm>
            <a:custGeom>
              <a:avLst/>
              <a:gdLst>
                <a:gd name="connsiteX0" fmla="*/ 7513 w 1661460"/>
                <a:gd name="connsiteY0" fmla="*/ 0 h 936789"/>
                <a:gd name="connsiteX1" fmla="*/ 1653948 w 1661460"/>
                <a:gd name="connsiteY1" fmla="*/ 0 h 936789"/>
                <a:gd name="connsiteX2" fmla="*/ 1657171 w 1661460"/>
                <a:gd name="connsiteY2" fmla="*/ 21122 h 936789"/>
                <a:gd name="connsiteX3" fmla="*/ 1661460 w 1661460"/>
                <a:gd name="connsiteY3" fmla="*/ 106059 h 936789"/>
                <a:gd name="connsiteX4" fmla="*/ 830730 w 1661460"/>
                <a:gd name="connsiteY4" fmla="*/ 936789 h 936789"/>
                <a:gd name="connsiteX5" fmla="*/ 0 w 1661460"/>
                <a:gd name="connsiteY5" fmla="*/ 106059 h 936789"/>
                <a:gd name="connsiteX6" fmla="*/ 4289 w 1661460"/>
                <a:gd name="connsiteY6" fmla="*/ 21122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3" name="Freeform: Shape 52">
              <a:extLst>
                <a:ext uri="{FF2B5EF4-FFF2-40B4-BE49-F238E27FC236}">
                  <a16:creationId xmlns:a16="http://schemas.microsoft.com/office/drawing/2014/main" id="{C1ECD438-911A-89DE-3692-3731FDAE84B9}"/>
                </a:ext>
              </a:extLst>
            </p:cNvPr>
            <p:cNvSpPr/>
            <p:nvPr userDrawn="1"/>
          </p:nvSpPr>
          <p:spPr bwMode="gray">
            <a:xfrm>
              <a:off x="0" y="0"/>
              <a:ext cx="1252071" cy="936789"/>
            </a:xfrm>
            <a:custGeom>
              <a:avLst/>
              <a:gdLst>
                <a:gd name="connsiteX0" fmla="*/ 0 w 1252071"/>
                <a:gd name="connsiteY0" fmla="*/ 0 h 936789"/>
                <a:gd name="connsiteX1" fmla="*/ 1244559 w 1252071"/>
                <a:gd name="connsiteY1" fmla="*/ 0 h 936789"/>
                <a:gd name="connsiteX2" fmla="*/ 1247782 w 1252071"/>
                <a:gd name="connsiteY2" fmla="*/ 21122 h 936789"/>
                <a:gd name="connsiteX3" fmla="*/ 1252071 w 1252071"/>
                <a:gd name="connsiteY3" fmla="*/ 106059 h 936789"/>
                <a:gd name="connsiteX4" fmla="*/ 421341 w 1252071"/>
                <a:gd name="connsiteY4" fmla="*/ 936789 h 936789"/>
                <a:gd name="connsiteX5" fmla="*/ 97983 w 1252071"/>
                <a:gd name="connsiteY5" fmla="*/ 871506 h 936789"/>
                <a:gd name="connsiteX6" fmla="*/ 0 w 1252071"/>
                <a:gd name="connsiteY6" fmla="*/ 818323 h 93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0" name="Optum Logo" descr="Optum">
            <a:extLst>
              <a:ext uri="{FF2B5EF4-FFF2-40B4-BE49-F238E27FC236}">
                <a16:creationId xmlns:a16="http://schemas.microsoft.com/office/drawing/2014/main" id="{9E4A366B-1A37-D338-5576-AD996B1B6C91}"/>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590495" y="596255"/>
            <a:ext cx="1817487" cy="526250"/>
          </a:xfrm>
          <a:prstGeom prst="rect">
            <a:avLst/>
          </a:prstGeom>
        </p:spPr>
      </p:pic>
      <p:sp>
        <p:nvSpPr>
          <p:cNvPr id="2" name="Title">
            <a:extLst>
              <a:ext uri="{FF2B5EF4-FFF2-40B4-BE49-F238E27FC236}">
                <a16:creationId xmlns:a16="http://schemas.microsoft.com/office/drawing/2014/main" id="{59CA19A5-5525-4A37-AEE4-E2ED4BB950D4}"/>
              </a:ext>
            </a:extLst>
          </p:cNvPr>
          <p:cNvSpPr>
            <a:spLocks noGrp="1"/>
          </p:cNvSpPr>
          <p:nvPr userDrawn="1">
            <p:ph type="title" hasCustomPrompt="1"/>
          </p:nvPr>
        </p:nvSpPr>
        <p:spPr bwMode="gray">
          <a:xfrm>
            <a:off x="603972" y="1847737"/>
            <a:ext cx="7159752" cy="1692771"/>
          </a:xfrm>
        </p:spPr>
        <p:txBody>
          <a:bodyPr anchor="b"/>
          <a:lstStyle>
            <a:lvl1pPr>
              <a:lnSpc>
                <a:spcPct val="100000"/>
              </a:lnSpc>
              <a:defRPr sz="5500" b="0" spc="0" baseline="0">
                <a:solidFill>
                  <a:schemeClr val="tx1"/>
                </a:solidFill>
              </a:defRPr>
            </a:lvl1pPr>
          </a:lstStyle>
          <a:p>
            <a:r>
              <a:rPr lang="en-US"/>
              <a:t>Insightful presentation title (max. 2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userDrawn="1">
            <p:ph type="body" sz="quarter" idx="10" hasCustomPrompt="1"/>
          </p:nvPr>
        </p:nvSpPr>
        <p:spPr bwMode="gray">
          <a:xfrm>
            <a:off x="603972" y="3907239"/>
            <a:ext cx="5029200" cy="553998"/>
          </a:xfrm>
        </p:spPr>
        <p:txBody>
          <a:bodyPr wrap="square">
            <a:spAutoFit/>
          </a:bodyPr>
          <a:lstStyle>
            <a:lvl1pPr marL="0" indent="0">
              <a:spcBef>
                <a:spcPts val="0"/>
              </a:spcBef>
              <a:buFont typeface="Arial" panose="020B0604020202020204" pitchFamily="34" charset="0"/>
              <a:buNone/>
              <a:defRPr sz="18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3 lines</a:t>
            </a:r>
          </a:p>
        </p:txBody>
      </p:sp>
      <p:cxnSp>
        <p:nvCxnSpPr>
          <p:cNvPr id="4" name="Stoke">
            <a:extLst>
              <a:ext uri="{FF2B5EF4-FFF2-40B4-BE49-F238E27FC236}">
                <a16:creationId xmlns:a16="http://schemas.microsoft.com/office/drawing/2014/main" id="{8B021B3E-53AB-AF1F-C247-0412E9A1F2D9}"/>
              </a:ext>
              <a:ext uri="{C183D7F6-B498-43B3-948B-1728B52AA6E4}">
                <adec:decorative xmlns:adec="http://schemas.microsoft.com/office/drawing/2017/decorative" val="1"/>
              </a:ext>
            </a:extLst>
          </p:cNvPr>
          <p:cNvCxnSpPr>
            <a:cxnSpLocks/>
          </p:cNvCxnSpPr>
          <p:nvPr userDrawn="1"/>
        </p:nvCxnSpPr>
        <p:spPr bwMode="gray">
          <a:xfrm>
            <a:off x="603972" y="562775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userDrawn="1">
            <p:ph type="body" sz="quarter" idx="11" hasCustomPrompt="1"/>
          </p:nvPr>
        </p:nvSpPr>
        <p:spPr bwMode="gray">
          <a:xfrm>
            <a:off x="603972" y="6032855"/>
            <a:ext cx="5029200" cy="215444"/>
          </a:xfrm>
        </p:spPr>
        <p:txBody>
          <a:bodyPr wrap="square" anchor="b">
            <a:spAutoFit/>
          </a:bodyPr>
          <a:lstStyle>
            <a:lvl1pPr marL="0" indent="0">
              <a:spcBef>
                <a:spcPts val="0"/>
              </a:spcBef>
              <a:buFont typeface="Arial" panose="020B0604020202020204" pitchFamily="34" charset="0"/>
              <a:buNone/>
              <a:defRPr sz="14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(May also be location or speaker)</a:t>
            </a:r>
          </a:p>
        </p:txBody>
      </p:sp>
      <p:sp>
        <p:nvSpPr>
          <p:cNvPr id="6" name="Date Placeholder">
            <a:extLst>
              <a:ext uri="{FF2B5EF4-FFF2-40B4-BE49-F238E27FC236}">
                <a16:creationId xmlns:a16="http://schemas.microsoft.com/office/drawing/2014/main" id="{E23FAE9B-982D-41B9-BBD2-74E842A46071}"/>
              </a:ext>
            </a:extLst>
          </p:cNvPr>
          <p:cNvSpPr>
            <a:spLocks noGrp="1"/>
          </p:cNvSpPr>
          <p:nvPr userDrawn="1">
            <p:ph type="dt" sz="half" idx="12"/>
          </p:nvPr>
        </p:nvSpPr>
        <p:spPr bwMode="gray"/>
        <p:txBody>
          <a:bodyPr/>
          <a:lstStyle/>
          <a:p>
            <a:fld id="{3AAC60EB-BBC2-4CF0-860A-8D4A91284465}"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userDrawn="1">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userDrawn="1">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8999877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69">
          <p15:clr>
            <a:srgbClr val="5ACBF0"/>
          </p15:clr>
        </p15:guide>
        <p15:guide id="3" orient="horz" pos="2236">
          <p15:clr>
            <a:srgbClr val="5ACBF0"/>
          </p15:clr>
        </p15:guide>
        <p15:guide id="4" orient="horz" pos="2452">
          <p15:clr>
            <a:srgbClr val="5ACBF0"/>
          </p15:clr>
        </p15:guide>
        <p15:guide id="5" pos="4892">
          <p15:clr>
            <a:srgbClr val="5ACBF0"/>
          </p15:clr>
        </p15:guide>
        <p15:guide id="6" pos="3551">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over 05">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Sky Blue">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8627656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over 06">
    <p:bg>
      <p:bgPr>
        <a:solidFill>
          <a:schemeClr val="bg2"/>
        </a:solidFill>
        <a:effectLst/>
      </p:bgPr>
    </p:bg>
    <p:spTree>
      <p:nvGrpSpPr>
        <p:cNvPr id="1" name=""/>
        <p:cNvGrpSpPr/>
        <p:nvPr/>
      </p:nvGrpSpPr>
      <p:grpSpPr>
        <a:xfrm>
          <a:off x="0" y="0"/>
          <a:ext cx="0" cy="0"/>
          <a:chOff x="0" y="0"/>
          <a:chExt cx="0" cy="0"/>
        </a:xfrm>
      </p:grpSpPr>
      <p:pic>
        <p:nvPicPr>
          <p:cNvPr id="36" name="Optum Logo" descr="Optum">
            <a:extLst>
              <a:ext uri="{FF2B5EF4-FFF2-40B4-BE49-F238E27FC236}">
                <a16:creationId xmlns:a16="http://schemas.microsoft.com/office/drawing/2014/main" id="{34FAD427-994C-EAA7-3D7D-D9CA0C3C5AAF}"/>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130785"/>
            <a:ext cx="1380744" cy="399792"/>
          </a:xfrm>
          <a:prstGeom prst="rect">
            <a:avLst/>
          </a:prstGeom>
        </p:spPr>
      </p:pic>
      <p:sp>
        <p:nvSpPr>
          <p:cNvPr id="9" name="Orange Title Block">
            <a:extLst>
              <a:ext uri="{FF2B5EF4-FFF2-40B4-BE49-F238E27FC236}">
                <a16:creationId xmlns:a16="http://schemas.microsoft.com/office/drawing/2014/main" id="{1F20D028-C1DD-E64B-748C-C7A8CF12A4B4}"/>
              </a:ext>
              <a:ext uri="{C183D7F6-B498-43B3-948B-1728B52AA6E4}">
                <adec:decorative xmlns:adec="http://schemas.microsoft.com/office/drawing/2017/decorative" val="1"/>
              </a:ext>
            </a:extLst>
          </p:cNvPr>
          <p:cNvSpPr/>
          <p:nvPr userDrawn="1"/>
        </p:nvSpPr>
        <p:spPr bwMode="gray">
          <a:xfrm>
            <a:off x="0" y="1613945"/>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59CA19A5-5525-4A37-AEE4-E2ED4BB950D4}"/>
              </a:ext>
            </a:extLst>
          </p:cNvPr>
          <p:cNvSpPr>
            <a:spLocks noGrp="1"/>
          </p:cNvSpPr>
          <p:nvPr>
            <p:ph type="title" hasCustomPrompt="1"/>
          </p:nvPr>
        </p:nvSpPr>
        <p:spPr bwMode="gray">
          <a:xfrm>
            <a:off x="468355" y="1637013"/>
            <a:ext cx="4663440" cy="1994392"/>
          </a:xfrm>
        </p:spPr>
        <p:txBody>
          <a:bodyPr anchor="ctr" anchorCtr="0"/>
          <a:lstStyle>
            <a:lvl1pPr>
              <a:defRPr sz="4800" b="0" spc="0" baseline="0">
                <a:solidFill>
                  <a:schemeClr val="tx1"/>
                </a:solidFill>
              </a:defRPr>
            </a:lvl1pPr>
          </a:lstStyle>
          <a:p>
            <a:r>
              <a:rPr lang="en-US"/>
              <a:t>Insightful presentation title (max. 3 lines)</a:t>
            </a:r>
          </a:p>
        </p:txBody>
      </p:sp>
      <p:sp>
        <p:nvSpPr>
          <p:cNvPr id="16" name="Subtitle Placeholder">
            <a:extLst>
              <a:ext uri="{FF2B5EF4-FFF2-40B4-BE49-F238E27FC236}">
                <a16:creationId xmlns:a16="http://schemas.microsoft.com/office/drawing/2014/main" id="{2E03F862-177D-4A2A-BB03-60A40298232B}"/>
              </a:ext>
            </a:extLst>
          </p:cNvPr>
          <p:cNvSpPr>
            <a:spLocks noGrp="1"/>
          </p:cNvSpPr>
          <p:nvPr>
            <p:ph type="body" sz="quarter" idx="10" hasCustomPrompt="1"/>
          </p:nvPr>
        </p:nvSpPr>
        <p:spPr bwMode="gray">
          <a:xfrm>
            <a:off x="468355" y="4057067"/>
            <a:ext cx="4663440" cy="553998"/>
          </a:xfrm>
        </p:spPr>
        <p:txBody>
          <a:bodyPr>
            <a:spAutoFit/>
          </a:bodyPr>
          <a:lstStyle>
            <a:lvl1pPr marL="0" indent="0">
              <a:spcBef>
                <a:spcPts val="0"/>
              </a:spcBef>
              <a:buFont typeface="Arial" panose="020B0604020202020204" pitchFamily="34" charset="0"/>
              <a:buNone/>
              <a:defRPr sz="180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Presentation subtitle (optional); Arial 18pt, sentence case, max. 2 lines</a:t>
            </a:r>
          </a:p>
        </p:txBody>
      </p:sp>
      <p:cxnSp>
        <p:nvCxnSpPr>
          <p:cNvPr id="5" name="Orange Stroke">
            <a:extLst>
              <a:ext uri="{FF2B5EF4-FFF2-40B4-BE49-F238E27FC236}">
                <a16:creationId xmlns:a16="http://schemas.microsoft.com/office/drawing/2014/main" id="{187DC2AD-BB0A-D126-DF01-ACD329735A8A}"/>
              </a:ext>
              <a:ext uri="{C183D7F6-B498-43B3-948B-1728B52AA6E4}">
                <adec:decorative xmlns:adec="http://schemas.microsoft.com/office/drawing/2017/decorative" val="1"/>
              </a:ext>
            </a:extLst>
          </p:cNvPr>
          <p:cNvCxnSpPr/>
          <p:nvPr userDrawn="1"/>
        </p:nvCxnSpPr>
        <p:spPr bwMode="gray">
          <a:xfrm>
            <a:off x="486598" y="5107308"/>
            <a:ext cx="1041399"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Presentation Date Placeholder">
            <a:extLst>
              <a:ext uri="{FF2B5EF4-FFF2-40B4-BE49-F238E27FC236}">
                <a16:creationId xmlns:a16="http://schemas.microsoft.com/office/drawing/2014/main" id="{798BE44C-881B-41C4-90ED-E3EADCC7440A}"/>
              </a:ext>
            </a:extLst>
          </p:cNvPr>
          <p:cNvSpPr>
            <a:spLocks noGrp="1"/>
          </p:cNvSpPr>
          <p:nvPr>
            <p:ph type="body" sz="quarter" idx="11" hasCustomPrompt="1"/>
          </p:nvPr>
        </p:nvSpPr>
        <p:spPr bwMode="gray">
          <a:xfrm>
            <a:off x="468355" y="5298673"/>
            <a:ext cx="4663440" cy="261610"/>
          </a:xfrm>
        </p:spPr>
        <p:txBody>
          <a:bodyPr wrap="square" anchor="t" anchorCtr="0">
            <a:spAutoFit/>
          </a:bodyPr>
          <a:lstStyle>
            <a:lvl1pPr marL="0" indent="0">
              <a:spcBef>
                <a:spcPts val="0"/>
              </a:spcBef>
              <a:buFont typeface="Arial" panose="020B0604020202020204" pitchFamily="34" charset="0"/>
              <a:buNone/>
              <a:defRPr sz="1700" b="0">
                <a:solidFill>
                  <a:schemeClr val="tx1"/>
                </a:solidFill>
              </a:defRPr>
            </a:lvl1pPr>
            <a:lvl2pPr marL="0" indent="0">
              <a:buNone/>
              <a:defRPr sz="2000">
                <a:solidFill>
                  <a:schemeClr val="accent5"/>
                </a:solidFill>
              </a:defRPr>
            </a:lvl2pPr>
            <a:lvl3pPr marL="231775" indent="0">
              <a:buFont typeface="Arial" panose="020B0604020202020204" pitchFamily="34" charset="0"/>
              <a:buNone/>
              <a:defRPr sz="2000">
                <a:solidFill>
                  <a:schemeClr val="accent5"/>
                </a:solidFill>
              </a:defRPr>
            </a:lvl3pPr>
            <a:lvl4pPr marL="228600" indent="0">
              <a:buNone/>
              <a:defRPr sz="2000">
                <a:solidFill>
                  <a:schemeClr val="accent5"/>
                </a:solidFill>
              </a:defRPr>
            </a:lvl4pPr>
            <a:lvl5pPr marL="460375" indent="0">
              <a:buNone/>
              <a:defRPr sz="2000">
                <a:solidFill>
                  <a:schemeClr val="accent5"/>
                </a:solidFill>
              </a:defRPr>
            </a:lvl5pPr>
          </a:lstStyle>
          <a:p>
            <a:pPr lvl="0"/>
            <a:r>
              <a:rPr lang="en-US"/>
              <a:t>Month DD, YYYY (Location or speaker allowed)</a:t>
            </a:r>
          </a:p>
        </p:txBody>
      </p:sp>
      <p:sp>
        <p:nvSpPr>
          <p:cNvPr id="13" name="Cicrle - Dawn">
            <a:extLst>
              <a:ext uri="{FF2B5EF4-FFF2-40B4-BE49-F238E27FC236}">
                <a16:creationId xmlns:a16="http://schemas.microsoft.com/office/drawing/2014/main" id="{A3094BC5-4FB5-E04D-B692-F17B3E77463B}"/>
              </a:ext>
              <a:ext uri="{C183D7F6-B498-43B3-948B-1728B52AA6E4}">
                <adec:decorative xmlns:adec="http://schemas.microsoft.com/office/drawing/2017/decorative" val="1"/>
              </a:ext>
            </a:extLst>
          </p:cNvPr>
          <p:cNvSpPr/>
          <p:nvPr userDrawn="1"/>
        </p:nvSpPr>
        <p:spPr bwMode="gray">
          <a:xfrm>
            <a:off x="5509595" y="403424"/>
            <a:ext cx="6051151" cy="6051151"/>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 name="Picture Placeholder">
            <a:extLst>
              <a:ext uri="{FF2B5EF4-FFF2-40B4-BE49-F238E27FC236}">
                <a16:creationId xmlns:a16="http://schemas.microsoft.com/office/drawing/2014/main" id="{DB1BC5FF-DAB1-5796-B1BE-746461B54B3F}"/>
              </a:ext>
            </a:extLst>
          </p:cNvPr>
          <p:cNvSpPr>
            <a:spLocks noGrp="1"/>
          </p:cNvSpPr>
          <p:nvPr>
            <p:ph type="pic" sz="quarter" idx="15" hasCustomPrompt="1"/>
          </p:nvPr>
        </p:nvSpPr>
        <p:spPr bwMode="gray">
          <a:xfrm>
            <a:off x="5334770" y="685800"/>
            <a:ext cx="6400800" cy="6172200"/>
          </a:xfrm>
        </p:spPr>
        <p:txBody>
          <a:bodyPr lIns="914400" rIns="914400"/>
          <a:lstStyle>
            <a:lvl1pPr algn="ctr">
              <a:defRPr sz="1400"/>
            </a:lvl1pPr>
          </a:lstStyle>
          <a:p>
            <a:br>
              <a:rPr lang="en-US"/>
            </a:br>
            <a:br>
              <a:rPr lang="en-US"/>
            </a:br>
            <a:r>
              <a:rPr lang="en-US"/>
              <a:t>Traditional portraiture with removed background may be inserted into this placeholder with unchanged dimensions (6.75” H x 7.0”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p:txBody>
      </p:sp>
      <p:sp>
        <p:nvSpPr>
          <p:cNvPr id="6" name="Date Placeholder">
            <a:extLst>
              <a:ext uri="{FF2B5EF4-FFF2-40B4-BE49-F238E27FC236}">
                <a16:creationId xmlns:a16="http://schemas.microsoft.com/office/drawing/2014/main" id="{E23FAE9B-982D-41B9-BBD2-74E842A46071}"/>
              </a:ext>
            </a:extLst>
          </p:cNvPr>
          <p:cNvSpPr>
            <a:spLocks noGrp="1"/>
          </p:cNvSpPr>
          <p:nvPr>
            <p:ph type="dt" sz="half" idx="12"/>
          </p:nvPr>
        </p:nvSpPr>
        <p:spPr bwMode="gray"/>
        <p:txBody>
          <a:bodyPr/>
          <a:lstStyle/>
          <a:p>
            <a:fld id="{F87A1334-A36A-4C7C-9518-D463B6987497}" type="datetime1">
              <a:rPr lang="en-US" smtClean="0"/>
              <a:t>7/18/2026</a:t>
            </a:fld>
            <a:endParaRPr lang="en-US"/>
          </a:p>
        </p:txBody>
      </p:sp>
      <p:sp>
        <p:nvSpPr>
          <p:cNvPr id="7" name="Footer Placeholder">
            <a:extLst>
              <a:ext uri="{FF2B5EF4-FFF2-40B4-BE49-F238E27FC236}">
                <a16:creationId xmlns:a16="http://schemas.microsoft.com/office/drawing/2014/main" id="{0E8CE9CD-F45B-421B-99EE-E365E024903C}"/>
              </a:ext>
            </a:extLst>
          </p:cNvPr>
          <p:cNvSpPr>
            <a:spLocks noGrp="1"/>
          </p:cNvSpPr>
          <p:nvPr>
            <p:ph type="ftr" sz="quarter" idx="13"/>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1E1DF904-338B-407E-A788-88865DF5B781}"/>
              </a:ext>
            </a:extLst>
          </p:cNvPr>
          <p:cNvSpPr>
            <a:spLocks noGrp="1"/>
          </p:cNvSpPr>
          <p:nvPr>
            <p:ph type="sldNum" sz="quarter" idx="14"/>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2296487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236">
          <p15:clr>
            <a:srgbClr val="5ACBF0"/>
          </p15:clr>
        </p15:guide>
        <p15:guide id="2" pos="6626">
          <p15:clr>
            <a:srgbClr val="5ACBF0"/>
          </p15:clr>
        </p15:guide>
        <p15:guide id="3" orient="horz" pos="2288">
          <p15:clr>
            <a:srgbClr val="5ACBF0"/>
          </p15:clr>
        </p15:guide>
        <p15:guide id="4" orient="horz" pos="254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13F80B4D-94E3-497C-9014-7F8EABA417B7}"/>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Section headers</a:t>
            </a:r>
          </a:p>
        </p:txBody>
      </p:sp>
      <p:cxnSp>
        <p:nvCxnSpPr>
          <p:cNvPr id="4" name="Arrow">
            <a:extLst>
              <a:ext uri="{FF2B5EF4-FFF2-40B4-BE49-F238E27FC236}">
                <a16:creationId xmlns:a16="http://schemas.microsoft.com/office/drawing/2014/main" id="{5CA4857D-50A4-4F6E-8AC6-F53991E25BA7}"/>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30291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pic>
        <p:nvPicPr>
          <p:cNvPr id="17" name="Effervescent Background">
            <a:extLst>
              <a:ext uri="{FF2B5EF4-FFF2-40B4-BE49-F238E27FC236}">
                <a16:creationId xmlns:a16="http://schemas.microsoft.com/office/drawing/2014/main" id="{77505517-54EF-7E54-5259-EE37C36DD28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0" y="0"/>
            <a:ext cx="12192000" cy="6858000"/>
          </a:xfrm>
          <a:prstGeom prst="rect">
            <a:avLst/>
          </a:prstGeom>
        </p:spPr>
      </p:pic>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37543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4186206"/>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6865541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101">
          <p15:clr>
            <a:srgbClr val="5ACBF0"/>
          </p15:clr>
        </p15:guide>
        <p15:guide id="2" pos="6576">
          <p15:clr>
            <a:srgbClr val="5ACBF0"/>
          </p15:clr>
        </p15:guide>
        <p15:guide id="3" orient="horz" pos="2459">
          <p15:clr>
            <a:srgbClr val="5ACBF0"/>
          </p15:clr>
        </p15:guide>
        <p15:guide id="4" orient="horz" pos="263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secHead" preserve="1">
  <p:cSld name="Section Header 02">
    <p:bg>
      <p:bgPr>
        <a:solidFill>
          <a:schemeClr val="bg1"/>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395D6C80-30F4-E89F-4785-D24A52C579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4388308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secHead" preserve="1">
  <p:cSld name="Section Header 03">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B182F32D-9E08-7913-D9C1-F4408AF9F96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7012015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secHead" preserve="1">
  <p:cSld name="Section Header 04">
    <p:bg>
      <p:bgPr>
        <a:solidFill>
          <a:schemeClr val="bg2"/>
        </a:solidFill>
        <a:effectLst/>
      </p:bgPr>
    </p:bg>
    <p:spTree>
      <p:nvGrpSpPr>
        <p:cNvPr id="1" name=""/>
        <p:cNvGrpSpPr/>
        <p:nvPr/>
      </p:nvGrpSpPr>
      <p:grpSpPr>
        <a:xfrm>
          <a:off x="0" y="0"/>
          <a:ext cx="0" cy="0"/>
          <a:chOff x="0" y="0"/>
          <a:chExt cx="0" cy="0"/>
        </a:xfrm>
      </p:grpSpPr>
      <p:grpSp>
        <p:nvGrpSpPr>
          <p:cNvPr id="31" name="Circle Stadium Pattern">
            <a:extLst>
              <a:ext uri="{FF2B5EF4-FFF2-40B4-BE49-F238E27FC236}">
                <a16:creationId xmlns:a16="http://schemas.microsoft.com/office/drawing/2014/main" id="{16063D44-BBF3-B8D8-F984-896F5796A07E}"/>
              </a:ext>
              <a:ext uri="{C183D7F6-B498-43B3-948B-1728B52AA6E4}">
                <adec:decorative xmlns:adec="http://schemas.microsoft.com/office/drawing/2017/decorative" val="1"/>
              </a:ext>
            </a:extLst>
          </p:cNvPr>
          <p:cNvGrpSpPr/>
          <p:nvPr userDrawn="1"/>
        </p:nvGrpSpPr>
        <p:grpSpPr bwMode="gray">
          <a:xfrm>
            <a:off x="0" y="-292"/>
            <a:ext cx="12192000" cy="6135750"/>
            <a:chOff x="0" y="-292"/>
            <a:chExt cx="12192000" cy="6135750"/>
          </a:xfrm>
          <a:solidFill>
            <a:schemeClr val="bg1"/>
          </a:solidFill>
        </p:grpSpPr>
        <p:sp>
          <p:nvSpPr>
            <p:cNvPr id="10" name="Oval 9">
              <a:extLst>
                <a:ext uri="{FF2B5EF4-FFF2-40B4-BE49-F238E27FC236}">
                  <a16:creationId xmlns:a16="http://schemas.microsoft.com/office/drawing/2014/main" id="{0B26FE32-383F-F5D8-7AB7-3A2B19B2D013}"/>
                </a:ext>
              </a:extLst>
            </p:cNvPr>
            <p:cNvSpPr/>
            <p:nvPr userDrawn="1"/>
          </p:nvSpPr>
          <p:spPr bwMode="gray">
            <a:xfrm>
              <a:off x="1426096" y="518477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3" name="Freeform: Shape 22">
              <a:extLst>
                <a:ext uri="{FF2B5EF4-FFF2-40B4-BE49-F238E27FC236}">
                  <a16:creationId xmlns:a16="http://schemas.microsoft.com/office/drawing/2014/main" id="{48670F22-94C0-5CBB-E6B8-C53D1DDBF077}"/>
                </a:ext>
              </a:extLst>
            </p:cNvPr>
            <p:cNvSpPr/>
            <p:nvPr userDrawn="1"/>
          </p:nvSpPr>
          <p:spPr bwMode="gray">
            <a:xfrm>
              <a:off x="0" y="5184482"/>
              <a:ext cx="1426097" cy="950976"/>
            </a:xfrm>
            <a:custGeom>
              <a:avLst/>
              <a:gdLst>
                <a:gd name="connsiteX0" fmla="*/ 0 w 1426097"/>
                <a:gd name="connsiteY0" fmla="*/ 0 h 950976"/>
                <a:gd name="connsiteX1" fmla="*/ 950609 w 1426097"/>
                <a:gd name="connsiteY1" fmla="*/ 0 h 950976"/>
                <a:gd name="connsiteX2" fmla="*/ 1426097 w 1426097"/>
                <a:gd name="connsiteY2" fmla="*/ 475488 h 950976"/>
                <a:gd name="connsiteX3" fmla="*/ 950609 w 1426097"/>
                <a:gd name="connsiteY3" fmla="*/ 950976 h 950976"/>
                <a:gd name="connsiteX4" fmla="*/ 0 w 1426097"/>
                <a:gd name="connsiteY4" fmla="*/ 950976 h 95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2" name="Oval 11">
              <a:extLst>
                <a:ext uri="{FF2B5EF4-FFF2-40B4-BE49-F238E27FC236}">
                  <a16:creationId xmlns:a16="http://schemas.microsoft.com/office/drawing/2014/main" id="{07B955C5-E4B3-A3F4-88FB-83ACECDCEAA0}"/>
                </a:ext>
              </a:extLst>
            </p:cNvPr>
            <p:cNvSpPr/>
            <p:nvPr userDrawn="1"/>
          </p:nvSpPr>
          <p:spPr bwMode="gray">
            <a:xfrm>
              <a:off x="475704" y="423394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0" name="Freeform: Shape 19">
              <a:extLst>
                <a:ext uri="{FF2B5EF4-FFF2-40B4-BE49-F238E27FC236}">
                  <a16:creationId xmlns:a16="http://schemas.microsoft.com/office/drawing/2014/main" id="{A9ACFA7D-DFD2-CB12-E4DE-F657AF3C466E}"/>
                </a:ext>
              </a:extLst>
            </p:cNvPr>
            <p:cNvSpPr/>
            <p:nvPr userDrawn="1"/>
          </p:nvSpPr>
          <p:spPr bwMode="gray">
            <a:xfrm>
              <a:off x="0" y="4233944"/>
              <a:ext cx="475704" cy="950392"/>
            </a:xfrm>
            <a:custGeom>
              <a:avLst/>
              <a:gdLst>
                <a:gd name="connsiteX0" fmla="*/ 508 w 475704"/>
                <a:gd name="connsiteY0" fmla="*/ 0 h 950392"/>
                <a:gd name="connsiteX1" fmla="*/ 475704 w 475704"/>
                <a:gd name="connsiteY1" fmla="*/ 475196 h 950392"/>
                <a:gd name="connsiteX2" fmla="*/ 508 w 475704"/>
                <a:gd name="connsiteY2" fmla="*/ 950392 h 950392"/>
                <a:gd name="connsiteX3" fmla="*/ 0 w 475704"/>
                <a:gd name="connsiteY3" fmla="*/ 950341 h 950392"/>
                <a:gd name="connsiteX4" fmla="*/ 0 w 475704"/>
                <a:gd name="connsiteY4" fmla="*/ 51 h 950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4" name="Oval 13">
              <a:extLst>
                <a:ext uri="{FF2B5EF4-FFF2-40B4-BE49-F238E27FC236}">
                  <a16:creationId xmlns:a16="http://schemas.microsoft.com/office/drawing/2014/main" id="{57D0112C-AD5F-F157-6170-5791D778202A}"/>
                </a:ext>
              </a:extLst>
            </p:cNvPr>
            <p:cNvSpPr/>
            <p:nvPr userDrawn="1"/>
          </p:nvSpPr>
          <p:spPr bwMode="gray">
            <a:xfrm>
              <a:off x="11241608" y="1900784"/>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5" name="Freeform: Shape 24">
              <a:extLst>
                <a:ext uri="{FF2B5EF4-FFF2-40B4-BE49-F238E27FC236}">
                  <a16:creationId xmlns:a16="http://schemas.microsoft.com/office/drawing/2014/main" id="{21C22E0F-8DF4-2E07-F091-9AE29F932B77}"/>
                </a:ext>
              </a:extLst>
            </p:cNvPr>
            <p:cNvSpPr/>
            <p:nvPr userDrawn="1"/>
          </p:nvSpPr>
          <p:spPr bwMode="gray">
            <a:xfrm>
              <a:off x="10678741" y="950392"/>
              <a:ext cx="1513259" cy="950976"/>
            </a:xfrm>
            <a:custGeom>
              <a:avLst/>
              <a:gdLst>
                <a:gd name="connsiteX0" fmla="*/ 475488 w 1513259"/>
                <a:gd name="connsiteY0" fmla="*/ 0 h 950976"/>
                <a:gd name="connsiteX1" fmla="*/ 1503057 w 1513259"/>
                <a:gd name="connsiteY1" fmla="*/ 0 h 950976"/>
                <a:gd name="connsiteX2" fmla="*/ 1513259 w 1513259"/>
                <a:gd name="connsiteY2" fmla="*/ 1029 h 950976"/>
                <a:gd name="connsiteX3" fmla="*/ 1513259 w 1513259"/>
                <a:gd name="connsiteY3" fmla="*/ 949948 h 950976"/>
                <a:gd name="connsiteX4" fmla="*/ 1503057 w 1513259"/>
                <a:gd name="connsiteY4" fmla="*/ 950976 h 950976"/>
                <a:gd name="connsiteX5" fmla="*/ 475488 w 1513259"/>
                <a:gd name="connsiteY5" fmla="*/ 950976 h 950976"/>
                <a:gd name="connsiteX6" fmla="*/ 0 w 1513259"/>
                <a:gd name="connsiteY6" fmla="*/ 475488 h 950976"/>
                <a:gd name="connsiteX7" fmla="*/ 475488 w 1513259"/>
                <a:gd name="connsiteY7"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 name="Oval 15">
              <a:extLst>
                <a:ext uri="{FF2B5EF4-FFF2-40B4-BE49-F238E27FC236}">
                  <a16:creationId xmlns:a16="http://schemas.microsoft.com/office/drawing/2014/main" id="{E3F54F8B-42DA-A10D-4F48-DAE6DD4BB538}"/>
                </a:ext>
              </a:extLst>
            </p:cNvPr>
            <p:cNvSpPr/>
            <p:nvPr userDrawn="1"/>
          </p:nvSpPr>
          <p:spPr bwMode="gray">
            <a:xfrm>
              <a:off x="9734744" y="95010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7" name="Oval 16">
              <a:extLst>
                <a:ext uri="{FF2B5EF4-FFF2-40B4-BE49-F238E27FC236}">
                  <a16:creationId xmlns:a16="http://schemas.microsoft.com/office/drawing/2014/main" id="{9925FF2C-98E9-C65D-690D-B217AEC9E1FC}"/>
                </a:ext>
              </a:extLst>
            </p:cNvPr>
            <p:cNvSpPr/>
            <p:nvPr userDrawn="1"/>
          </p:nvSpPr>
          <p:spPr bwMode="gray">
            <a:xfrm>
              <a:off x="10678742" y="0"/>
              <a:ext cx="950392" cy="950392"/>
            </a:xfrm>
            <a:prstGeom prst="ellipse">
              <a:avLst/>
            </a:pr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9" name="Freeform: Shape 28">
              <a:extLst>
                <a:ext uri="{FF2B5EF4-FFF2-40B4-BE49-F238E27FC236}">
                  <a16:creationId xmlns:a16="http://schemas.microsoft.com/office/drawing/2014/main" id="{9BFA5672-C599-B33C-CF5D-BEEECB00FE0A}"/>
                </a:ext>
              </a:extLst>
            </p:cNvPr>
            <p:cNvSpPr/>
            <p:nvPr userDrawn="1"/>
          </p:nvSpPr>
          <p:spPr bwMode="gray">
            <a:xfrm>
              <a:off x="11629134" y="-292"/>
              <a:ext cx="562866" cy="950976"/>
            </a:xfrm>
            <a:custGeom>
              <a:avLst/>
              <a:gdLst>
                <a:gd name="connsiteX0" fmla="*/ 475488 w 562866"/>
                <a:gd name="connsiteY0" fmla="*/ 0 h 950976"/>
                <a:gd name="connsiteX1" fmla="*/ 562866 w 562866"/>
                <a:gd name="connsiteY1" fmla="*/ 0 h 950976"/>
                <a:gd name="connsiteX2" fmla="*/ 562866 w 562866"/>
                <a:gd name="connsiteY2" fmla="*/ 950976 h 950976"/>
                <a:gd name="connsiteX3" fmla="*/ 475488 w 562866"/>
                <a:gd name="connsiteY3" fmla="*/ 950976 h 950976"/>
                <a:gd name="connsiteX4" fmla="*/ 0 w 562866"/>
                <a:gd name="connsiteY4" fmla="*/ 475488 h 950976"/>
                <a:gd name="connsiteX5" fmla="*/ 475488 w 562866"/>
                <a:gd name="connsiteY5" fmla="*/ 0 h 95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grp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752600" y="2186355"/>
            <a:ext cx="8686800" cy="1523494"/>
          </a:xfrm>
        </p:spPr>
        <p:txBody>
          <a:bodyPr anchor="b"/>
          <a:lstStyle>
            <a:lvl1pPr algn="ctr">
              <a:defRPr sz="5500" b="0" spc="0" baseline="0">
                <a:solidFill>
                  <a:schemeClr val="tx1"/>
                </a:solidFill>
              </a:defRPr>
            </a:lvl1pPr>
          </a:lstStyle>
          <a:p>
            <a:r>
              <a:rPr lang="en-US"/>
              <a:t>Section title; Georgia Pro 55pt, sentence case</a:t>
            </a:r>
          </a:p>
        </p:txBody>
      </p:sp>
      <p:sp>
        <p:nvSpPr>
          <p:cNvPr id="3" name="Subtitle Placeholder">
            <a:extLst>
              <a:ext uri="{FF2B5EF4-FFF2-40B4-BE49-F238E27FC236}">
                <a16:creationId xmlns:a16="http://schemas.microsoft.com/office/drawing/2014/main" id="{1984467D-8998-4601-8ABC-FDE348E4BFF2}"/>
              </a:ext>
            </a:extLst>
          </p:cNvPr>
          <p:cNvSpPr>
            <a:spLocks noGrp="1"/>
          </p:cNvSpPr>
          <p:nvPr>
            <p:ph type="body" idx="1" hasCustomPrompt="1"/>
          </p:nvPr>
        </p:nvSpPr>
        <p:spPr bwMode="gray">
          <a:xfrm>
            <a:off x="1752600" y="3990820"/>
            <a:ext cx="8686800" cy="332399"/>
          </a:xfrm>
        </p:spPr>
        <p:txBody>
          <a:bodyPr>
            <a:spAutoFit/>
          </a:bodyPr>
          <a:lstStyle>
            <a:lvl1pPr marL="0" indent="0" algn="ctr">
              <a:lnSpc>
                <a:spcPct val="90000"/>
              </a:lnSpc>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subtitle (optional); Arial 24pt, sentence case</a:t>
            </a:r>
          </a:p>
        </p:txBody>
      </p:sp>
      <p:pic>
        <p:nvPicPr>
          <p:cNvPr id="7" name="Optum Logo" descr="Optum">
            <a:extLst>
              <a:ext uri="{FF2B5EF4-FFF2-40B4-BE49-F238E27FC236}">
                <a16:creationId xmlns:a16="http://schemas.microsoft.com/office/drawing/2014/main" id="{7D20C80F-10C6-380F-767C-5DE5099AFED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071446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5776">
          <p15:clr>
            <a:srgbClr val="5ACBF0"/>
          </p15:clr>
        </p15:guide>
        <p15:guide id="3" orient="horz" pos="2344">
          <p15:clr>
            <a:srgbClr val="5ACBF0"/>
          </p15:clr>
        </p15:guide>
        <p15:guide id="4" orient="horz" pos="2509">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ection Header 05">
    <p:bg>
      <p:bgPr>
        <a:solidFill>
          <a:schemeClr val="bg2"/>
        </a:solidFill>
        <a:effectLst/>
      </p:bgPr>
    </p:bg>
    <p:spTree>
      <p:nvGrpSpPr>
        <p:cNvPr id="1" name=""/>
        <p:cNvGrpSpPr/>
        <p:nvPr/>
      </p:nvGrpSpPr>
      <p:grpSpPr>
        <a:xfrm>
          <a:off x="0" y="0"/>
          <a:ext cx="0" cy="0"/>
          <a:chOff x="0" y="0"/>
          <a:chExt cx="0" cy="0"/>
        </a:xfrm>
      </p:grpSpPr>
      <p:sp>
        <p:nvSpPr>
          <p:cNvPr id="13" name="Orange Title Block">
            <a:extLst>
              <a:ext uri="{FF2B5EF4-FFF2-40B4-BE49-F238E27FC236}">
                <a16:creationId xmlns:a16="http://schemas.microsoft.com/office/drawing/2014/main" id="{28BF8FD6-F40C-8C7C-FF94-4DA25C3DA2C3}"/>
              </a:ext>
              <a:ext uri="{C183D7F6-B498-43B3-948B-1728B52AA6E4}">
                <adec:decorative xmlns:adec="http://schemas.microsoft.com/office/drawing/2017/decorative" val="1"/>
              </a:ext>
            </a:extLst>
          </p:cNvPr>
          <p:cNvSpPr/>
          <p:nvPr userDrawn="1"/>
        </p:nvSpPr>
        <p:spPr bwMode="gray">
          <a:xfrm>
            <a:off x="0" y="2456160"/>
            <a:ext cx="140027" cy="1377898"/>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44043"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6224575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4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ection Header 06">
    <p:bg>
      <p:bgPr>
        <a:solidFill>
          <a:schemeClr val="bg2"/>
        </a:solidFill>
        <a:effectLst/>
      </p:bgPr>
    </p:bg>
    <p:spTree>
      <p:nvGrpSpPr>
        <p:cNvPr id="1" name=""/>
        <p:cNvGrpSpPr/>
        <p:nvPr/>
      </p:nvGrpSpPr>
      <p:grpSpPr>
        <a:xfrm>
          <a:off x="0" y="0"/>
          <a:ext cx="0" cy="0"/>
          <a:chOff x="0" y="0"/>
          <a:chExt cx="0" cy="0"/>
        </a:xfrm>
      </p:grpSpPr>
      <p:sp>
        <p:nvSpPr>
          <p:cNvPr id="11" name="Dynamic O">
            <a:extLst>
              <a:ext uri="{FF2B5EF4-FFF2-40B4-BE49-F238E27FC236}">
                <a16:creationId xmlns:a16="http://schemas.microsoft.com/office/drawing/2014/main" id="{FA219C5D-76EB-3271-5225-511B46D0905B}"/>
              </a:ext>
              <a:ext uri="{C183D7F6-B498-43B3-948B-1728B52AA6E4}">
                <adec:decorative xmlns:adec="http://schemas.microsoft.com/office/drawing/2017/decorative" val="1"/>
              </a:ext>
            </a:extLst>
          </p:cNvPr>
          <p:cNvSpPr/>
          <p:nvPr userDrawn="1"/>
        </p:nvSpPr>
        <p:spPr bwMode="gray">
          <a:xfrm>
            <a:off x="0" y="1814381"/>
            <a:ext cx="1105958" cy="2661455"/>
          </a:xfrm>
          <a:custGeom>
            <a:avLst/>
            <a:gdLst>
              <a:gd name="connsiteX0" fmla="*/ 0 w 1105958"/>
              <a:gd name="connsiteY0" fmla="*/ 0 h 2661455"/>
              <a:gd name="connsiteX1" fmla="*/ 24371 w 1105958"/>
              <a:gd name="connsiteY1" fmla="*/ 3721 h 2661455"/>
              <a:gd name="connsiteX2" fmla="*/ 1105958 w 1105958"/>
              <a:gd name="connsiteY2" fmla="*/ 1330728 h 2661455"/>
              <a:gd name="connsiteX3" fmla="*/ 24371 w 1105958"/>
              <a:gd name="connsiteY3" fmla="*/ 2657734 h 2661455"/>
              <a:gd name="connsiteX4" fmla="*/ 0 w 1105958"/>
              <a:gd name="connsiteY4" fmla="*/ 2661455 h 2661455"/>
              <a:gd name="connsiteX5" fmla="*/ 0 w 1105958"/>
              <a:gd name="connsiteY5" fmla="*/ 1981014 h 2661455"/>
              <a:gd name="connsiteX6" fmla="*/ 23235 w 1105958"/>
              <a:gd name="connsiteY6" fmla="*/ 1973802 h 2661455"/>
              <a:gd name="connsiteX7" fmla="*/ 449371 w 1105958"/>
              <a:gd name="connsiteY7" fmla="*/ 1330728 h 2661455"/>
              <a:gd name="connsiteX8" fmla="*/ 23235 w 1105958"/>
              <a:gd name="connsiteY8" fmla="*/ 687655 h 2661455"/>
              <a:gd name="connsiteX9" fmla="*/ 0 w 1105958"/>
              <a:gd name="connsiteY9" fmla="*/ 680442 h 266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551912" y="2397212"/>
            <a:ext cx="3610638"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0127869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96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ection Header 07">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D676019-CFD3-FD0A-81AC-A6D13354F759}"/>
              </a:ext>
              <a:ext uri="{C183D7F6-B498-43B3-948B-1728B52AA6E4}">
                <adec:decorative xmlns:adec="http://schemas.microsoft.com/office/drawing/2017/decorative" val="1"/>
              </a:ext>
            </a:extLst>
          </p:cNvPr>
          <p:cNvSpPr/>
          <p:nvPr/>
        </p:nvSpPr>
        <p:spPr bwMode="gray">
          <a:xfrm>
            <a:off x="10272839" y="0"/>
            <a:ext cx="1919161" cy="1848256"/>
          </a:xfrm>
          <a:custGeom>
            <a:avLst/>
            <a:gdLst>
              <a:gd name="connsiteX0" fmla="*/ 0 w 1919161"/>
              <a:gd name="connsiteY0" fmla="*/ 0 h 1848256"/>
              <a:gd name="connsiteX1" fmla="*/ 928773 w 1919161"/>
              <a:gd name="connsiteY1" fmla="*/ 0 h 1848256"/>
              <a:gd name="connsiteX2" fmla="*/ 930451 w 1919161"/>
              <a:gd name="connsiteY2" fmla="*/ 33244 h 1848256"/>
              <a:gd name="connsiteX3" fmla="*/ 1912618 w 1919161"/>
              <a:gd name="connsiteY3" fmla="*/ 919488 h 1848256"/>
              <a:gd name="connsiteX4" fmla="*/ 1919161 w 1919161"/>
              <a:gd name="connsiteY4" fmla="*/ 919158 h 1848256"/>
              <a:gd name="connsiteX5" fmla="*/ 1919161 w 1919161"/>
              <a:gd name="connsiteY5" fmla="*/ 1847926 h 1848256"/>
              <a:gd name="connsiteX6" fmla="*/ 1912618 w 1919161"/>
              <a:gd name="connsiteY6" fmla="*/ 1848256 h 1848256"/>
              <a:gd name="connsiteX7" fmla="*/ 6471 w 1919161"/>
              <a:gd name="connsiteY7" fmla="*/ 128094 h 184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40838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ection Header 08">
    <p:bg>
      <p:bgPr>
        <a:solidFill>
          <a:schemeClr val="bg2"/>
        </a:solidFill>
        <a:effectLst/>
      </p:bgPr>
    </p:bg>
    <p:spTree>
      <p:nvGrpSpPr>
        <p:cNvPr id="1" name=""/>
        <p:cNvGrpSpPr/>
        <p:nvPr/>
      </p:nvGrpSpPr>
      <p:grpSpPr>
        <a:xfrm>
          <a:off x="0" y="0"/>
          <a:ext cx="0" cy="0"/>
          <a:chOff x="0" y="0"/>
          <a:chExt cx="0" cy="0"/>
        </a:xfrm>
      </p:grpSpPr>
      <p:sp>
        <p:nvSpPr>
          <p:cNvPr id="9" name="Dynamic O">
            <a:extLst>
              <a:ext uri="{FF2B5EF4-FFF2-40B4-BE49-F238E27FC236}">
                <a16:creationId xmlns:a16="http://schemas.microsoft.com/office/drawing/2014/main" id="{A454858E-F681-1D4B-86DB-CAC8E494A65D}"/>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7001377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0">
          <p15:clr>
            <a:srgbClr val="5ACBF0"/>
          </p15:clr>
        </p15:guide>
        <p15:guide id="5" pos="652">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ection Header 09">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F55B9041-0F47-9F80-6CDD-3B89753F446F}"/>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1050758"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6020525"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0813837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3252">
          <p15:clr>
            <a:srgbClr val="5ACBF0"/>
          </p15:clr>
        </p15:guide>
        <p15:guide id="3" orient="horz" pos="1500">
          <p15:clr>
            <a:srgbClr val="5ACBF0"/>
          </p15:clr>
        </p15:guide>
        <p15:guide id="4" orient="horz" pos="2464">
          <p15:clr>
            <a:srgbClr val="5ACBF0"/>
          </p15:clr>
        </p15:guide>
        <p15:guide id="5" pos="652">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ection Header 10">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D04B8F56-963D-7D87-B3A4-F13FC8B0B209}"/>
              </a:ext>
              <a:ext uri="{C183D7F6-B498-43B3-948B-1728B52AA6E4}">
                <adec:decorative xmlns:adec="http://schemas.microsoft.com/office/drawing/2017/decorative" val="1"/>
              </a:ext>
            </a:extLst>
          </p:cNvPr>
          <p:cNvSpPr/>
          <p:nvPr/>
        </p:nvSpPr>
        <p:spPr bwMode="gray">
          <a:xfrm>
            <a:off x="0" y="0"/>
            <a:ext cx="1930778" cy="2001453"/>
          </a:xfrm>
          <a:custGeom>
            <a:avLst/>
            <a:gdLst>
              <a:gd name="connsiteX0" fmla="*/ 997352 w 1930778"/>
              <a:gd name="connsiteY0" fmla="*/ 0 h 2001453"/>
              <a:gd name="connsiteX1" fmla="*/ 1926502 w 1930778"/>
              <a:gd name="connsiteY1" fmla="*/ 0 h 2001453"/>
              <a:gd name="connsiteX2" fmla="*/ 1930778 w 1930778"/>
              <a:gd name="connsiteY2" fmla="*/ 84635 h 2001453"/>
              <a:gd name="connsiteX3" fmla="*/ 13954 w 1930778"/>
              <a:gd name="connsiteY3" fmla="*/ 2001453 h 2001453"/>
              <a:gd name="connsiteX4" fmla="*/ 0 w 1930778"/>
              <a:gd name="connsiteY4" fmla="*/ 2000748 h 2001453"/>
              <a:gd name="connsiteX5" fmla="*/ 0 w 1930778"/>
              <a:gd name="connsiteY5" fmla="*/ 1071597 h 2001453"/>
              <a:gd name="connsiteX6" fmla="*/ 13954 w 1930778"/>
              <a:gd name="connsiteY6" fmla="*/ 1072301 h 2001453"/>
              <a:gd name="connsiteX7" fmla="*/ 1001623 w 1930778"/>
              <a:gd name="connsiteY7" fmla="*/ 84635 h 2001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9" name="Picture Placeholder">
            <a:extLst>
              <a:ext uri="{FF2B5EF4-FFF2-40B4-BE49-F238E27FC236}">
                <a16:creationId xmlns:a16="http://schemas.microsoft.com/office/drawing/2014/main" id="{12375231-D91B-0897-471C-42A4E82A50C8}"/>
              </a:ext>
            </a:extLst>
          </p:cNvPr>
          <p:cNvSpPr>
            <a:spLocks noGrp="1" noRot="1" noMove="1" noResize="1" noEditPoints="1" noAdjustHandles="1" noChangeArrowheads="1" noChangeShapeType="1"/>
          </p:cNvSpPr>
          <p:nvPr>
            <p:ph type="pic" sz="quarter" idx="13" hasCustomPrompt="1"/>
          </p:nvPr>
        </p:nvSpPr>
        <p:spPr bwMode="gray">
          <a:xfrm>
            <a:off x="906051" y="800100"/>
            <a:ext cx="5257800" cy="5257800"/>
          </a:xfrm>
          <a:custGeom>
            <a:avLst/>
            <a:gdLst>
              <a:gd name="connsiteX0" fmla="*/ 885245 w 5257800"/>
              <a:gd name="connsiteY0" fmla="*/ 0 h 5257800"/>
              <a:gd name="connsiteX1" fmla="*/ 5257800 w 5257800"/>
              <a:gd name="connsiteY1" fmla="*/ 0 h 5257800"/>
              <a:gd name="connsiteX2" fmla="*/ 5257800 w 5257800"/>
              <a:gd name="connsiteY2" fmla="*/ 5257800 h 5257800"/>
              <a:gd name="connsiteX3" fmla="*/ 0 w 5257800"/>
              <a:gd name="connsiteY3" fmla="*/ 5257800 h 5257800"/>
              <a:gd name="connsiteX4" fmla="*/ 0 w 5257800"/>
              <a:gd name="connsiteY4" fmla="*/ 980303 h 5257800"/>
              <a:gd name="connsiteX5" fmla="*/ 21473 w 5257800"/>
              <a:gd name="connsiteY5" fmla="*/ 969957 h 5257800"/>
              <a:gd name="connsiteX6" fmla="*/ 874061 w 5257800"/>
              <a:gd name="connsiteY6" fmla="*/ 30549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57800" h="5257800">
                <a:moveTo>
                  <a:pt x="885245" y="0"/>
                </a:moveTo>
                <a:lnTo>
                  <a:pt x="5257800" y="0"/>
                </a:lnTo>
                <a:lnTo>
                  <a:pt x="5257800" y="5257800"/>
                </a:lnTo>
                <a:lnTo>
                  <a:pt x="0" y="5257800"/>
                </a:lnTo>
                <a:lnTo>
                  <a:pt x="0" y="980303"/>
                </a:lnTo>
                <a:lnTo>
                  <a:pt x="21473" y="969957"/>
                </a:lnTo>
                <a:cubicBezTo>
                  <a:pt x="401710" y="763364"/>
                  <a:pt x="704285" y="431849"/>
                  <a:pt x="874061" y="30549"/>
                </a:cubicBezTo>
                <a:close/>
              </a:path>
            </a:pathLst>
          </a:custGeom>
        </p:spPr>
        <p:txBody>
          <a:bodyPr wrap="square" lIns="0" rIns="0">
            <a:noAutofit/>
          </a:bodyPr>
          <a:lstStyle>
            <a:lvl1pPr algn="ctr">
              <a:defRPr sz="1400"/>
            </a:lvl1pPr>
          </a:lstStyle>
          <a:p>
            <a:br>
              <a:rPr lang="en-US"/>
            </a:br>
            <a:br>
              <a:rPr lang="en-US"/>
            </a:br>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0434728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ection Header 11">
    <p:bg>
      <p:bgPr>
        <a:solidFill>
          <a:schemeClr val="bg2"/>
        </a:solidFill>
        <a:effectLst/>
      </p:bgPr>
    </p:bg>
    <p:spTree>
      <p:nvGrpSpPr>
        <p:cNvPr id="1" name=""/>
        <p:cNvGrpSpPr/>
        <p:nvPr/>
      </p:nvGrpSpPr>
      <p:grpSpPr>
        <a:xfrm>
          <a:off x="0" y="0"/>
          <a:ext cx="0" cy="0"/>
          <a:chOff x="0" y="0"/>
          <a:chExt cx="0" cy="0"/>
        </a:xfrm>
      </p:grpSpPr>
      <p:sp>
        <p:nvSpPr>
          <p:cNvPr id="10" name="Dynamic O">
            <a:extLst>
              <a:ext uri="{FF2B5EF4-FFF2-40B4-BE49-F238E27FC236}">
                <a16:creationId xmlns:a16="http://schemas.microsoft.com/office/drawing/2014/main" id="{017E2C4C-635A-5655-9467-072CF55397B5}"/>
              </a:ext>
              <a:ext uri="{C183D7F6-B498-43B3-948B-1728B52AA6E4}">
                <adec:decorative xmlns:adec="http://schemas.microsoft.com/office/drawing/2017/decorative" val="1"/>
              </a:ext>
            </a:extLst>
          </p:cNvPr>
          <p:cNvSpPr/>
          <p:nvPr/>
        </p:nvSpPr>
        <p:spPr bwMode="gray">
          <a:xfrm>
            <a:off x="9839286" y="4542218"/>
            <a:ext cx="2352714" cy="2315782"/>
          </a:xfrm>
          <a:custGeom>
            <a:avLst/>
            <a:gdLst>
              <a:gd name="connsiteX0" fmla="*/ 1920302 w 2352714"/>
              <a:gd name="connsiteY0" fmla="*/ 0 h 2315782"/>
              <a:gd name="connsiteX1" fmla="*/ 2307243 w 2352714"/>
              <a:gd name="connsiteY1" fmla="*/ 39023 h 2315782"/>
              <a:gd name="connsiteX2" fmla="*/ 2352714 w 2352714"/>
              <a:gd name="connsiteY2" fmla="*/ 50719 h 2315782"/>
              <a:gd name="connsiteX3" fmla="*/ 2352714 w 2352714"/>
              <a:gd name="connsiteY3" fmla="*/ 1031302 h 2315782"/>
              <a:gd name="connsiteX4" fmla="*/ 2305633 w 2352714"/>
              <a:gd name="connsiteY4" fmla="*/ 1008617 h 2315782"/>
              <a:gd name="connsiteX5" fmla="*/ 1920302 w 2352714"/>
              <a:gd name="connsiteY5" fmla="*/ 930833 h 2315782"/>
              <a:gd name="connsiteX6" fmla="*/ 930841 w 2352714"/>
              <a:gd name="connsiteY6" fmla="*/ 1920285 h 2315782"/>
              <a:gd name="connsiteX7" fmla="*/ 1008626 w 2352714"/>
              <a:gd name="connsiteY7" fmla="*/ 2305613 h 2315782"/>
              <a:gd name="connsiteX8" fmla="*/ 1013526 w 2352714"/>
              <a:gd name="connsiteY8" fmla="*/ 2315782 h 2315782"/>
              <a:gd name="connsiteX9" fmla="*/ 41225 w 2352714"/>
              <a:gd name="connsiteY9" fmla="*/ 2315782 h 2315782"/>
              <a:gd name="connsiteX10" fmla="*/ 39023 w 2352714"/>
              <a:gd name="connsiteY10" fmla="*/ 2307223 h 2315782"/>
              <a:gd name="connsiteX11" fmla="*/ 0 w 2352714"/>
              <a:gd name="connsiteY11" fmla="*/ 1920285 h 2315782"/>
              <a:gd name="connsiteX12" fmla="*/ 1920302 w 2352714"/>
              <a:gd name="connsiteY12" fmla="*/ 0 h 231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6866021" y="2397212"/>
            <a:ext cx="4114800" cy="1495794"/>
          </a:xfrm>
        </p:spPr>
        <p:txBody>
          <a:bodyPr anchor="ctr" anchorCtr="0"/>
          <a:lstStyle>
            <a:lvl1pPr algn="l">
              <a:defRPr sz="3600" b="0" spc="0" baseline="0">
                <a:solidFill>
                  <a:schemeClr val="tx1"/>
                </a:solidFill>
              </a:defRPr>
            </a:lvl1pPr>
          </a:lstStyle>
          <a:p>
            <a:r>
              <a:rPr lang="en-US"/>
              <a:t>Section title; Georgia Pro 36pt, sentence case</a:t>
            </a:r>
          </a:p>
        </p:txBody>
      </p:sp>
      <p:sp>
        <p:nvSpPr>
          <p:cNvPr id="21" name="Picture Placeholder">
            <a:extLst>
              <a:ext uri="{FF2B5EF4-FFF2-40B4-BE49-F238E27FC236}">
                <a16:creationId xmlns:a16="http://schemas.microsoft.com/office/drawing/2014/main" id="{5B0D8A8D-61BB-BEFA-26EE-778BA0AB9DFF}"/>
              </a:ext>
            </a:extLst>
          </p:cNvPr>
          <p:cNvSpPr>
            <a:spLocks noGrp="1"/>
          </p:cNvSpPr>
          <p:nvPr>
            <p:ph type="pic" sz="quarter" idx="13" hasCustomPrompt="1"/>
          </p:nvPr>
        </p:nvSpPr>
        <p:spPr bwMode="gray">
          <a:xfrm>
            <a:off x="906051" y="800100"/>
            <a:ext cx="5257800" cy="5257800"/>
          </a:xfrm>
        </p:spPr>
        <p:txBody>
          <a:bodyPr/>
          <a:lstStyle>
            <a:lvl1pPr algn="ctr">
              <a:defRPr sz="1400"/>
            </a:lvl1pPr>
          </a:lstStyle>
          <a:p>
            <a:br>
              <a:rPr lang="en-US"/>
            </a:br>
            <a:r>
              <a:rPr lang="en-US"/>
              <a:t>Photography should be inserted into this placeholder with unchanged dimensions (5.75” H x 5.75”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18" name="Optum Logo" descr="Optum">
            <a:extLst>
              <a:ext uri="{FF2B5EF4-FFF2-40B4-BE49-F238E27FC236}">
                <a16:creationId xmlns:a16="http://schemas.microsoft.com/office/drawing/2014/main" id="{65820913-C73D-103B-2ED4-F1FDB8E7147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7D63D41C-A5A9-4F2E-BDFA-B96CA58C5EF1}"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9917259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4316">
          <p15:clr>
            <a:srgbClr val="5ACBF0"/>
          </p15:clr>
        </p15:guide>
        <p15:guide id="3" orient="horz" pos="1500">
          <p15:clr>
            <a:srgbClr val="5ACBF0"/>
          </p15:clr>
        </p15:guide>
        <p15:guide id="4" orient="horz" pos="2460">
          <p15:clr>
            <a:srgbClr val="5ACBF0"/>
          </p15:clr>
        </p15:guide>
        <p15:guide id="5" pos="6924">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ection Header 12">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pic>
        <p:nvPicPr>
          <p:cNvPr id="3" name="Optum Logo" descr="Optum">
            <a:extLst>
              <a:ext uri="{FF2B5EF4-FFF2-40B4-BE49-F238E27FC236}">
                <a16:creationId xmlns:a16="http://schemas.microsoft.com/office/drawing/2014/main" id="{CB4EB4D9-021E-309E-E9AB-13969D40271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526679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ection Header 13">
    <p:bg>
      <p:bgPr>
        <a:solidFill>
          <a:schemeClr val="bg2"/>
        </a:solidFill>
        <a:effectLst/>
      </p:bgPr>
    </p:bg>
    <p:spTree>
      <p:nvGrpSpPr>
        <p:cNvPr id="1" name=""/>
        <p:cNvGrpSpPr/>
        <p:nvPr/>
      </p:nvGrpSpPr>
      <p:grpSpPr>
        <a:xfrm>
          <a:off x="0" y="0"/>
          <a:ext cx="0" cy="0"/>
          <a:chOff x="0" y="0"/>
          <a:chExt cx="0" cy="0"/>
        </a:xfrm>
      </p:grpSpPr>
      <p:sp>
        <p:nvSpPr>
          <p:cNvPr id="13" name="Dynamic O">
            <a:extLst>
              <a:ext uri="{FF2B5EF4-FFF2-40B4-BE49-F238E27FC236}">
                <a16:creationId xmlns:a16="http://schemas.microsoft.com/office/drawing/2014/main" id="{AC0728B4-2591-9F3C-2330-363212598641}"/>
              </a:ext>
              <a:ext uri="{C183D7F6-B498-43B3-948B-1728B52AA6E4}">
                <adec:decorative xmlns:adec="http://schemas.microsoft.com/office/drawing/2017/decorative" val="1"/>
              </a:ext>
            </a:extLst>
          </p:cNvPr>
          <p:cNvSpPr/>
          <p:nvPr/>
        </p:nvSpPr>
        <p:spPr bwMode="gray">
          <a:xfrm>
            <a:off x="9473142" y="0"/>
            <a:ext cx="2718859" cy="6858000"/>
          </a:xfrm>
          <a:custGeom>
            <a:avLst/>
            <a:gdLst>
              <a:gd name="connsiteX0" fmla="*/ 2069828 w 2718859"/>
              <a:gd name="connsiteY0" fmla="*/ 0 h 6858000"/>
              <a:gd name="connsiteX1" fmla="*/ 2718859 w 2718859"/>
              <a:gd name="connsiteY1" fmla="*/ 0 h 6858000"/>
              <a:gd name="connsiteX2" fmla="*/ 2718859 w 2718859"/>
              <a:gd name="connsiteY2" fmla="*/ 1762101 h 6858000"/>
              <a:gd name="connsiteX3" fmla="*/ 2718398 w 2718859"/>
              <a:gd name="connsiteY3" fmla="*/ 1762381 h 6858000"/>
              <a:gd name="connsiteX4" fmla="*/ 1851208 w 2718859"/>
              <a:gd name="connsiteY4" fmla="*/ 3394335 h 6858000"/>
              <a:gd name="connsiteX5" fmla="*/ 2567465 w 2718859"/>
              <a:gd name="connsiteY5" fmla="*/ 4913063 h 6858000"/>
              <a:gd name="connsiteX6" fmla="*/ 2718859 w 2718859"/>
              <a:gd name="connsiteY6" fmla="*/ 5026214 h 6858000"/>
              <a:gd name="connsiteX7" fmla="*/ 2718859 w 2718859"/>
              <a:gd name="connsiteY7" fmla="*/ 6858000 h 6858000"/>
              <a:gd name="connsiteX8" fmla="*/ 2210701 w 2718859"/>
              <a:gd name="connsiteY8" fmla="*/ 6858000 h 6858000"/>
              <a:gd name="connsiteX9" fmla="*/ 2163505 w 2718859"/>
              <a:gd name="connsiteY9" fmla="*/ 6836659 h 6858000"/>
              <a:gd name="connsiteX10" fmla="*/ 0 w 2718859"/>
              <a:gd name="connsiteY10" fmla="*/ 3394335 h 6858000"/>
              <a:gd name="connsiteX11" fmla="*/ 1998841 w 2718859"/>
              <a:gd name="connsiteY11" fmla="*/ 3636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cap="flat">
            <a:noFill/>
            <a:prstDash val="solid"/>
            <a:miter/>
          </a:ln>
        </p:spPr>
        <p:txBody>
          <a:bodyPr rtlCol="0" anchor="ctr"/>
          <a:lstStyle/>
          <a:p>
            <a:endParaRPr lang="en-US"/>
          </a:p>
        </p:txBody>
      </p:sp>
      <p:sp>
        <p:nvSpPr>
          <p:cNvPr id="2" name="Title">
            <a:extLst>
              <a:ext uri="{FF2B5EF4-FFF2-40B4-BE49-F238E27FC236}">
                <a16:creationId xmlns:a16="http://schemas.microsoft.com/office/drawing/2014/main" id="{8364047E-FA3E-49C2-97F7-5B543041A6B9}"/>
              </a:ext>
            </a:extLst>
          </p:cNvPr>
          <p:cNvSpPr>
            <a:spLocks noGrp="1"/>
          </p:cNvSpPr>
          <p:nvPr>
            <p:ph type="title" hasCustomPrompt="1"/>
          </p:nvPr>
        </p:nvSpPr>
        <p:spPr bwMode="gray">
          <a:xfrm>
            <a:off x="465667" y="2418277"/>
            <a:ext cx="5630333" cy="1218795"/>
          </a:xfrm>
        </p:spPr>
        <p:txBody>
          <a:bodyPr anchor="ctr" anchorCtr="0"/>
          <a:lstStyle>
            <a:lvl1pPr algn="l">
              <a:defRPr sz="4400" b="0" spc="0" baseline="0">
                <a:solidFill>
                  <a:schemeClr val="tx1"/>
                </a:solidFill>
              </a:defRPr>
            </a:lvl1pPr>
          </a:lstStyle>
          <a:p>
            <a:r>
              <a:rPr lang="en-US"/>
              <a:t>Section title; Georgia Pro 44pt, sent. case</a:t>
            </a:r>
          </a:p>
        </p:txBody>
      </p:sp>
      <p:sp>
        <p:nvSpPr>
          <p:cNvPr id="8" name="Picture Placeholder">
            <a:extLst>
              <a:ext uri="{FF2B5EF4-FFF2-40B4-BE49-F238E27FC236}">
                <a16:creationId xmlns:a16="http://schemas.microsoft.com/office/drawing/2014/main" id="{FE81ABCA-5D37-ECA2-D05A-2E2C8ECB6EBE}"/>
              </a:ext>
            </a:extLst>
          </p:cNvPr>
          <p:cNvSpPr>
            <a:spLocks noGrp="1"/>
          </p:cNvSpPr>
          <p:nvPr>
            <p:ph type="pic" sz="quarter" idx="13" hasCustomPrompt="1"/>
          </p:nvPr>
        </p:nvSpPr>
        <p:spPr bwMode="gray">
          <a:xfrm>
            <a:off x="6419850" y="274320"/>
            <a:ext cx="5486400" cy="6583680"/>
          </a:xfrm>
        </p:spPr>
        <p:txBody>
          <a:bodyPr lIns="457200" rIns="457200"/>
          <a:lstStyle>
            <a:lvl1pPr algn="ctr">
              <a:defRPr sz="1400"/>
            </a:lvl1pPr>
          </a:lstStyle>
          <a:p>
            <a:br>
              <a:rPr lang="en-US"/>
            </a:br>
            <a:r>
              <a:rPr lang="en-US"/>
              <a:t>Traditional, grayscale portraiture with removed background to be inserted into this placeholder with unchanged dimensions (7.2” H x 6.0”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p:txBody>
      </p:sp>
      <p:pic>
        <p:nvPicPr>
          <p:cNvPr id="9" name="Optum Logo" descr="Optum">
            <a:extLst>
              <a:ext uri="{FF2B5EF4-FFF2-40B4-BE49-F238E27FC236}">
                <a16:creationId xmlns:a16="http://schemas.microsoft.com/office/drawing/2014/main" id="{E26ADF6D-5767-1CA6-A7AA-4DF77A8D44B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39B679AE-D173-4857-9656-61C15B78E493}"/>
              </a:ext>
            </a:extLst>
          </p:cNvPr>
          <p:cNvSpPr>
            <a:spLocks noGrp="1"/>
          </p:cNvSpPr>
          <p:nvPr>
            <p:ph type="dt" sz="half" idx="10"/>
          </p:nvPr>
        </p:nvSpPr>
        <p:spPr bwMode="gray"/>
        <p:txBody>
          <a:bodyPr/>
          <a:lstStyle/>
          <a:p>
            <a:fld id="{3C5249AD-DFC4-43F6-A441-B6ACBDBDEF63}" type="datetime1">
              <a:rPr lang="en-US" smtClean="0"/>
              <a:t>7/18/2026</a:t>
            </a:fld>
            <a:endParaRPr lang="en-US"/>
          </a:p>
        </p:txBody>
      </p:sp>
      <p:sp>
        <p:nvSpPr>
          <p:cNvPr id="5" name="Footer Placeholder">
            <a:extLst>
              <a:ext uri="{FF2B5EF4-FFF2-40B4-BE49-F238E27FC236}">
                <a16:creationId xmlns:a16="http://schemas.microsoft.com/office/drawing/2014/main" id="{D444279A-BCE2-4BB7-8BEE-7A06041140C9}"/>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18C9E9B4-49EA-4882-85A5-CCD50D15CDE0}"/>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4995769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4">
          <p15:clr>
            <a:srgbClr val="5ACBF0"/>
          </p15:clr>
        </p15:guide>
        <p15:guide id="2" pos="657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5" name="TextBox 1">
            <a:extLst>
              <a:ext uri="{FF2B5EF4-FFF2-40B4-BE49-F238E27FC236}">
                <a16:creationId xmlns:a16="http://schemas.microsoft.com/office/drawing/2014/main" id="{3A455D22-8446-4F14-AA52-97E668DEC836}"/>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a:t>
            </a:r>
            <a:r>
              <a:rPr lang="en-US" sz="15000" b="0">
                <a:solidFill>
                  <a:schemeClr val="bg1"/>
                </a:solidFill>
              </a:rPr>
              <a:t>(Themes)</a:t>
            </a:r>
            <a:endParaRPr lang="en-US" sz="15000" b="1">
              <a:solidFill>
                <a:schemeClr val="bg1"/>
              </a:solidFill>
            </a:endParaRPr>
          </a:p>
        </p:txBody>
      </p:sp>
      <p:cxnSp>
        <p:nvCxnSpPr>
          <p:cNvPr id="4" name="Arrow">
            <a:extLst>
              <a:ext uri="{FF2B5EF4-FFF2-40B4-BE49-F238E27FC236}">
                <a16:creationId xmlns:a16="http://schemas.microsoft.com/office/drawing/2014/main" id="{9FFBF798-5E41-4C4C-8019-BFB1C5FBD16F}"/>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02698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056293298"/>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Only, Photo">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9" name="Picture Placeholder">
            <a:extLst>
              <a:ext uri="{FF2B5EF4-FFF2-40B4-BE49-F238E27FC236}">
                <a16:creationId xmlns:a16="http://schemas.microsoft.com/office/drawing/2014/main" id="{8FD5E99F-A0CE-C07B-347B-4E35F401E345}"/>
              </a:ext>
            </a:extLst>
          </p:cNvPr>
          <p:cNvSpPr>
            <a:spLocks noGrp="1"/>
          </p:cNvSpPr>
          <p:nvPr>
            <p:ph type="pic" sz="quarter" idx="13" hasCustomPrompt="1"/>
          </p:nvPr>
        </p:nvSpPr>
        <p:spPr bwMode="gray">
          <a:xfrm>
            <a:off x="7528560" y="0"/>
            <a:ext cx="4663440" cy="6858000"/>
          </a:xfrm>
        </p:spPr>
        <p:txBody>
          <a:bodyPr lIns="457200" rIns="457200"/>
          <a:lstStyle>
            <a:lvl1pPr algn="ctr">
              <a:defRPr sz="1400"/>
            </a:lvl1pPr>
          </a:lstStyle>
          <a:p>
            <a:br>
              <a:rPr lang="en-US"/>
            </a:br>
            <a:r>
              <a:rPr lang="en-US"/>
              <a:t>Photography should be inserted into this placeholder with unchanged dimensions (7.5” H x 5.1” W). </a:t>
            </a:r>
            <a:br>
              <a:rPr lang="en-US"/>
            </a:br>
            <a:br>
              <a:rPr lang="en-US"/>
            </a:br>
            <a:r>
              <a:rPr lang="en-US"/>
              <a:t>To access brand approved photography, visit: brand.optum.com/content/photography-new.</a:t>
            </a:r>
            <a:br>
              <a:rPr lang="en-US"/>
            </a:br>
            <a:br>
              <a:rPr lang="en-US"/>
            </a:br>
            <a:br>
              <a:rPr lang="en-US"/>
            </a:br>
            <a:r>
              <a:rPr lang="en-US"/>
              <a:t>DO NOT use Copilot inserted imagery.</a:t>
            </a:r>
          </a:p>
          <a:p>
            <a:endParaRPr lang="en-US"/>
          </a:p>
          <a:p>
            <a:endParaRPr lang="en-US"/>
          </a:p>
          <a:p>
            <a:endParaRPr lang="en-US"/>
          </a:p>
        </p:txBody>
      </p:sp>
      <p:sp>
        <p:nvSpPr>
          <p:cNvPr id="10" name="Page # Hide Box">
            <a:extLst>
              <a:ext uri="{FF2B5EF4-FFF2-40B4-BE49-F238E27FC236}">
                <a16:creationId xmlns:a16="http://schemas.microsoft.com/office/drawing/2014/main" id="{3A3E004B-6BE7-6816-DB37-9CA2FEFA1422}"/>
              </a:ext>
              <a:ext uri="{C183D7F6-B498-43B3-948B-1728B52AA6E4}">
                <adec:decorative xmlns:adec="http://schemas.microsoft.com/office/drawing/2017/decorative" val="1"/>
              </a:ext>
            </a:extLst>
          </p:cNvPr>
          <p:cNvSpPr/>
          <p:nvPr userDrawn="1"/>
        </p:nvSpPr>
        <p:spPr bwMode="gray">
          <a:xfrm>
            <a:off x="11347450" y="6362700"/>
            <a:ext cx="463550" cy="22225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10016043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ubhead">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81995905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Only" preserve="1">
  <p:cSld name="Title Only, Two Lines">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095318609"/>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557210"/>
            <a:ext cx="914400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2569192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Blank">
    <p:bg bwMode="gray">
      <p:bgRef idx="1001">
        <a:schemeClr val="bg1"/>
      </p:bgRef>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48772298"/>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9995163"/>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4191952648"/>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ubhead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29153280"/>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Two Lines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a:xfrm>
            <a:off x="0" y="7177230"/>
            <a:ext cx="914400" cy="30778"/>
          </a:xfrm>
        </p:spPr>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795556361"/>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1013">
          <p15:clr>
            <a:srgbClr val="5ACBF0"/>
          </p15:clr>
        </p15:guide>
        <p15:guide id="4" orient="horz" pos="34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Title and Content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524000" y="1257300"/>
            <a:ext cx="9144000" cy="396479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751293150"/>
      </p:ext>
    </p:extLst>
  </p:cSld>
  <p:clrMapOvr>
    <a:masterClrMapping/>
  </p:clrMapOvr>
  <p:extLst>
    <p:ext uri="{DCECCB84-F9BA-43D5-87BE-67443E8EF086}">
      <p15:sldGuideLst xmlns:p15="http://schemas.microsoft.com/office/powerpoint/2012/main">
        <p15:guide id="1" orient="horz" pos="3293">
          <p15:clr>
            <a:srgbClr val="5ACBF0"/>
          </p15:clr>
        </p15:guide>
        <p15:guide id="2" orient="horz" pos="792">
          <p15:clr>
            <a:srgbClr val="5ACBF0"/>
          </p15:clr>
        </p15:guide>
        <p15:guide id="3" orient="horz" pos="34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 Pattern">
    <p:bg bwMode="gray">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97862410"/>
      </p:ext>
    </p:extLst>
  </p:cSld>
  <p:clrMapOvr>
    <a:masterClrMapping/>
  </p:clrMapOvr>
  <p:extLst>
    <p:ext uri="{DCECCB84-F9BA-43D5-87BE-67443E8EF086}">
      <p15:sldGuideLst xmlns:p15="http://schemas.microsoft.com/office/powerpoint/2012/main">
        <p15:guide id="1" orient="horz" pos="3293">
          <p15:clr>
            <a:srgbClr val="5ACBF0"/>
          </p15:clr>
        </p15:guide>
        <p15:guide id="3" orient="horz" pos="344">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041851"/>
      </p:ext>
    </p:extLst>
  </p:cSld>
  <p:clrMapOvr>
    <a:overrideClrMapping bg1="lt1" tx1="dk1" bg2="lt2" tx2="dk2" accent1="accent1" accent2="accent2" accent3="accent3" accent4="accent4" accent5="accent5" accent6="accent6" hlink="hlink" folHlink="folHlink"/>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 Effervescent">
    <p:spTree>
      <p:nvGrpSpPr>
        <p:cNvPr id="1" name=""/>
        <p:cNvGrpSpPr/>
        <p:nvPr/>
      </p:nvGrpSpPr>
      <p:grpSpPr>
        <a:xfrm>
          <a:off x="0" y="0"/>
          <a:ext cx="0" cy="0"/>
          <a:chOff x="0" y="0"/>
          <a:chExt cx="0" cy="0"/>
        </a:xfrm>
      </p:grpSpPr>
      <p:sp>
        <p:nvSpPr>
          <p:cNvPr id="10" name="Warm White Header">
            <a:extLst>
              <a:ext uri="{FF2B5EF4-FFF2-40B4-BE49-F238E27FC236}">
                <a16:creationId xmlns:a16="http://schemas.microsoft.com/office/drawing/2014/main" id="{DD73845D-CD64-79D1-8425-96318ACE26B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8" name="Effervescent Os">
            <a:extLst>
              <a:ext uri="{FF2B5EF4-FFF2-40B4-BE49-F238E27FC236}">
                <a16:creationId xmlns:a16="http://schemas.microsoft.com/office/drawing/2014/main" id="{E615D592-124C-83E3-A66F-9E644040DCF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719055030"/>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56">
          <p15:clr>
            <a:srgbClr val="5ACBF0"/>
          </p15:clr>
        </p15:guide>
        <p15:guide id="4" orient="horz" pos="344">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ubhead - Effervescent">
    <p:bg>
      <p:bgPr>
        <a:solidFill>
          <a:schemeClr val="bg1"/>
        </a:solidFill>
        <a:effectLst/>
      </p:bgPr>
    </p:bg>
    <p:spTree>
      <p:nvGrpSpPr>
        <p:cNvPr id="1" name=""/>
        <p:cNvGrpSpPr/>
        <p:nvPr/>
      </p:nvGrpSpPr>
      <p:grpSpPr>
        <a:xfrm>
          <a:off x="0" y="0"/>
          <a:ext cx="0" cy="0"/>
          <a:chOff x="0" y="0"/>
          <a:chExt cx="0" cy="0"/>
        </a:xfrm>
      </p:grpSpPr>
      <p:sp>
        <p:nvSpPr>
          <p:cNvPr id="7" name="Warm White Header">
            <a:extLst>
              <a:ext uri="{FF2B5EF4-FFF2-40B4-BE49-F238E27FC236}">
                <a16:creationId xmlns:a16="http://schemas.microsoft.com/office/drawing/2014/main" id="{5E699A90-2986-06DD-E06B-2752FC311656}"/>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 name="Effervescent Os">
            <a:extLst>
              <a:ext uri="{FF2B5EF4-FFF2-40B4-BE49-F238E27FC236}">
                <a16:creationId xmlns:a16="http://schemas.microsoft.com/office/drawing/2014/main" id="{1A1059DC-B75D-C98B-CC52-8E14BE97638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(1 line)</a:t>
            </a:r>
          </a:p>
        </p:txBody>
      </p:sp>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9273477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56">
          <p15:clr>
            <a:srgbClr val="5ACBF0"/>
          </p15:clr>
        </p15:guide>
        <p15:guide id="4" orient="horz" pos="34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Title Only, Two Lines - Effervescent">
    <p:spTree>
      <p:nvGrpSpPr>
        <p:cNvPr id="1" name=""/>
        <p:cNvGrpSpPr/>
        <p:nvPr/>
      </p:nvGrpSpPr>
      <p:grpSpPr>
        <a:xfrm>
          <a:off x="0" y="0"/>
          <a:ext cx="0" cy="0"/>
          <a:chOff x="0" y="0"/>
          <a:chExt cx="0" cy="0"/>
        </a:xfrm>
      </p:grpSpPr>
      <p:sp>
        <p:nvSpPr>
          <p:cNvPr id="4" name="Warm White Header">
            <a:extLst>
              <a:ext uri="{FF2B5EF4-FFF2-40B4-BE49-F238E27FC236}">
                <a16:creationId xmlns:a16="http://schemas.microsoft.com/office/drawing/2014/main" id="{1882A4AD-148D-013D-7533-0E6CBEDA2F87}"/>
              </a:ext>
              <a:ext uri="{C183D7F6-B498-43B3-948B-1728B52AA6E4}">
                <adec:decorative xmlns:adec="http://schemas.microsoft.com/office/drawing/2017/decorative" val="1"/>
              </a:ext>
            </a:extLst>
          </p:cNvPr>
          <p:cNvSpPr/>
          <p:nvPr userDrawn="1"/>
        </p:nvSpPr>
        <p:spPr bwMode="gray">
          <a:xfrm>
            <a:off x="0" y="0"/>
            <a:ext cx="12192000" cy="146304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3" name="Effervescent Os">
            <a:extLst>
              <a:ext uri="{FF2B5EF4-FFF2-40B4-BE49-F238E27FC236}">
                <a16:creationId xmlns:a16="http://schemas.microsoft.com/office/drawing/2014/main" id="{A6D485F7-A9E9-B8F1-3134-F2EF4A56161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a:solidFill>
                  <a:schemeClr val="tx1"/>
                </a:solidFill>
                <a:latin typeface="+mj-lt"/>
              </a:defRPr>
            </a:lvl1pPr>
          </a:lstStyle>
          <a:p>
            <a:r>
              <a:rPr lang="en-US"/>
              <a:t>Slide title; Georgia Pro 22pt, sentence case. This layout accommodates a slide title that is a maximum of 2 lines.</a:t>
            </a:r>
          </a:p>
        </p:txBody>
      </p:sp>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2610606353"/>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1056">
          <p15:clr>
            <a:srgbClr val="5ACBF0"/>
          </p15:clr>
        </p15:guide>
        <p15:guide id="3" orient="horz" pos="344">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Blank - Effervescent">
    <p:bg bwMode="gray">
      <p:bgRef idx="1001">
        <a:schemeClr val="bg1"/>
      </p:bgRef>
    </p:bg>
    <p:spTree>
      <p:nvGrpSpPr>
        <p:cNvPr id="1" name=""/>
        <p:cNvGrpSpPr/>
        <p:nvPr/>
      </p:nvGrpSpPr>
      <p:grpSpPr>
        <a:xfrm>
          <a:off x="0" y="0"/>
          <a:ext cx="0" cy="0"/>
          <a:chOff x="0" y="0"/>
          <a:chExt cx="0" cy="0"/>
        </a:xfrm>
      </p:grpSpPr>
      <p:pic>
        <p:nvPicPr>
          <p:cNvPr id="7" name="Effervescent Os">
            <a:extLst>
              <a:ext uri="{FF2B5EF4-FFF2-40B4-BE49-F238E27FC236}">
                <a16:creationId xmlns:a16="http://schemas.microsoft.com/office/drawing/2014/main" id="{71C2CAC8-6FDD-6AAD-5324-0AEE67268C3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7631264" y="4500049"/>
            <a:ext cx="4560735" cy="2357951"/>
          </a:xfrm>
          <a:prstGeom prst="rect">
            <a:avLst/>
          </a:pr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3391060398"/>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788021"/>
      </p:ext>
    </p:extLst>
  </p:cSld>
  <p:clrMapOvr>
    <a:overrideClrMapping bg1="lt1" tx1="dk1" bg2="lt2" tx2="dk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3"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4696740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Only 02 - Left Rail">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BD9CD311-D0CD-8EE2-3CD8-1761BC046561}"/>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6726624" cy="304699"/>
          </a:xfrm>
        </p:spPr>
        <p:txBody>
          <a:bodyPr/>
          <a:lstStyle>
            <a:lvl1pPr>
              <a:defRPr b="0">
                <a:solidFill>
                  <a:schemeClr val="tx1"/>
                </a:solidFill>
                <a:latin typeface="+mj-lt"/>
              </a:defRPr>
            </a:lvl1pPr>
          </a:lstStyle>
          <a:p>
            <a:r>
              <a:rPr lang="en-US"/>
              <a:t>Slide title; Georgia Pro 22pt, sent. case (1 line)</a:t>
            </a:r>
          </a:p>
        </p:txBody>
      </p:sp>
      <p:sp>
        <p:nvSpPr>
          <p:cNvPr id="11" name="Warm White Box">
            <a:extLst>
              <a:ext uri="{FF2B5EF4-FFF2-40B4-BE49-F238E27FC236}">
                <a16:creationId xmlns:a16="http://schemas.microsoft.com/office/drawing/2014/main" id="{011336AB-7999-186F-DE45-125C45C42903}"/>
              </a:ext>
              <a:ext uri="{C183D7F6-B498-43B3-948B-1728B52AA6E4}">
                <adec:decorative xmlns:adec="http://schemas.microsoft.com/office/drawing/2017/decorative" val="1"/>
              </a:ext>
            </a:extLst>
          </p:cNvPr>
          <p:cNvSpPr/>
          <p:nvPr userDrawn="1"/>
        </p:nvSpPr>
        <p:spPr bwMode="gray">
          <a:xfrm>
            <a:off x="7525684" y="2875"/>
            <a:ext cx="4663439" cy="6852249"/>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 name="Page Number">
            <a:extLst>
              <a:ext uri="{FF2B5EF4-FFF2-40B4-BE49-F238E27FC236}">
                <a16:creationId xmlns:a16="http://schemas.microsoft.com/office/drawing/2014/main" id="{77442741-A3C6-CDFF-AE9F-1DCB6CB5608E}"/>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1618985909"/>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guide id="4" pos="4532">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Only 03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6B6FF156-0FA2-6FF1-42A2-8B45C9EE505F}"/>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 name="Orange Title Block">
            <a:extLst>
              <a:ext uri="{FF2B5EF4-FFF2-40B4-BE49-F238E27FC236}">
                <a16:creationId xmlns:a16="http://schemas.microsoft.com/office/drawing/2014/main" id="{37CCE16F-69CB-62C6-2C39-8169483F6862}"/>
              </a:ext>
              <a:ext uri="{C183D7F6-B498-43B3-948B-1728B52AA6E4}">
                <adec:decorative xmlns:adec="http://schemas.microsoft.com/office/drawing/2017/decorative" val="1"/>
              </a:ext>
            </a:extLst>
          </p:cNvPr>
          <p:cNvSpPr/>
          <p:nvPr userDrawn="1"/>
        </p:nvSpPr>
        <p:spPr bwMode="gray">
          <a:xfrm>
            <a:off x="0" y="2150388"/>
            <a:ext cx="140027" cy="2017460"/>
          </a:xfrm>
          <a:prstGeom prst="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4" y="2176437"/>
            <a:ext cx="3840480" cy="304699"/>
          </a:xfrm>
        </p:spPr>
        <p:txBody>
          <a:bodyPr/>
          <a:lstStyle>
            <a:lvl1pPr>
              <a:defRPr>
                <a:solidFill>
                  <a:schemeClr val="tx1"/>
                </a:solidFill>
                <a:latin typeface="+mj-lt"/>
              </a:defRPr>
            </a:lvl1pPr>
          </a:lstStyle>
          <a:p>
            <a:r>
              <a:rPr lang="en-US"/>
              <a:t>Slide title; Georgia Pro 22pt.</a:t>
            </a:r>
          </a:p>
        </p:txBody>
      </p:sp>
      <p:sp>
        <p:nvSpPr>
          <p:cNvPr id="14" name="Text Placeholder 13">
            <a:extLst>
              <a:ext uri="{FF2B5EF4-FFF2-40B4-BE49-F238E27FC236}">
                <a16:creationId xmlns:a16="http://schemas.microsoft.com/office/drawing/2014/main" id="{1F10D86D-52E8-A8B6-AAFC-D4A919C77F6A}"/>
              </a:ext>
            </a:extLst>
          </p:cNvPr>
          <p:cNvSpPr>
            <a:spLocks noGrp="1"/>
          </p:cNvSpPr>
          <p:nvPr>
            <p:ph type="body" sz="quarter" idx="13" hasCustomPrompt="1"/>
          </p:nvPr>
        </p:nvSpPr>
        <p:spPr bwMode="gray">
          <a:xfrm>
            <a:off x="467924" y="2676747"/>
            <a:ext cx="3840480" cy="1491101"/>
          </a:xfrm>
        </p:spPr>
        <p:txBody>
          <a:bodyPr/>
          <a:lstStyle>
            <a:lvl1pPr>
              <a:defRPr sz="1400"/>
            </a:lvl1pPr>
            <a:lvl2pPr>
              <a:defRPr sz="1400"/>
            </a:lvl2pPr>
            <a:lvl3pPr>
              <a:defRPr sz="1400"/>
            </a:lvl3pPr>
            <a:lvl4pPr>
              <a:defRPr sz="1400"/>
            </a:lvl4pPr>
            <a:lvl5pPr>
              <a:defRPr sz="1400"/>
            </a:lvl5pPr>
          </a:lstStyle>
          <a:p>
            <a:pPr lvl="0"/>
            <a:r>
              <a:rPr lang="en-US"/>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p>
        </p:txBody>
      </p:sp>
      <p:pic>
        <p:nvPicPr>
          <p:cNvPr id="10" name="Optum Logo" descr="Optum">
            <a:extLst>
              <a:ext uri="{FF2B5EF4-FFF2-40B4-BE49-F238E27FC236}">
                <a16:creationId xmlns:a16="http://schemas.microsoft.com/office/drawing/2014/main" id="{BFE84C36-D3B2-228C-74F4-DD80A067A52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6373929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guide id="4" pos="2720">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Subhead - Left Rail">
    <p:bg bwMode="gray">
      <p:bgRef idx="1001">
        <a:schemeClr val="bg2"/>
      </p:bgRef>
    </p:bg>
    <p:spTree>
      <p:nvGrpSpPr>
        <p:cNvPr id="1" name=""/>
        <p:cNvGrpSpPr/>
        <p:nvPr/>
      </p:nvGrpSpPr>
      <p:grpSpPr>
        <a:xfrm>
          <a:off x="0" y="0"/>
          <a:ext cx="0" cy="0"/>
          <a:chOff x="0" y="0"/>
          <a:chExt cx="0" cy="0"/>
        </a:xfrm>
      </p:grpSpPr>
      <p:sp>
        <p:nvSpPr>
          <p:cNvPr id="9" name="White Background">
            <a:extLst>
              <a:ext uri="{FF2B5EF4-FFF2-40B4-BE49-F238E27FC236}">
                <a16:creationId xmlns:a16="http://schemas.microsoft.com/office/drawing/2014/main" id="{581331F8-6172-016F-FC39-27F13F84DD18}"/>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3840480" cy="609398"/>
          </a:xfrm>
        </p:spPr>
        <p:txBody>
          <a:bodyPr/>
          <a:lstStyle>
            <a:lvl1pPr>
              <a:defRPr>
                <a:solidFill>
                  <a:schemeClr val="tx1"/>
                </a:solidFill>
                <a:latin typeface="+mj-lt"/>
              </a:defRPr>
            </a:lvl1pPr>
          </a:lstStyle>
          <a:p>
            <a:r>
              <a:rPr lang="en-US"/>
              <a:t>Slide title; Georgia Pro 22pt regular, (2 lines)</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1265446"/>
            <a:ext cx="3840480" cy="492443"/>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10" name="Optum Logo" descr="Optum">
            <a:extLst>
              <a:ext uri="{FF2B5EF4-FFF2-40B4-BE49-F238E27FC236}">
                <a16:creationId xmlns:a16="http://schemas.microsoft.com/office/drawing/2014/main" id="{DC7D3401-39C7-F764-D6B4-7F9D57BBD963}"/>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42228080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2" orient="horz" pos="791">
          <p15:clr>
            <a:srgbClr val="5ACBF0"/>
          </p15:clr>
        </p15:guide>
        <p15:guide id="3" orient="horz" pos="1386">
          <p15:clr>
            <a:srgbClr val="5ACBF0"/>
          </p15:clr>
        </p15:guide>
        <p15:guide id="4" orient="horz" pos="34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Title and Content - Left Rail">
    <p:bg bwMode="gray">
      <p:bgRef idx="1001">
        <a:schemeClr val="bg2"/>
      </p:bgRef>
    </p:bg>
    <p:spTree>
      <p:nvGrpSpPr>
        <p:cNvPr id="1" name=""/>
        <p:cNvGrpSpPr/>
        <p:nvPr/>
      </p:nvGrpSpPr>
      <p:grpSpPr>
        <a:xfrm>
          <a:off x="0" y="0"/>
          <a:ext cx="0" cy="0"/>
          <a:chOff x="0" y="0"/>
          <a:chExt cx="0" cy="0"/>
        </a:xfrm>
      </p:grpSpPr>
      <p:sp>
        <p:nvSpPr>
          <p:cNvPr id="8" name="White Background">
            <a:extLst>
              <a:ext uri="{FF2B5EF4-FFF2-40B4-BE49-F238E27FC236}">
                <a16:creationId xmlns:a16="http://schemas.microsoft.com/office/drawing/2014/main" id="{98501377-B31D-ED6D-28B2-F736154CB7BA}"/>
              </a:ext>
              <a:ext uri="{C183D7F6-B498-43B3-948B-1728B52AA6E4}">
                <adec:decorative xmlns:adec="http://schemas.microsoft.com/office/drawing/2017/decorative" val="1"/>
              </a:ext>
            </a:extLst>
          </p:cNvPr>
          <p:cNvSpPr/>
          <p:nvPr userDrawn="1"/>
        </p:nvSpPr>
        <p:spPr bwMode="gray">
          <a:xfrm flipH="1">
            <a:off x="0" y="0"/>
            <a:ext cx="4641368" cy="6858000"/>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3840480" cy="1828193"/>
          </a:xfrm>
        </p:spPr>
        <p:txBody>
          <a:bodyPr/>
          <a:lstStyle>
            <a:lvl1pPr>
              <a:defRPr>
                <a:solidFill>
                  <a:schemeClr val="tx1"/>
                </a:solidFill>
                <a:latin typeface="+mj-lt"/>
              </a:defRPr>
            </a:lvl1pPr>
          </a:lstStyle>
          <a:p>
            <a:r>
              <a:rPr lang="en-US"/>
              <a:t>Slide title; Georgia Pro 22pt, sentence case. This layout accommodates a slide title that extends downward.</a:t>
            </a:r>
            <a:br>
              <a:rPr lang="en-US"/>
            </a:br>
            <a:br>
              <a:rPr lang="en-US"/>
            </a:br>
            <a:r>
              <a:rPr lang="en-US"/>
              <a:t>(No max lines)</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5372889" y="555639"/>
            <a:ext cx="5871078" cy="543876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10" name="Optum Logo" descr="Optum">
            <a:extLst>
              <a:ext uri="{FF2B5EF4-FFF2-40B4-BE49-F238E27FC236}">
                <a16:creationId xmlns:a16="http://schemas.microsoft.com/office/drawing/2014/main" id="{EF3652C7-2395-35C3-17EA-6DF62D29DE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61961" y="6343650"/>
            <a:ext cx="773055" cy="223837"/>
          </a:xfrm>
          <a:prstGeom prst="rect">
            <a:avLst/>
          </a:pr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8752264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776">
          <p15:clr>
            <a:srgbClr val="5ACBF0"/>
          </p15:clr>
        </p15:guide>
        <p15:guide id="3" orient="horz" pos="344">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   *   ">
    <p:bg bwMode="gray">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F95C5A8-FAFE-4EA7-1617-7FDC41A7C405}"/>
              </a:ext>
              <a:ext uri="{C183D7F6-B498-43B3-948B-1728B52AA6E4}">
                <adec:decorative xmlns:adec="http://schemas.microsoft.com/office/drawing/2017/decorative" val="1"/>
              </a:ext>
            </a:extLst>
          </p:cNvPr>
          <p:cNvCxnSpPr/>
          <p:nvPr userDrawn="1"/>
        </p:nvCxnSpPr>
        <p:spPr bwMode="gray">
          <a:xfrm>
            <a:off x="6096000" y="682647"/>
            <a:ext cx="0" cy="5492706"/>
          </a:xfrm>
          <a:prstGeom prst="line">
            <a:avLst/>
          </a:prstGeom>
          <a:ln w="381000" cap="rnd">
            <a:solidFill>
              <a:srgbClr val="7030A0"/>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0962982"/>
      </p:ext>
    </p:extLst>
  </p:cSld>
  <p:clrMapOvr>
    <a:overrideClrMapping bg1="lt1" tx1="dk1" bg2="lt2" tx2="dk2" accent1="accent1" accent2="accent2" accent3="accent3" accent4="accent4" accent5="accent5" accent6="accent6" hlink="hlink" folHlink="folHlink"/>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Only" preserve="1">
  <p:cSld name="Title Only - Dynamic O">
    <p:spTree>
      <p:nvGrpSpPr>
        <p:cNvPr id="1" name=""/>
        <p:cNvGrpSpPr/>
        <p:nvPr/>
      </p:nvGrpSpPr>
      <p:grpSpPr>
        <a:xfrm>
          <a:off x="0" y="0"/>
          <a:ext cx="0" cy="0"/>
          <a:chOff x="0" y="0"/>
          <a:chExt cx="0" cy="0"/>
        </a:xfrm>
      </p:grpSpPr>
      <p:cxnSp>
        <p:nvCxnSpPr>
          <p:cNvPr id="10" name="Stroke">
            <a:extLst>
              <a:ext uri="{FF2B5EF4-FFF2-40B4-BE49-F238E27FC236}">
                <a16:creationId xmlns:a16="http://schemas.microsoft.com/office/drawing/2014/main" id="{2B3D0455-97C9-6B15-468A-48954B80E220}"/>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 case (1 line)</a:t>
            </a:r>
          </a:p>
        </p:txBody>
      </p:sp>
      <p:pic>
        <p:nvPicPr>
          <p:cNvPr id="9" name="Dynamic O">
            <a:extLst>
              <a:ext uri="{FF2B5EF4-FFF2-40B4-BE49-F238E27FC236}">
                <a16:creationId xmlns:a16="http://schemas.microsoft.com/office/drawing/2014/main" id="{2DAEF8D2-19A9-6266-45C3-0C543F40669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8A49B71C-EE28-4F4C-994D-7E3486111388}"/>
              </a:ext>
            </a:extLst>
          </p:cNvPr>
          <p:cNvSpPr>
            <a:spLocks noGrp="1"/>
          </p:cNvSpPr>
          <p:nvPr>
            <p:ph type="dt" sz="half" idx="10"/>
          </p:nvPr>
        </p:nvSpPr>
        <p:spPr bwMode="gray"/>
        <p:txBody>
          <a:bodyPr/>
          <a:lstStyle/>
          <a:p>
            <a:fld id="{3230BBAE-C76A-4CE6-8EE2-113DEECEF41D}" type="datetime1">
              <a:rPr lang="en-US" smtClean="0"/>
              <a:t>7/18/2026</a:t>
            </a:fld>
            <a:endParaRPr lang="en-US"/>
          </a:p>
        </p:txBody>
      </p:sp>
      <p:sp>
        <p:nvSpPr>
          <p:cNvPr id="4" name="Footer Placeholder">
            <a:extLst>
              <a:ext uri="{FF2B5EF4-FFF2-40B4-BE49-F238E27FC236}">
                <a16:creationId xmlns:a16="http://schemas.microsoft.com/office/drawing/2014/main" id="{F7BFA8CA-0947-4A58-87AE-004F617F47B1}"/>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408F62C-9090-4EA7-BBD2-481410405BBE}"/>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859801160"/>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head - Dynamic O">
    <p:bg>
      <p:bgPr>
        <a:solidFill>
          <a:schemeClr val="bg1"/>
        </a:solidFill>
        <a:effectLst/>
      </p:bgPr>
    </p:bg>
    <p:spTree>
      <p:nvGrpSpPr>
        <p:cNvPr id="1" name=""/>
        <p:cNvGrpSpPr/>
        <p:nvPr/>
      </p:nvGrpSpPr>
      <p:grpSpPr>
        <a:xfrm>
          <a:off x="0" y="0"/>
          <a:ext cx="0" cy="0"/>
          <a:chOff x="0" y="0"/>
          <a:chExt cx="0" cy="0"/>
        </a:xfrm>
      </p:grpSpPr>
      <p:cxnSp>
        <p:nvCxnSpPr>
          <p:cNvPr id="6" name="Stroke">
            <a:extLst>
              <a:ext uri="{FF2B5EF4-FFF2-40B4-BE49-F238E27FC236}">
                <a16:creationId xmlns:a16="http://schemas.microsoft.com/office/drawing/2014/main" id="{266EA5F6-52DD-F020-8B7F-3337B9396908}"/>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70871777-1CC4-46CB-8EB7-B1DE3217D445}"/>
              </a:ext>
            </a:extLst>
          </p:cNvPr>
          <p:cNvSpPr>
            <a:spLocks noGrp="1"/>
          </p:cNvSpPr>
          <p:nvPr>
            <p:ph type="title" hasCustomPrompt="1"/>
          </p:nvPr>
        </p:nvSpPr>
        <p:spPr bwMode="gray">
          <a:xfrm>
            <a:off x="467927"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8" name="Subtitle Placeholder">
            <a:extLst>
              <a:ext uri="{FF2B5EF4-FFF2-40B4-BE49-F238E27FC236}">
                <a16:creationId xmlns:a16="http://schemas.microsoft.com/office/drawing/2014/main" id="{760BD2C6-F5E4-43C7-9A69-D1113FFABFA9}"/>
              </a:ext>
            </a:extLst>
          </p:cNvPr>
          <p:cNvSpPr>
            <a:spLocks noGrp="1"/>
          </p:cNvSpPr>
          <p:nvPr>
            <p:ph type="body" sz="quarter" idx="13" hasCustomPrompt="1"/>
          </p:nvPr>
        </p:nvSpPr>
        <p:spPr bwMode="gray">
          <a:xfrm>
            <a:off x="467926" y="958653"/>
            <a:ext cx="9601200" cy="246221"/>
          </a:xfrm>
        </p:spPr>
        <p:txBody>
          <a:bodyPr wrap="square">
            <a:spAutoFit/>
          </a:bodyPr>
          <a:lstStyle>
            <a:lvl1pPr>
              <a:lnSpc>
                <a:spcPct val="100000"/>
              </a:lnSpc>
              <a:spcBef>
                <a:spcPts val="0"/>
              </a:spcBef>
              <a:defRPr sz="1600" b="0">
                <a:solidFill>
                  <a:schemeClr val="tx1"/>
                </a:solidFill>
              </a:defRPr>
            </a:lvl1pPr>
          </a:lstStyle>
          <a:p>
            <a:pPr lvl="0"/>
            <a:r>
              <a:rPr lang="en-US"/>
              <a:t>Slide subtitle; Arial 16pt, sentence case (multi-line)</a:t>
            </a:r>
          </a:p>
        </p:txBody>
      </p:sp>
      <p:pic>
        <p:nvPicPr>
          <p:cNvPr id="7" name="Dynamic O">
            <a:extLst>
              <a:ext uri="{FF2B5EF4-FFF2-40B4-BE49-F238E27FC236}">
                <a16:creationId xmlns:a16="http://schemas.microsoft.com/office/drawing/2014/main" id="{B6360653-C8FF-57B1-C6F2-74B14BEF6D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3" name="Date Placeholder">
            <a:extLst>
              <a:ext uri="{FF2B5EF4-FFF2-40B4-BE49-F238E27FC236}">
                <a16:creationId xmlns:a16="http://schemas.microsoft.com/office/drawing/2014/main" id="{76B3DF85-06AB-4D09-9458-B0A4DE468FDB}"/>
              </a:ext>
            </a:extLst>
          </p:cNvPr>
          <p:cNvSpPr>
            <a:spLocks noGrp="1"/>
          </p:cNvSpPr>
          <p:nvPr>
            <p:ph type="dt" sz="half" idx="10"/>
          </p:nvPr>
        </p:nvSpPr>
        <p:spPr bwMode="gray"/>
        <p:txBody>
          <a:bodyPr/>
          <a:lstStyle/>
          <a:p>
            <a:fld id="{A484B163-B259-43E8-837E-94CD4522CD39}" type="datetime1">
              <a:rPr lang="en-US" smtClean="0"/>
              <a:t>7/18/2026</a:t>
            </a:fld>
            <a:endParaRPr lang="en-US"/>
          </a:p>
        </p:txBody>
      </p:sp>
      <p:sp>
        <p:nvSpPr>
          <p:cNvPr id="4" name="Footer Placeholder">
            <a:extLst>
              <a:ext uri="{FF2B5EF4-FFF2-40B4-BE49-F238E27FC236}">
                <a16:creationId xmlns:a16="http://schemas.microsoft.com/office/drawing/2014/main" id="{20A558EA-9255-4DE1-B9D1-B0557684C783}"/>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CFBBDC95-8D51-42CB-B4C0-9B8E3C030FAA}"/>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27386644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600">
          <p15:clr>
            <a:srgbClr val="5ACBF0"/>
          </p15:clr>
        </p15:guide>
        <p15:guide id="3" orient="horz" pos="1013">
          <p15:clr>
            <a:srgbClr val="5ACBF0"/>
          </p15:clr>
        </p15:guide>
        <p15:guide id="4" orient="horz" pos="344">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Title Only, Two Lines - Dynamic O">
    <p:spTree>
      <p:nvGrpSpPr>
        <p:cNvPr id="1" name=""/>
        <p:cNvGrpSpPr/>
        <p:nvPr/>
      </p:nvGrpSpPr>
      <p:grpSpPr>
        <a:xfrm>
          <a:off x="0" y="0"/>
          <a:ext cx="0" cy="0"/>
          <a:chOff x="0" y="0"/>
          <a:chExt cx="0" cy="0"/>
        </a:xfrm>
      </p:grpSpPr>
      <p:cxnSp>
        <p:nvCxnSpPr>
          <p:cNvPr id="3" name="Stroke">
            <a:extLst>
              <a:ext uri="{FF2B5EF4-FFF2-40B4-BE49-F238E27FC236}">
                <a16:creationId xmlns:a16="http://schemas.microsoft.com/office/drawing/2014/main" id="{E3627FD8-2BEA-EF2B-FF9D-49C0B5BD5854}"/>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CB1C8E8B-99F0-45A8-BCAB-DBB719616F12}"/>
              </a:ext>
            </a:extLst>
          </p:cNvPr>
          <p:cNvSpPr>
            <a:spLocks noGrp="1"/>
          </p:cNvSpPr>
          <p:nvPr>
            <p:ph type="title" hasCustomPrompt="1"/>
          </p:nvPr>
        </p:nvSpPr>
        <p:spPr bwMode="gray">
          <a:xfrm>
            <a:off x="467926" y="555639"/>
            <a:ext cx="9601200" cy="609398"/>
          </a:xfrm>
        </p:spPr>
        <p:txBody>
          <a:bodyPr/>
          <a:lstStyle>
            <a:lvl1pPr>
              <a:defRPr b="0">
                <a:solidFill>
                  <a:schemeClr val="tx1"/>
                </a:solidFill>
                <a:latin typeface="+mj-lt"/>
              </a:defRPr>
            </a:lvl1pPr>
          </a:lstStyle>
          <a:p>
            <a:r>
              <a:rPr lang="en-US"/>
              <a:t>Slide title; Georgia Pro 22pt, sentence case. This layout accommodates a slide title that extends downward to a second line (max. 2 lines).</a:t>
            </a:r>
          </a:p>
        </p:txBody>
      </p:sp>
      <p:pic>
        <p:nvPicPr>
          <p:cNvPr id="4" name="Dynamic O">
            <a:extLst>
              <a:ext uri="{FF2B5EF4-FFF2-40B4-BE49-F238E27FC236}">
                <a16:creationId xmlns:a16="http://schemas.microsoft.com/office/drawing/2014/main" id="{C7D6EF7F-409E-5E5A-0010-087530584C3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6" name="Date Placeholder">
            <a:extLst>
              <a:ext uri="{FF2B5EF4-FFF2-40B4-BE49-F238E27FC236}">
                <a16:creationId xmlns:a16="http://schemas.microsoft.com/office/drawing/2014/main" id="{371431DB-E6A6-49C5-8087-27C6A3B2A54B}"/>
              </a:ext>
            </a:extLst>
          </p:cNvPr>
          <p:cNvSpPr>
            <a:spLocks noGrp="1"/>
          </p:cNvSpPr>
          <p:nvPr>
            <p:ph type="dt" sz="half" idx="10"/>
          </p:nvPr>
        </p:nvSpPr>
        <p:spPr bwMode="gray"/>
        <p:txBody>
          <a:bodyPr/>
          <a:lstStyle/>
          <a:p>
            <a:fld id="{E602961C-62DA-4519-8757-A8A16E4ED84D}" type="datetime1">
              <a:rPr lang="en-US" smtClean="0"/>
              <a:t>7/18/2026</a:t>
            </a:fld>
            <a:endParaRPr lang="en-US"/>
          </a:p>
        </p:txBody>
      </p:sp>
      <p:sp>
        <p:nvSpPr>
          <p:cNvPr id="7" name="Footer Placeholder">
            <a:extLst>
              <a:ext uri="{FF2B5EF4-FFF2-40B4-BE49-F238E27FC236}">
                <a16:creationId xmlns:a16="http://schemas.microsoft.com/office/drawing/2014/main" id="{2F19E74A-0080-4967-9833-9ACB7226DDE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8" name="Slide Number Placeholder">
            <a:extLst>
              <a:ext uri="{FF2B5EF4-FFF2-40B4-BE49-F238E27FC236}">
                <a16:creationId xmlns:a16="http://schemas.microsoft.com/office/drawing/2014/main" id="{8B45D769-A041-452F-B2B9-DCBF82634579}"/>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937107941"/>
      </p:ext>
    </p:extLst>
  </p:cSld>
  <p:clrMapOvr>
    <a:masterClrMapping/>
  </p:clrMapOvr>
  <p:extLst>
    <p:ext uri="{DCECCB84-F9BA-43D5-87BE-67443E8EF086}">
      <p15:sldGuideLst xmlns:p15="http://schemas.microsoft.com/office/powerpoint/2012/main">
        <p15:guide id="1" orient="horz" pos="3776">
          <p15:clr>
            <a:srgbClr val="5ACBF0"/>
          </p15:clr>
        </p15:guide>
        <p15:guide id="3" orient="horz" pos="1013">
          <p15:clr>
            <a:srgbClr val="5ACBF0"/>
          </p15:clr>
        </p15:guide>
        <p15:guide id="4" orient="horz" pos="344">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Content - Dynamic O">
    <p:spTree>
      <p:nvGrpSpPr>
        <p:cNvPr id="1" name=""/>
        <p:cNvGrpSpPr/>
        <p:nvPr/>
      </p:nvGrpSpPr>
      <p:grpSpPr>
        <a:xfrm>
          <a:off x="0" y="0"/>
          <a:ext cx="0" cy="0"/>
          <a:chOff x="0" y="0"/>
          <a:chExt cx="0" cy="0"/>
        </a:xfrm>
      </p:grpSpPr>
      <p:cxnSp>
        <p:nvCxnSpPr>
          <p:cNvPr id="7" name="Stroke">
            <a:extLst>
              <a:ext uri="{FF2B5EF4-FFF2-40B4-BE49-F238E27FC236}">
                <a16:creationId xmlns:a16="http://schemas.microsoft.com/office/drawing/2014/main" id="{50DED4DF-45A1-5B4D-1DF1-531D910AB56F}"/>
              </a:ext>
              <a:ext uri="{C183D7F6-B498-43B3-948B-1728B52AA6E4}">
                <adec:decorative xmlns:adec="http://schemas.microsoft.com/office/drawing/2017/decorative" val="1"/>
              </a:ext>
            </a:extLst>
          </p:cNvPr>
          <p:cNvCxnSpPr>
            <a:cxnSpLocks/>
          </p:cNvCxnSpPr>
          <p:nvPr userDrawn="1"/>
        </p:nvCxnSpPr>
        <p:spPr bwMode="gray">
          <a:xfrm>
            <a:off x="467927" y="410824"/>
            <a:ext cx="521855" cy="0"/>
          </a:xfrm>
          <a:prstGeom prst="line">
            <a:avLst/>
          </a:prstGeom>
          <a:ln w="3810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a:extLst>
              <a:ext uri="{FF2B5EF4-FFF2-40B4-BE49-F238E27FC236}">
                <a16:creationId xmlns:a16="http://schemas.microsoft.com/office/drawing/2014/main" id="{E13F07F8-7529-498B-8D34-E0851EDB82CA}"/>
              </a:ext>
            </a:extLst>
          </p:cNvPr>
          <p:cNvSpPr>
            <a:spLocks noGrp="1"/>
          </p:cNvSpPr>
          <p:nvPr>
            <p:ph type="title" hasCustomPrompt="1"/>
          </p:nvPr>
        </p:nvSpPr>
        <p:spPr bwMode="gray">
          <a:xfrm>
            <a:off x="467926" y="555639"/>
            <a:ext cx="9601200" cy="304699"/>
          </a:xfrm>
        </p:spPr>
        <p:txBody>
          <a:bodyPr/>
          <a:lstStyle>
            <a:lvl1pPr>
              <a:defRPr b="0">
                <a:solidFill>
                  <a:schemeClr val="tx1"/>
                </a:solidFill>
                <a:latin typeface="+mj-lt"/>
              </a:defRPr>
            </a:lvl1pPr>
          </a:lstStyle>
          <a:p>
            <a:r>
              <a:rPr lang="en-US"/>
              <a:t>Slide title; Georgia Pro 22pt, sentence case (1 line)</a:t>
            </a:r>
          </a:p>
        </p:txBody>
      </p:sp>
      <p:sp>
        <p:nvSpPr>
          <p:cNvPr id="3" name="Content Placeholder">
            <a:extLst>
              <a:ext uri="{FF2B5EF4-FFF2-40B4-BE49-F238E27FC236}">
                <a16:creationId xmlns:a16="http://schemas.microsoft.com/office/drawing/2014/main" id="{97828B26-FB6F-4B30-8973-00FC53DA3EAD}"/>
              </a:ext>
            </a:extLst>
          </p:cNvPr>
          <p:cNvSpPr>
            <a:spLocks noGrp="1"/>
          </p:cNvSpPr>
          <p:nvPr>
            <p:ph idx="1" hasCustomPrompt="1"/>
          </p:nvPr>
        </p:nvSpPr>
        <p:spPr bwMode="gray">
          <a:xfrm>
            <a:off x="1398201" y="1557210"/>
            <a:ext cx="7740650" cy="393008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pic>
        <p:nvPicPr>
          <p:cNvPr id="8" name="Dynamic O">
            <a:extLst>
              <a:ext uri="{FF2B5EF4-FFF2-40B4-BE49-F238E27FC236}">
                <a16:creationId xmlns:a16="http://schemas.microsoft.com/office/drawing/2014/main" id="{B7010C59-C99C-6A30-D988-20EDF6E7BC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4" name="Date Placeholder">
            <a:extLst>
              <a:ext uri="{FF2B5EF4-FFF2-40B4-BE49-F238E27FC236}">
                <a16:creationId xmlns:a16="http://schemas.microsoft.com/office/drawing/2014/main" id="{E8F05950-6299-4B4F-B254-8E9E230299D9}"/>
              </a:ext>
            </a:extLst>
          </p:cNvPr>
          <p:cNvSpPr>
            <a:spLocks noGrp="1"/>
          </p:cNvSpPr>
          <p:nvPr>
            <p:ph type="dt" sz="half" idx="10"/>
          </p:nvPr>
        </p:nvSpPr>
        <p:spPr bwMode="gray"/>
        <p:txBody>
          <a:bodyPr/>
          <a:lstStyle/>
          <a:p>
            <a:fld id="{3888EE68-D1F0-43DF-AEA0-0419ADE41A6B}" type="datetime1">
              <a:rPr lang="en-US" smtClean="0"/>
              <a:t>7/18/2026</a:t>
            </a:fld>
            <a:endParaRPr lang="en-US"/>
          </a:p>
        </p:txBody>
      </p:sp>
      <p:sp>
        <p:nvSpPr>
          <p:cNvPr id="5" name="Footer Placeholder">
            <a:extLst>
              <a:ext uri="{FF2B5EF4-FFF2-40B4-BE49-F238E27FC236}">
                <a16:creationId xmlns:a16="http://schemas.microsoft.com/office/drawing/2014/main" id="{C6F9B0AB-0E2D-494E-B617-49AC025A7447}"/>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E92844E1-DCBE-4FE7-B46C-155141DCD59B}"/>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67769884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792">
          <p15:clr>
            <a:srgbClr val="5ACBF0"/>
          </p15:clr>
        </p15:guide>
        <p15:guide id="3" orient="horz" pos="344">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Blank - Dynamic O">
    <p:bg bwMode="gray">
      <p:bgRef idx="1001">
        <a:schemeClr val="bg1"/>
      </p:bgRef>
    </p:bg>
    <p:spTree>
      <p:nvGrpSpPr>
        <p:cNvPr id="1" name=""/>
        <p:cNvGrpSpPr/>
        <p:nvPr/>
      </p:nvGrpSpPr>
      <p:grpSpPr>
        <a:xfrm>
          <a:off x="0" y="0"/>
          <a:ext cx="0" cy="0"/>
          <a:chOff x="0" y="0"/>
          <a:chExt cx="0" cy="0"/>
        </a:xfrm>
      </p:grpSpPr>
      <p:pic>
        <p:nvPicPr>
          <p:cNvPr id="5" name="Dynamic O">
            <a:extLst>
              <a:ext uri="{FF2B5EF4-FFF2-40B4-BE49-F238E27FC236}">
                <a16:creationId xmlns:a16="http://schemas.microsoft.com/office/drawing/2014/main" id="{43D14A94-F29C-229F-3EC0-7FEF399A9B3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r="39129" b="40084"/>
          <a:stretch>
            <a:fillRect/>
          </a:stretch>
        </p:blipFill>
        <p:spPr bwMode="gray">
          <a:xfrm>
            <a:off x="9839286" y="4542218"/>
            <a:ext cx="2352714" cy="2315783"/>
          </a:xfrm>
          <a:custGeom>
            <a:avLst/>
            <a:gdLst>
              <a:gd name="connsiteX0" fmla="*/ 0 w 2352714"/>
              <a:gd name="connsiteY0" fmla="*/ 0 h 2315783"/>
              <a:gd name="connsiteX1" fmla="*/ 2352714 w 2352714"/>
              <a:gd name="connsiteY1" fmla="*/ 0 h 2315783"/>
              <a:gd name="connsiteX2" fmla="*/ 2352714 w 2352714"/>
              <a:gd name="connsiteY2" fmla="*/ 2315783 h 2315783"/>
              <a:gd name="connsiteX3" fmla="*/ 0 w 2352714"/>
              <a:gd name="connsiteY3" fmla="*/ 2315783 h 2315783"/>
            </a:gdLst>
            <a:ahLst/>
            <a:cxnLst>
              <a:cxn ang="0">
                <a:pos x="connsiteX0" y="connsiteY0"/>
              </a:cxn>
              <a:cxn ang="0">
                <a:pos x="connsiteX1" y="connsiteY1"/>
              </a:cxn>
              <a:cxn ang="0">
                <a:pos x="connsiteX2" y="connsiteY2"/>
              </a:cxn>
              <a:cxn ang="0">
                <a:pos x="connsiteX3" y="connsiteY3"/>
              </a:cxn>
            </a:cxnLst>
            <a:rect l="l" t="t" r="r" b="b"/>
            <a:pathLst>
              <a:path w="2352714" h="2315783">
                <a:moveTo>
                  <a:pt x="0" y="0"/>
                </a:moveTo>
                <a:lnTo>
                  <a:pt x="2352714" y="0"/>
                </a:lnTo>
                <a:lnTo>
                  <a:pt x="2352714" y="2315783"/>
                </a:lnTo>
                <a:lnTo>
                  <a:pt x="0" y="2315783"/>
                </a:lnTo>
                <a:close/>
              </a:path>
            </a:pathLst>
          </a:custGeom>
        </p:spPr>
      </p:pic>
      <p:sp>
        <p:nvSpPr>
          <p:cNvPr id="2" name="Date Placeholder">
            <a:extLst>
              <a:ext uri="{FF2B5EF4-FFF2-40B4-BE49-F238E27FC236}">
                <a16:creationId xmlns:a16="http://schemas.microsoft.com/office/drawing/2014/main" id="{2A88930E-BBA5-4E1B-A5EF-DED17AD07096}"/>
              </a:ext>
            </a:extLst>
          </p:cNvPr>
          <p:cNvSpPr>
            <a:spLocks noGrp="1"/>
          </p:cNvSpPr>
          <p:nvPr>
            <p:ph type="dt" sz="half" idx="10"/>
          </p:nvPr>
        </p:nvSpPr>
        <p:spPr bwMode="gray"/>
        <p:txBody>
          <a:bodyPr/>
          <a:lstStyle/>
          <a:p>
            <a:fld id="{92D12E12-A5FF-4A92-BB8B-4E7579B2C9CF}" type="datetime1">
              <a:rPr lang="en-US" smtClean="0"/>
              <a:t>7/18/2026</a:t>
            </a:fld>
            <a:endParaRPr lang="en-US"/>
          </a:p>
        </p:txBody>
      </p:sp>
      <p:sp>
        <p:nvSpPr>
          <p:cNvPr id="3" name="Footer Placeholder">
            <a:extLst>
              <a:ext uri="{FF2B5EF4-FFF2-40B4-BE49-F238E27FC236}">
                <a16:creationId xmlns:a16="http://schemas.microsoft.com/office/drawing/2014/main" id="{D820AF22-0BC8-4D54-AFFC-11C9299ACFC0}"/>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4" name="Slide Number Placeholder">
            <a:extLst>
              <a:ext uri="{FF2B5EF4-FFF2-40B4-BE49-F238E27FC236}">
                <a16:creationId xmlns:a16="http://schemas.microsoft.com/office/drawing/2014/main" id="{7F8E785F-27DE-459F-AC73-FAA76F4C475F}"/>
              </a:ext>
            </a:extLst>
          </p:cNvPr>
          <p:cNvSpPr>
            <a:spLocks noGrp="1"/>
          </p:cNvSpPr>
          <p:nvPr>
            <p:ph type="sldNum" sz="quarter" idx="12"/>
          </p:nvPr>
        </p:nvSpPr>
        <p:spPr bwMode="gray"/>
        <p:txBody>
          <a:bodyPr/>
          <a:lstStyle/>
          <a:p>
            <a:fld id="{03805D93-7D4B-4CBC-BABC-3A8AC08CB7F4}" type="slidenum">
              <a:rPr lang="en-US" smtClean="0"/>
              <a:t>‹#›</a:t>
            </a:fld>
            <a:endParaRPr lang="en-US"/>
          </a:p>
        </p:txBody>
      </p:sp>
    </p:spTree>
    <p:extLst>
      <p:ext uri="{BB962C8B-B14F-4D97-AF65-F5344CB8AC3E}">
        <p14:creationId xmlns:p14="http://schemas.microsoft.com/office/powerpoint/2010/main" val="2729948317"/>
      </p:ext>
    </p:extLst>
  </p:cSld>
  <p:clrMapOvr>
    <a:masterClrMapping/>
  </p:clrMapOvr>
  <p:extLst>
    <p:ext uri="{DCECCB84-F9BA-43D5-87BE-67443E8EF086}">
      <p15:sldGuideLst xmlns:p15="http://schemas.microsoft.com/office/powerpoint/2012/main">
        <p15:guide id="1" orient="horz" pos="3776">
          <p15:clr>
            <a:srgbClr val="5ACBF0"/>
          </p15:clr>
        </p15:guide>
        <p15:guide id="4" orient="horz" pos="34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32CFB013-0FEF-48E9-80F2-E18D541C5EDC}"/>
              </a:ext>
            </a:extLst>
          </p:cNvPr>
          <p:cNvSpPr txBox="1"/>
          <p:nvPr userDrawn="1"/>
        </p:nvSpPr>
        <p:spPr bwMode="gray">
          <a:xfrm>
            <a:off x="742998" y="1351508"/>
            <a:ext cx="9891327" cy="4154984"/>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Quotes/</a:t>
            </a:r>
            <a:br>
              <a:rPr lang="en-US" sz="15000" b="1">
                <a:solidFill>
                  <a:schemeClr val="bg1"/>
                </a:solidFill>
              </a:rPr>
            </a:br>
            <a:r>
              <a:rPr lang="en-US" sz="15000" b="1">
                <a:solidFill>
                  <a:schemeClr val="bg1"/>
                </a:solidFill>
              </a:rPr>
              <a:t>facts</a:t>
            </a:r>
          </a:p>
        </p:txBody>
      </p:sp>
      <p:cxnSp>
        <p:nvCxnSpPr>
          <p:cNvPr id="4" name="Arrow">
            <a:extLst>
              <a:ext uri="{FF2B5EF4-FFF2-40B4-BE49-F238E27FC236}">
                <a16:creationId xmlns:a16="http://schemas.microsoft.com/office/drawing/2014/main" id="{072CDE07-2C86-4CA9-AA97-FE831103A7B5}"/>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59041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2" name="Quotemark">
            <a:extLst>
              <a:ext uri="{FF2B5EF4-FFF2-40B4-BE49-F238E27FC236}">
                <a16:creationId xmlns:a16="http://schemas.microsoft.com/office/drawing/2014/main" id="{034DE437-E18F-4BCB-BE69-5295B9D49647}"/>
              </a:ext>
              <a:ext uri="{C183D7F6-B498-43B3-948B-1728B52AA6E4}">
                <adec:decorative xmlns:adec="http://schemas.microsoft.com/office/drawing/2017/decorative" val="1"/>
              </a:ext>
            </a:extLst>
          </p:cNvPr>
          <p:cNvSpPr/>
          <p:nvPr/>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46619" cy="2871369"/>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without an attribution photo. Georgia Pro 32pt, sentence case. Don’t modify size or placement of textbox.”</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5713686" y="5207977"/>
            <a:ext cx="4800600" cy="215444"/>
          </a:xfrm>
        </p:spPr>
        <p:txBody>
          <a:bodyPr wrap="square" anchor="b">
            <a:spAutoFit/>
          </a:bodyPr>
          <a:lstStyle>
            <a:lvl1pPr algn="r">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5713686" y="5449865"/>
            <a:ext cx="4800600" cy="184666"/>
          </a:xfrm>
        </p:spPr>
        <p:txBody>
          <a:bodyPr wrap="square" anchor="t">
            <a:spAutoFit/>
          </a:bodyPr>
          <a:lstStyle>
            <a:lvl1pPr algn="r">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6B997ACD-FFD4-42B7-9BA4-F3C2403892BC}"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583793286"/>
      </p:ext>
    </p:extLst>
  </p:cSld>
  <p:clrMapOvr>
    <a:masterClrMapping/>
  </p:clrMapOvr>
  <p:extLst>
    <p:ext uri="{DCECCB84-F9BA-43D5-87BE-67443E8EF086}">
      <p15:sldGuideLst xmlns:p15="http://schemas.microsoft.com/office/powerpoint/2012/main">
        <p15:guide id="1" orient="horz" pos="1251">
          <p15:clr>
            <a:srgbClr val="5ACBF0"/>
          </p15:clr>
        </p15:guide>
        <p15:guide id="2" pos="1053">
          <p15:clr>
            <a:srgbClr val="5ACBF0"/>
          </p15:clr>
        </p15:guide>
        <p15:guide id="3" pos="6630">
          <p15:clr>
            <a:srgbClr val="5ACBF0"/>
          </p15:clr>
        </p15:guide>
        <p15:guide id="4" orient="horz" pos="307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7" name="Warm White Background">
            <a:extLst>
              <a:ext uri="{FF2B5EF4-FFF2-40B4-BE49-F238E27FC236}">
                <a16:creationId xmlns:a16="http://schemas.microsoft.com/office/drawing/2014/main" id="{EE1EB717-079D-4382-BC6B-05400E354E1D}"/>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2" name="Quotemark">
            <a:extLst>
              <a:ext uri="{FF2B5EF4-FFF2-40B4-BE49-F238E27FC236}">
                <a16:creationId xmlns:a16="http://schemas.microsoft.com/office/drawing/2014/main" id="{D0DB7721-8B40-E9C3-9C0E-F32FEBBA4C5D}"/>
              </a:ext>
              <a:ext uri="{C183D7F6-B498-43B3-948B-1728B52AA6E4}">
                <adec:decorative xmlns:adec="http://schemas.microsoft.com/office/drawing/2017/decorative" val="1"/>
              </a:ext>
            </a:extLst>
          </p:cNvPr>
          <p:cNvSpPr/>
          <p:nvPr userDrawn="1"/>
        </p:nvSpPr>
        <p:spPr bwMode="gray">
          <a:xfrm>
            <a:off x="1678506" y="853939"/>
            <a:ext cx="1026858" cy="788148"/>
          </a:xfrm>
          <a:custGeom>
            <a:avLst/>
            <a:gdLst>
              <a:gd name="connsiteX0" fmla="*/ 160281 w 454634"/>
              <a:gd name="connsiteY0" fmla="*/ 0 h 348947"/>
              <a:gd name="connsiteX1" fmla="*/ 205697 w 454634"/>
              <a:gd name="connsiteY1" fmla="*/ 64813 h 348947"/>
              <a:gd name="connsiteX2" fmla="*/ 102281 w 454634"/>
              <a:gd name="connsiteY2" fmla="*/ 169364 h 348947"/>
              <a:gd name="connsiteX3" fmla="*/ 187531 w 454634"/>
              <a:gd name="connsiteY3" fmla="*/ 258021 h 348947"/>
              <a:gd name="connsiteX4" fmla="*/ 96604 w 454634"/>
              <a:gd name="connsiteY4" fmla="*/ 348947 h 348947"/>
              <a:gd name="connsiteX5" fmla="*/ 0 w 454634"/>
              <a:gd name="connsiteY5" fmla="*/ 237583 h 348947"/>
              <a:gd name="connsiteX6" fmla="*/ 160281 w 454634"/>
              <a:gd name="connsiteY6" fmla="*/ 0 h 348947"/>
              <a:gd name="connsiteX7" fmla="*/ 409219 w 454634"/>
              <a:gd name="connsiteY7" fmla="*/ 0 h 348947"/>
              <a:gd name="connsiteX8" fmla="*/ 454635 w 454634"/>
              <a:gd name="connsiteY8" fmla="*/ 64813 h 348947"/>
              <a:gd name="connsiteX9" fmla="*/ 351218 w 454634"/>
              <a:gd name="connsiteY9" fmla="*/ 169364 h 348947"/>
              <a:gd name="connsiteX10" fmla="*/ 436468 w 454634"/>
              <a:gd name="connsiteY10" fmla="*/ 258021 h 348947"/>
              <a:gd name="connsiteX11" fmla="*/ 345541 w 454634"/>
              <a:gd name="connsiteY11" fmla="*/ 348947 h 348947"/>
              <a:gd name="connsiteX12" fmla="*/ 248937 w 454634"/>
              <a:gd name="connsiteY12" fmla="*/ 237583 h 348947"/>
              <a:gd name="connsiteX13" fmla="*/ 409219 w 454634"/>
              <a:gd name="connsiteY13" fmla="*/ 0 h 348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cap="flat">
            <a:noFill/>
            <a:prstDash val="solid"/>
            <a:miter/>
          </a:ln>
        </p:spPr>
        <p:txBody>
          <a:bodyPr rtlCol="0" anchor="ctr"/>
          <a:lstStyle/>
          <a:p>
            <a:endParaRPr lang="en-US"/>
          </a:p>
        </p:txBody>
      </p:sp>
      <p:sp>
        <p:nvSpPr>
          <p:cNvPr id="6" name="Quote Placeholder">
            <a:extLst>
              <a:ext uri="{FF2B5EF4-FFF2-40B4-BE49-F238E27FC236}">
                <a16:creationId xmlns:a16="http://schemas.microsoft.com/office/drawing/2014/main" id="{268D9530-7244-4EEA-9E87-B99110498E7E}"/>
              </a:ext>
            </a:extLst>
          </p:cNvPr>
          <p:cNvSpPr>
            <a:spLocks noGrp="1"/>
          </p:cNvSpPr>
          <p:nvPr>
            <p:ph type="body" sz="quarter" idx="13" hasCustomPrompt="1"/>
          </p:nvPr>
        </p:nvSpPr>
        <p:spPr bwMode="gray">
          <a:xfrm>
            <a:off x="1678505" y="1993315"/>
            <a:ext cx="8851392" cy="2011126"/>
          </a:xfrm>
        </p:spPr>
        <p:txBody>
          <a:bodyPr>
            <a:normAutofit/>
          </a:bodyPr>
          <a:lstStyle>
            <a:lvl1pPr algn="l">
              <a:spcBef>
                <a:spcPts val="1200"/>
              </a:spcBef>
              <a:defRPr sz="3200" spc="0" baseline="0">
                <a:solidFill>
                  <a:schemeClr val="tx1"/>
                </a:solidFill>
                <a:latin typeface="+mj-lt"/>
              </a:defRPr>
            </a:lvl1pPr>
            <a:lvl2pPr>
              <a:defRPr sz="2600">
                <a:solidFill>
                  <a:schemeClr val="accent5"/>
                </a:solidFill>
              </a:defRPr>
            </a:lvl2pPr>
            <a:lvl3pPr>
              <a:defRPr sz="2600">
                <a:solidFill>
                  <a:schemeClr val="accent5"/>
                </a:solidFill>
              </a:defRPr>
            </a:lvl3pPr>
            <a:lvl4pPr>
              <a:defRPr sz="2600">
                <a:solidFill>
                  <a:schemeClr val="accent5"/>
                </a:solidFill>
              </a:defRPr>
            </a:lvl4pPr>
            <a:lvl5pPr>
              <a:defRPr sz="2600">
                <a:solidFill>
                  <a:schemeClr val="accent5"/>
                </a:solidFill>
              </a:defRPr>
            </a:lvl5pPr>
          </a:lstStyle>
          <a:p>
            <a:pPr lvl="0"/>
            <a:r>
              <a:rPr lang="en-US"/>
              <a:t>“Use this textbox to include quotes with an attribution photo. Georgia Pro 32pt, sentence case. Don’t modify size or placement of textbox.”</a:t>
            </a:r>
          </a:p>
        </p:txBody>
      </p:sp>
      <p:sp>
        <p:nvSpPr>
          <p:cNvPr id="13" name="Headshot Placeholder">
            <a:extLst>
              <a:ext uri="{FF2B5EF4-FFF2-40B4-BE49-F238E27FC236}">
                <a16:creationId xmlns:a16="http://schemas.microsoft.com/office/drawing/2014/main" id="{D951BDD7-02E7-4695-9F59-170E730D05B2}"/>
              </a:ext>
              <a:ext uri="{C183D7F6-B498-43B3-948B-1728B52AA6E4}">
                <adec:decorative xmlns:adec="http://schemas.microsoft.com/office/drawing/2017/decorative" val="1"/>
              </a:ext>
            </a:extLst>
          </p:cNvPr>
          <p:cNvSpPr>
            <a:spLocks noGrp="1" noChangeAspect="1"/>
          </p:cNvSpPr>
          <p:nvPr>
            <p:ph type="pic" sz="quarter" idx="16" hasCustomPrompt="1"/>
          </p:nvPr>
        </p:nvSpPr>
        <p:spPr bwMode="gray">
          <a:xfrm>
            <a:off x="3337823" y="4492053"/>
            <a:ext cx="1046830" cy="1046830"/>
          </a:xfrm>
          <a:prstGeom prst="ellipse">
            <a:avLst/>
          </a:prstGeom>
        </p:spPr>
        <p:txBody>
          <a:bodyPr>
            <a:normAutofit/>
          </a:bodyPr>
          <a:lstStyle>
            <a:lvl1pPr algn="ctr">
              <a:spcBef>
                <a:spcPts val="0"/>
              </a:spcBef>
              <a:defRPr sz="800">
                <a:solidFill>
                  <a:schemeClr val="tx1"/>
                </a:solidFill>
              </a:defRPr>
            </a:lvl1pPr>
          </a:lstStyle>
          <a:p>
            <a:r>
              <a:rPr lang="en-US"/>
              <a:t>Insert attribution</a:t>
            </a:r>
          </a:p>
        </p:txBody>
      </p:sp>
      <p:sp>
        <p:nvSpPr>
          <p:cNvPr id="10" name="Name Placeholder">
            <a:extLst>
              <a:ext uri="{FF2B5EF4-FFF2-40B4-BE49-F238E27FC236}">
                <a16:creationId xmlns:a16="http://schemas.microsoft.com/office/drawing/2014/main" id="{534C88A3-66AA-4865-9DC5-9F2DF606433E}"/>
              </a:ext>
            </a:extLst>
          </p:cNvPr>
          <p:cNvSpPr>
            <a:spLocks noGrp="1"/>
          </p:cNvSpPr>
          <p:nvPr>
            <p:ph type="body" sz="quarter" idx="14" hasCustomPrompt="1"/>
          </p:nvPr>
        </p:nvSpPr>
        <p:spPr bwMode="gray">
          <a:xfrm>
            <a:off x="4673162" y="4786149"/>
            <a:ext cx="3657600" cy="215444"/>
          </a:xfrm>
        </p:spPr>
        <p:txBody>
          <a:bodyPr wrap="square" anchor="b">
            <a:spAutoFit/>
          </a:bodyPr>
          <a:lstStyle>
            <a:lvl1pPr algn="l">
              <a:defRPr sz="1400" b="1">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name, Arial 14pt</a:t>
            </a:r>
          </a:p>
        </p:txBody>
      </p:sp>
      <p:sp>
        <p:nvSpPr>
          <p:cNvPr id="15" name="Title Placeholder">
            <a:extLst>
              <a:ext uri="{FF2B5EF4-FFF2-40B4-BE49-F238E27FC236}">
                <a16:creationId xmlns:a16="http://schemas.microsoft.com/office/drawing/2014/main" id="{539E5E69-25FD-4D9F-BEEC-39E50CAC01B9}"/>
              </a:ext>
            </a:extLst>
          </p:cNvPr>
          <p:cNvSpPr>
            <a:spLocks noGrp="1"/>
          </p:cNvSpPr>
          <p:nvPr>
            <p:ph type="body" sz="quarter" idx="15" hasCustomPrompt="1"/>
          </p:nvPr>
        </p:nvSpPr>
        <p:spPr bwMode="gray">
          <a:xfrm>
            <a:off x="4673162" y="5028037"/>
            <a:ext cx="3657600" cy="184666"/>
          </a:xfrm>
        </p:spPr>
        <p:txBody>
          <a:bodyPr wrap="square" anchor="t">
            <a:spAutoFit/>
          </a:bodyPr>
          <a:lstStyle>
            <a:lvl1pPr algn="l">
              <a:defRPr sz="1200" b="0">
                <a:solidFill>
                  <a:schemeClr val="tx1"/>
                </a:solidFill>
              </a:defRPr>
            </a:lvl1pPr>
            <a:lvl2pPr algn="ctr">
              <a:defRPr sz="1400" b="1">
                <a:solidFill>
                  <a:schemeClr val="accent5"/>
                </a:solidFill>
              </a:defRPr>
            </a:lvl2pPr>
            <a:lvl3pPr algn="ctr">
              <a:defRPr sz="1400" b="1">
                <a:solidFill>
                  <a:schemeClr val="accent5"/>
                </a:solidFill>
              </a:defRPr>
            </a:lvl3pPr>
            <a:lvl4pPr algn="ctr">
              <a:defRPr sz="1400" b="1">
                <a:solidFill>
                  <a:schemeClr val="accent5"/>
                </a:solidFill>
              </a:defRPr>
            </a:lvl4pPr>
            <a:lvl5pPr algn="ctr">
              <a:defRPr sz="1400" b="1">
                <a:solidFill>
                  <a:schemeClr val="accent5"/>
                </a:solidFill>
              </a:defRPr>
            </a:lvl5pPr>
          </a:lstStyle>
          <a:p>
            <a:pPr lvl="0"/>
            <a:r>
              <a:rPr lang="en-US"/>
              <a:t>Attribution title, Arial 12pt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2BD6EE-B5F9-44F3-A830-8ED994B9F4E4}"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815433040"/>
      </p:ext>
    </p:extLst>
  </p:cSld>
  <p:clrMapOvr>
    <a:masterClrMapping/>
  </p:clrMapOvr>
  <p:extLst>
    <p:ext uri="{DCECCB84-F9BA-43D5-87BE-67443E8EF086}">
      <p15:sldGuideLst xmlns:p15="http://schemas.microsoft.com/office/powerpoint/2012/main">
        <p15:guide id="1" pos="1053">
          <p15:clr>
            <a:srgbClr val="5ACBF0"/>
          </p15:clr>
        </p15:guide>
        <p15:guide id="2" pos="6632">
          <p15:clr>
            <a:srgbClr val="5ACBF0"/>
          </p15:clr>
        </p15:guide>
        <p15:guide id="3" orient="horz" pos="1248">
          <p15:clr>
            <a:srgbClr val="5ACBF0"/>
          </p15:clr>
        </p15:guide>
        <p15:guide id="4" orient="horz" pos="2522">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ig Fact">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49058545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ig Fact - Sky Blue">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1535140985"/>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ig Fact - Dawn">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2DF8CC85-6C7A-A79C-ACE2-18D828718F4E}"/>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0" name="Background Circle">
            <a:extLst>
              <a:ext uri="{FF2B5EF4-FFF2-40B4-BE49-F238E27FC236}">
                <a16:creationId xmlns:a16="http://schemas.microsoft.com/office/drawing/2014/main" id="{F69A69E7-DA74-BB81-476B-11D1DF37A703}"/>
              </a:ext>
              <a:ext uri="{C183D7F6-B498-43B3-948B-1728B52AA6E4}">
                <adec:decorative xmlns:adec="http://schemas.microsoft.com/office/drawing/2017/decorative" val="1"/>
              </a:ext>
            </a:extLst>
          </p:cNvPr>
          <p:cNvSpPr/>
          <p:nvPr userDrawn="1"/>
        </p:nvSpPr>
        <p:spPr bwMode="gray">
          <a:xfrm>
            <a:off x="3734326" y="699989"/>
            <a:ext cx="4723349" cy="4723349"/>
          </a:xfrm>
          <a:prstGeom prst="ellipse">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4038600" y="2446003"/>
            <a:ext cx="41148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4038600" y="3708424"/>
            <a:ext cx="41148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8581FF1E-FD87-4EB7-8B9F-158DD263B629}"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643187951"/>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ig Fact 02">
    <p:spTree>
      <p:nvGrpSpPr>
        <p:cNvPr id="1" name=""/>
        <p:cNvGrpSpPr/>
        <p:nvPr/>
      </p:nvGrpSpPr>
      <p:grpSpPr>
        <a:xfrm>
          <a:off x="0" y="0"/>
          <a:ext cx="0" cy="0"/>
          <a:chOff x="0" y="0"/>
          <a:chExt cx="0" cy="0"/>
        </a:xfrm>
      </p:grpSpPr>
      <p:sp>
        <p:nvSpPr>
          <p:cNvPr id="2" name="Warm White Background">
            <a:extLst>
              <a:ext uri="{FF2B5EF4-FFF2-40B4-BE49-F238E27FC236}">
                <a16:creationId xmlns:a16="http://schemas.microsoft.com/office/drawing/2014/main" id="{6F5C39BF-69B3-2837-3539-9EC6AC63B6E4}"/>
              </a:ext>
              <a:ext uri="{C183D7F6-B498-43B3-948B-1728B52AA6E4}">
                <adec:decorative xmlns:adec="http://schemas.microsoft.com/office/drawing/2017/decorative" val="1"/>
              </a:ext>
            </a:extLst>
          </p:cNvPr>
          <p:cNvSpPr/>
          <p:nvPr userDrawn="1"/>
        </p:nvSpPr>
        <p:spPr bwMode="gray">
          <a:xfrm>
            <a:off x="0" y="0"/>
            <a:ext cx="12192000" cy="5994400"/>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 name="Fact Placeholder 1">
            <a:extLst>
              <a:ext uri="{FF2B5EF4-FFF2-40B4-BE49-F238E27FC236}">
                <a16:creationId xmlns:a16="http://schemas.microsoft.com/office/drawing/2014/main" id="{9660E6D3-AAAB-4BAD-BA41-1B807EC96B8A}"/>
              </a:ext>
            </a:extLst>
          </p:cNvPr>
          <p:cNvSpPr>
            <a:spLocks noGrp="1"/>
          </p:cNvSpPr>
          <p:nvPr>
            <p:ph type="body" sz="quarter" idx="13" hasCustomPrompt="1"/>
          </p:nvPr>
        </p:nvSpPr>
        <p:spPr bwMode="gray">
          <a:xfrm>
            <a:off x="1521502"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9" name="Content Placeholder 1">
            <a:extLst>
              <a:ext uri="{FF2B5EF4-FFF2-40B4-BE49-F238E27FC236}">
                <a16:creationId xmlns:a16="http://schemas.microsoft.com/office/drawing/2014/main" id="{9268A523-92CF-4538-8D9C-5EBFB8A5B5C9}"/>
              </a:ext>
            </a:extLst>
          </p:cNvPr>
          <p:cNvSpPr>
            <a:spLocks noGrp="1"/>
          </p:cNvSpPr>
          <p:nvPr>
            <p:ph type="body" sz="quarter" idx="14" hasCustomPrompt="1"/>
          </p:nvPr>
        </p:nvSpPr>
        <p:spPr bwMode="gray">
          <a:xfrm>
            <a:off x="1521502"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7" name="Fact Placeholder 2">
            <a:extLst>
              <a:ext uri="{FF2B5EF4-FFF2-40B4-BE49-F238E27FC236}">
                <a16:creationId xmlns:a16="http://schemas.microsoft.com/office/drawing/2014/main" id="{9AC900CD-4561-4E07-9B13-BD98740C35AB}"/>
              </a:ext>
            </a:extLst>
          </p:cNvPr>
          <p:cNvSpPr>
            <a:spLocks noGrp="1"/>
          </p:cNvSpPr>
          <p:nvPr>
            <p:ph type="body" sz="quarter" idx="15" hasCustomPrompt="1"/>
          </p:nvPr>
        </p:nvSpPr>
        <p:spPr bwMode="gray">
          <a:xfrm>
            <a:off x="6330863" y="2446003"/>
            <a:ext cx="4343400" cy="1231106"/>
          </a:xfrm>
        </p:spPr>
        <p:txBody>
          <a:bodyPr wrap="square" anchor="b">
            <a:spAutoFit/>
          </a:bodyPr>
          <a:lstStyle>
            <a:lvl1pPr algn="ctr">
              <a:spcBef>
                <a:spcPts val="0"/>
              </a:spcBef>
              <a:defRPr sz="8000" b="1" spc="-70" baseline="0">
                <a:solidFill>
                  <a:schemeClr val="tx1"/>
                </a:solidFill>
                <a:latin typeface="+mj-lt"/>
              </a:defRPr>
            </a:lvl1pPr>
          </a:lstStyle>
          <a:p>
            <a:pPr lvl="0"/>
            <a:r>
              <a:rPr lang="en-US"/>
              <a:t>###%</a:t>
            </a:r>
          </a:p>
        </p:txBody>
      </p:sp>
      <p:sp>
        <p:nvSpPr>
          <p:cNvPr id="8" name="Content Placeholder 2">
            <a:extLst>
              <a:ext uri="{FF2B5EF4-FFF2-40B4-BE49-F238E27FC236}">
                <a16:creationId xmlns:a16="http://schemas.microsoft.com/office/drawing/2014/main" id="{8AD4B4AB-AD99-4AC4-B37B-D2B3938FC3A2}"/>
              </a:ext>
            </a:extLst>
          </p:cNvPr>
          <p:cNvSpPr>
            <a:spLocks noGrp="1"/>
          </p:cNvSpPr>
          <p:nvPr>
            <p:ph type="body" sz="quarter" idx="16" hasCustomPrompt="1"/>
          </p:nvPr>
        </p:nvSpPr>
        <p:spPr bwMode="gray">
          <a:xfrm>
            <a:off x="6330863" y="3708424"/>
            <a:ext cx="4343400" cy="230832"/>
          </a:xfrm>
        </p:spPr>
        <p:txBody>
          <a:bodyPr>
            <a:spAutoFit/>
          </a:bodyPr>
          <a:lstStyle>
            <a:lvl1pPr algn="ctr">
              <a:defRPr sz="1500">
                <a:solidFill>
                  <a:schemeClr val="tx1"/>
                </a:solidFill>
              </a:defRPr>
            </a:lvl1pPr>
          </a:lstStyle>
          <a:p>
            <a:pPr lvl="0"/>
            <a:r>
              <a:rPr lang="en-US"/>
              <a:t>Context about fact</a:t>
            </a:r>
          </a:p>
        </p:txBody>
      </p:sp>
      <p:sp>
        <p:nvSpPr>
          <p:cNvPr id="3" name="Date Placeholder">
            <a:extLst>
              <a:ext uri="{FF2B5EF4-FFF2-40B4-BE49-F238E27FC236}">
                <a16:creationId xmlns:a16="http://schemas.microsoft.com/office/drawing/2014/main" id="{A03ECA26-E932-4438-A611-CD2E9AA59D7D}"/>
              </a:ext>
            </a:extLst>
          </p:cNvPr>
          <p:cNvSpPr>
            <a:spLocks noGrp="1"/>
          </p:cNvSpPr>
          <p:nvPr>
            <p:ph type="dt" sz="half" idx="10"/>
          </p:nvPr>
        </p:nvSpPr>
        <p:spPr bwMode="gray"/>
        <p:txBody>
          <a:bodyPr/>
          <a:lstStyle/>
          <a:p>
            <a:fld id="{188F3D36-6F24-466D-BEC2-9B7949FEAF1E}" type="datetime1">
              <a:rPr lang="en-US" smtClean="0"/>
              <a:t>7/18/2026</a:t>
            </a:fld>
            <a:endParaRPr lang="en-US"/>
          </a:p>
        </p:txBody>
      </p:sp>
      <p:sp>
        <p:nvSpPr>
          <p:cNvPr id="4" name="Footer Placeholder">
            <a:extLst>
              <a:ext uri="{FF2B5EF4-FFF2-40B4-BE49-F238E27FC236}">
                <a16:creationId xmlns:a16="http://schemas.microsoft.com/office/drawing/2014/main" id="{F671BF93-B235-43C1-B6B1-F5BF550234D5}"/>
              </a:ext>
            </a:extLst>
          </p:cNvPr>
          <p:cNvSpPr>
            <a:spLocks noGrp="1"/>
          </p:cNvSpPr>
          <p:nvPr>
            <p:ph type="ftr" sz="quarter" idx="11"/>
          </p:nvPr>
        </p:nvSpPr>
        <p:spPr bwMode="gray"/>
        <p:txBody>
          <a:bodyPr/>
          <a:lstStyle/>
          <a:p>
            <a:r>
              <a:rPr lang="en-US"/>
              <a:t>Confidential property of Optum. Do not distribute or reproduce without express permission from Optum.</a:t>
            </a:r>
          </a:p>
        </p:txBody>
      </p:sp>
      <p:sp>
        <p:nvSpPr>
          <p:cNvPr id="5" name="Slide Number Placeholder">
            <a:extLst>
              <a:ext uri="{FF2B5EF4-FFF2-40B4-BE49-F238E27FC236}">
                <a16:creationId xmlns:a16="http://schemas.microsoft.com/office/drawing/2014/main" id="{3AF1A2B5-5197-4E57-9D4D-CCCEAD7BAFB2}"/>
              </a:ext>
            </a:extLst>
          </p:cNvPr>
          <p:cNvSpPr>
            <a:spLocks noGrp="1"/>
          </p:cNvSpPr>
          <p:nvPr>
            <p:ph type="sldNum" sz="quarter" idx="12"/>
          </p:nvPr>
        </p:nvSpPr>
        <p:spPr bwMode="gray"/>
        <p:txBody>
          <a:bodyPr/>
          <a:lstStyle/>
          <a:p>
            <a:fld id="{03805D93-7D4B-4CBC-BABC-3A8AC08CB7F4}" type="slidenum">
              <a:rPr lang="en-US" smtClean="0"/>
              <a:pPr/>
              <a:t>‹#›</a:t>
            </a:fld>
            <a:endParaRPr lang="en-US"/>
          </a:p>
        </p:txBody>
      </p:sp>
    </p:spTree>
    <p:extLst>
      <p:ext uri="{BB962C8B-B14F-4D97-AF65-F5344CB8AC3E}">
        <p14:creationId xmlns:p14="http://schemas.microsoft.com/office/powerpoint/2010/main" val="3945433254"/>
      </p:ext>
    </p:extLst>
  </p:cSld>
  <p:clrMapOvr>
    <a:masterClrMapping/>
  </p:clrMapOvr>
  <p:extLst>
    <p:ext uri="{DCECCB84-F9BA-43D5-87BE-67443E8EF086}">
      <p15:sldGuideLst xmlns:p15="http://schemas.microsoft.com/office/powerpoint/2012/main">
        <p15:guide id="1" orient="horz" pos="3776">
          <p15:clr>
            <a:srgbClr val="5ACBF0"/>
          </p15:clr>
        </p15:guide>
        <p15:guide id="2" orient="horz" pos="344">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2" name="TextBox 1">
            <a:extLst>
              <a:ext uri="{FF2B5EF4-FFF2-40B4-BE49-F238E27FC236}">
                <a16:creationId xmlns:a16="http://schemas.microsoft.com/office/drawing/2014/main" id="{63F147AB-BC07-4B04-AF4C-C611763A1EAE}"/>
              </a:ext>
            </a:extLst>
          </p:cNvPr>
          <p:cNvSpPr txBox="1"/>
          <p:nvPr userDrawn="1"/>
        </p:nvSpPr>
        <p:spPr bwMode="gray">
          <a:xfrm>
            <a:off x="742998" y="2390254"/>
            <a:ext cx="9891327" cy="2077492"/>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Closing</a:t>
            </a:r>
          </a:p>
        </p:txBody>
      </p:sp>
      <p:cxnSp>
        <p:nvCxnSpPr>
          <p:cNvPr id="4" name="Arrow">
            <a:extLst>
              <a:ext uri="{FF2B5EF4-FFF2-40B4-BE49-F238E27FC236}">
                <a16:creationId xmlns:a16="http://schemas.microsoft.com/office/drawing/2014/main" id="{C96135BB-E1DE-4F71-B831-68F8DC213F8C}"/>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5604759"/>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pic>
        <p:nvPicPr>
          <p:cNvPr id="6" name="Optum Logo" descr="Optum">
            <a:extLst>
              <a:ext uri="{FF2B5EF4-FFF2-40B4-BE49-F238E27FC236}">
                <a16:creationId xmlns:a16="http://schemas.microsoft.com/office/drawing/2014/main" id="{89BF741E-7372-4DA5-9FBB-22AB498402A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gray">
          <a:xfrm>
            <a:off x="4051940" y="2837147"/>
            <a:ext cx="4088119" cy="1183707"/>
          </a:xfrm>
          <a:prstGeom prst="rect">
            <a:avLst/>
          </a:prstGeom>
        </p:spPr>
      </p:pic>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372876218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Closing Slide - Alt">
    <p:spTree>
      <p:nvGrpSpPr>
        <p:cNvPr id="1" name=""/>
        <p:cNvGrpSpPr/>
        <p:nvPr/>
      </p:nvGrpSpPr>
      <p:grpSpPr>
        <a:xfrm>
          <a:off x="0" y="0"/>
          <a:ext cx="0" cy="0"/>
          <a:chOff x="0" y="0"/>
          <a:chExt cx="0" cy="0"/>
        </a:xfrm>
      </p:grpSpPr>
      <p:sp>
        <p:nvSpPr>
          <p:cNvPr id="13" name="Warm White Background">
            <a:extLst>
              <a:ext uri="{FF2B5EF4-FFF2-40B4-BE49-F238E27FC236}">
                <a16:creationId xmlns:a16="http://schemas.microsoft.com/office/drawing/2014/main" id="{7C3A9A97-61E4-4883-B3FD-88A5E8E0FF70}"/>
              </a:ext>
              <a:ext uri="{C183D7F6-B498-43B3-948B-1728B52AA6E4}">
                <adec:decorative xmlns:adec="http://schemas.microsoft.com/office/drawing/2017/decorative" val="1"/>
              </a:ext>
            </a:extLst>
          </p:cNvPr>
          <p:cNvSpPr/>
          <p:nvPr userDrawn="1"/>
        </p:nvSpPr>
        <p:spPr bwMode="gray">
          <a:xfrm>
            <a:off x="184404" y="182880"/>
            <a:ext cx="11823192" cy="6492240"/>
          </a:xfrm>
          <a:prstGeom prst="roundRect">
            <a:avLst>
              <a:gd name="adj" fmla="val 1011"/>
            </a:avLst>
          </a:prstGeom>
          <a:solidFill>
            <a:srgbClr val="FBF9F4"/>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400" b="0" i="0" u="none" baseline="0">
              <a:solidFill>
                <a:srgbClr val="FFFFFF"/>
              </a:solidFill>
            </a:endParaRPr>
          </a:p>
        </p:txBody>
      </p:sp>
      <p:sp>
        <p:nvSpPr>
          <p:cNvPr id="10" name="Optum Logo" descr="Optum">
            <a:extLst>
              <a:ext uri="{FF2B5EF4-FFF2-40B4-BE49-F238E27FC236}">
                <a16:creationId xmlns:a16="http://schemas.microsoft.com/office/drawing/2014/main" id="{1A7A9804-2478-CD00-E2AF-A61CDE018953}"/>
              </a:ext>
              <a:ext uri="{C183D7F6-B498-43B3-948B-1728B52AA6E4}">
                <adec:decorative xmlns:adec="http://schemas.microsoft.com/office/drawing/2017/decorative" val="0"/>
              </a:ext>
            </a:extLst>
          </p:cNvPr>
          <p:cNvSpPr/>
          <p:nvPr/>
        </p:nvSpPr>
        <p:spPr bwMode="gray">
          <a:xfrm>
            <a:off x="184404" y="1349116"/>
            <a:ext cx="11823192" cy="3534131"/>
          </a:xfrm>
          <a:custGeom>
            <a:avLst/>
            <a:gdLst>
              <a:gd name="connsiteX0" fmla="*/ 3997943 w 11823192"/>
              <a:gd name="connsiteY0" fmla="*/ 1184415 h 3534131"/>
              <a:gd name="connsiteX1" fmla="*/ 3511808 w 11823192"/>
              <a:gd name="connsiteY1" fmla="*/ 1697581 h 3534131"/>
              <a:gd name="connsiteX2" fmla="*/ 3997943 w 11823192"/>
              <a:gd name="connsiteY2" fmla="*/ 2214536 h 3534131"/>
              <a:gd name="connsiteX3" fmla="*/ 4480290 w 11823192"/>
              <a:gd name="connsiteY3" fmla="*/ 1697581 h 3534131"/>
              <a:gd name="connsiteX4" fmla="*/ 3997943 w 11823192"/>
              <a:gd name="connsiteY4" fmla="*/ 1184415 h 3534131"/>
              <a:gd name="connsiteX5" fmla="*/ 6725845 w 11823192"/>
              <a:gd name="connsiteY5" fmla="*/ 663672 h 3534131"/>
              <a:gd name="connsiteX6" fmla="*/ 7397273 w 11823192"/>
              <a:gd name="connsiteY6" fmla="*/ 663672 h 3534131"/>
              <a:gd name="connsiteX7" fmla="*/ 7397273 w 11823192"/>
              <a:gd name="connsiteY7" fmla="*/ 1925406 h 3534131"/>
              <a:gd name="connsiteX8" fmla="*/ 7690538 w 11823192"/>
              <a:gd name="connsiteY8" fmla="*/ 2222457 h 3534131"/>
              <a:gd name="connsiteX9" fmla="*/ 7983804 w 11823192"/>
              <a:gd name="connsiteY9" fmla="*/ 1925406 h 3534131"/>
              <a:gd name="connsiteX10" fmla="*/ 7983804 w 11823192"/>
              <a:gd name="connsiteY10" fmla="*/ 663672 h 3534131"/>
              <a:gd name="connsiteX11" fmla="*/ 8655232 w 11823192"/>
              <a:gd name="connsiteY11" fmla="*/ 663672 h 3534131"/>
              <a:gd name="connsiteX12" fmla="*/ 8655232 w 11823192"/>
              <a:gd name="connsiteY12" fmla="*/ 1944521 h 3534131"/>
              <a:gd name="connsiteX13" fmla="*/ 8654887 w 11823192"/>
              <a:gd name="connsiteY13" fmla="*/ 1944521 h 3534131"/>
              <a:gd name="connsiteX14" fmla="*/ 7690366 w 11823192"/>
              <a:gd name="connsiteY14" fmla="*/ 2777986 h 3534131"/>
              <a:gd name="connsiteX15" fmla="*/ 6725845 w 11823192"/>
              <a:gd name="connsiteY15" fmla="*/ 1944521 h 3534131"/>
              <a:gd name="connsiteX16" fmla="*/ 1227678 w 11823192"/>
              <a:gd name="connsiteY16" fmla="*/ 640425 h 3534131"/>
              <a:gd name="connsiteX17" fmla="*/ 525426 w 11823192"/>
              <a:gd name="connsiteY17" fmla="*/ 1381244 h 3534131"/>
              <a:gd name="connsiteX18" fmla="*/ 1227678 w 11823192"/>
              <a:gd name="connsiteY18" fmla="*/ 2122063 h 3534131"/>
              <a:gd name="connsiteX19" fmla="*/ 1929931 w 11823192"/>
              <a:gd name="connsiteY19" fmla="*/ 1381244 h 3534131"/>
              <a:gd name="connsiteX20" fmla="*/ 1227678 w 11823192"/>
              <a:gd name="connsiteY20" fmla="*/ 640425 h 3534131"/>
              <a:gd name="connsiteX21" fmla="*/ 10086256 w 11823192"/>
              <a:gd name="connsiteY21" fmla="*/ 632848 h 3534131"/>
              <a:gd name="connsiteX22" fmla="*/ 10676576 w 11823192"/>
              <a:gd name="connsiteY22" fmla="*/ 968472 h 3534131"/>
              <a:gd name="connsiteX23" fmla="*/ 11309258 w 11823192"/>
              <a:gd name="connsiteY23" fmla="*/ 632848 h 3534131"/>
              <a:gd name="connsiteX24" fmla="*/ 11728549 w 11823192"/>
              <a:gd name="connsiteY24" fmla="*/ 762880 h 3534131"/>
              <a:gd name="connsiteX25" fmla="*/ 11823192 w 11823192"/>
              <a:gd name="connsiteY25" fmla="*/ 851969 h 3534131"/>
              <a:gd name="connsiteX26" fmla="*/ 11823192 w 11823192"/>
              <a:gd name="connsiteY26" fmla="*/ 2731835 h 3534131"/>
              <a:gd name="connsiteX27" fmla="*/ 11340082 w 11823192"/>
              <a:gd name="connsiteY27" fmla="*/ 2731835 h 3534131"/>
              <a:gd name="connsiteX28" fmla="*/ 11340082 w 11823192"/>
              <a:gd name="connsiteY28" fmla="*/ 1500925 h 3534131"/>
              <a:gd name="connsiteX29" fmla="*/ 11058355 w 11823192"/>
              <a:gd name="connsiteY29" fmla="*/ 1180627 h 3534131"/>
              <a:gd name="connsiteX30" fmla="*/ 10776627 w 11823192"/>
              <a:gd name="connsiteY30" fmla="*/ 1500925 h 3534131"/>
              <a:gd name="connsiteX31" fmla="*/ 10776627 w 11823192"/>
              <a:gd name="connsiteY31" fmla="*/ 2731663 h 3534131"/>
              <a:gd name="connsiteX32" fmla="*/ 10109160 w 11823192"/>
              <a:gd name="connsiteY32" fmla="*/ 2731663 h 3534131"/>
              <a:gd name="connsiteX33" fmla="*/ 10109160 w 11823192"/>
              <a:gd name="connsiteY33" fmla="*/ 1500925 h 3534131"/>
              <a:gd name="connsiteX34" fmla="*/ 9827432 w 11823192"/>
              <a:gd name="connsiteY34" fmla="*/ 1180627 h 3534131"/>
              <a:gd name="connsiteX35" fmla="*/ 9545705 w 11823192"/>
              <a:gd name="connsiteY35" fmla="*/ 1500925 h 3534131"/>
              <a:gd name="connsiteX36" fmla="*/ 9545705 w 11823192"/>
              <a:gd name="connsiteY36" fmla="*/ 2731663 h 3534131"/>
              <a:gd name="connsiteX37" fmla="*/ 8878581 w 11823192"/>
              <a:gd name="connsiteY37" fmla="*/ 2731663 h 3534131"/>
              <a:gd name="connsiteX38" fmla="*/ 8878581 w 11823192"/>
              <a:gd name="connsiteY38" fmla="*/ 663672 h 3534131"/>
              <a:gd name="connsiteX39" fmla="*/ 9534511 w 11823192"/>
              <a:gd name="connsiteY39" fmla="*/ 663672 h 3534131"/>
              <a:gd name="connsiteX40" fmla="*/ 9538299 w 11823192"/>
              <a:gd name="connsiteY40" fmla="*/ 910612 h 3534131"/>
              <a:gd name="connsiteX41" fmla="*/ 10086256 w 11823192"/>
              <a:gd name="connsiteY41" fmla="*/ 632848 h 3534131"/>
              <a:gd name="connsiteX42" fmla="*/ 4152239 w 11823192"/>
              <a:gd name="connsiteY42" fmla="*/ 632675 h 3534131"/>
              <a:gd name="connsiteX43" fmla="*/ 5151545 w 11823192"/>
              <a:gd name="connsiteY43" fmla="*/ 1697581 h 3534131"/>
              <a:gd name="connsiteX44" fmla="*/ 4152239 w 11823192"/>
              <a:gd name="connsiteY44" fmla="*/ 2766276 h 3534131"/>
              <a:gd name="connsiteX45" fmla="*/ 3511808 w 11823192"/>
              <a:gd name="connsiteY45" fmla="*/ 2515548 h 3534131"/>
              <a:gd name="connsiteX46" fmla="*/ 3511808 w 11823192"/>
              <a:gd name="connsiteY46" fmla="*/ 3534131 h 3534131"/>
              <a:gd name="connsiteX47" fmla="*/ 2840552 w 11823192"/>
              <a:gd name="connsiteY47" fmla="*/ 3534131 h 3534131"/>
              <a:gd name="connsiteX48" fmla="*/ 2840552 w 11823192"/>
              <a:gd name="connsiteY48" fmla="*/ 663500 h 3534131"/>
              <a:gd name="connsiteX49" fmla="*/ 3488732 w 11823192"/>
              <a:gd name="connsiteY49" fmla="*/ 663500 h 3534131"/>
              <a:gd name="connsiteX50" fmla="*/ 3492521 w 11823192"/>
              <a:gd name="connsiteY50" fmla="*/ 902690 h 3534131"/>
              <a:gd name="connsiteX51" fmla="*/ 4152239 w 11823192"/>
              <a:gd name="connsiteY51" fmla="*/ 632675 h 3534131"/>
              <a:gd name="connsiteX52" fmla="*/ 5325128 w 11823192"/>
              <a:gd name="connsiteY52" fmla="*/ 135007 h 3534131"/>
              <a:gd name="connsiteX53" fmla="*/ 5992596 w 11823192"/>
              <a:gd name="connsiteY53" fmla="*/ 135007 h 3534131"/>
              <a:gd name="connsiteX54" fmla="*/ 5992596 w 11823192"/>
              <a:gd name="connsiteY54" fmla="*/ 663672 h 3534131"/>
              <a:gd name="connsiteX55" fmla="*/ 6544341 w 11823192"/>
              <a:gd name="connsiteY55" fmla="*/ 663672 h 3534131"/>
              <a:gd name="connsiteX56" fmla="*/ 6544341 w 11823192"/>
              <a:gd name="connsiteY56" fmla="*/ 1196125 h 3534131"/>
              <a:gd name="connsiteX57" fmla="*/ 5992596 w 11823192"/>
              <a:gd name="connsiteY57" fmla="*/ 1196125 h 3534131"/>
              <a:gd name="connsiteX58" fmla="*/ 5992596 w 11823192"/>
              <a:gd name="connsiteY58" fmla="*/ 1936772 h 3534131"/>
              <a:gd name="connsiteX59" fmla="*/ 6289650 w 11823192"/>
              <a:gd name="connsiteY59" fmla="*/ 2206787 h 3534131"/>
              <a:gd name="connsiteX60" fmla="*/ 6544341 w 11823192"/>
              <a:gd name="connsiteY60" fmla="*/ 2164425 h 3534131"/>
              <a:gd name="connsiteX61" fmla="*/ 6544341 w 11823192"/>
              <a:gd name="connsiteY61" fmla="*/ 2693089 h 3534131"/>
              <a:gd name="connsiteX62" fmla="*/ 6119855 w 11823192"/>
              <a:gd name="connsiteY62" fmla="*/ 2762487 h 3534131"/>
              <a:gd name="connsiteX63" fmla="*/ 5325128 w 11823192"/>
              <a:gd name="connsiteY63" fmla="*/ 1990844 h 3534131"/>
              <a:gd name="connsiteX64" fmla="*/ 1227678 w 11823192"/>
              <a:gd name="connsiteY64" fmla="*/ 0 h 3534131"/>
              <a:gd name="connsiteX65" fmla="*/ 2639761 w 11823192"/>
              <a:gd name="connsiteY65" fmla="*/ 1381244 h 3534131"/>
              <a:gd name="connsiteX66" fmla="*/ 1227678 w 11823192"/>
              <a:gd name="connsiteY66" fmla="*/ 2762487 h 3534131"/>
              <a:gd name="connsiteX67" fmla="*/ 53840 w 11823192"/>
              <a:gd name="connsiteY67" fmla="*/ 2155714 h 3534131"/>
              <a:gd name="connsiteX68" fmla="*/ 0 w 11823192"/>
              <a:gd name="connsiteY68" fmla="*/ 2068189 h 3534131"/>
              <a:gd name="connsiteX69" fmla="*/ 0 w 11823192"/>
              <a:gd name="connsiteY69" fmla="*/ 694299 h 3534131"/>
              <a:gd name="connsiteX70" fmla="*/ 53840 w 11823192"/>
              <a:gd name="connsiteY70" fmla="*/ 606774 h 3534131"/>
              <a:gd name="connsiteX71" fmla="*/ 1227678 w 11823192"/>
              <a:gd name="connsiteY71" fmla="*/ 0 h 353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cap="flat">
            <a:noFill/>
            <a:prstDash val="solid"/>
            <a:miter/>
          </a:ln>
        </p:spPr>
        <p:txBody>
          <a:bodyPr rtlCol="0" anchor="ctr"/>
          <a:lstStyle/>
          <a:p>
            <a:endParaRPr lang="en-US"/>
          </a:p>
        </p:txBody>
      </p:sp>
      <p:sp>
        <p:nvSpPr>
          <p:cNvPr id="14" name="Boilerplate">
            <a:extLst>
              <a:ext uri="{FF2B5EF4-FFF2-40B4-BE49-F238E27FC236}">
                <a16:creationId xmlns:a16="http://schemas.microsoft.com/office/drawing/2014/main" id="{9EB9C69C-A308-416E-9EF4-CDCBABF60D86}"/>
              </a:ext>
            </a:extLst>
          </p:cNvPr>
          <p:cNvSpPr txBox="1"/>
          <p:nvPr userDrawn="1"/>
        </p:nvSpPr>
        <p:spPr bwMode="gray">
          <a:xfrm>
            <a:off x="3818873" y="5837129"/>
            <a:ext cx="4554255" cy="507831"/>
          </a:xfrm>
          <a:prstGeom prst="rect">
            <a:avLst/>
          </a:prstGeom>
          <a:noFill/>
        </p:spPr>
        <p:txBody>
          <a:bodyPr vert="horz" wrap="square" lIns="0" tIns="0" rIns="0" bIns="0" rtlCol="0">
            <a:spAutoFit/>
          </a:bodyPr>
          <a:lstStyle/>
          <a:p>
            <a:pPr algn="ctr">
              <a:spcBef>
                <a:spcPts val="600"/>
              </a:spcBef>
            </a:pPr>
            <a:r>
              <a:rPr lang="en-US" sz="700" b="0" i="0" u="none" baseline="0">
                <a:solidFill>
                  <a:schemeClr val="tx1"/>
                </a:solidFill>
                <a:latin typeface="+mn-lt"/>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p>
          <a:p>
            <a:pPr algn="ctr">
              <a:spcBef>
                <a:spcPts val="600"/>
              </a:spcBef>
            </a:pPr>
            <a:r>
              <a:rPr lang="en-US" sz="700" b="0" i="0" u="none" baseline="0">
                <a:solidFill>
                  <a:schemeClr val="tx1"/>
                </a:solidFill>
                <a:latin typeface="+mn-lt"/>
              </a:rPr>
              <a:t>© 2026 Optum, Inc. All rights reserved.</a:t>
            </a:r>
          </a:p>
        </p:txBody>
      </p:sp>
    </p:spTree>
    <p:extLst>
      <p:ext uri="{BB962C8B-B14F-4D97-AF65-F5344CB8AC3E}">
        <p14:creationId xmlns:p14="http://schemas.microsoft.com/office/powerpoint/2010/main" val="245047712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       ___       ">
    <p:bg bwMode="gray">
      <p:bgPr>
        <a:solidFill>
          <a:srgbClr val="7030A0"/>
        </a:solidFill>
        <a:effectLst/>
      </p:bgPr>
    </p:bg>
    <p:spTree>
      <p:nvGrpSpPr>
        <p:cNvPr id="1" name=""/>
        <p:cNvGrpSpPr/>
        <p:nvPr/>
      </p:nvGrpSpPr>
      <p:grpSpPr>
        <a:xfrm>
          <a:off x="0" y="0"/>
          <a:ext cx="0" cy="0"/>
          <a:chOff x="0" y="0"/>
          <a:chExt cx="0" cy="0"/>
        </a:xfrm>
      </p:grpSpPr>
      <p:sp>
        <p:nvSpPr>
          <p:cNvPr id="11" name="TextBox 1">
            <a:extLst>
              <a:ext uri="{FF2B5EF4-FFF2-40B4-BE49-F238E27FC236}">
                <a16:creationId xmlns:a16="http://schemas.microsoft.com/office/drawing/2014/main" id="{B0B3D229-4274-4EDF-910A-B6C2E87EC949}"/>
              </a:ext>
            </a:extLst>
          </p:cNvPr>
          <p:cNvSpPr txBox="1"/>
          <p:nvPr userDrawn="1"/>
        </p:nvSpPr>
        <p:spPr bwMode="gray">
          <a:xfrm>
            <a:off x="742998" y="312763"/>
            <a:ext cx="9891327" cy="6232475"/>
          </a:xfrm>
          <a:prstGeom prst="rect">
            <a:avLst/>
          </a:prstGeom>
          <a:noFill/>
        </p:spPr>
        <p:txBody>
          <a:bodyPr wrap="square" lIns="0" tIns="0" rIns="0" bIns="0" rtlCol="0">
            <a:spAutoFit/>
          </a:bodyPr>
          <a:lstStyle/>
          <a:p>
            <a:pPr>
              <a:lnSpc>
                <a:spcPct val="90000"/>
              </a:lnSpc>
              <a:spcBef>
                <a:spcPts val="0"/>
              </a:spcBef>
            </a:pPr>
            <a:r>
              <a:rPr lang="en-US" sz="15000" b="1">
                <a:solidFill>
                  <a:schemeClr val="bg1"/>
                </a:solidFill>
              </a:rPr>
              <a:t>Layouts not for use.</a:t>
            </a:r>
          </a:p>
        </p:txBody>
      </p:sp>
      <p:cxnSp>
        <p:nvCxnSpPr>
          <p:cNvPr id="4" name="Arrow">
            <a:extLst>
              <a:ext uri="{FF2B5EF4-FFF2-40B4-BE49-F238E27FC236}">
                <a16:creationId xmlns:a16="http://schemas.microsoft.com/office/drawing/2014/main" id="{F3C0B7D9-B70B-4C5C-87F9-2330B866F444}"/>
              </a:ext>
              <a:ext uri="{C183D7F6-B498-43B3-948B-1728B52AA6E4}">
                <adec:decorative xmlns:adec="http://schemas.microsoft.com/office/drawing/2017/decorative" val="1"/>
              </a:ext>
            </a:extLst>
          </p:cNvPr>
          <p:cNvCxnSpPr>
            <a:cxnSpLocks/>
          </p:cNvCxnSpPr>
          <p:nvPr userDrawn="1"/>
        </p:nvCxnSpPr>
        <p:spPr bwMode="gray">
          <a:xfrm>
            <a:off x="9497148" y="3429000"/>
            <a:ext cx="1951854" cy="0"/>
          </a:xfrm>
          <a:prstGeom prst="line">
            <a:avLst/>
          </a:prstGeom>
          <a:ln w="317500" cap="rnd">
            <a:solidFill>
              <a:schemeClr val="bg1"/>
            </a:solidFill>
            <a:round/>
            <a:tailEnd type="arrow"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3491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2.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39" Type="http://schemas.openxmlformats.org/officeDocument/2006/relationships/slideLayout" Target="../slideLayouts/slideLayout113.xml"/><Relationship Id="rId21" Type="http://schemas.openxmlformats.org/officeDocument/2006/relationships/slideLayout" Target="../slideLayouts/slideLayout95.xml"/><Relationship Id="rId34" Type="http://schemas.openxmlformats.org/officeDocument/2006/relationships/slideLayout" Target="../slideLayouts/slideLayout108.xml"/><Relationship Id="rId42" Type="http://schemas.openxmlformats.org/officeDocument/2006/relationships/slideLayout" Target="../slideLayouts/slideLayout116.xml"/><Relationship Id="rId47" Type="http://schemas.openxmlformats.org/officeDocument/2006/relationships/slideLayout" Target="../slideLayouts/slideLayout121.xml"/><Relationship Id="rId50" Type="http://schemas.openxmlformats.org/officeDocument/2006/relationships/slideLayout" Target="../slideLayouts/slideLayout124.xml"/><Relationship Id="rId55" Type="http://schemas.openxmlformats.org/officeDocument/2006/relationships/slideLayout" Target="../slideLayouts/slideLayout129.xml"/><Relationship Id="rId63" Type="http://schemas.openxmlformats.org/officeDocument/2006/relationships/slideLayout" Target="../slideLayouts/slideLayout137.xml"/><Relationship Id="rId7" Type="http://schemas.openxmlformats.org/officeDocument/2006/relationships/slideLayout" Target="../slideLayouts/slideLayout8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slideLayout" Target="../slideLayouts/slideLayout103.xml"/><Relationship Id="rId41" Type="http://schemas.openxmlformats.org/officeDocument/2006/relationships/slideLayout" Target="../slideLayouts/slideLayout115.xml"/><Relationship Id="rId54" Type="http://schemas.openxmlformats.org/officeDocument/2006/relationships/slideLayout" Target="../slideLayouts/slideLayout128.xml"/><Relationship Id="rId62" Type="http://schemas.openxmlformats.org/officeDocument/2006/relationships/slideLayout" Target="../slideLayouts/slideLayout13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slideLayout" Target="../slideLayouts/slideLayout106.xml"/><Relationship Id="rId37" Type="http://schemas.openxmlformats.org/officeDocument/2006/relationships/slideLayout" Target="../slideLayouts/slideLayout111.xml"/><Relationship Id="rId40" Type="http://schemas.openxmlformats.org/officeDocument/2006/relationships/slideLayout" Target="../slideLayouts/slideLayout114.xml"/><Relationship Id="rId45" Type="http://schemas.openxmlformats.org/officeDocument/2006/relationships/slideLayout" Target="../slideLayouts/slideLayout119.xml"/><Relationship Id="rId53" Type="http://schemas.openxmlformats.org/officeDocument/2006/relationships/slideLayout" Target="../slideLayouts/slideLayout127.xml"/><Relationship Id="rId58" Type="http://schemas.openxmlformats.org/officeDocument/2006/relationships/slideLayout" Target="../slideLayouts/slideLayout132.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slideLayout" Target="../slideLayouts/slideLayout110.xml"/><Relationship Id="rId49" Type="http://schemas.openxmlformats.org/officeDocument/2006/relationships/slideLayout" Target="../slideLayouts/slideLayout123.xml"/><Relationship Id="rId57" Type="http://schemas.openxmlformats.org/officeDocument/2006/relationships/slideLayout" Target="../slideLayouts/slideLayout131.xml"/><Relationship Id="rId61" Type="http://schemas.openxmlformats.org/officeDocument/2006/relationships/slideLayout" Target="../slideLayouts/slideLayout135.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4" Type="http://schemas.openxmlformats.org/officeDocument/2006/relationships/slideLayout" Target="../slideLayouts/slideLayout118.xml"/><Relationship Id="rId52" Type="http://schemas.openxmlformats.org/officeDocument/2006/relationships/slideLayout" Target="../slideLayouts/slideLayout126.xml"/><Relationship Id="rId60" Type="http://schemas.openxmlformats.org/officeDocument/2006/relationships/slideLayout" Target="../slideLayouts/slideLayout134.xml"/><Relationship Id="rId65" Type="http://schemas.openxmlformats.org/officeDocument/2006/relationships/image" Target="../media/image1.svg"/><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slideLayout" Target="../slideLayouts/slideLayout109.xml"/><Relationship Id="rId43" Type="http://schemas.openxmlformats.org/officeDocument/2006/relationships/slideLayout" Target="../slideLayouts/slideLayout117.xml"/><Relationship Id="rId48" Type="http://schemas.openxmlformats.org/officeDocument/2006/relationships/slideLayout" Target="../slideLayouts/slideLayout122.xml"/><Relationship Id="rId56" Type="http://schemas.openxmlformats.org/officeDocument/2006/relationships/slideLayout" Target="../slideLayouts/slideLayout130.xml"/><Relationship Id="rId64" Type="http://schemas.openxmlformats.org/officeDocument/2006/relationships/theme" Target="../theme/theme3.xml"/><Relationship Id="rId8" Type="http://schemas.openxmlformats.org/officeDocument/2006/relationships/slideLayout" Target="../slideLayouts/slideLayout82.xml"/><Relationship Id="rId51" Type="http://schemas.openxmlformats.org/officeDocument/2006/relationships/slideLayout" Target="../slideLayouts/slideLayout125.xml"/><Relationship Id="rId3" Type="http://schemas.openxmlformats.org/officeDocument/2006/relationships/slideLayout" Target="../slideLayouts/slideLayout77.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slideLayout" Target="../slideLayouts/slideLayout107.xml"/><Relationship Id="rId38" Type="http://schemas.openxmlformats.org/officeDocument/2006/relationships/slideLayout" Target="../slideLayouts/slideLayout112.xml"/><Relationship Id="rId46" Type="http://schemas.openxmlformats.org/officeDocument/2006/relationships/slideLayout" Target="../slideLayouts/slideLayout120.xml"/><Relationship Id="rId59"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16AB501-2D32-4243-9F5D-C56CB3493024}"/>
              </a:ext>
            </a:extLst>
          </p:cNvPr>
          <p:cNvSpPr>
            <a:spLocks noGrp="1"/>
          </p:cNvSpPr>
          <p:nvPr>
            <p:ph type="title"/>
          </p:nvPr>
        </p:nvSpPr>
        <p:spPr bwMode="gray">
          <a:xfrm>
            <a:off x="467926" y="555639"/>
            <a:ext cx="9601200" cy="304699"/>
          </a:xfrm>
          <a:prstGeom prst="rect">
            <a:avLst/>
          </a:prstGeom>
        </p:spPr>
        <p:txBody>
          <a:bodyPr vert="horz" wrap="square" lIns="0" tIns="0" rIns="0" bIns="0" rtlCol="0" anchor="t" anchorCtr="0">
            <a:spAutoFit/>
          </a:bodyPr>
          <a:lstStyle/>
          <a:p>
            <a:r>
              <a:rPr lang="en-US"/>
              <a:t>Click to edit Primary title style</a:t>
            </a:r>
          </a:p>
        </p:txBody>
      </p:sp>
      <p:sp>
        <p:nvSpPr>
          <p:cNvPr id="3" name="Text Placeholder">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Primary text styles</a:t>
            </a:r>
          </a:p>
          <a:p>
            <a:pPr lvl="1"/>
            <a:r>
              <a:rPr lang="en-US"/>
              <a:t>Second level</a:t>
            </a:r>
          </a:p>
          <a:p>
            <a:pPr lvl="2"/>
            <a:r>
              <a:rPr lang="en-US"/>
              <a:t>Third level</a:t>
            </a:r>
          </a:p>
          <a:p>
            <a:pPr lvl="3"/>
            <a:r>
              <a:rPr lang="en-US"/>
              <a:t>Fourth level</a:t>
            </a:r>
          </a:p>
          <a:p>
            <a:pPr lvl="4"/>
            <a:r>
              <a:rPr lang="en-US"/>
              <a:t>Fifth level</a:t>
            </a:r>
          </a:p>
          <a:p>
            <a:pPr lvl="4"/>
            <a:r>
              <a:rPr lang="en-US"/>
              <a:t>Sixth level</a:t>
            </a:r>
          </a:p>
          <a:p>
            <a:pPr lvl="4"/>
            <a:r>
              <a:rPr lang="en-US"/>
              <a:t>Seventh level</a:t>
            </a:r>
          </a:p>
          <a:p>
            <a:pPr lvl="4"/>
            <a:r>
              <a:rPr lang="en-US"/>
              <a:t>Eighth level</a:t>
            </a:r>
          </a:p>
          <a:p>
            <a:pPr lvl="4"/>
            <a:r>
              <a:rPr lang="en-US"/>
              <a:t>Nineth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2026 Optum, Inc. All rights reserved.</a:t>
            </a:r>
          </a:p>
        </p:txBody>
      </p:sp>
      <p:sp>
        <p:nvSpPr>
          <p:cNvPr id="5" name="Footer Placeholder">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830A57F3-210F-48D5-90D0-3AA9C6D87045}" type="datetime1">
              <a:rPr lang="en-US" smtClean="0"/>
              <a:t>7/18/2026</a:t>
            </a:fld>
            <a:endParaRPr lang="en-US"/>
          </a:p>
        </p:txBody>
      </p:sp>
    </p:spTree>
    <p:extLst>
      <p:ext uri="{BB962C8B-B14F-4D97-AF65-F5344CB8AC3E}">
        <p14:creationId xmlns:p14="http://schemas.microsoft.com/office/powerpoint/2010/main" val="12510337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sldNum="0" hdr="0" ftr="0" dt="0"/>
  <p:txStyles>
    <p:titleStyle>
      <a:lvl1pPr algn="l" defTabSz="914400" rtl="0" eaLnBrk="1" latinLnBrk="0" hangingPunct="1">
        <a:lnSpc>
          <a:spcPct val="90000"/>
        </a:lnSpc>
        <a:spcBef>
          <a:spcPct val="0"/>
        </a:spcBef>
        <a:buNone/>
        <a:defRPr sz="2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7/18/2026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36401672"/>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16AB501-2D32-4243-9F5D-C56CB3493024}"/>
              </a:ext>
            </a:extLst>
          </p:cNvPr>
          <p:cNvSpPr>
            <a:spLocks noGrp="1"/>
          </p:cNvSpPr>
          <p:nvPr>
            <p:ph type="title"/>
          </p:nvPr>
        </p:nvSpPr>
        <p:spPr bwMode="gray">
          <a:xfrm>
            <a:off x="467926" y="555639"/>
            <a:ext cx="9601200" cy="304699"/>
          </a:xfrm>
          <a:prstGeom prst="rect">
            <a:avLst/>
          </a:prstGeom>
        </p:spPr>
        <p:txBody>
          <a:bodyPr vert="horz" wrap="square" lIns="0" tIns="0" rIns="0" bIns="0" rtlCol="0" anchor="t" anchorCtr="0">
            <a:spAutoFit/>
          </a:bodyPr>
          <a:lstStyle/>
          <a:p>
            <a:r>
              <a:rPr lang="en-US"/>
              <a:t>Click to edit Primary title style</a:t>
            </a:r>
          </a:p>
        </p:txBody>
      </p:sp>
      <p:sp>
        <p:nvSpPr>
          <p:cNvPr id="3" name="Text Placeholder">
            <a:extLst>
              <a:ext uri="{FF2B5EF4-FFF2-40B4-BE49-F238E27FC236}">
                <a16:creationId xmlns:a16="http://schemas.microsoft.com/office/drawing/2014/main" id="{68E17BD5-C929-47AD-BA00-6B31C4591E22}"/>
              </a:ext>
            </a:extLst>
          </p:cNvPr>
          <p:cNvSpPr>
            <a:spLocks noGrp="1"/>
          </p:cNvSpPr>
          <p:nvPr>
            <p:ph type="body" idx="1"/>
          </p:nvPr>
        </p:nvSpPr>
        <p:spPr bwMode="gray">
          <a:xfrm>
            <a:off x="1524000" y="1468197"/>
            <a:ext cx="9144000" cy="3930085"/>
          </a:xfrm>
          <a:prstGeom prst="rect">
            <a:avLst/>
          </a:prstGeom>
        </p:spPr>
        <p:txBody>
          <a:bodyPr vert="horz" lIns="0" tIns="0" rIns="0" bIns="0" rtlCol="0">
            <a:normAutofit/>
          </a:bodyPr>
          <a:lstStyle/>
          <a:p>
            <a:pPr lvl="0"/>
            <a:r>
              <a:rPr lang="en-US"/>
              <a:t>Click to edit Primary text styles</a:t>
            </a:r>
          </a:p>
          <a:p>
            <a:pPr lvl="1"/>
            <a:r>
              <a:rPr lang="en-US"/>
              <a:t>Second level</a:t>
            </a:r>
          </a:p>
          <a:p>
            <a:pPr lvl="2"/>
            <a:r>
              <a:rPr lang="en-US"/>
              <a:t>Third level</a:t>
            </a:r>
          </a:p>
          <a:p>
            <a:pPr lvl="3"/>
            <a:r>
              <a:rPr lang="en-US"/>
              <a:t>Fourth level</a:t>
            </a:r>
          </a:p>
          <a:p>
            <a:pPr lvl="4"/>
            <a:r>
              <a:rPr lang="en-US"/>
              <a:t>Fifth level</a:t>
            </a:r>
          </a:p>
          <a:p>
            <a:pPr lvl="4"/>
            <a:r>
              <a:rPr lang="en-US"/>
              <a:t>Sixth level</a:t>
            </a:r>
          </a:p>
          <a:p>
            <a:pPr lvl="4"/>
            <a:r>
              <a:rPr lang="en-US"/>
              <a:t>Seventh level</a:t>
            </a:r>
          </a:p>
          <a:p>
            <a:pPr lvl="4"/>
            <a:r>
              <a:rPr lang="en-US"/>
              <a:t>Eighth level</a:t>
            </a:r>
          </a:p>
          <a:p>
            <a:pPr lvl="4"/>
            <a:r>
              <a:rPr lang="en-US"/>
              <a:t>Nineth level</a:t>
            </a:r>
          </a:p>
        </p:txBody>
      </p:sp>
      <p:pic>
        <p:nvPicPr>
          <p:cNvPr id="13" name="Optum Logo" descr="Optum">
            <a:extLst>
              <a:ext uri="{FF2B5EF4-FFF2-40B4-BE49-F238E27FC236}">
                <a16:creationId xmlns:a16="http://schemas.microsoft.com/office/drawing/2014/main" id="{EDF4E185-2777-43CD-A55D-4A19FED186A6}"/>
              </a:ext>
              <a:ext uri="{C183D7F6-B498-43B3-948B-1728B52AA6E4}">
                <adec:decorative xmlns:adec="http://schemas.microsoft.com/office/drawing/2017/decorative" val="0"/>
              </a:ext>
            </a:extLst>
          </p:cNvPr>
          <p:cNvPicPr>
            <a:picLocks noRot="1" noChangeAspect="1" noMove="1" noResize="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bwMode="gray">
          <a:xfrm>
            <a:off x="461961" y="6343650"/>
            <a:ext cx="773055" cy="223837"/>
          </a:xfrm>
          <a:prstGeom prst="rect">
            <a:avLst/>
          </a:prstGeom>
        </p:spPr>
      </p:pic>
      <p:sp>
        <p:nvSpPr>
          <p:cNvPr id="11" name="Page Number">
            <a:extLst>
              <a:ext uri="{FF2B5EF4-FFF2-40B4-BE49-F238E27FC236}">
                <a16:creationId xmlns:a16="http://schemas.microsoft.com/office/drawing/2014/main" id="{43B6C28E-DF9A-44F3-A9C1-829C74510E39}"/>
              </a:ext>
            </a:extLst>
          </p:cNvPr>
          <p:cNvSpPr txBox="1"/>
          <p:nvPr userDrawn="1"/>
        </p:nvSpPr>
        <p:spPr bwMode="gray">
          <a:xfrm>
            <a:off x="11576115" y="6394249"/>
            <a:ext cx="157094" cy="153888"/>
          </a:xfrm>
          <a:prstGeom prst="rect">
            <a:avLst/>
          </a:prstGeom>
          <a:noFill/>
        </p:spPr>
        <p:txBody>
          <a:bodyPr wrap="none" lIns="0" tIns="0" rIns="0" bIns="0" rtlCol="0">
            <a:spAutoFit/>
          </a:bodyPr>
          <a:lstStyle/>
          <a:p>
            <a:pPr algn="r"/>
            <a:fld id="{F5A598C3-6D56-4DAD-9460-40026567CEE1}" type="slidenum">
              <a:rPr lang="en-US" sz="1000" b="1" smtClean="0">
                <a:solidFill>
                  <a:schemeClr val="tx1"/>
                </a:solidFill>
              </a:rPr>
              <a:pPr algn="r"/>
              <a:t>‹#›</a:t>
            </a:fld>
            <a:endParaRPr lang="en-US" sz="1000" b="1">
              <a:solidFill>
                <a:schemeClr val="tx1"/>
              </a:solidFill>
            </a:endParaRPr>
          </a:p>
        </p:txBody>
      </p:sp>
      <p:sp>
        <p:nvSpPr>
          <p:cNvPr id="14" name="Copyright">
            <a:extLst>
              <a:ext uri="{FF2B5EF4-FFF2-40B4-BE49-F238E27FC236}">
                <a16:creationId xmlns:a16="http://schemas.microsoft.com/office/drawing/2014/main" id="{60BE7E32-782B-4635-9369-4283481B5B95}"/>
              </a:ext>
            </a:extLst>
          </p:cNvPr>
          <p:cNvSpPr txBox="1"/>
          <p:nvPr userDrawn="1"/>
        </p:nvSpPr>
        <p:spPr bwMode="gray">
          <a:xfrm>
            <a:off x="4699002" y="6431633"/>
            <a:ext cx="2793997" cy="107722"/>
          </a:xfrm>
          <a:prstGeom prst="rect">
            <a:avLst/>
          </a:prstGeom>
          <a:noFill/>
        </p:spPr>
        <p:txBody>
          <a:bodyPr wrap="square" lIns="0" tIns="0" rIns="0" bIns="0" rtlCol="0">
            <a:spAutoFit/>
          </a:bodyPr>
          <a:lstStyle/>
          <a:p>
            <a:pPr algn="ctr"/>
            <a:r>
              <a:rPr lang="en-US" sz="700" b="0" spc="0" baseline="0">
                <a:solidFill>
                  <a:schemeClr val="tx1"/>
                </a:solidFill>
              </a:rPr>
              <a:t>© 2026 Optum, Inc. All rights reserved.</a:t>
            </a:r>
          </a:p>
        </p:txBody>
      </p:sp>
      <p:sp>
        <p:nvSpPr>
          <p:cNvPr id="5" name="Footer Placeholder">
            <a:extLst>
              <a:ext uri="{FF2B5EF4-FFF2-40B4-BE49-F238E27FC236}">
                <a16:creationId xmlns:a16="http://schemas.microsoft.com/office/drawing/2014/main" id="{C134DC45-7B06-4349-A773-6C8765250867}"/>
              </a:ext>
            </a:extLst>
          </p:cNvPr>
          <p:cNvSpPr>
            <a:spLocks noGrp="1"/>
          </p:cNvSpPr>
          <p:nvPr>
            <p:ph type="ftr" sz="quarter" idx="3"/>
          </p:nvPr>
        </p:nvSpPr>
        <p:spPr bwMode="gray">
          <a:xfrm>
            <a:off x="0" y="7120415"/>
            <a:ext cx="1155766" cy="30778"/>
          </a:xfrm>
          <a:prstGeom prst="rect">
            <a:avLst/>
          </a:prstGeom>
        </p:spPr>
        <p:txBody>
          <a:bodyPr vert="horz" wrap="none" lIns="0" tIns="0" rIns="0" bIns="0" rtlCol="0" anchor="ctr">
            <a:spAutoFit/>
          </a:bodyPr>
          <a:lstStyle>
            <a:lvl1pPr algn="l">
              <a:defRPr sz="200" spc="0" baseline="0">
                <a:solidFill>
                  <a:schemeClr val="tx1"/>
                </a:solidFill>
              </a:defRPr>
            </a:lvl1pPr>
          </a:lstStyle>
          <a:p>
            <a:r>
              <a:rPr lang="en-US"/>
              <a:t>Confidential property of Optum. Do not distribute or reproduce without express permission from Optum.</a:t>
            </a:r>
          </a:p>
        </p:txBody>
      </p:sp>
      <p:sp>
        <p:nvSpPr>
          <p:cNvPr id="6" name="Slide Number Placeholder">
            <a:extLst>
              <a:ext uri="{FF2B5EF4-FFF2-40B4-BE49-F238E27FC236}">
                <a16:creationId xmlns:a16="http://schemas.microsoft.com/office/drawing/2014/main" id="{0C930D79-CD36-49F3-BF41-A3B38F3193DB}"/>
              </a:ext>
            </a:extLst>
          </p:cNvPr>
          <p:cNvSpPr>
            <a:spLocks noGrp="1"/>
          </p:cNvSpPr>
          <p:nvPr>
            <p:ph type="sldNum" sz="quarter" idx="4"/>
          </p:nvPr>
        </p:nvSpPr>
        <p:spPr bwMode="gray">
          <a:xfrm>
            <a:off x="0" y="7221433"/>
            <a:ext cx="914400" cy="30778"/>
          </a:xfrm>
          <a:prstGeom prst="rect">
            <a:avLst/>
          </a:prstGeom>
        </p:spPr>
        <p:txBody>
          <a:bodyPr vert="horz" lIns="0" tIns="0" rIns="0" bIns="0" rtlCol="0" anchor="ctr">
            <a:spAutoFit/>
          </a:bodyPr>
          <a:lstStyle>
            <a:lvl1pPr algn="l">
              <a:defRPr sz="200">
                <a:solidFill>
                  <a:schemeClr val="tx1"/>
                </a:solidFill>
              </a:defRPr>
            </a:lvl1pPr>
          </a:lstStyle>
          <a:p>
            <a:fld id="{03805D93-7D4B-4CBC-BABC-3A8AC08CB7F4}" type="slidenum">
              <a:rPr lang="en-US" smtClean="0"/>
              <a:pPr/>
              <a:t>‹#›</a:t>
            </a:fld>
            <a:endParaRPr lang="en-US"/>
          </a:p>
        </p:txBody>
      </p:sp>
      <p:sp>
        <p:nvSpPr>
          <p:cNvPr id="4" name="Date Placeholder">
            <a:extLst>
              <a:ext uri="{FF2B5EF4-FFF2-40B4-BE49-F238E27FC236}">
                <a16:creationId xmlns:a16="http://schemas.microsoft.com/office/drawing/2014/main" id="{CF36062A-1655-4530-ACBD-3C58ED2B33A6}"/>
              </a:ext>
              <a:ext uri="{C183D7F6-B498-43B3-948B-1728B52AA6E4}">
                <adec:decorative xmlns:adec="http://schemas.microsoft.com/office/drawing/2017/decorative" val="0"/>
              </a:ext>
            </a:extLst>
          </p:cNvPr>
          <p:cNvSpPr>
            <a:spLocks noGrp="1"/>
          </p:cNvSpPr>
          <p:nvPr>
            <p:ph type="dt" sz="half" idx="2"/>
          </p:nvPr>
        </p:nvSpPr>
        <p:spPr bwMode="gray">
          <a:xfrm>
            <a:off x="0" y="7170924"/>
            <a:ext cx="914400" cy="30778"/>
          </a:xfrm>
          <a:prstGeom prst="rect">
            <a:avLst/>
          </a:prstGeom>
        </p:spPr>
        <p:txBody>
          <a:bodyPr vert="horz" lIns="0" tIns="0" rIns="0" bIns="0" rtlCol="0" anchor="ctr">
            <a:spAutoFit/>
          </a:bodyPr>
          <a:lstStyle>
            <a:lvl1pPr algn="l">
              <a:defRPr sz="200">
                <a:solidFill>
                  <a:schemeClr val="tx1"/>
                </a:solidFill>
              </a:defRPr>
            </a:lvl1pPr>
          </a:lstStyle>
          <a:p>
            <a:fld id="{830A57F3-210F-48D5-90D0-3AA9C6D87045}" type="datetime1">
              <a:rPr lang="en-US" smtClean="0"/>
              <a:t>7/18/2026</a:t>
            </a:fld>
            <a:endParaRPr lang="en-US"/>
          </a:p>
        </p:txBody>
      </p:sp>
    </p:spTree>
    <p:extLst>
      <p:ext uri="{BB962C8B-B14F-4D97-AF65-F5344CB8AC3E}">
        <p14:creationId xmlns:p14="http://schemas.microsoft.com/office/powerpoint/2010/main" val="207153498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776" r:id="rId40"/>
    <p:sldLayoutId id="2147483777" r:id="rId41"/>
    <p:sldLayoutId id="2147483778" r:id="rId42"/>
    <p:sldLayoutId id="2147483779" r:id="rId43"/>
    <p:sldLayoutId id="2147483780" r:id="rId44"/>
    <p:sldLayoutId id="2147483781" r:id="rId45"/>
    <p:sldLayoutId id="2147483782" r:id="rId46"/>
    <p:sldLayoutId id="2147483783" r:id="rId47"/>
    <p:sldLayoutId id="2147483784" r:id="rId48"/>
    <p:sldLayoutId id="2147483785" r:id="rId49"/>
    <p:sldLayoutId id="2147483786" r:id="rId50"/>
    <p:sldLayoutId id="2147483787" r:id="rId51"/>
    <p:sldLayoutId id="2147483788" r:id="rId52"/>
    <p:sldLayoutId id="2147483789" r:id="rId53"/>
    <p:sldLayoutId id="2147483790" r:id="rId54"/>
    <p:sldLayoutId id="2147483791" r:id="rId55"/>
    <p:sldLayoutId id="2147483792" r:id="rId56"/>
    <p:sldLayoutId id="2147483793" r:id="rId57"/>
    <p:sldLayoutId id="2147483794" r:id="rId58"/>
    <p:sldLayoutId id="2147483795" r:id="rId59"/>
    <p:sldLayoutId id="2147483796" r:id="rId60"/>
    <p:sldLayoutId id="2147483797" r:id="rId61"/>
    <p:sldLayoutId id="2147483798" r:id="rId62"/>
    <p:sldLayoutId id="2147483799" r:id="rId63"/>
  </p:sldLayoutIdLst>
  <p:hf sldNum="0" hdr="0" ftr="0" dt="0"/>
  <p:txStyles>
    <p:titleStyle>
      <a:lvl1pPr algn="l" defTabSz="914400" rtl="0" eaLnBrk="1" latinLnBrk="0" hangingPunct="1">
        <a:lnSpc>
          <a:spcPct val="90000"/>
        </a:lnSpc>
        <a:spcBef>
          <a:spcPct val="0"/>
        </a:spcBef>
        <a:buNone/>
        <a:defRPr sz="22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300" kern="1200">
          <a:solidFill>
            <a:schemeClr val="tx1"/>
          </a:solidFill>
          <a:latin typeface="+mn-lt"/>
          <a:ea typeface="+mn-ea"/>
          <a:cs typeface="+mn-cs"/>
        </a:defRPr>
      </a:lvl1pPr>
      <a:lvl2pPr marL="0" algn="l" defTabSz="914400" rtl="0" eaLnBrk="1" latinLnBrk="0" hangingPunct="1">
        <a:defRPr sz="1300" kern="1200">
          <a:solidFill>
            <a:schemeClr val="tx1"/>
          </a:solidFill>
          <a:latin typeface="+mn-lt"/>
          <a:ea typeface="+mn-ea"/>
          <a:cs typeface="+mn-cs"/>
        </a:defRPr>
      </a:lvl2pPr>
      <a:lvl3pPr marL="0" algn="l" defTabSz="914400" rtl="0" eaLnBrk="1" latinLnBrk="0" hangingPunct="1">
        <a:defRPr sz="1300" kern="1200">
          <a:solidFill>
            <a:schemeClr val="tx1"/>
          </a:solidFill>
          <a:latin typeface="+mn-lt"/>
          <a:ea typeface="+mn-ea"/>
          <a:cs typeface="+mn-cs"/>
        </a:defRPr>
      </a:lvl3pPr>
      <a:lvl4pPr marL="0" algn="l" defTabSz="914400" rtl="0" eaLnBrk="1" latinLnBrk="0" hangingPunct="1">
        <a:defRPr sz="1300" kern="1200">
          <a:solidFill>
            <a:schemeClr val="tx1"/>
          </a:solidFill>
          <a:latin typeface="+mn-lt"/>
          <a:ea typeface="+mn-ea"/>
          <a:cs typeface="+mn-cs"/>
        </a:defRPr>
      </a:lvl4pPr>
      <a:lvl5pPr marL="0" algn="l" defTabSz="914400" rtl="0" eaLnBrk="1" latinLnBrk="0" hangingPunct="1">
        <a:defRPr sz="1300" kern="1200">
          <a:solidFill>
            <a:schemeClr val="tx1"/>
          </a:solidFill>
          <a:latin typeface="+mn-lt"/>
          <a:ea typeface="+mn-ea"/>
          <a:cs typeface="+mn-cs"/>
        </a:defRPr>
      </a:lvl5pPr>
      <a:lvl6pPr marL="0" algn="l" defTabSz="914400" rtl="0" eaLnBrk="1" latinLnBrk="0" hangingPunct="1">
        <a:defRPr sz="1300" kern="1200">
          <a:solidFill>
            <a:schemeClr val="tx1"/>
          </a:solidFill>
          <a:latin typeface="+mn-lt"/>
          <a:ea typeface="+mn-ea"/>
          <a:cs typeface="+mn-cs"/>
        </a:defRPr>
      </a:lvl6pPr>
      <a:lvl7pPr marL="0" algn="l" defTabSz="914400" rtl="0" eaLnBrk="1" latinLnBrk="0" hangingPunct="1">
        <a:defRPr sz="1300" kern="1200">
          <a:solidFill>
            <a:schemeClr val="tx1"/>
          </a:solidFill>
          <a:latin typeface="+mn-lt"/>
          <a:ea typeface="+mn-ea"/>
          <a:cs typeface="+mn-cs"/>
        </a:defRPr>
      </a:lvl7pPr>
      <a:lvl8pPr marL="0" algn="l" defTabSz="914400" rtl="0" eaLnBrk="1" latinLnBrk="0" hangingPunct="1">
        <a:defRPr sz="1300" kern="1200">
          <a:solidFill>
            <a:schemeClr val="tx1"/>
          </a:solidFill>
          <a:latin typeface="+mn-lt"/>
          <a:ea typeface="+mn-ea"/>
          <a:cs typeface="+mn-cs"/>
        </a:defRPr>
      </a:lvl8pPr>
      <a:lvl9pPr marL="0" algn="l" defTabSz="91440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88">
          <p15:clr>
            <a:srgbClr val="C35EA4"/>
          </p15:clr>
        </p15:guide>
        <p15:guide id="4" pos="7390">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24.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sv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7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http://www.uhc.com/" TargetMode="External"/><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4.xml"/><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29.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4.xml"/><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2.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0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2.png"/><Relationship Id="rId1" Type="http://schemas.openxmlformats.org/officeDocument/2006/relationships/slideLayout" Target="../slideLayouts/slideLayout24.xml"/><Relationship Id="rId6" Type="http://schemas.openxmlformats.org/officeDocument/2006/relationships/image" Target="../media/image31.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4.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4.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6" Type="http://schemas.openxmlformats.org/officeDocument/2006/relationships/image" Target="../media/image45.png"/><Relationship Id="rId5" Type="http://schemas.microsoft.com/office/2007/relationships/hdphoto" Target="../media/hdphoto2.wdp"/><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6" Type="http://schemas.openxmlformats.org/officeDocument/2006/relationships/image" Target="../media/image46.png"/><Relationship Id="rId5" Type="http://schemas.microsoft.com/office/2007/relationships/hdphoto" Target="../media/hdphoto2.wdp"/><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3.png"/><Relationship Id="rId1" Type="http://schemas.openxmlformats.org/officeDocument/2006/relationships/slideLayout" Target="../slideLayouts/slideLayout24.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4.xml"/><Relationship Id="rId6" Type="http://schemas.openxmlformats.org/officeDocument/2006/relationships/image" Target="../media/image52.png"/><Relationship Id="rId5" Type="http://schemas.openxmlformats.org/officeDocument/2006/relationships/image" Target="../media/image46.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51.png"/><Relationship Id="rId1" Type="http://schemas.openxmlformats.org/officeDocument/2006/relationships/slideLayout" Target="../slideLayouts/slideLayout24.xml"/><Relationship Id="rId5" Type="http://schemas.openxmlformats.org/officeDocument/2006/relationships/image" Target="../media/image29.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7.png"/><Relationship Id="rId1" Type="http://schemas.openxmlformats.org/officeDocument/2006/relationships/slideLayout" Target="../slideLayouts/slideLayout24.xml"/><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4.xml"/><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4.xml"/><Relationship Id="rId5" Type="http://schemas.openxmlformats.org/officeDocument/2006/relationships/image" Target="../media/image62.png"/><Relationship Id="rId4"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C5E97-399C-BAA2-0B56-F065672CA78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31588AF-EC8D-B66D-B867-06B37A761689}"/>
              </a:ext>
            </a:extLst>
          </p:cNvPr>
          <p:cNvSpPr>
            <a:spLocks noGrp="1"/>
          </p:cNvSpPr>
          <p:nvPr>
            <p:ph type="title"/>
          </p:nvPr>
        </p:nvSpPr>
        <p:spPr>
          <a:xfrm>
            <a:off x="2187967" y="2454381"/>
            <a:ext cx="7772400" cy="1661993"/>
          </a:xfrm>
        </p:spPr>
        <p:txBody>
          <a:bodyPr/>
          <a:lstStyle/>
          <a:p>
            <a:r>
              <a:rPr lang="en-US"/>
              <a:t>Communication Aptitude Test (CAT)</a:t>
            </a:r>
          </a:p>
        </p:txBody>
      </p:sp>
      <p:sp>
        <p:nvSpPr>
          <p:cNvPr id="10" name="Text Placeholder 9">
            <a:extLst>
              <a:ext uri="{FF2B5EF4-FFF2-40B4-BE49-F238E27FC236}">
                <a16:creationId xmlns:a16="http://schemas.microsoft.com/office/drawing/2014/main" id="{E1FE0105-1327-04BA-5272-7677E2CA5795}"/>
              </a:ext>
            </a:extLst>
          </p:cNvPr>
          <p:cNvSpPr>
            <a:spLocks noGrp="1"/>
          </p:cNvSpPr>
          <p:nvPr>
            <p:ph type="body" sz="quarter" idx="11"/>
          </p:nvPr>
        </p:nvSpPr>
        <p:spPr>
          <a:xfrm>
            <a:off x="2187967" y="5334953"/>
            <a:ext cx="4572000" cy="215444"/>
          </a:xfrm>
        </p:spPr>
        <p:txBody>
          <a:bodyPr/>
          <a:lstStyle/>
          <a:p>
            <a:r>
              <a:rPr lang="en-US"/>
              <a:t>April 2026</a:t>
            </a:r>
          </a:p>
        </p:txBody>
      </p:sp>
      <p:sp>
        <p:nvSpPr>
          <p:cNvPr id="2" name="Text Placeholder 2">
            <a:extLst>
              <a:ext uri="{FF2B5EF4-FFF2-40B4-BE49-F238E27FC236}">
                <a16:creationId xmlns:a16="http://schemas.microsoft.com/office/drawing/2014/main" id="{11B179DB-30F7-4251-8D16-210D82828DD8}"/>
              </a:ext>
            </a:extLst>
          </p:cNvPr>
          <p:cNvSpPr>
            <a:spLocks noGrp="1"/>
          </p:cNvSpPr>
          <p:nvPr>
            <p:ph type="body" sz="quarter" idx="10"/>
          </p:nvPr>
        </p:nvSpPr>
        <p:spPr>
          <a:xfrm>
            <a:off x="2187967" y="4125732"/>
            <a:ext cx="4572000" cy="276999"/>
          </a:xfrm>
        </p:spPr>
        <p:txBody>
          <a:bodyPr/>
          <a:lstStyle/>
          <a:p>
            <a:r>
              <a:rPr lang="en-US"/>
              <a:t>CAT Automation Proposal</a:t>
            </a:r>
          </a:p>
        </p:txBody>
      </p:sp>
    </p:spTree>
    <p:extLst>
      <p:ext uri="{BB962C8B-B14F-4D97-AF65-F5344CB8AC3E}">
        <p14:creationId xmlns:p14="http://schemas.microsoft.com/office/powerpoint/2010/main" val="3503301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F1DD0BB-D2E2-ACBD-F09E-5149388961AB}"/>
              </a:ext>
            </a:extLst>
          </p:cNvPr>
          <p:cNvSpPr/>
          <p:nvPr/>
        </p:nvSpPr>
        <p:spPr bwMode="gray">
          <a:xfrm>
            <a:off x="7084555" y="2874648"/>
            <a:ext cx="4364364" cy="2272508"/>
          </a:xfrm>
          <a:prstGeom prst="rect">
            <a:avLst/>
          </a:prstGeom>
          <a:noFill/>
          <a:ln w="2857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Box 8">
            <a:extLst>
              <a:ext uri="{FF2B5EF4-FFF2-40B4-BE49-F238E27FC236}">
                <a16:creationId xmlns:a16="http://schemas.microsoft.com/office/drawing/2014/main" id="{8F5EACF6-DFD6-2809-5296-617AE53232BD}"/>
              </a:ext>
            </a:extLst>
          </p:cNvPr>
          <p:cNvSpPr txBox="1"/>
          <p:nvPr/>
        </p:nvSpPr>
        <p:spPr bwMode="gray">
          <a:xfrm>
            <a:off x="729093" y="1211202"/>
            <a:ext cx="10951630" cy="1216936"/>
          </a:xfrm>
          <a:prstGeom prst="rect">
            <a:avLst/>
          </a:prstGeom>
          <a:noFill/>
        </p:spPr>
        <p:txBody>
          <a:bodyPr wrap="square">
            <a:spAutoFit/>
          </a:bodyPr>
          <a:lstStyle/>
          <a:p>
            <a:pPr lvl="0">
              <a:lnSpc>
                <a:spcPct val="120000"/>
              </a:lnSpc>
              <a:defRPr/>
            </a:pPr>
            <a:r>
              <a:rPr kumimoji="0" lang="en-US" sz="1400" b="1" i="0" u="none" strike="noStrike" kern="1200" cap="none" spc="0" normalizeH="0" baseline="0" noProof="0">
                <a:ln>
                  <a:noFill/>
                </a:ln>
                <a:solidFill>
                  <a:srgbClr val="3D3C38"/>
                </a:solidFill>
                <a:effectLst/>
                <a:uLnTx/>
                <a:uFillTx/>
                <a:latin typeface="Arial"/>
                <a:ea typeface="+mn-ea"/>
                <a:cs typeface="+mn-cs"/>
              </a:rPr>
              <a:t>Communication </a:t>
            </a:r>
            <a:r>
              <a:rPr lang="en-US" sz="1400" b="1">
                <a:solidFill>
                  <a:srgbClr val="3D3C38"/>
                </a:solidFill>
                <a:latin typeface="Arial"/>
              </a:rPr>
              <a:t>Aptitude Test </a:t>
            </a:r>
            <a:r>
              <a:rPr kumimoji="0" lang="en-US" sz="1400" b="1" i="0" u="none" strike="noStrike" kern="1200" cap="none" spc="0" normalizeH="0" baseline="0" noProof="0">
                <a:ln>
                  <a:noFill/>
                </a:ln>
                <a:solidFill>
                  <a:srgbClr val="3D3C38"/>
                </a:solidFill>
                <a:effectLst/>
                <a:uLnTx/>
                <a:uFillTx/>
                <a:latin typeface="Arial"/>
                <a:ea typeface="+mn-ea"/>
                <a:cs typeface="+mn-cs"/>
              </a:rPr>
              <a:t>(CAT) </a:t>
            </a:r>
            <a:r>
              <a:rPr lang="en-US" sz="1200">
                <a:solidFill>
                  <a:srgbClr val="4B4D4F"/>
                </a:solidFill>
                <a:cs typeface="Arial" panose="020B0604020202020204" pitchFamily="34" charset="0"/>
              </a:rPr>
              <a:t>started in 2016 supporting one line of business and grew to support 28 LOBs in 2020</a:t>
            </a: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 A hiring benchmark of 2.2 (CEFR B1) followed by the Talent Acquisition Team in PH and IND.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The </a:t>
            </a:r>
            <a:r>
              <a:rPr kumimoji="0" lang="en-US" sz="1200" b="1" i="0" u="none" strike="noStrike" kern="1200" cap="none" spc="0" normalizeH="0" baseline="0" noProof="0">
                <a:ln>
                  <a:noFill/>
                </a:ln>
                <a:solidFill>
                  <a:srgbClr val="3D3C38"/>
                </a:solidFill>
                <a:effectLst/>
                <a:uLnTx/>
                <a:uFillTx/>
                <a:latin typeface="Arial"/>
                <a:ea typeface="+mn-ea"/>
                <a:cs typeface="Arial" panose="020B0604020202020204" pitchFamily="34" charset="0"/>
              </a:rPr>
              <a:t>CAT Written Assessment </a:t>
            </a: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was introduced in 2019 and the </a:t>
            </a:r>
            <a:r>
              <a:rPr kumimoji="0" lang="en-US" sz="1200" b="1" i="0" u="none" strike="noStrike" kern="1200" cap="none" spc="0" normalizeH="0" baseline="0" noProof="0">
                <a:ln>
                  <a:noFill/>
                </a:ln>
                <a:solidFill>
                  <a:srgbClr val="3D3C38"/>
                </a:solidFill>
                <a:effectLst/>
                <a:uLnTx/>
                <a:uFillTx/>
                <a:latin typeface="Arial"/>
                <a:ea typeface="+mn-ea"/>
                <a:cs typeface="Arial" panose="020B0604020202020204" pitchFamily="34" charset="0"/>
              </a:rPr>
              <a:t>CAT Chat assessment</a:t>
            </a: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 was added in 2024 to support Non-voice LOBs. In 2024, </a:t>
            </a:r>
            <a:r>
              <a:rPr kumimoji="0" lang="en-US" sz="1200" b="1" i="0" u="none" strike="noStrike" kern="1200" cap="none" spc="0" normalizeH="0" baseline="0" noProof="0">
                <a:ln>
                  <a:noFill/>
                </a:ln>
                <a:solidFill>
                  <a:srgbClr val="3D3C38"/>
                </a:solidFill>
                <a:effectLst/>
                <a:uLnTx/>
                <a:uFillTx/>
                <a:latin typeface="Arial"/>
                <a:ea typeface="+mn-ea"/>
                <a:cs typeface="Arial" panose="020B0604020202020204" pitchFamily="34" charset="0"/>
              </a:rPr>
              <a:t>the CAT Center was established in India</a:t>
            </a: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 to support voice and non-voice hiring.</a:t>
            </a:r>
          </a:p>
        </p:txBody>
      </p:sp>
      <p:sp>
        <p:nvSpPr>
          <p:cNvPr id="12" name="Title 24">
            <a:extLst>
              <a:ext uri="{FF2B5EF4-FFF2-40B4-BE49-F238E27FC236}">
                <a16:creationId xmlns:a16="http://schemas.microsoft.com/office/drawing/2014/main" id="{D75D77EB-934F-68B9-E7EE-773827028887}"/>
              </a:ext>
            </a:extLst>
          </p:cNvPr>
          <p:cNvSpPr>
            <a:spLocks noGrp="1"/>
          </p:cNvSpPr>
          <p:nvPr>
            <p:ph type="title"/>
          </p:nvPr>
        </p:nvSpPr>
        <p:spPr/>
        <p:txBody>
          <a:bodyPr/>
          <a:lstStyle/>
          <a:p>
            <a:r>
              <a:rPr lang="en-US"/>
              <a:t>Communication Aptitude Test (CAT)</a:t>
            </a:r>
          </a:p>
        </p:txBody>
      </p:sp>
      <p:sp>
        <p:nvSpPr>
          <p:cNvPr id="3" name="Rectangle 2">
            <a:extLst>
              <a:ext uri="{FF2B5EF4-FFF2-40B4-BE49-F238E27FC236}">
                <a16:creationId xmlns:a16="http://schemas.microsoft.com/office/drawing/2014/main" id="{608F4726-97AA-0299-6884-3EB151A85C43}"/>
              </a:ext>
            </a:extLst>
          </p:cNvPr>
          <p:cNvSpPr/>
          <p:nvPr/>
        </p:nvSpPr>
        <p:spPr>
          <a:xfrm>
            <a:off x="780884" y="3194407"/>
            <a:ext cx="2001609" cy="736805"/>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Describe and Instruct</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Compare and Contrast</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Decide and Justify</a:t>
            </a:r>
          </a:p>
        </p:txBody>
      </p:sp>
      <p:sp>
        <p:nvSpPr>
          <p:cNvPr id="4" name="Rounded Rectangle 87">
            <a:extLst>
              <a:ext uri="{FF2B5EF4-FFF2-40B4-BE49-F238E27FC236}">
                <a16:creationId xmlns:a16="http://schemas.microsoft.com/office/drawing/2014/main" id="{8CB3E7A6-7F36-5534-CEB7-29F791629FB9}"/>
              </a:ext>
            </a:extLst>
          </p:cNvPr>
          <p:cNvSpPr/>
          <p:nvPr/>
        </p:nvSpPr>
        <p:spPr>
          <a:xfrm>
            <a:off x="780884" y="2874648"/>
            <a:ext cx="2001608"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3D3C38"/>
                </a:solidFill>
                <a:latin typeface="Arial"/>
              </a:rPr>
              <a:t>Question Category</a:t>
            </a:r>
          </a:p>
        </p:txBody>
      </p:sp>
      <p:sp>
        <p:nvSpPr>
          <p:cNvPr id="5" name="Rectangle 4">
            <a:extLst>
              <a:ext uri="{FF2B5EF4-FFF2-40B4-BE49-F238E27FC236}">
                <a16:creationId xmlns:a16="http://schemas.microsoft.com/office/drawing/2014/main" id="{C432AA5C-C828-4F19-1924-C49772FDF287}"/>
              </a:ext>
            </a:extLst>
          </p:cNvPr>
          <p:cNvSpPr/>
          <p:nvPr/>
        </p:nvSpPr>
        <p:spPr>
          <a:xfrm>
            <a:off x="3077263" y="3234480"/>
            <a:ext cx="3533096" cy="958404"/>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Description and narration of events or topics</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Comparison or Differentiation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Expound on a choice. </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Presentation and inference. </a:t>
            </a:r>
          </a:p>
        </p:txBody>
      </p:sp>
      <p:sp>
        <p:nvSpPr>
          <p:cNvPr id="6" name="Rounded Rectangle 89">
            <a:extLst>
              <a:ext uri="{FF2B5EF4-FFF2-40B4-BE49-F238E27FC236}">
                <a16:creationId xmlns:a16="http://schemas.microsoft.com/office/drawing/2014/main" id="{CC446742-43AF-C8DA-51D8-03996C62B2E5}"/>
              </a:ext>
            </a:extLst>
          </p:cNvPr>
          <p:cNvSpPr/>
          <p:nvPr/>
        </p:nvSpPr>
        <p:spPr>
          <a:xfrm>
            <a:off x="3105838" y="287464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200" b="1">
                <a:solidFill>
                  <a:srgbClr val="3D3C38"/>
                </a:solidFill>
                <a:latin typeface="Arial"/>
              </a:rPr>
              <a:t>Task</a:t>
            </a:r>
          </a:p>
        </p:txBody>
      </p:sp>
      <p:sp>
        <p:nvSpPr>
          <p:cNvPr id="7" name="Rectangle 6">
            <a:extLst>
              <a:ext uri="{FF2B5EF4-FFF2-40B4-BE49-F238E27FC236}">
                <a16:creationId xmlns:a16="http://schemas.microsoft.com/office/drawing/2014/main" id="{89023150-ED76-CB6B-B6C7-EC044E26D56F}"/>
              </a:ext>
            </a:extLst>
          </p:cNvPr>
          <p:cNvSpPr/>
          <p:nvPr/>
        </p:nvSpPr>
        <p:spPr>
          <a:xfrm>
            <a:off x="780884" y="4882519"/>
            <a:ext cx="2001609" cy="736805"/>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Description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Narration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Interactive discussion</a:t>
            </a:r>
          </a:p>
        </p:txBody>
      </p:sp>
      <p:sp>
        <p:nvSpPr>
          <p:cNvPr id="8" name="Rounded Rectangle 88">
            <a:extLst>
              <a:ext uri="{FF2B5EF4-FFF2-40B4-BE49-F238E27FC236}">
                <a16:creationId xmlns:a16="http://schemas.microsoft.com/office/drawing/2014/main" id="{71864A51-0A80-2BD4-4EA8-B4301F18FA82}"/>
              </a:ext>
            </a:extLst>
          </p:cNvPr>
          <p:cNvSpPr/>
          <p:nvPr/>
        </p:nvSpPr>
        <p:spPr>
          <a:xfrm>
            <a:off x="775735" y="450043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fontAlgn="auto">
              <a:lnSpc>
                <a:spcPct val="100000"/>
              </a:lnSpc>
              <a:spcBef>
                <a:spcPts val="0"/>
              </a:spcBef>
              <a:spcAft>
                <a:spcPts val="0"/>
              </a:spcAft>
              <a:buClrTx/>
              <a:buSzTx/>
              <a:buFontTx/>
              <a:buNone/>
              <a:tabLst/>
              <a:defRPr/>
            </a:pPr>
            <a:r>
              <a:rPr lang="en-US" sz="1200" b="1">
                <a:solidFill>
                  <a:srgbClr val="3D3C38"/>
                </a:solidFill>
                <a:latin typeface="Arial"/>
              </a:rPr>
              <a:t>Discourse Type</a:t>
            </a:r>
          </a:p>
        </p:txBody>
      </p:sp>
      <p:sp>
        <p:nvSpPr>
          <p:cNvPr id="10" name="Rounded Rectangle 88">
            <a:extLst>
              <a:ext uri="{FF2B5EF4-FFF2-40B4-BE49-F238E27FC236}">
                <a16:creationId xmlns:a16="http://schemas.microsoft.com/office/drawing/2014/main" id="{BFFEFF69-28EA-447D-A17A-1FB25198CA0A}"/>
              </a:ext>
            </a:extLst>
          </p:cNvPr>
          <p:cNvSpPr/>
          <p:nvPr/>
        </p:nvSpPr>
        <p:spPr>
          <a:xfrm>
            <a:off x="3077263" y="4500438"/>
            <a:ext cx="2001609" cy="258198"/>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200" b="1">
                <a:solidFill>
                  <a:srgbClr val="3D3C38"/>
                </a:solidFill>
                <a:latin typeface="Arial"/>
              </a:rPr>
              <a:t>Expected Responses</a:t>
            </a:r>
          </a:p>
        </p:txBody>
      </p:sp>
      <p:sp>
        <p:nvSpPr>
          <p:cNvPr id="11" name="Rectangle 10">
            <a:extLst>
              <a:ext uri="{FF2B5EF4-FFF2-40B4-BE49-F238E27FC236}">
                <a16:creationId xmlns:a16="http://schemas.microsoft.com/office/drawing/2014/main" id="{1774AD91-688D-9D11-15B5-FF0D981A8951}"/>
              </a:ext>
            </a:extLst>
          </p:cNvPr>
          <p:cNvSpPr/>
          <p:nvPr/>
        </p:nvSpPr>
        <p:spPr>
          <a:xfrm>
            <a:off x="3105838" y="4876069"/>
            <a:ext cx="3533096" cy="958404"/>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Short and extended monologue and interaction</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Clear and concise</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Sequential</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Logical</a:t>
            </a:r>
          </a:p>
        </p:txBody>
      </p:sp>
      <p:graphicFrame>
        <p:nvGraphicFramePr>
          <p:cNvPr id="15" name="Table 14">
            <a:extLst>
              <a:ext uri="{FF2B5EF4-FFF2-40B4-BE49-F238E27FC236}">
                <a16:creationId xmlns:a16="http://schemas.microsoft.com/office/drawing/2014/main" id="{FCD1ED59-8167-BB39-DD3D-A3FDA3B890CB}"/>
              </a:ext>
            </a:extLst>
          </p:cNvPr>
          <p:cNvGraphicFramePr>
            <a:graphicFrameLocks noGrp="1"/>
          </p:cNvGraphicFramePr>
          <p:nvPr>
            <p:extLst>
              <p:ext uri="{D42A27DB-BD31-4B8C-83A1-F6EECF244321}">
                <p14:modId xmlns:p14="http://schemas.microsoft.com/office/powerpoint/2010/main" val="3653564875"/>
              </p:ext>
            </p:extLst>
          </p:nvPr>
        </p:nvGraphicFramePr>
        <p:xfrm>
          <a:off x="7254853" y="3057482"/>
          <a:ext cx="4073532" cy="1950720"/>
        </p:xfrm>
        <a:graphic>
          <a:graphicData uri="http://schemas.openxmlformats.org/drawingml/2006/table">
            <a:tbl>
              <a:tblPr firstRow="1" bandRow="1">
                <a:tableStyleId>{5C22544A-7EE6-4342-B048-85BDC9FD1C3A}</a:tableStyleId>
              </a:tblPr>
              <a:tblGrid>
                <a:gridCol w="2036766">
                  <a:extLst>
                    <a:ext uri="{9D8B030D-6E8A-4147-A177-3AD203B41FA5}">
                      <a16:colId xmlns:a16="http://schemas.microsoft.com/office/drawing/2014/main" val="2794546430"/>
                    </a:ext>
                  </a:extLst>
                </a:gridCol>
                <a:gridCol w="2036766">
                  <a:extLst>
                    <a:ext uri="{9D8B030D-6E8A-4147-A177-3AD203B41FA5}">
                      <a16:colId xmlns:a16="http://schemas.microsoft.com/office/drawing/2014/main" val="1392862315"/>
                    </a:ext>
                  </a:extLst>
                </a:gridCol>
              </a:tblGrid>
              <a:tr h="0">
                <a:tc>
                  <a:txBody>
                    <a:bodyPr/>
                    <a:lstStyle/>
                    <a:p>
                      <a:pPr algn="ctr"/>
                      <a:r>
                        <a:rPr lang="en-US" sz="1000" b="1"/>
                        <a:t>CEFR</a:t>
                      </a:r>
                    </a:p>
                  </a:txBody>
                  <a:tcPr>
                    <a:solidFill>
                      <a:srgbClr val="002677"/>
                    </a:solidFill>
                  </a:tcPr>
                </a:tc>
                <a:tc>
                  <a:txBody>
                    <a:bodyPr/>
                    <a:lstStyle/>
                    <a:p>
                      <a:pPr algn="ctr"/>
                      <a:r>
                        <a:rPr lang="en-US" sz="1000" b="1"/>
                        <a:t>CAT 3.0</a:t>
                      </a:r>
                    </a:p>
                  </a:txBody>
                  <a:tcPr>
                    <a:solidFill>
                      <a:srgbClr val="002677"/>
                    </a:solidFill>
                  </a:tcPr>
                </a:tc>
                <a:extLst>
                  <a:ext uri="{0D108BD9-81ED-4DB2-BD59-A6C34878D82A}">
                    <a16:rowId xmlns:a16="http://schemas.microsoft.com/office/drawing/2014/main" val="3419082547"/>
                  </a:ext>
                </a:extLst>
              </a:tr>
              <a:tr h="0">
                <a:tc>
                  <a:txBody>
                    <a:bodyPr/>
                    <a:lstStyle/>
                    <a:p>
                      <a:pPr algn="ctr"/>
                      <a:r>
                        <a:rPr lang="en-US" sz="1000"/>
                        <a:t>&lt;A1</a:t>
                      </a:r>
                    </a:p>
                  </a:txBody>
                  <a:tcPr>
                    <a:noFill/>
                  </a:tcPr>
                </a:tc>
                <a:tc>
                  <a:txBody>
                    <a:bodyPr/>
                    <a:lstStyle/>
                    <a:p>
                      <a:pPr algn="ctr"/>
                      <a:r>
                        <a:rPr lang="en-US" sz="1000"/>
                        <a:t>&lt; 1.4</a:t>
                      </a:r>
                    </a:p>
                  </a:txBody>
                  <a:tcPr>
                    <a:noFill/>
                  </a:tcPr>
                </a:tc>
                <a:extLst>
                  <a:ext uri="{0D108BD9-81ED-4DB2-BD59-A6C34878D82A}">
                    <a16:rowId xmlns:a16="http://schemas.microsoft.com/office/drawing/2014/main" val="2743873537"/>
                  </a:ext>
                </a:extLst>
              </a:tr>
              <a:tr h="0">
                <a:tc>
                  <a:txBody>
                    <a:bodyPr/>
                    <a:lstStyle/>
                    <a:p>
                      <a:pPr algn="ctr"/>
                      <a:r>
                        <a:rPr lang="en-US" sz="1000"/>
                        <a:t>A1</a:t>
                      </a:r>
                    </a:p>
                  </a:txBody>
                  <a:tcPr>
                    <a:solidFill>
                      <a:srgbClr val="D9F6FC"/>
                    </a:solidFill>
                  </a:tcPr>
                </a:tc>
                <a:tc>
                  <a:txBody>
                    <a:bodyPr/>
                    <a:lstStyle/>
                    <a:p>
                      <a:pPr algn="ctr"/>
                      <a:r>
                        <a:rPr lang="en-US" sz="1000"/>
                        <a:t>1.6 – 1.8</a:t>
                      </a:r>
                    </a:p>
                  </a:txBody>
                  <a:tcPr>
                    <a:solidFill>
                      <a:srgbClr val="D9F6FC"/>
                    </a:solidFill>
                  </a:tcPr>
                </a:tc>
                <a:extLst>
                  <a:ext uri="{0D108BD9-81ED-4DB2-BD59-A6C34878D82A}">
                    <a16:rowId xmlns:a16="http://schemas.microsoft.com/office/drawing/2014/main" val="1127233295"/>
                  </a:ext>
                </a:extLst>
              </a:tr>
              <a:tr h="0">
                <a:tc>
                  <a:txBody>
                    <a:bodyPr/>
                    <a:lstStyle/>
                    <a:p>
                      <a:pPr algn="ctr"/>
                      <a:r>
                        <a:rPr lang="en-US" sz="1000"/>
                        <a:t>A2</a:t>
                      </a:r>
                    </a:p>
                  </a:txBody>
                  <a:tcPr>
                    <a:noFill/>
                  </a:tcPr>
                </a:tc>
                <a:tc>
                  <a:txBody>
                    <a:bodyPr/>
                    <a:lstStyle/>
                    <a:p>
                      <a:pPr algn="ctr"/>
                      <a:r>
                        <a:rPr lang="en-US" sz="1000"/>
                        <a:t>2.0</a:t>
                      </a:r>
                    </a:p>
                  </a:txBody>
                  <a:tcPr>
                    <a:noFill/>
                  </a:tcPr>
                </a:tc>
                <a:extLst>
                  <a:ext uri="{0D108BD9-81ED-4DB2-BD59-A6C34878D82A}">
                    <a16:rowId xmlns:a16="http://schemas.microsoft.com/office/drawing/2014/main" val="1005142277"/>
                  </a:ext>
                </a:extLst>
              </a:tr>
              <a:tr h="0">
                <a:tc>
                  <a:txBody>
                    <a:bodyPr/>
                    <a:lstStyle/>
                    <a:p>
                      <a:pPr algn="ctr"/>
                      <a:r>
                        <a:rPr lang="en-US" sz="1000"/>
                        <a:t>B1</a:t>
                      </a:r>
                    </a:p>
                  </a:txBody>
                  <a:tcPr>
                    <a:solidFill>
                      <a:srgbClr val="D9F6FC"/>
                    </a:solidFill>
                  </a:tcPr>
                </a:tc>
                <a:tc>
                  <a:txBody>
                    <a:bodyPr/>
                    <a:lstStyle/>
                    <a:p>
                      <a:pPr algn="ctr"/>
                      <a:r>
                        <a:rPr lang="en-US" sz="1000"/>
                        <a:t>2.2</a:t>
                      </a:r>
                    </a:p>
                  </a:txBody>
                  <a:tcPr>
                    <a:solidFill>
                      <a:srgbClr val="D9F6FC"/>
                    </a:solidFill>
                  </a:tcPr>
                </a:tc>
                <a:extLst>
                  <a:ext uri="{0D108BD9-81ED-4DB2-BD59-A6C34878D82A}">
                    <a16:rowId xmlns:a16="http://schemas.microsoft.com/office/drawing/2014/main" val="48516334"/>
                  </a:ext>
                </a:extLst>
              </a:tr>
              <a:tr h="0">
                <a:tc>
                  <a:txBody>
                    <a:bodyPr/>
                    <a:lstStyle/>
                    <a:p>
                      <a:pPr algn="ctr"/>
                      <a:r>
                        <a:rPr lang="en-US" sz="1000"/>
                        <a:t>B2</a:t>
                      </a:r>
                    </a:p>
                  </a:txBody>
                  <a:tcPr>
                    <a:noFill/>
                  </a:tcPr>
                </a:tc>
                <a:tc>
                  <a:txBody>
                    <a:bodyPr/>
                    <a:lstStyle/>
                    <a:p>
                      <a:pPr algn="ctr"/>
                      <a:r>
                        <a:rPr lang="en-US" sz="1000"/>
                        <a:t>2.4 – 2.8</a:t>
                      </a:r>
                    </a:p>
                  </a:txBody>
                  <a:tcPr>
                    <a:noFill/>
                  </a:tcPr>
                </a:tc>
                <a:extLst>
                  <a:ext uri="{0D108BD9-81ED-4DB2-BD59-A6C34878D82A}">
                    <a16:rowId xmlns:a16="http://schemas.microsoft.com/office/drawing/2014/main" val="1267219158"/>
                  </a:ext>
                </a:extLst>
              </a:tr>
              <a:tr h="0">
                <a:tc>
                  <a:txBody>
                    <a:bodyPr/>
                    <a:lstStyle/>
                    <a:p>
                      <a:pPr algn="ctr"/>
                      <a:r>
                        <a:rPr lang="en-US" sz="1000"/>
                        <a:t>C1</a:t>
                      </a:r>
                    </a:p>
                  </a:txBody>
                  <a:tcPr>
                    <a:solidFill>
                      <a:srgbClr val="D9F6FC"/>
                    </a:solidFill>
                  </a:tcPr>
                </a:tc>
                <a:tc>
                  <a:txBody>
                    <a:bodyPr/>
                    <a:lstStyle/>
                    <a:p>
                      <a:pPr algn="ctr"/>
                      <a:r>
                        <a:rPr lang="en-US" sz="1000"/>
                        <a:t>3.0 – 3.4</a:t>
                      </a:r>
                    </a:p>
                  </a:txBody>
                  <a:tcPr>
                    <a:solidFill>
                      <a:srgbClr val="D9F6FC"/>
                    </a:solidFill>
                  </a:tcPr>
                </a:tc>
                <a:extLst>
                  <a:ext uri="{0D108BD9-81ED-4DB2-BD59-A6C34878D82A}">
                    <a16:rowId xmlns:a16="http://schemas.microsoft.com/office/drawing/2014/main" val="1888876346"/>
                  </a:ext>
                </a:extLst>
              </a:tr>
              <a:tr h="0">
                <a:tc>
                  <a:txBody>
                    <a:bodyPr/>
                    <a:lstStyle/>
                    <a:p>
                      <a:pPr algn="ctr"/>
                      <a:r>
                        <a:rPr lang="en-US" sz="1000"/>
                        <a:t>C2</a:t>
                      </a:r>
                    </a:p>
                  </a:txBody>
                  <a:tcPr>
                    <a:noFill/>
                  </a:tcPr>
                </a:tc>
                <a:tc>
                  <a:txBody>
                    <a:bodyPr/>
                    <a:lstStyle/>
                    <a:p>
                      <a:pPr algn="ctr"/>
                      <a:r>
                        <a:rPr lang="en-US" sz="1000"/>
                        <a:t>3.4 &gt;</a:t>
                      </a:r>
                    </a:p>
                  </a:txBody>
                  <a:tcPr>
                    <a:noFill/>
                  </a:tcPr>
                </a:tc>
                <a:extLst>
                  <a:ext uri="{0D108BD9-81ED-4DB2-BD59-A6C34878D82A}">
                    <a16:rowId xmlns:a16="http://schemas.microsoft.com/office/drawing/2014/main" val="658912927"/>
                  </a:ext>
                </a:extLst>
              </a:tr>
            </a:tbl>
          </a:graphicData>
        </a:graphic>
      </p:graphicFrame>
    </p:spTree>
    <p:extLst>
      <p:ext uri="{BB962C8B-B14F-4D97-AF65-F5344CB8AC3E}">
        <p14:creationId xmlns:p14="http://schemas.microsoft.com/office/powerpoint/2010/main" val="212342006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C73AB-25A8-689B-3D6D-8E28A3628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D1A58-3FC4-CB61-EEFB-CBB22A737728}"/>
              </a:ext>
            </a:extLst>
          </p:cNvPr>
          <p:cNvSpPr>
            <a:spLocks noGrp="1"/>
          </p:cNvSpPr>
          <p:nvPr>
            <p:ph type="title"/>
          </p:nvPr>
        </p:nvSpPr>
        <p:spPr/>
        <p:txBody>
          <a:bodyPr/>
          <a:lstStyle/>
          <a:p>
            <a:r>
              <a:rPr lang="en-US"/>
              <a:t>CAT Assessment Structure</a:t>
            </a:r>
          </a:p>
        </p:txBody>
      </p:sp>
      <p:graphicFrame>
        <p:nvGraphicFramePr>
          <p:cNvPr id="4" name="Table 3">
            <a:extLst>
              <a:ext uri="{FF2B5EF4-FFF2-40B4-BE49-F238E27FC236}">
                <a16:creationId xmlns:a16="http://schemas.microsoft.com/office/drawing/2014/main" id="{79664DE5-4339-FBD7-3F20-437E866F5119}"/>
              </a:ext>
            </a:extLst>
          </p:cNvPr>
          <p:cNvGraphicFramePr>
            <a:graphicFrameLocks noGrp="1"/>
          </p:cNvGraphicFramePr>
          <p:nvPr>
            <p:extLst>
              <p:ext uri="{D42A27DB-BD31-4B8C-83A1-F6EECF244321}">
                <p14:modId xmlns:p14="http://schemas.microsoft.com/office/powerpoint/2010/main" val="422604126"/>
              </p:ext>
            </p:extLst>
          </p:nvPr>
        </p:nvGraphicFramePr>
        <p:xfrm>
          <a:off x="713994" y="1353448"/>
          <a:ext cx="10764012" cy="3870499"/>
        </p:xfrm>
        <a:graphic>
          <a:graphicData uri="http://schemas.openxmlformats.org/drawingml/2006/table">
            <a:tbl>
              <a:tblPr firstRow="1" bandRow="1"/>
              <a:tblGrid>
                <a:gridCol w="1408927">
                  <a:extLst>
                    <a:ext uri="{9D8B030D-6E8A-4147-A177-3AD203B41FA5}">
                      <a16:colId xmlns:a16="http://schemas.microsoft.com/office/drawing/2014/main" val="1556326982"/>
                    </a:ext>
                  </a:extLst>
                </a:gridCol>
                <a:gridCol w="9355085">
                  <a:extLst>
                    <a:ext uri="{9D8B030D-6E8A-4147-A177-3AD203B41FA5}">
                      <a16:colId xmlns:a16="http://schemas.microsoft.com/office/drawing/2014/main" val="2007389500"/>
                    </a:ext>
                  </a:extLst>
                </a:gridCol>
              </a:tblGrid>
              <a:tr h="725979">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lgn="ctr">
                        <a:spcBef>
                          <a:spcPts val="200"/>
                        </a:spcBef>
                        <a:spcAft>
                          <a:spcPts val="200"/>
                        </a:spcAft>
                      </a:pPr>
                      <a:r>
                        <a:rPr lang="en-US" sz="1200" b="1">
                          <a:solidFill>
                            <a:schemeClr val="tx1"/>
                          </a:solidFill>
                          <a:latin typeface="+mn-lt"/>
                        </a:rPr>
                        <a:t>Rating</a:t>
                      </a:r>
                    </a:p>
                    <a:p>
                      <a:pPr algn="ctr">
                        <a:spcBef>
                          <a:spcPts val="200"/>
                        </a:spcBef>
                        <a:spcAft>
                          <a:spcPts val="200"/>
                        </a:spcAft>
                      </a:pPr>
                      <a:r>
                        <a:rPr lang="en-US" sz="1200" b="1">
                          <a:solidFill>
                            <a:schemeClr val="tx1"/>
                          </a:solidFill>
                          <a:latin typeface="+mn-lt"/>
                        </a:rPr>
                        <a:t> Scale</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2">
                        <a:lumMod val="90000"/>
                        <a:alpha val="20000"/>
                      </a:schemeClr>
                    </a:solidFill>
                  </a:tcPr>
                </a:tc>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marL="0" indent="0" algn="l">
                        <a:spcBef>
                          <a:spcPts val="200"/>
                        </a:spcBef>
                        <a:spcAft>
                          <a:spcPts val="200"/>
                        </a:spcAft>
                        <a:buFont typeface="Wingdings" panose="05000000000000000000" pitchFamily="2" charset="2"/>
                        <a:buNone/>
                      </a:pPr>
                      <a:r>
                        <a:rPr lang="en-US" sz="1200" kern="1200">
                          <a:solidFill>
                            <a:schemeClr val="tx1"/>
                          </a:solidFill>
                          <a:latin typeface="+mn-lt"/>
                          <a:ea typeface="Tahoma" panose="020B0604030504040204" pitchFamily="34" charset="0"/>
                          <a:cs typeface="Tahoma" panose="020B0604030504040204" pitchFamily="34" charset="0"/>
                        </a:rPr>
                        <a:t>Uses parameters based on language competencies/categories which are arranged on scales corresponding to ability and level. </a:t>
                      </a:r>
                      <a:endParaRPr lang="en-US" sz="1200" b="0" kern="1200">
                        <a:solidFill>
                          <a:schemeClr val="tx1"/>
                        </a:solidFill>
                        <a:latin typeface="+mn-lt"/>
                        <a:ea typeface="+mn-ea"/>
                        <a:cs typeface="+mn-cs"/>
                      </a:endParaRPr>
                    </a:p>
                  </a:txBody>
                  <a:tcPr marT="91440" anchor="ctr">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BFAF5"/>
                    </a:solidFill>
                  </a:tcPr>
                </a:tc>
                <a:extLst>
                  <a:ext uri="{0D108BD9-81ED-4DB2-BD59-A6C34878D82A}">
                    <a16:rowId xmlns:a16="http://schemas.microsoft.com/office/drawing/2014/main" val="739854892"/>
                  </a:ext>
                </a:extLst>
              </a:tr>
              <a:tr h="997072">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lgn="ctr">
                        <a:spcBef>
                          <a:spcPts val="200"/>
                        </a:spcBef>
                        <a:spcAft>
                          <a:spcPts val="200"/>
                        </a:spcAft>
                      </a:pPr>
                      <a:r>
                        <a:rPr lang="en-US" sz="1200" b="1">
                          <a:solidFill>
                            <a:schemeClr val="tx1"/>
                          </a:solidFill>
                          <a:latin typeface="+mn-lt"/>
                        </a:rPr>
                        <a:t>Voice CAT Segments</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lvl1pPr marL="0" algn="l" defTabSz="914400" rtl="0" eaLnBrk="1" latinLnBrk="0" hangingPunct="1">
                        <a:defRPr sz="1300" kern="1200">
                          <a:solidFill>
                            <a:schemeClr val="tx1"/>
                          </a:solidFill>
                          <a:latin typeface="Calibri" panose="020F0502020204030204"/>
                        </a:defRPr>
                      </a:lvl1pPr>
                      <a:lvl2pPr marL="0" algn="l" defTabSz="914400" rtl="0" eaLnBrk="1" latinLnBrk="0" hangingPunct="1">
                        <a:defRPr sz="1300" kern="1200">
                          <a:solidFill>
                            <a:schemeClr val="tx1"/>
                          </a:solidFill>
                          <a:latin typeface="Calibri" panose="020F0502020204030204"/>
                        </a:defRPr>
                      </a:lvl2pPr>
                      <a:lvl3pPr marL="0" algn="l" defTabSz="914400" rtl="0" eaLnBrk="1" latinLnBrk="0" hangingPunct="1">
                        <a:defRPr sz="1300" kern="1200">
                          <a:solidFill>
                            <a:schemeClr val="tx1"/>
                          </a:solidFill>
                          <a:latin typeface="Calibri" panose="020F0502020204030204"/>
                        </a:defRPr>
                      </a:lvl3pPr>
                      <a:lvl4pPr marL="0" algn="l" defTabSz="914400" rtl="0" eaLnBrk="1" latinLnBrk="0" hangingPunct="1">
                        <a:defRPr sz="1300" kern="1200">
                          <a:solidFill>
                            <a:schemeClr val="tx1"/>
                          </a:solidFill>
                          <a:latin typeface="Calibri" panose="020F0502020204030204"/>
                        </a:defRPr>
                      </a:lvl4pPr>
                      <a:lvl5pPr marL="0" algn="l" defTabSz="914400" rtl="0" eaLnBrk="1" latinLnBrk="0" hangingPunct="1">
                        <a:defRPr sz="1300" kern="1200">
                          <a:solidFill>
                            <a:schemeClr val="tx1"/>
                          </a:solidFill>
                          <a:latin typeface="Calibri" panose="020F0502020204030204"/>
                        </a:defRPr>
                      </a:lvl5pPr>
                      <a:lvl6pPr marL="0" algn="l" defTabSz="914400" rtl="0" eaLnBrk="1" latinLnBrk="0" hangingPunct="1">
                        <a:defRPr sz="1300" kern="1200">
                          <a:solidFill>
                            <a:schemeClr val="tx1"/>
                          </a:solidFill>
                          <a:latin typeface="Calibri" panose="020F0502020204030204"/>
                        </a:defRPr>
                      </a:lvl6pPr>
                      <a:lvl7pPr marL="0" algn="l" defTabSz="914400" rtl="0" eaLnBrk="1" latinLnBrk="0" hangingPunct="1">
                        <a:defRPr sz="1300" kern="1200">
                          <a:solidFill>
                            <a:schemeClr val="tx1"/>
                          </a:solidFill>
                          <a:latin typeface="Calibri" panose="020F0502020204030204"/>
                        </a:defRPr>
                      </a:lvl7pPr>
                      <a:lvl8pPr marL="0" algn="l" defTabSz="914400" rtl="0" eaLnBrk="1" latinLnBrk="0" hangingPunct="1">
                        <a:defRPr sz="1300" kern="1200">
                          <a:solidFill>
                            <a:schemeClr val="tx1"/>
                          </a:solidFill>
                          <a:latin typeface="Calibri" panose="020F0502020204030204"/>
                        </a:defRPr>
                      </a:lvl8pPr>
                      <a:lvl9pPr marL="0" algn="l" defTabSz="914400" rtl="0" eaLnBrk="1" latinLnBrk="0" hangingPunct="1">
                        <a:defRPr sz="1300" kern="1200">
                          <a:solidFill>
                            <a:schemeClr val="tx1"/>
                          </a:solidFill>
                          <a:latin typeface="Calibri" panose="020F0502020204030204"/>
                        </a:defRPr>
                      </a:lvl9pPr>
                    </a:lstStyle>
                    <a:p>
                      <a:pPr>
                        <a:spcAft>
                          <a:spcPts val="400"/>
                        </a:spcAft>
                      </a:pPr>
                      <a:r>
                        <a:rPr lang="en-US" sz="1200" b="1" i="0" u="none" baseline="0">
                          <a:latin typeface="+mn-lt"/>
                          <a:ea typeface="Tahoma" panose="020B0604030504040204" pitchFamily="34" charset="0"/>
                          <a:cs typeface="Tahoma" panose="020B0604030504040204" pitchFamily="34" charset="0"/>
                        </a:rPr>
                        <a:t>2 PART ASSESSMENT </a:t>
                      </a:r>
                      <a:r>
                        <a:rPr lang="en-US" sz="1200" i="0" u="none" baseline="0">
                          <a:latin typeface="+mn-lt"/>
                          <a:ea typeface="Tahoma" panose="020B0604030504040204" pitchFamily="34" charset="0"/>
                          <a:cs typeface="Tahoma" panose="020B0604030504040204" pitchFamily="34" charset="0"/>
                        </a:rPr>
                        <a:t>includes a free flow conversation and call simulation</a:t>
                      </a:r>
                    </a:p>
                    <a:p>
                      <a:pPr marL="171450" indent="-171450">
                        <a:spcAft>
                          <a:spcPts val="400"/>
                        </a:spcAft>
                        <a:buFont typeface="Wingdings" panose="05000000000000000000" pitchFamily="2" charset="2"/>
                        <a:buChar char="§"/>
                      </a:pPr>
                      <a:r>
                        <a:rPr lang="en-US" sz="1200" b="1">
                          <a:latin typeface="+mn-lt"/>
                          <a:ea typeface="Tahoma" panose="020B0604030504040204" pitchFamily="34" charset="0"/>
                          <a:cs typeface="Tahoma" panose="020B0604030504040204" pitchFamily="34" charset="0"/>
                        </a:rPr>
                        <a:t>Conversation</a:t>
                      </a:r>
                      <a:r>
                        <a:rPr lang="en-US" sz="1200">
                          <a:latin typeface="+mn-lt"/>
                          <a:ea typeface="Tahoma" panose="020B0604030504040204" pitchFamily="34" charset="0"/>
                          <a:cs typeface="Tahoma" panose="020B0604030504040204" pitchFamily="34" charset="0"/>
                        </a:rPr>
                        <a:t> – </a:t>
                      </a:r>
                      <a:r>
                        <a:rPr lang="en-US" sz="1200">
                          <a:latin typeface="+mn-lt"/>
                        </a:rPr>
                        <a:t>Participant will be asked to share something about their self. The succeeding questions will be based on what they will share. </a:t>
                      </a:r>
                      <a:endParaRPr lang="en-US" sz="1200">
                        <a:latin typeface="+mn-lt"/>
                        <a:ea typeface="Tahoma" panose="020B0604030504040204" pitchFamily="34" charset="0"/>
                        <a:cs typeface="Tahoma" panose="020B0604030504040204" pitchFamily="34" charset="0"/>
                      </a:endParaRPr>
                    </a:p>
                    <a:p>
                      <a:pPr marL="171450" indent="-171450">
                        <a:spcAft>
                          <a:spcPts val="400"/>
                        </a:spcAft>
                        <a:buFont typeface="Wingdings" panose="05000000000000000000" pitchFamily="2" charset="2"/>
                        <a:buChar char="§"/>
                      </a:pPr>
                      <a:r>
                        <a:rPr lang="en-US" sz="1200" b="1">
                          <a:latin typeface="+mn-lt"/>
                          <a:ea typeface="Tahoma" panose="020B0604030504040204" pitchFamily="34" charset="0"/>
                          <a:cs typeface="Tahoma" panose="020B0604030504040204" pitchFamily="34" charset="0"/>
                        </a:rPr>
                        <a:t>Job Audition </a:t>
                      </a:r>
                      <a:r>
                        <a:rPr lang="en-US" sz="1200">
                          <a:latin typeface="+mn-lt"/>
                          <a:ea typeface="Tahoma" panose="020B0604030504040204" pitchFamily="34" charset="0"/>
                          <a:cs typeface="Tahoma" panose="020B0604030504040204" pitchFamily="34" charset="0"/>
                        </a:rPr>
                        <a:t>– </a:t>
                      </a:r>
                      <a:r>
                        <a:rPr lang="en-US" sz="1200" i="0" u="none" baseline="0">
                          <a:latin typeface="+mn-lt"/>
                          <a:ea typeface="Tahoma" panose="020B0604030504040204" pitchFamily="34" charset="0"/>
                          <a:cs typeface="Tahoma" panose="020B0604030504040204" pitchFamily="34" charset="0"/>
                        </a:rPr>
                        <a:t>uses a standardized handout that is user-friendly with highly customizable scenarios that is relevant for all business.</a:t>
                      </a:r>
                    </a:p>
                    <a:p>
                      <a:pPr marL="171450" indent="-171450">
                        <a:spcAft>
                          <a:spcPts val="400"/>
                        </a:spcAft>
                        <a:buFont typeface="Wingdings" panose="05000000000000000000" pitchFamily="2" charset="2"/>
                        <a:buChar char="§"/>
                      </a:pPr>
                      <a:endParaRPr lang="en-US" sz="1200" i="0" u="none" baseline="0">
                        <a:latin typeface="+mn-lt"/>
                        <a:ea typeface="Tahoma" panose="020B0604030504040204" pitchFamily="34" charset="0"/>
                        <a:cs typeface="Tahoma" panose="020B0604030504040204" pitchFamily="34" charset="0"/>
                      </a:endParaRPr>
                    </a:p>
                    <a:p>
                      <a:pPr marL="0" indent="0">
                        <a:spcAft>
                          <a:spcPts val="400"/>
                        </a:spcAft>
                        <a:buFont typeface="Wingdings" panose="05000000000000000000" pitchFamily="2" charset="2"/>
                        <a:buNone/>
                      </a:pPr>
                      <a:r>
                        <a:rPr lang="en-US" sz="1200" i="0" u="none" baseline="0">
                          <a:latin typeface="+mn-lt"/>
                          <a:ea typeface="Tahoma" panose="020B0604030504040204" pitchFamily="34" charset="0"/>
                          <a:cs typeface="Tahoma" panose="020B0604030504040204" pitchFamily="34" charset="0"/>
                        </a:rPr>
                        <a:t>Assessments are conducted via Samespace (routing manager)</a:t>
                      </a:r>
                    </a:p>
                  </a:txBody>
                  <a:tcPr marT="91440">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33149981"/>
                  </a:ext>
                </a:extLst>
              </a:tr>
              <a:tr h="997072">
                <a:tc>
                  <a:txBody>
                    <a:bodyPr/>
                    <a:lstStyle/>
                    <a:p>
                      <a:pPr algn="ctr">
                        <a:spcBef>
                          <a:spcPts val="200"/>
                        </a:spcBef>
                        <a:spcAft>
                          <a:spcPts val="200"/>
                        </a:spcAft>
                      </a:pPr>
                      <a:r>
                        <a:rPr lang="en-US" sz="1200" b="1">
                          <a:solidFill>
                            <a:schemeClr val="tx1"/>
                          </a:solidFill>
                          <a:latin typeface="+mn-lt"/>
                        </a:rPr>
                        <a:t>Non-voice CAT Segments</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BFAF5"/>
                    </a:solidFill>
                  </a:tcPr>
                </a:tc>
                <a:tc>
                  <a:txBody>
                    <a:bodyPr/>
                    <a:lstStyle/>
                    <a:p>
                      <a:pPr marL="171450" indent="-171450" algn="l">
                        <a:spcAft>
                          <a:spcPts val="400"/>
                        </a:spcAft>
                        <a:buFont typeface="Wingdings" panose="05000000000000000000" pitchFamily="2" charset="2"/>
                        <a:buChar char="§"/>
                      </a:pPr>
                      <a:r>
                        <a:rPr lang="en-US" sz="1200" b="1">
                          <a:latin typeface="+mn-lt"/>
                          <a:ea typeface="Tahoma" panose="020B0604030504040204" pitchFamily="34" charset="0"/>
                          <a:cs typeface="Tahoma" panose="020B0604030504040204" pitchFamily="34" charset="0"/>
                        </a:rPr>
                        <a:t>Job Audition </a:t>
                      </a:r>
                      <a:r>
                        <a:rPr lang="en-US" sz="1200">
                          <a:latin typeface="+mn-lt"/>
                          <a:ea typeface="Tahoma" panose="020B0604030504040204" pitchFamily="34" charset="0"/>
                          <a:cs typeface="Tahoma" panose="020B0604030504040204" pitchFamily="34" charset="0"/>
                        </a:rPr>
                        <a:t>– </a:t>
                      </a:r>
                      <a:r>
                        <a:rPr lang="en-US" sz="1200" i="0" u="none" baseline="0">
                          <a:latin typeface="+mn-lt"/>
                          <a:ea typeface="Tahoma" panose="020B0604030504040204" pitchFamily="34" charset="0"/>
                          <a:cs typeface="Tahoma" panose="020B0604030504040204" pitchFamily="34" charset="0"/>
                        </a:rPr>
                        <a:t>uses a standardized handout that is user-friendly with highly customizable scenarios that is relevant for all business</a:t>
                      </a:r>
                    </a:p>
                    <a:p>
                      <a:pPr marL="171450" indent="-171450" algn="l">
                        <a:spcAft>
                          <a:spcPts val="400"/>
                        </a:spcAft>
                        <a:buFont typeface="Wingdings" panose="05000000000000000000" pitchFamily="2" charset="2"/>
                        <a:buChar char="§"/>
                      </a:pPr>
                      <a:endParaRPr lang="en-US" sz="1200" i="0" u="none" baseline="0">
                        <a:latin typeface="+mn-lt"/>
                        <a:ea typeface="Tahoma" panose="020B0604030504040204" pitchFamily="34" charset="0"/>
                        <a:cs typeface="Tahoma" panose="020B0604030504040204" pitchFamily="34" charset="0"/>
                      </a:endParaRPr>
                    </a:p>
                    <a:p>
                      <a:pPr marL="0" indent="0" algn="l">
                        <a:spcAft>
                          <a:spcPts val="400"/>
                        </a:spcAft>
                        <a:buFont typeface="Wingdings" panose="05000000000000000000" pitchFamily="2" charset="2"/>
                        <a:buNone/>
                      </a:pPr>
                      <a:r>
                        <a:rPr lang="en-US" sz="1200" i="0" u="none" baseline="0">
                          <a:latin typeface="+mn-lt"/>
                          <a:ea typeface="Tahoma" panose="020B0604030504040204" pitchFamily="34" charset="0"/>
                          <a:cs typeface="Tahoma" panose="020B0604030504040204" pitchFamily="34" charset="0"/>
                        </a:rPr>
                        <a:t>Email assessments are done via </a:t>
                      </a:r>
                      <a:r>
                        <a:rPr lang="en-US" sz="1200" i="0" u="none" baseline="0" err="1">
                          <a:latin typeface="+mn-lt"/>
                          <a:ea typeface="Tahoma" panose="020B0604030504040204" pitchFamily="34" charset="0"/>
                          <a:cs typeface="Tahoma" panose="020B0604030504040204" pitchFamily="34" charset="0"/>
                        </a:rPr>
                        <a:t>Testmoz</a:t>
                      </a:r>
                      <a:r>
                        <a:rPr lang="en-US" sz="1200" i="0" u="none" baseline="0">
                          <a:latin typeface="+mn-lt"/>
                          <a:ea typeface="Tahoma" panose="020B0604030504040204" pitchFamily="34" charset="0"/>
                          <a:cs typeface="Tahoma" panose="020B0604030504040204" pitchFamily="34" charset="0"/>
                        </a:rPr>
                        <a:t> (online tool)</a:t>
                      </a:r>
                    </a:p>
                    <a:p>
                      <a:pPr marL="0" indent="0" algn="l">
                        <a:spcAft>
                          <a:spcPts val="400"/>
                        </a:spcAft>
                        <a:buFont typeface="Wingdings" panose="05000000000000000000" pitchFamily="2" charset="2"/>
                        <a:buNone/>
                      </a:pPr>
                      <a:r>
                        <a:rPr lang="en-US" sz="1200" i="0" u="none" baseline="0">
                          <a:latin typeface="+mn-lt"/>
                          <a:ea typeface="Tahoma" panose="020B0604030504040204" pitchFamily="34" charset="0"/>
                          <a:cs typeface="Tahoma" panose="020B0604030504040204" pitchFamily="34" charset="0"/>
                        </a:rPr>
                        <a:t>Chat assessments are done via MS Teams</a:t>
                      </a:r>
                    </a:p>
                  </a:txBody>
                  <a:tcPr marT="91440" anchor="ctr">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BFAF5"/>
                    </a:solidFill>
                  </a:tcPr>
                </a:tc>
                <a:extLst>
                  <a:ext uri="{0D108BD9-81ED-4DB2-BD59-A6C34878D82A}">
                    <a16:rowId xmlns:a16="http://schemas.microsoft.com/office/drawing/2014/main" val="4051576257"/>
                  </a:ext>
                </a:extLst>
              </a:tr>
              <a:tr h="572216">
                <a:tc>
                  <a:txBody>
                    <a:bodyPr/>
                    <a:lstStyle/>
                    <a:p>
                      <a:pPr algn="ctr">
                        <a:spcBef>
                          <a:spcPts val="200"/>
                        </a:spcBef>
                        <a:spcAft>
                          <a:spcPts val="200"/>
                        </a:spcAft>
                      </a:pPr>
                      <a:r>
                        <a:rPr lang="en-US" sz="1200" b="1">
                          <a:solidFill>
                            <a:schemeClr val="tx1"/>
                          </a:solidFill>
                          <a:latin typeface="+mn-lt"/>
                        </a:rPr>
                        <a:t>Form Type</a:t>
                      </a:r>
                    </a:p>
                  </a:txBody>
                  <a:tcPr marT="91440" anchor="ctr">
                    <a:lnL w="38100" cap="flat" cmpd="sng" algn="ctr">
                      <a:solidFill>
                        <a:sysClr val="window" lastClr="FFFFFF"/>
                      </a:solidFill>
                      <a:prstDash val="solid"/>
                      <a:round/>
                      <a:headEnd type="none" w="med" len="med"/>
                      <a:tailEnd type="none" w="med" len="med"/>
                    </a:lnL>
                    <a:lnR w="38100" cap="flat" cmpd="sng" algn="ctr">
                      <a:solidFill>
                        <a:sysClr val="window" lastClr="FFFFFF"/>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200"/>
                        </a:spcBef>
                        <a:spcAft>
                          <a:spcPts val="200"/>
                        </a:spcAft>
                        <a:buClrTx/>
                        <a:buSzTx/>
                        <a:buFont typeface="Wingdings" panose="05000000000000000000" pitchFamily="2" charset="2"/>
                        <a:buNone/>
                        <a:tabLst/>
                        <a:defRPr/>
                      </a:pPr>
                      <a:r>
                        <a:rPr lang="en-US" sz="1200">
                          <a:latin typeface="+mn-lt"/>
                          <a:ea typeface="Tahoma" panose="020B0604030504040204" pitchFamily="34" charset="0"/>
                          <a:cs typeface="Tahoma" panose="020B0604030504040204" pitchFamily="34" charset="0"/>
                        </a:rPr>
                        <a:t>Universal CAT uses a</a:t>
                      </a:r>
                      <a:r>
                        <a:rPr lang="en-US" sz="1200" i="0" u="none" baseline="0">
                          <a:latin typeface="+mn-lt"/>
                          <a:ea typeface="Tahoma" panose="020B0604030504040204" pitchFamily="34" charset="0"/>
                          <a:cs typeface="Tahoma" panose="020B0604030504040204" pitchFamily="34" charset="0"/>
                        </a:rPr>
                        <a:t> standardized form supporting all businesses. This form is housed in the CAT Ecosystem in Lighthouse and will only have a single form designed for all accounts. A standardized </a:t>
                      </a:r>
                      <a:r>
                        <a:rPr lang="en-US" sz="1200">
                          <a:latin typeface="+mn-lt"/>
                          <a:ea typeface="Tahoma" panose="020B0604030504040204" pitchFamily="34" charset="0"/>
                          <a:cs typeface="Tahoma" panose="020B0604030504040204" pitchFamily="34" charset="0"/>
                        </a:rPr>
                        <a:t>handout is used with highly customized scenarios applicable to any LOB. </a:t>
                      </a:r>
                      <a:endParaRPr lang="en-US" sz="1200" i="0" u="none" baseline="0">
                        <a:latin typeface="+mn-lt"/>
                        <a:ea typeface="Tahoma" panose="020B0604030504040204" pitchFamily="34" charset="0"/>
                        <a:cs typeface="Tahoma" panose="020B0604030504040204" pitchFamily="34" charset="0"/>
                      </a:endParaRPr>
                    </a:p>
                  </a:txBody>
                  <a:tcPr marT="91440">
                    <a:lnL w="38100" cap="flat" cmpd="sng" algn="ctr">
                      <a:solidFill>
                        <a:sysClr val="window" lastClr="FFFFFF"/>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96078705"/>
                  </a:ext>
                </a:extLst>
              </a:tr>
            </a:tbl>
          </a:graphicData>
        </a:graphic>
      </p:graphicFrame>
    </p:spTree>
    <p:extLst>
      <p:ext uri="{BB962C8B-B14F-4D97-AF65-F5344CB8AC3E}">
        <p14:creationId xmlns:p14="http://schemas.microsoft.com/office/powerpoint/2010/main" val="349141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55C9A-9D75-3F04-04F2-B4E752135A01}"/>
              </a:ext>
            </a:extLst>
          </p:cNvPr>
          <p:cNvSpPr>
            <a:spLocks noGrp="1"/>
          </p:cNvSpPr>
          <p:nvPr>
            <p:ph type="title"/>
          </p:nvPr>
        </p:nvSpPr>
        <p:spPr/>
        <p:txBody>
          <a:bodyPr/>
          <a:lstStyle/>
          <a:p>
            <a:r>
              <a:rPr lang="en-US"/>
              <a:t>Voice CAT Endorsement Process</a:t>
            </a:r>
          </a:p>
        </p:txBody>
      </p:sp>
      <p:grpSp>
        <p:nvGrpSpPr>
          <p:cNvPr id="3" name="Group 2">
            <a:extLst>
              <a:ext uri="{FF2B5EF4-FFF2-40B4-BE49-F238E27FC236}">
                <a16:creationId xmlns:a16="http://schemas.microsoft.com/office/drawing/2014/main" id="{ED266F54-B5D1-1D16-D054-2E91B31D8CB5}"/>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E2130CD5-8D0F-42EF-6AF3-0A6FEEC64A98}"/>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5" name="TextBox 4">
              <a:extLst>
                <a:ext uri="{FF2B5EF4-FFF2-40B4-BE49-F238E27FC236}">
                  <a16:creationId xmlns:a16="http://schemas.microsoft.com/office/drawing/2014/main" id="{1E452645-678F-A1D1-53E5-E707B185200A}"/>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49E0EB83-3F3A-9FEC-32C9-A4DB8C9AD405}"/>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667A633C-1726-F1CF-6754-494F61A11F4F}"/>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2B15304-C9E6-4DEC-D795-C3F228E7090E}"/>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86943918-4E45-6358-DB74-582A30C872DD}"/>
              </a:ext>
            </a:extLst>
          </p:cNvPr>
          <p:cNvGrpSpPr/>
          <p:nvPr/>
        </p:nvGrpSpPr>
        <p:grpSpPr>
          <a:xfrm>
            <a:off x="5224281" y="4255220"/>
            <a:ext cx="1371600" cy="1828800"/>
            <a:chOff x="504825" y="1276349"/>
            <a:chExt cx="1371600" cy="1828800"/>
          </a:xfrm>
        </p:grpSpPr>
        <p:sp>
          <p:nvSpPr>
            <p:cNvPr id="12" name="Rounded Rectangle 216">
              <a:extLst>
                <a:ext uri="{FF2B5EF4-FFF2-40B4-BE49-F238E27FC236}">
                  <a16:creationId xmlns:a16="http://schemas.microsoft.com/office/drawing/2014/main" id="{2BC47C42-D194-F29D-9315-87D17F3AAE96}"/>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13" name="TextBox 12">
              <a:extLst>
                <a:ext uri="{FF2B5EF4-FFF2-40B4-BE49-F238E27FC236}">
                  <a16:creationId xmlns:a16="http://schemas.microsoft.com/office/drawing/2014/main" id="{E4F6E904-30AD-2678-3469-F94F31BA6C04}"/>
                </a:ext>
              </a:extLst>
            </p:cNvPr>
            <p:cNvSpPr txBox="1"/>
            <p:nvPr/>
          </p:nvSpPr>
          <p:spPr>
            <a:xfrm>
              <a:off x="542925" y="2171698"/>
              <a:ext cx="1295400" cy="629339"/>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a:solidFill>
                    <a:srgbClr val="55565A"/>
                  </a:solidFill>
                  <a:latin typeface="Arial"/>
                </a:rPr>
                <a:t>Assessment form is accessed via Lighthouse</a:t>
              </a:r>
              <a:endParaRPr lang="en-US" sz="1000" b="0" i="0" u="none" baseline="0">
                <a:solidFill>
                  <a:srgbClr val="55565A"/>
                </a:solidFill>
                <a:latin typeface="Arial"/>
              </a:endParaRPr>
            </a:p>
          </p:txBody>
        </p:sp>
      </p:grpSp>
      <p:pic>
        <p:nvPicPr>
          <p:cNvPr id="15" name="Picture 14">
            <a:extLst>
              <a:ext uri="{FF2B5EF4-FFF2-40B4-BE49-F238E27FC236}">
                <a16:creationId xmlns:a16="http://schemas.microsoft.com/office/drawing/2014/main" id="{06DC888C-0E31-5577-441B-31D619DDD7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2381" y="4285334"/>
            <a:ext cx="1179871" cy="884903"/>
          </a:xfrm>
          <a:prstGeom prst="rect">
            <a:avLst/>
          </a:prstGeom>
        </p:spPr>
      </p:pic>
      <p:sp>
        <p:nvSpPr>
          <p:cNvPr id="16" name="TextBox 15">
            <a:extLst>
              <a:ext uri="{FF2B5EF4-FFF2-40B4-BE49-F238E27FC236}">
                <a16:creationId xmlns:a16="http://schemas.microsoft.com/office/drawing/2014/main" id="{AF5FDC85-D5CB-8892-B48F-AA3F5D50CE51}"/>
              </a:ext>
            </a:extLst>
          </p:cNvPr>
          <p:cNvSpPr txBox="1"/>
          <p:nvPr/>
        </p:nvSpPr>
        <p:spPr>
          <a:xfrm>
            <a:off x="2207034" y="2843173"/>
            <a:ext cx="3888966" cy="444674"/>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Candidates with valid BLAST IDs will be endorsed to the CAT Center via Samespace</a:t>
            </a:r>
            <a:endParaRPr lang="en-US" sz="1000" b="1" i="0" u="none" baseline="0">
              <a:solidFill>
                <a:schemeClr val="tx1">
                  <a:lumMod val="75000"/>
                  <a:lumOff val="25000"/>
                </a:schemeClr>
              </a:solidFill>
              <a:latin typeface="Arial"/>
            </a:endParaRPr>
          </a:p>
        </p:txBody>
      </p:sp>
      <p:pic>
        <p:nvPicPr>
          <p:cNvPr id="18" name="Picture 17">
            <a:extLst>
              <a:ext uri="{FF2B5EF4-FFF2-40B4-BE49-F238E27FC236}">
                <a16:creationId xmlns:a16="http://schemas.microsoft.com/office/drawing/2014/main" id="{37AA84AB-04B3-4ABA-1894-BC02ADC64DB3}"/>
              </a:ext>
            </a:extLst>
          </p:cNvPr>
          <p:cNvPicPr>
            <a:picLocks noChangeAspect="1"/>
          </p:cNvPicPr>
          <p:nvPr/>
        </p:nvPicPr>
        <p:blipFill>
          <a:blip r:embed="rId5"/>
          <a:stretch>
            <a:fillRect/>
          </a:stretch>
        </p:blipFill>
        <p:spPr>
          <a:xfrm>
            <a:off x="597635" y="4178709"/>
            <a:ext cx="3979733" cy="1679346"/>
          </a:xfrm>
          <a:prstGeom prst="rect">
            <a:avLst/>
          </a:prstGeom>
        </p:spPr>
      </p:pic>
      <p:cxnSp>
        <p:nvCxnSpPr>
          <p:cNvPr id="19" name="Elbow Connector 17">
            <a:extLst>
              <a:ext uri="{FF2B5EF4-FFF2-40B4-BE49-F238E27FC236}">
                <a16:creationId xmlns:a16="http://schemas.microsoft.com/office/drawing/2014/main" id="{83B5D967-D407-CCA5-94C8-5BAA32DD64EE}"/>
              </a:ext>
            </a:extLst>
          </p:cNvPr>
          <p:cNvCxnSpPr>
            <a:cxnSpLocks/>
          </p:cNvCxnSpPr>
          <p:nvPr/>
        </p:nvCxnSpPr>
        <p:spPr>
          <a:xfrm rot="5400000">
            <a:off x="2901142" y="3595018"/>
            <a:ext cx="826725" cy="493678"/>
          </a:xfrm>
          <a:prstGeom prst="bentConnector3">
            <a:avLst>
              <a:gd name="adj1" fmla="val 50000"/>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8745474-4829-E8ED-9BC0-E7550B30BE1F}"/>
              </a:ext>
            </a:extLst>
          </p:cNvPr>
          <p:cNvCxnSpPr>
            <a:cxnSpLocks/>
          </p:cNvCxnSpPr>
          <p:nvPr/>
        </p:nvCxnSpPr>
        <p:spPr>
          <a:xfrm>
            <a:off x="4577368" y="5153284"/>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F39854DC-8BC6-58FA-EF37-87ACDDC0F960}"/>
              </a:ext>
            </a:extLst>
          </p:cNvPr>
          <p:cNvPicPr>
            <a:picLocks noChangeAspect="1"/>
          </p:cNvPicPr>
          <p:nvPr/>
        </p:nvPicPr>
        <p:blipFill>
          <a:blip r:embed="rId6"/>
          <a:stretch>
            <a:fillRect/>
          </a:stretch>
        </p:blipFill>
        <p:spPr>
          <a:xfrm>
            <a:off x="7170266" y="4285334"/>
            <a:ext cx="3912638" cy="1679347"/>
          </a:xfrm>
          <a:prstGeom prst="rect">
            <a:avLst/>
          </a:prstGeom>
        </p:spPr>
      </p:pic>
      <p:cxnSp>
        <p:nvCxnSpPr>
          <p:cNvPr id="26" name="Straight Arrow Connector 25">
            <a:extLst>
              <a:ext uri="{FF2B5EF4-FFF2-40B4-BE49-F238E27FC236}">
                <a16:creationId xmlns:a16="http://schemas.microsoft.com/office/drawing/2014/main" id="{D4B94EEB-6E99-2936-30B7-8E3F3918AB89}"/>
              </a:ext>
            </a:extLst>
          </p:cNvPr>
          <p:cNvCxnSpPr>
            <a:cxnSpLocks/>
          </p:cNvCxnSpPr>
          <p:nvPr/>
        </p:nvCxnSpPr>
        <p:spPr>
          <a:xfrm>
            <a:off x="6595881" y="5150568"/>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93A27879-868E-4517-54A4-AA248D93CB70}"/>
              </a:ext>
            </a:extLst>
          </p:cNvPr>
          <p:cNvPicPr>
            <a:picLocks noChangeAspect="1"/>
          </p:cNvPicPr>
          <p:nvPr/>
        </p:nvPicPr>
        <p:blipFill>
          <a:blip r:embed="rId7"/>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7708D6A7-F7CB-9C9C-7668-B88EAF9E8189}"/>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AD52031-D592-CC6F-0B30-D8ABAA6D990C}"/>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8A59833-2076-0B6A-D521-8678C450B3F1}"/>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C296D8-68CB-E661-E0E0-D453AC7C2496}"/>
              </a:ext>
            </a:extLst>
          </p:cNvPr>
          <p:cNvCxnSpPr>
            <a:cxnSpLocks/>
          </p:cNvCxnSpPr>
          <p:nvPr/>
        </p:nvCxnSpPr>
        <p:spPr>
          <a:xfrm flipV="1">
            <a:off x="9096971" y="3609537"/>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EB838C-C8A1-5593-B33F-236429679925}"/>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Results are published real time</a:t>
            </a:r>
            <a:endParaRPr lang="en-US" sz="1000" b="1" i="0" u="none" baseline="0">
              <a:solidFill>
                <a:schemeClr val="tx1">
                  <a:lumMod val="75000"/>
                  <a:lumOff val="25000"/>
                </a:schemeClr>
              </a:solidFill>
              <a:latin typeface="Arial"/>
            </a:endParaRPr>
          </a:p>
        </p:txBody>
      </p:sp>
    </p:spTree>
    <p:extLst>
      <p:ext uri="{BB962C8B-B14F-4D97-AF65-F5344CB8AC3E}">
        <p14:creationId xmlns:p14="http://schemas.microsoft.com/office/powerpoint/2010/main" val="1839259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F1A22-E7B8-47DF-01F2-9408FDD24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26D9E-7F2E-A4AD-906E-377D76A7EC6C}"/>
              </a:ext>
            </a:extLst>
          </p:cNvPr>
          <p:cNvSpPr>
            <a:spLocks noGrp="1"/>
          </p:cNvSpPr>
          <p:nvPr>
            <p:ph type="title"/>
          </p:nvPr>
        </p:nvSpPr>
        <p:spPr/>
        <p:txBody>
          <a:bodyPr/>
          <a:lstStyle/>
          <a:p>
            <a:r>
              <a:rPr lang="en-US"/>
              <a:t>Non-voice CAT Endorsement Process (Email)</a:t>
            </a:r>
          </a:p>
        </p:txBody>
      </p:sp>
      <p:grpSp>
        <p:nvGrpSpPr>
          <p:cNvPr id="3" name="Group 2">
            <a:extLst>
              <a:ext uri="{FF2B5EF4-FFF2-40B4-BE49-F238E27FC236}">
                <a16:creationId xmlns:a16="http://schemas.microsoft.com/office/drawing/2014/main" id="{9127DD3C-7926-669A-6036-F5305A1689BB}"/>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6EEAFB0B-1A9C-8DE7-C22F-FB17E9D8D0A0}"/>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5" name="TextBox 4">
              <a:extLst>
                <a:ext uri="{FF2B5EF4-FFF2-40B4-BE49-F238E27FC236}">
                  <a16:creationId xmlns:a16="http://schemas.microsoft.com/office/drawing/2014/main" id="{D3AF901D-45A3-731D-0C1E-F44FBBE966D8}"/>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69705FF1-5B67-8BE4-D1B4-FAF1EDC430DD}"/>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3C8A4FD0-AEFD-6A7F-AC69-88905154A7D0}"/>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7885F5D4-942E-155A-F80F-034B8A8E97D5}"/>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4BA12663-7784-D5B8-7A0A-1157539D32CA}"/>
              </a:ext>
            </a:extLst>
          </p:cNvPr>
          <p:cNvGrpSpPr/>
          <p:nvPr/>
        </p:nvGrpSpPr>
        <p:grpSpPr>
          <a:xfrm>
            <a:off x="4960373" y="4247181"/>
            <a:ext cx="1371600" cy="1828800"/>
            <a:chOff x="504825" y="1276349"/>
            <a:chExt cx="1371600" cy="1828800"/>
          </a:xfrm>
        </p:grpSpPr>
        <p:sp>
          <p:nvSpPr>
            <p:cNvPr id="12" name="Rounded Rectangle 216">
              <a:extLst>
                <a:ext uri="{FF2B5EF4-FFF2-40B4-BE49-F238E27FC236}">
                  <a16:creationId xmlns:a16="http://schemas.microsoft.com/office/drawing/2014/main" id="{21193C71-E38F-C862-78C9-059137B4214A}"/>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13" name="TextBox 12">
              <a:extLst>
                <a:ext uri="{FF2B5EF4-FFF2-40B4-BE49-F238E27FC236}">
                  <a16:creationId xmlns:a16="http://schemas.microsoft.com/office/drawing/2014/main" id="{373CAAC4-AC8C-6E54-3AB4-68DABD76DECC}"/>
                </a:ext>
              </a:extLst>
            </p:cNvPr>
            <p:cNvSpPr txBox="1"/>
            <p:nvPr/>
          </p:nvSpPr>
          <p:spPr>
            <a:xfrm>
              <a:off x="542925" y="2171698"/>
              <a:ext cx="1295400" cy="629339"/>
            </a:xfrm>
            <a:prstGeom prst="rect">
              <a:avLst/>
            </a:prstGeom>
            <a:noFill/>
          </p:spPr>
          <p:txBody>
            <a:bodyPr vert="horz" wrap="square" rtlCol="0">
              <a:spAutoFit/>
            </a:bodyPr>
            <a:lstStyle/>
            <a:p>
              <a:pPr>
                <a:lnSpc>
                  <a:spcPct val="120000"/>
                </a:lnSpc>
              </a:pPr>
              <a:r>
                <a:rPr lang="en-US" sz="1000">
                  <a:solidFill>
                    <a:srgbClr val="55565A"/>
                  </a:solidFill>
                </a:rPr>
                <a:t>Assessment form is accessed via Lighthouse</a:t>
              </a:r>
            </a:p>
          </p:txBody>
        </p:sp>
      </p:grpSp>
      <p:pic>
        <p:nvPicPr>
          <p:cNvPr id="15" name="Picture 14">
            <a:extLst>
              <a:ext uri="{FF2B5EF4-FFF2-40B4-BE49-F238E27FC236}">
                <a16:creationId xmlns:a16="http://schemas.microsoft.com/office/drawing/2014/main" id="{B50F1C35-43F4-489C-4215-9D0DD5D763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8473" y="4277295"/>
            <a:ext cx="1179871" cy="884903"/>
          </a:xfrm>
          <a:prstGeom prst="rect">
            <a:avLst/>
          </a:prstGeom>
        </p:spPr>
      </p:pic>
      <p:sp>
        <p:nvSpPr>
          <p:cNvPr id="16" name="TextBox 15">
            <a:extLst>
              <a:ext uri="{FF2B5EF4-FFF2-40B4-BE49-F238E27FC236}">
                <a16:creationId xmlns:a16="http://schemas.microsoft.com/office/drawing/2014/main" id="{596D4C0B-32CD-B13B-CBAE-B11CCF86FCEF}"/>
              </a:ext>
            </a:extLst>
          </p:cNvPr>
          <p:cNvSpPr txBox="1"/>
          <p:nvPr/>
        </p:nvSpPr>
        <p:spPr>
          <a:xfrm>
            <a:off x="2207034" y="2843173"/>
            <a:ext cx="3888966" cy="629339"/>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Candidates with valid BLAST IDs will be endorsed to the CAT Center via </a:t>
            </a:r>
            <a:r>
              <a:rPr lang="en-US" sz="1000" b="1" err="1">
                <a:solidFill>
                  <a:schemeClr val="tx1">
                    <a:lumMod val="75000"/>
                    <a:lumOff val="25000"/>
                  </a:schemeClr>
                </a:solidFill>
                <a:latin typeface="Arial"/>
              </a:rPr>
              <a:t>Testmoz</a:t>
            </a:r>
            <a:r>
              <a:rPr lang="en-US" sz="1000" b="1">
                <a:solidFill>
                  <a:schemeClr val="tx1">
                    <a:lumMod val="75000"/>
                    <a:lumOff val="25000"/>
                  </a:schemeClr>
                </a:solidFill>
                <a:latin typeface="Arial"/>
              </a:rPr>
              <a:t>. CAT assessor will receive an email via Outlook once response was submitted.</a:t>
            </a:r>
            <a:endParaRPr lang="en-US" sz="1000" b="1" i="0" u="none" baseline="0">
              <a:solidFill>
                <a:schemeClr val="tx1">
                  <a:lumMod val="75000"/>
                  <a:lumOff val="25000"/>
                </a:schemeClr>
              </a:solidFill>
              <a:latin typeface="Arial"/>
            </a:endParaRPr>
          </a:p>
        </p:txBody>
      </p:sp>
      <p:cxnSp>
        <p:nvCxnSpPr>
          <p:cNvPr id="19" name="Elbow Connector 17">
            <a:extLst>
              <a:ext uri="{FF2B5EF4-FFF2-40B4-BE49-F238E27FC236}">
                <a16:creationId xmlns:a16="http://schemas.microsoft.com/office/drawing/2014/main" id="{FF9082CD-1F0C-5B1F-D72E-DA63E3D9C665}"/>
              </a:ext>
            </a:extLst>
          </p:cNvPr>
          <p:cNvCxnSpPr>
            <a:cxnSpLocks/>
            <a:endCxn id="9" idx="0"/>
          </p:cNvCxnSpPr>
          <p:nvPr/>
        </p:nvCxnSpPr>
        <p:spPr>
          <a:xfrm rot="10800000" flipV="1">
            <a:off x="2421940" y="3469033"/>
            <a:ext cx="1166771" cy="826727"/>
          </a:xfrm>
          <a:prstGeom prst="bentConnector2">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9927693-C372-EE1E-951D-53DC2E1A1C8E}"/>
              </a:ext>
            </a:extLst>
          </p:cNvPr>
          <p:cNvCxnSpPr>
            <a:cxnSpLocks/>
          </p:cNvCxnSpPr>
          <p:nvPr/>
        </p:nvCxnSpPr>
        <p:spPr>
          <a:xfrm>
            <a:off x="4331562" y="5161581"/>
            <a:ext cx="569484"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822035E-29AB-ECED-6B14-156F39BF598D}"/>
              </a:ext>
            </a:extLst>
          </p:cNvPr>
          <p:cNvCxnSpPr>
            <a:cxnSpLocks/>
          </p:cNvCxnSpPr>
          <p:nvPr/>
        </p:nvCxnSpPr>
        <p:spPr>
          <a:xfrm>
            <a:off x="6410632" y="5150568"/>
            <a:ext cx="754733"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87704DD0-84F7-3924-B237-BAA7D4C6B6EB}"/>
              </a:ext>
            </a:extLst>
          </p:cNvPr>
          <p:cNvPicPr>
            <a:picLocks noChangeAspect="1"/>
          </p:cNvPicPr>
          <p:nvPr/>
        </p:nvPicPr>
        <p:blipFill>
          <a:blip r:embed="rId5"/>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1C74BEB7-3FE9-403A-2ED6-D30BD4147769}"/>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B0147E2-70F3-DFD0-5237-5C8BAF55CBAC}"/>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1EE9CAB-3C6D-7830-449A-A3D652CE18F3}"/>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5DEDBC5-07B0-DF8F-5DDE-E9EF8F46ADB8}"/>
              </a:ext>
            </a:extLst>
          </p:cNvPr>
          <p:cNvCxnSpPr>
            <a:cxnSpLocks/>
          </p:cNvCxnSpPr>
          <p:nvPr/>
        </p:nvCxnSpPr>
        <p:spPr>
          <a:xfrm flipV="1">
            <a:off x="9118768" y="3559554"/>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0B12D2D-B842-4DAB-ECFC-671383F25B0D}"/>
              </a:ext>
            </a:extLst>
          </p:cNvPr>
          <p:cNvPicPr>
            <a:picLocks noChangeAspect="1"/>
          </p:cNvPicPr>
          <p:nvPr/>
        </p:nvPicPr>
        <p:blipFill>
          <a:blip r:embed="rId6"/>
          <a:stretch>
            <a:fillRect/>
          </a:stretch>
        </p:blipFill>
        <p:spPr>
          <a:xfrm>
            <a:off x="597635" y="4295761"/>
            <a:ext cx="3648607" cy="1828800"/>
          </a:xfrm>
          <a:prstGeom prst="rect">
            <a:avLst/>
          </a:prstGeom>
        </p:spPr>
      </p:pic>
      <p:pic>
        <p:nvPicPr>
          <p:cNvPr id="22" name="Picture 21">
            <a:extLst>
              <a:ext uri="{FF2B5EF4-FFF2-40B4-BE49-F238E27FC236}">
                <a16:creationId xmlns:a16="http://schemas.microsoft.com/office/drawing/2014/main" id="{F49D6A02-6604-CA3A-554A-DEAAD3920F19}"/>
              </a:ext>
            </a:extLst>
          </p:cNvPr>
          <p:cNvPicPr>
            <a:picLocks noChangeAspect="1"/>
          </p:cNvPicPr>
          <p:nvPr/>
        </p:nvPicPr>
        <p:blipFill>
          <a:blip r:embed="rId7"/>
          <a:stretch>
            <a:fillRect/>
          </a:stretch>
        </p:blipFill>
        <p:spPr>
          <a:xfrm>
            <a:off x="7204693" y="4299621"/>
            <a:ext cx="4360259" cy="1824940"/>
          </a:xfrm>
          <a:prstGeom prst="rect">
            <a:avLst/>
          </a:prstGeom>
        </p:spPr>
      </p:pic>
      <p:sp>
        <p:nvSpPr>
          <p:cNvPr id="23" name="TextBox 22">
            <a:extLst>
              <a:ext uri="{FF2B5EF4-FFF2-40B4-BE49-F238E27FC236}">
                <a16:creationId xmlns:a16="http://schemas.microsoft.com/office/drawing/2014/main" id="{B4CD7956-FD2F-5D91-93D5-12E34CD0636D}"/>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Results are published real time</a:t>
            </a:r>
            <a:endParaRPr lang="en-US" sz="1000" b="1" i="0" u="none" baseline="0">
              <a:solidFill>
                <a:schemeClr val="tx1">
                  <a:lumMod val="75000"/>
                  <a:lumOff val="25000"/>
                </a:schemeClr>
              </a:solidFill>
              <a:latin typeface="Arial"/>
            </a:endParaRPr>
          </a:p>
        </p:txBody>
      </p:sp>
    </p:spTree>
    <p:extLst>
      <p:ext uri="{BB962C8B-B14F-4D97-AF65-F5344CB8AC3E}">
        <p14:creationId xmlns:p14="http://schemas.microsoft.com/office/powerpoint/2010/main" val="2763409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5FDFA-1B49-EE62-4C2B-80D923C5D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402821-0E89-ACE6-3EE6-D4252DDDED56}"/>
              </a:ext>
            </a:extLst>
          </p:cNvPr>
          <p:cNvSpPr>
            <a:spLocks noGrp="1"/>
          </p:cNvSpPr>
          <p:nvPr>
            <p:ph type="title"/>
          </p:nvPr>
        </p:nvSpPr>
        <p:spPr/>
        <p:txBody>
          <a:bodyPr/>
          <a:lstStyle/>
          <a:p>
            <a:r>
              <a:rPr lang="en-US"/>
              <a:t>Non-voice CAT Endorsement Process (Chat)</a:t>
            </a:r>
          </a:p>
        </p:txBody>
      </p:sp>
      <p:grpSp>
        <p:nvGrpSpPr>
          <p:cNvPr id="3" name="Group 2">
            <a:extLst>
              <a:ext uri="{FF2B5EF4-FFF2-40B4-BE49-F238E27FC236}">
                <a16:creationId xmlns:a16="http://schemas.microsoft.com/office/drawing/2014/main" id="{1985D2B8-7B6D-F124-DC7C-4E40C2A5597C}"/>
              </a:ext>
            </a:extLst>
          </p:cNvPr>
          <p:cNvGrpSpPr/>
          <p:nvPr/>
        </p:nvGrpSpPr>
        <p:grpSpPr>
          <a:xfrm>
            <a:off x="504825" y="1400174"/>
            <a:ext cx="1371600" cy="1828800"/>
            <a:chOff x="504825" y="1276349"/>
            <a:chExt cx="1371600" cy="1828800"/>
          </a:xfrm>
        </p:grpSpPr>
        <p:sp>
          <p:nvSpPr>
            <p:cNvPr id="4" name="Rounded Rectangle 3">
              <a:extLst>
                <a:ext uri="{FF2B5EF4-FFF2-40B4-BE49-F238E27FC236}">
                  <a16:creationId xmlns:a16="http://schemas.microsoft.com/office/drawing/2014/main" id="{D2D7F256-C729-5B9D-8ABA-E5E746B93BD7}"/>
                </a:ext>
              </a:extLst>
            </p:cNvPr>
            <p:cNvSpPr/>
            <p:nvPr/>
          </p:nvSpPr>
          <p:spPr>
            <a:xfrm>
              <a:off x="504825" y="1276349"/>
              <a:ext cx="1371600" cy="1828800"/>
            </a:xfrm>
            <a:prstGeom prst="roundRect">
              <a:avLst>
                <a:gd name="adj" fmla="val 9723"/>
              </a:avLst>
            </a:prstGeom>
            <a:solidFill>
              <a:schemeClr val="bg1"/>
            </a:solidFill>
            <a:ln w="19050">
              <a:solidFill>
                <a:schemeClr val="accent2">
                  <a:lumMod val="40000"/>
                  <a:lumOff val="6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5" name="TextBox 4">
              <a:extLst>
                <a:ext uri="{FF2B5EF4-FFF2-40B4-BE49-F238E27FC236}">
                  <a16:creationId xmlns:a16="http://schemas.microsoft.com/office/drawing/2014/main" id="{52F540F4-1BF2-D5A1-CEEA-3204A9106541}"/>
                </a:ext>
              </a:extLst>
            </p:cNvPr>
            <p:cNvSpPr txBox="1"/>
            <p:nvPr/>
          </p:nvSpPr>
          <p:spPr>
            <a:xfrm>
              <a:off x="542925" y="1983961"/>
              <a:ext cx="1295400" cy="814004"/>
            </a:xfrm>
            <a:prstGeom prst="rect">
              <a:avLst/>
            </a:prstGeom>
            <a:noFill/>
          </p:spPr>
          <p:txBody>
            <a:bodyPr vert="horz" wrap="square" rtlCol="0">
              <a:spAutoFit/>
            </a:bodyPr>
            <a:lstStyle/>
            <a:p>
              <a:pPr algn="l" rtl="0" eaLnBrk="1" fontAlgn="auto" hangingPunct="1">
                <a:lnSpc>
                  <a:spcPct val="120000"/>
                </a:lnSpc>
                <a:spcBef>
                  <a:spcPts val="0"/>
                </a:spcBef>
              </a:pPr>
              <a:r>
                <a:rPr lang="en-US" sz="1000" b="0" i="0" u="none" baseline="0">
                  <a:solidFill>
                    <a:schemeClr val="tx1">
                      <a:lumMod val="75000"/>
                      <a:lumOff val="25000"/>
                    </a:schemeClr>
                  </a:solidFill>
                  <a:latin typeface="Arial"/>
                </a:rPr>
                <a:t>Recruiter creates candidate profile to generate BLAST ID via Lighthouse</a:t>
              </a:r>
            </a:p>
          </p:txBody>
        </p:sp>
      </p:grpSp>
      <p:pic>
        <p:nvPicPr>
          <p:cNvPr id="7" name="Picture 6">
            <a:extLst>
              <a:ext uri="{FF2B5EF4-FFF2-40B4-BE49-F238E27FC236}">
                <a16:creationId xmlns:a16="http://schemas.microsoft.com/office/drawing/2014/main" id="{8453476A-AD23-F073-7EBD-44F29392026A}"/>
              </a:ext>
            </a:extLst>
          </p:cNvPr>
          <p:cNvPicPr>
            <a:picLocks noChangeAspect="1"/>
          </p:cNvPicPr>
          <p:nvPr/>
        </p:nvPicPr>
        <p:blipFill>
          <a:blip r:embed="rId2"/>
          <a:stretch>
            <a:fillRect/>
          </a:stretch>
        </p:blipFill>
        <p:spPr>
          <a:xfrm>
            <a:off x="2320413" y="1927125"/>
            <a:ext cx="3775587" cy="775400"/>
          </a:xfrm>
          <a:prstGeom prst="rect">
            <a:avLst/>
          </a:prstGeom>
        </p:spPr>
      </p:pic>
      <p:cxnSp>
        <p:nvCxnSpPr>
          <p:cNvPr id="8" name="Straight Arrow Connector 7">
            <a:extLst>
              <a:ext uri="{FF2B5EF4-FFF2-40B4-BE49-F238E27FC236}">
                <a16:creationId xmlns:a16="http://schemas.microsoft.com/office/drawing/2014/main" id="{EF5DB872-1D25-9193-E3B8-7C30A927C8FD}"/>
              </a:ext>
            </a:extLst>
          </p:cNvPr>
          <p:cNvCxnSpPr/>
          <p:nvPr/>
        </p:nvCxnSpPr>
        <p:spPr>
          <a:xfrm>
            <a:off x="1876425"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A8ED532-8038-8E93-02B7-89072602DEF1}"/>
              </a:ext>
            </a:extLst>
          </p:cNvPr>
          <p:cNvPicPr>
            <a:picLocks noChangeAspect="1"/>
          </p:cNvPicPr>
          <p:nvPr/>
        </p:nvPicPr>
        <p:blipFill>
          <a:blip r:embed="rId3"/>
          <a:stretch>
            <a:fillRect/>
          </a:stretch>
        </p:blipFill>
        <p:spPr>
          <a:xfrm>
            <a:off x="597635" y="1608208"/>
            <a:ext cx="1185980" cy="304699"/>
          </a:xfrm>
          <a:prstGeom prst="rect">
            <a:avLst/>
          </a:prstGeom>
        </p:spPr>
      </p:pic>
      <p:grpSp>
        <p:nvGrpSpPr>
          <p:cNvPr id="11" name="Group 10">
            <a:extLst>
              <a:ext uri="{FF2B5EF4-FFF2-40B4-BE49-F238E27FC236}">
                <a16:creationId xmlns:a16="http://schemas.microsoft.com/office/drawing/2014/main" id="{E4DD36BD-FEC8-57EB-6F40-8BA07E5C3A8E}"/>
              </a:ext>
            </a:extLst>
          </p:cNvPr>
          <p:cNvGrpSpPr/>
          <p:nvPr/>
        </p:nvGrpSpPr>
        <p:grpSpPr>
          <a:xfrm>
            <a:off x="4478594" y="4247181"/>
            <a:ext cx="1371600" cy="1828800"/>
            <a:chOff x="504825" y="1276349"/>
            <a:chExt cx="1371600" cy="1828800"/>
          </a:xfrm>
        </p:grpSpPr>
        <p:sp>
          <p:nvSpPr>
            <p:cNvPr id="12" name="Rounded Rectangle 216">
              <a:extLst>
                <a:ext uri="{FF2B5EF4-FFF2-40B4-BE49-F238E27FC236}">
                  <a16:creationId xmlns:a16="http://schemas.microsoft.com/office/drawing/2014/main" id="{1058DCA9-5967-7703-51D7-DFA01852C318}"/>
                </a:ext>
              </a:extLst>
            </p:cNvPr>
            <p:cNvSpPr/>
            <p:nvPr/>
          </p:nvSpPr>
          <p:spPr>
            <a:xfrm>
              <a:off x="504825" y="1276349"/>
              <a:ext cx="1371600" cy="1828800"/>
            </a:xfrm>
            <a:prstGeom prst="roundRect">
              <a:avLst>
                <a:gd name="adj" fmla="val 9723"/>
              </a:avLst>
            </a:prstGeom>
            <a:solidFill>
              <a:schemeClr val="bg1"/>
            </a:solidFill>
            <a:ln w="19050">
              <a:solidFill>
                <a:schemeClr val="accent1">
                  <a:lumMod val="60000"/>
                  <a:lumOff val="40000"/>
                </a:schemeClr>
              </a:solidFill>
            </a:ln>
            <a:effectLst>
              <a:outerShdw blurRad="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0"/>
                </a:spcBef>
                <a:spcAft>
                  <a:spcPts val="0"/>
                </a:spcAft>
              </a:pPr>
              <a:endParaRPr lang="en-US" sz="1800" b="0" i="0" u="none" baseline="0">
                <a:solidFill>
                  <a:srgbClr val="FFFFFF"/>
                </a:solidFill>
                <a:latin typeface="Arial"/>
              </a:endParaRPr>
            </a:p>
          </p:txBody>
        </p:sp>
        <p:sp>
          <p:nvSpPr>
            <p:cNvPr id="13" name="TextBox 12">
              <a:extLst>
                <a:ext uri="{FF2B5EF4-FFF2-40B4-BE49-F238E27FC236}">
                  <a16:creationId xmlns:a16="http://schemas.microsoft.com/office/drawing/2014/main" id="{CB7BAECE-C54E-2740-276D-4DAD00EB5D7D}"/>
                </a:ext>
              </a:extLst>
            </p:cNvPr>
            <p:cNvSpPr txBox="1"/>
            <p:nvPr/>
          </p:nvSpPr>
          <p:spPr>
            <a:xfrm>
              <a:off x="542925" y="2171698"/>
              <a:ext cx="1295400" cy="629339"/>
            </a:xfrm>
            <a:prstGeom prst="rect">
              <a:avLst/>
            </a:prstGeom>
            <a:noFill/>
          </p:spPr>
          <p:txBody>
            <a:bodyPr vert="horz" wrap="square" rtlCol="0">
              <a:spAutoFit/>
            </a:bodyPr>
            <a:lstStyle/>
            <a:p>
              <a:pPr>
                <a:lnSpc>
                  <a:spcPct val="120000"/>
                </a:lnSpc>
              </a:pPr>
              <a:r>
                <a:rPr lang="en-US" sz="1000">
                  <a:solidFill>
                    <a:srgbClr val="55565A"/>
                  </a:solidFill>
                </a:rPr>
                <a:t>Assessment form is accessed via Lighthouse</a:t>
              </a:r>
            </a:p>
          </p:txBody>
        </p:sp>
      </p:grpSp>
      <p:pic>
        <p:nvPicPr>
          <p:cNvPr id="15" name="Picture 14">
            <a:extLst>
              <a:ext uri="{FF2B5EF4-FFF2-40B4-BE49-F238E27FC236}">
                <a16:creationId xmlns:a16="http://schemas.microsoft.com/office/drawing/2014/main" id="{90F49DEB-F186-2E1C-8963-D24A63413B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36413" y="4306437"/>
            <a:ext cx="1179871" cy="884903"/>
          </a:xfrm>
          <a:prstGeom prst="rect">
            <a:avLst/>
          </a:prstGeom>
        </p:spPr>
      </p:pic>
      <p:sp>
        <p:nvSpPr>
          <p:cNvPr id="16" name="TextBox 15">
            <a:extLst>
              <a:ext uri="{FF2B5EF4-FFF2-40B4-BE49-F238E27FC236}">
                <a16:creationId xmlns:a16="http://schemas.microsoft.com/office/drawing/2014/main" id="{9C8072F1-BDF2-6062-E197-7214A17AF5F9}"/>
              </a:ext>
            </a:extLst>
          </p:cNvPr>
          <p:cNvSpPr txBox="1"/>
          <p:nvPr/>
        </p:nvSpPr>
        <p:spPr>
          <a:xfrm>
            <a:off x="2207034" y="2843173"/>
            <a:ext cx="3888966" cy="629339"/>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Candidates with valid BLAST IDs will be endorsed to the CAT Center via MS Teams. CAT assessors will share a meeting link with TA and will wait for candidate to join</a:t>
            </a:r>
            <a:endParaRPr lang="en-US" sz="1000" b="1" i="0" u="none" baseline="0">
              <a:solidFill>
                <a:schemeClr val="tx1">
                  <a:lumMod val="75000"/>
                  <a:lumOff val="25000"/>
                </a:schemeClr>
              </a:solidFill>
              <a:latin typeface="Arial"/>
            </a:endParaRPr>
          </a:p>
        </p:txBody>
      </p:sp>
      <p:cxnSp>
        <p:nvCxnSpPr>
          <p:cNvPr id="19" name="Elbow Connector 17">
            <a:extLst>
              <a:ext uri="{FF2B5EF4-FFF2-40B4-BE49-F238E27FC236}">
                <a16:creationId xmlns:a16="http://schemas.microsoft.com/office/drawing/2014/main" id="{7344D745-3C0A-04E3-8CA2-9D7DE1DA9C8B}"/>
              </a:ext>
            </a:extLst>
          </p:cNvPr>
          <p:cNvCxnSpPr>
            <a:cxnSpLocks/>
          </p:cNvCxnSpPr>
          <p:nvPr/>
        </p:nvCxnSpPr>
        <p:spPr>
          <a:xfrm rot="10800000" flipV="1">
            <a:off x="2421940" y="3469033"/>
            <a:ext cx="1166771" cy="826727"/>
          </a:xfrm>
          <a:prstGeom prst="bentConnector2">
            <a:avLst/>
          </a:prstGeom>
          <a:ln w="19050" cap="rnd">
            <a:gradFill>
              <a:gsLst>
                <a:gs pos="0">
                  <a:schemeClr val="accent2"/>
                </a:gs>
                <a:gs pos="100000">
                  <a:schemeClr val="accent1"/>
                </a:gs>
              </a:gsLst>
              <a:lin ang="5400000" scaled="0"/>
            </a:gradFill>
            <a:headEnd type="oval" w="lg" len="lg"/>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AF79F62-0FA4-4578-B78C-A81202A8AF04}"/>
              </a:ext>
            </a:extLst>
          </p:cNvPr>
          <p:cNvCxnSpPr>
            <a:cxnSpLocks/>
          </p:cNvCxnSpPr>
          <p:nvPr/>
        </p:nvCxnSpPr>
        <p:spPr>
          <a:xfrm>
            <a:off x="3787723" y="5161581"/>
            <a:ext cx="574852"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C11446F-AEAF-85EF-A674-F5B28B269590}"/>
              </a:ext>
            </a:extLst>
          </p:cNvPr>
          <p:cNvCxnSpPr>
            <a:cxnSpLocks/>
          </p:cNvCxnSpPr>
          <p:nvPr/>
        </p:nvCxnSpPr>
        <p:spPr>
          <a:xfrm>
            <a:off x="6007509" y="5150568"/>
            <a:ext cx="754733" cy="0"/>
          </a:xfrm>
          <a:prstGeom prst="straightConnector1">
            <a:avLst/>
          </a:prstGeom>
          <a:ln w="19050" cap="rnd">
            <a:solidFill>
              <a:schemeClr val="accent1"/>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DB94D9D5-9506-8B87-B79E-5BB13A0523E8}"/>
              </a:ext>
            </a:extLst>
          </p:cNvPr>
          <p:cNvPicPr>
            <a:picLocks noChangeAspect="1"/>
          </p:cNvPicPr>
          <p:nvPr/>
        </p:nvPicPr>
        <p:blipFill>
          <a:blip r:embed="rId5"/>
          <a:stretch>
            <a:fillRect/>
          </a:stretch>
        </p:blipFill>
        <p:spPr>
          <a:xfrm>
            <a:off x="6599578" y="1187897"/>
            <a:ext cx="4994787" cy="2253353"/>
          </a:xfrm>
          <a:prstGeom prst="rect">
            <a:avLst/>
          </a:prstGeom>
        </p:spPr>
      </p:pic>
      <p:cxnSp>
        <p:nvCxnSpPr>
          <p:cNvPr id="29" name="Straight Connector 28">
            <a:extLst>
              <a:ext uri="{FF2B5EF4-FFF2-40B4-BE49-F238E27FC236}">
                <a16:creationId xmlns:a16="http://schemas.microsoft.com/office/drawing/2014/main" id="{11C27594-B049-2161-6E4B-E559CCE9B177}"/>
              </a:ext>
            </a:extLst>
          </p:cNvPr>
          <p:cNvCxnSpPr/>
          <p:nvPr/>
        </p:nvCxnSpPr>
        <p:spPr>
          <a:xfrm>
            <a:off x="6331973" y="1168192"/>
            <a:ext cx="0" cy="237744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A498E97-0832-6D91-A4DB-39AE489B4313}"/>
              </a:ext>
            </a:extLst>
          </p:cNvPr>
          <p:cNvCxnSpPr>
            <a:cxnSpLocks/>
          </p:cNvCxnSpPr>
          <p:nvPr/>
        </p:nvCxnSpPr>
        <p:spPr>
          <a:xfrm flipH="1">
            <a:off x="529377" y="3835685"/>
            <a:ext cx="10994029" cy="0"/>
          </a:xfrm>
          <a:prstGeom prst="line">
            <a:avLst/>
          </a:prstGeom>
          <a:ln w="19050" cap="rnd">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8CEDDE8-C760-86FA-A3BA-B8CB3D5D946A}"/>
              </a:ext>
            </a:extLst>
          </p:cNvPr>
          <p:cNvCxnSpPr/>
          <p:nvPr/>
        </p:nvCxnSpPr>
        <p:spPr>
          <a:xfrm>
            <a:off x="6138681" y="2298606"/>
            <a:ext cx="457200" cy="0"/>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13B52D4-C2A1-C4B0-2B02-7841E4B80BEB}"/>
              </a:ext>
            </a:extLst>
          </p:cNvPr>
          <p:cNvCxnSpPr>
            <a:cxnSpLocks/>
          </p:cNvCxnSpPr>
          <p:nvPr/>
        </p:nvCxnSpPr>
        <p:spPr>
          <a:xfrm flipV="1">
            <a:off x="9118768" y="3559554"/>
            <a:ext cx="0" cy="645683"/>
          </a:xfrm>
          <a:prstGeom prst="straightConnector1">
            <a:avLst/>
          </a:prstGeom>
          <a:ln w="19050" cap="rnd">
            <a:solidFill>
              <a:schemeClr val="accent2"/>
            </a:solidFill>
            <a:headEnd type="oval" w="lg" len="lg"/>
            <a:tailEnd type="triangle" w="med" len="med"/>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2D42D1AC-9E6A-848D-BD5E-F4F63C21623E}"/>
              </a:ext>
            </a:extLst>
          </p:cNvPr>
          <p:cNvPicPr>
            <a:picLocks noChangeAspect="1"/>
          </p:cNvPicPr>
          <p:nvPr/>
        </p:nvPicPr>
        <p:blipFill>
          <a:blip r:embed="rId6"/>
          <a:stretch>
            <a:fillRect/>
          </a:stretch>
        </p:blipFill>
        <p:spPr>
          <a:xfrm>
            <a:off x="6762242" y="4295760"/>
            <a:ext cx="4358041" cy="1882713"/>
          </a:xfrm>
          <a:prstGeom prst="rect">
            <a:avLst/>
          </a:prstGeom>
        </p:spPr>
      </p:pic>
      <p:pic>
        <p:nvPicPr>
          <p:cNvPr id="18" name="Picture 17">
            <a:extLst>
              <a:ext uri="{FF2B5EF4-FFF2-40B4-BE49-F238E27FC236}">
                <a16:creationId xmlns:a16="http://schemas.microsoft.com/office/drawing/2014/main" id="{63909D8E-5C09-1D39-0C32-003A5BF02F31}"/>
              </a:ext>
            </a:extLst>
          </p:cNvPr>
          <p:cNvPicPr>
            <a:picLocks noChangeAspect="1"/>
          </p:cNvPicPr>
          <p:nvPr/>
        </p:nvPicPr>
        <p:blipFill>
          <a:blip r:embed="rId7"/>
          <a:stretch>
            <a:fillRect/>
          </a:stretch>
        </p:blipFill>
        <p:spPr>
          <a:xfrm>
            <a:off x="597635" y="4315597"/>
            <a:ext cx="3069455" cy="1916714"/>
          </a:xfrm>
          <a:prstGeom prst="rect">
            <a:avLst/>
          </a:prstGeom>
        </p:spPr>
      </p:pic>
      <p:sp>
        <p:nvSpPr>
          <p:cNvPr id="23" name="TextBox 22">
            <a:extLst>
              <a:ext uri="{FF2B5EF4-FFF2-40B4-BE49-F238E27FC236}">
                <a16:creationId xmlns:a16="http://schemas.microsoft.com/office/drawing/2014/main" id="{B209AF11-05BA-98D7-4F10-FBDA8FAF6263}"/>
              </a:ext>
            </a:extLst>
          </p:cNvPr>
          <p:cNvSpPr txBox="1"/>
          <p:nvPr/>
        </p:nvSpPr>
        <p:spPr>
          <a:xfrm>
            <a:off x="9096971" y="3950170"/>
            <a:ext cx="2352404" cy="260008"/>
          </a:xfrm>
          <a:prstGeom prst="rect">
            <a:avLst/>
          </a:prstGeom>
          <a:noFill/>
        </p:spPr>
        <p:txBody>
          <a:bodyPr vert="horz" wrap="square" rtlCol="0">
            <a:spAutoFit/>
          </a:bodyPr>
          <a:lstStyle/>
          <a:p>
            <a:pPr algn="ctr" rtl="0" eaLnBrk="1" fontAlgn="auto" hangingPunct="1">
              <a:lnSpc>
                <a:spcPct val="120000"/>
              </a:lnSpc>
              <a:spcBef>
                <a:spcPts val="0"/>
              </a:spcBef>
            </a:pPr>
            <a:r>
              <a:rPr lang="en-US" sz="1000" b="1">
                <a:solidFill>
                  <a:schemeClr val="tx1">
                    <a:lumMod val="75000"/>
                    <a:lumOff val="25000"/>
                  </a:schemeClr>
                </a:solidFill>
                <a:latin typeface="Arial"/>
              </a:rPr>
              <a:t>Results are published real time</a:t>
            </a:r>
            <a:endParaRPr lang="en-US" sz="1000" b="1" i="0" u="none" baseline="0">
              <a:solidFill>
                <a:schemeClr val="tx1">
                  <a:lumMod val="75000"/>
                  <a:lumOff val="25000"/>
                </a:schemeClr>
              </a:solidFill>
              <a:latin typeface="Arial"/>
            </a:endParaRPr>
          </a:p>
        </p:txBody>
      </p:sp>
    </p:spTree>
    <p:extLst>
      <p:ext uri="{BB962C8B-B14F-4D97-AF65-F5344CB8AC3E}">
        <p14:creationId xmlns:p14="http://schemas.microsoft.com/office/powerpoint/2010/main" val="144324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0373" y="241398"/>
            <a:ext cx="3965996" cy="3145073"/>
            <a:chOff x="0" y="0"/>
            <a:chExt cx="1566813" cy="1242498"/>
          </a:xfrm>
        </p:grpSpPr>
        <p:sp>
          <p:nvSpPr>
            <p:cNvPr id="3" name="Freeform 3"/>
            <p:cNvSpPr/>
            <p:nvPr/>
          </p:nvSpPr>
          <p:spPr>
            <a:xfrm>
              <a:off x="0" y="0"/>
              <a:ext cx="1566813" cy="1242498"/>
            </a:xfrm>
            <a:custGeom>
              <a:avLst/>
              <a:gdLst/>
              <a:ahLst/>
              <a:cxnLst/>
              <a:rect l="l" t="t" r="r" b="b"/>
              <a:pathLst>
                <a:path w="1566813" h="1242498">
                  <a:moveTo>
                    <a:pt x="32535" y="0"/>
                  </a:moveTo>
                  <a:lnTo>
                    <a:pt x="1534279" y="0"/>
                  </a:lnTo>
                  <a:cubicBezTo>
                    <a:pt x="1542908" y="0"/>
                    <a:pt x="1551183" y="3428"/>
                    <a:pt x="1557284" y="9529"/>
                  </a:cubicBezTo>
                  <a:cubicBezTo>
                    <a:pt x="1563386" y="15631"/>
                    <a:pt x="1566813" y="23906"/>
                    <a:pt x="1566813" y="32535"/>
                  </a:cubicBezTo>
                  <a:lnTo>
                    <a:pt x="1566813" y="1209964"/>
                  </a:lnTo>
                  <a:cubicBezTo>
                    <a:pt x="1566813" y="1218592"/>
                    <a:pt x="1563386" y="1226868"/>
                    <a:pt x="1557284" y="1232969"/>
                  </a:cubicBezTo>
                  <a:cubicBezTo>
                    <a:pt x="1551183" y="1239070"/>
                    <a:pt x="1542908" y="1242498"/>
                    <a:pt x="1534279" y="1242498"/>
                  </a:cubicBezTo>
                  <a:lnTo>
                    <a:pt x="32535" y="1242498"/>
                  </a:lnTo>
                  <a:cubicBezTo>
                    <a:pt x="23906" y="1242498"/>
                    <a:pt x="15631" y="1239070"/>
                    <a:pt x="9529" y="1232969"/>
                  </a:cubicBezTo>
                  <a:cubicBezTo>
                    <a:pt x="3428" y="1226868"/>
                    <a:pt x="0" y="1218592"/>
                    <a:pt x="0" y="1209964"/>
                  </a:cubicBezTo>
                  <a:lnTo>
                    <a:pt x="0" y="32535"/>
                  </a:lnTo>
                  <a:cubicBezTo>
                    <a:pt x="0" y="23906"/>
                    <a:pt x="3428" y="15631"/>
                    <a:pt x="9529" y="9529"/>
                  </a:cubicBezTo>
                  <a:cubicBezTo>
                    <a:pt x="15631" y="3428"/>
                    <a:pt x="23906" y="0"/>
                    <a:pt x="32535"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4" name="TextBox 4"/>
            <p:cNvSpPr txBox="1"/>
            <p:nvPr/>
          </p:nvSpPr>
          <p:spPr>
            <a:xfrm>
              <a:off x="0" y="-47625"/>
              <a:ext cx="1566813" cy="1290123"/>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5" name="Freeform 5"/>
          <p:cNvSpPr/>
          <p:nvPr/>
        </p:nvSpPr>
        <p:spPr>
          <a:xfrm>
            <a:off x="361366" y="905869"/>
            <a:ext cx="882813" cy="882813"/>
          </a:xfrm>
          <a:custGeom>
            <a:avLst/>
            <a:gdLst/>
            <a:ahLst/>
            <a:cxnLst/>
            <a:rect l="l" t="t" r="r" b="b"/>
            <a:pathLst>
              <a:path w="1324220" h="1324220">
                <a:moveTo>
                  <a:pt x="0" y="0"/>
                </a:moveTo>
                <a:lnTo>
                  <a:pt x="1324220" y="0"/>
                </a:lnTo>
                <a:lnTo>
                  <a:pt x="1324220" y="1324219"/>
                </a:lnTo>
                <a:lnTo>
                  <a:pt x="0" y="13242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US" sz="1200">
              <a:solidFill>
                <a:prstClr val="black"/>
              </a:solidFill>
              <a:latin typeface="Calibri"/>
            </a:endParaRPr>
          </a:p>
        </p:txBody>
      </p:sp>
      <p:grpSp>
        <p:nvGrpSpPr>
          <p:cNvPr id="6" name="Group 6"/>
          <p:cNvGrpSpPr/>
          <p:nvPr/>
        </p:nvGrpSpPr>
        <p:grpSpPr>
          <a:xfrm>
            <a:off x="1462172" y="757659"/>
            <a:ext cx="2732859" cy="1153287"/>
            <a:chOff x="0" y="-57150"/>
            <a:chExt cx="5465717" cy="2306575"/>
          </a:xfrm>
        </p:grpSpPr>
        <p:sp>
          <p:nvSpPr>
            <p:cNvPr id="7" name="TextBox 7"/>
            <p:cNvSpPr txBox="1"/>
            <p:nvPr/>
          </p:nvSpPr>
          <p:spPr>
            <a:xfrm>
              <a:off x="0" y="-57150"/>
              <a:ext cx="1931184" cy="281360"/>
            </a:xfrm>
            <a:prstGeom prst="rect">
              <a:avLst/>
            </a:prstGeom>
          </p:spPr>
          <p:txBody>
            <a:bodyPr wrap="square"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Member Name:</a:t>
              </a:r>
            </a:p>
          </p:txBody>
        </p:sp>
        <p:sp>
          <p:nvSpPr>
            <p:cNvPr id="8" name="TextBox 8"/>
            <p:cNvSpPr txBox="1"/>
            <p:nvPr/>
          </p:nvSpPr>
          <p:spPr>
            <a:xfrm>
              <a:off x="0" y="272638"/>
              <a:ext cx="1792480" cy="281360"/>
            </a:xfrm>
            <a:prstGeom prst="rect">
              <a:avLst/>
            </a:prstGeom>
          </p:spPr>
          <p:txBody>
            <a:bodyPr wrap="square"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Date of Birth:</a:t>
              </a:r>
            </a:p>
          </p:txBody>
        </p:sp>
        <p:sp>
          <p:nvSpPr>
            <p:cNvPr id="9" name="TextBox 9"/>
            <p:cNvSpPr txBox="1"/>
            <p:nvPr/>
          </p:nvSpPr>
          <p:spPr>
            <a:xfrm>
              <a:off x="0" y="651098"/>
              <a:ext cx="1674956"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Phone Number:</a:t>
              </a:r>
            </a:p>
          </p:txBody>
        </p:sp>
        <p:sp>
          <p:nvSpPr>
            <p:cNvPr id="10" name="TextBox 10"/>
            <p:cNvSpPr txBox="1"/>
            <p:nvPr/>
          </p:nvSpPr>
          <p:spPr>
            <a:xfrm>
              <a:off x="13546" y="1968065"/>
              <a:ext cx="1715060"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E-mail Address:</a:t>
              </a:r>
            </a:p>
          </p:txBody>
        </p:sp>
        <p:sp>
          <p:nvSpPr>
            <p:cNvPr id="11" name="TextBox 11"/>
            <p:cNvSpPr txBox="1"/>
            <p:nvPr/>
          </p:nvSpPr>
          <p:spPr>
            <a:xfrm>
              <a:off x="2284498" y="651098"/>
              <a:ext cx="1573424" cy="281360"/>
            </a:xfrm>
            <a:prstGeom prst="rect">
              <a:avLst/>
            </a:prstGeom>
          </p:spPr>
          <p:txBody>
            <a:bodyPr lIns="0" tIns="0" rIns="0" bIns="0" rtlCol="0" anchor="t">
              <a:spAutoFit/>
            </a:bodyPr>
            <a:lstStyle/>
            <a:p>
              <a:pPr defTabSz="609630">
                <a:lnSpc>
                  <a:spcPts val="1213"/>
                </a:lnSpc>
              </a:pPr>
              <a:r>
                <a:rPr lang="en-US" sz="866">
                  <a:solidFill>
                    <a:srgbClr val="4B4D4F"/>
                  </a:solidFill>
                  <a:latin typeface="Arial MT Pro"/>
                  <a:ea typeface="Arial MT Pro"/>
                  <a:cs typeface="Arial MT Pro"/>
                  <a:sym typeface="Arial MT Pro"/>
                </a:rPr>
                <a:t>(814) 733-5456</a:t>
              </a:r>
            </a:p>
          </p:txBody>
        </p:sp>
        <p:sp>
          <p:nvSpPr>
            <p:cNvPr id="12" name="TextBox 12"/>
            <p:cNvSpPr txBox="1"/>
            <p:nvPr/>
          </p:nvSpPr>
          <p:spPr>
            <a:xfrm>
              <a:off x="2273396" y="1968065"/>
              <a:ext cx="2377574" cy="281360"/>
            </a:xfrm>
            <a:prstGeom prst="rect">
              <a:avLst/>
            </a:prstGeom>
          </p:spPr>
          <p:txBody>
            <a:bodyPr lIns="0" tIns="0" rIns="0" bIns="0" rtlCol="0" anchor="t">
              <a:spAutoFit/>
            </a:bodyPr>
            <a:lstStyle/>
            <a:p>
              <a:pPr defTabSz="609630">
                <a:lnSpc>
                  <a:spcPts val="1213"/>
                </a:lnSpc>
              </a:pPr>
              <a:r>
                <a:rPr lang="en-US" sz="866" i="1">
                  <a:solidFill>
                    <a:srgbClr val="933C21"/>
                  </a:solidFill>
                  <a:latin typeface="Arial MT Pro Italics"/>
                  <a:ea typeface="Arial MT Pro Italics"/>
                  <a:cs typeface="Arial MT Pro Italics"/>
                  <a:sym typeface="Arial MT Pro Italics"/>
                </a:rPr>
                <a:t>[Update Needed]</a:t>
              </a:r>
            </a:p>
          </p:txBody>
        </p:sp>
        <p:sp>
          <p:nvSpPr>
            <p:cNvPr id="13" name="TextBox 13"/>
            <p:cNvSpPr txBox="1"/>
            <p:nvPr/>
          </p:nvSpPr>
          <p:spPr>
            <a:xfrm>
              <a:off x="0" y="1611219"/>
              <a:ext cx="2441448" cy="281360"/>
            </a:xfrm>
            <a:prstGeom prst="rect">
              <a:avLst/>
            </a:prstGeom>
          </p:spPr>
          <p:txBody>
            <a:bodyPr wrap="square"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Emergency Contact:</a:t>
              </a:r>
            </a:p>
          </p:txBody>
        </p:sp>
        <p:sp>
          <p:nvSpPr>
            <p:cNvPr id="14" name="TextBox 14"/>
            <p:cNvSpPr txBox="1"/>
            <p:nvPr/>
          </p:nvSpPr>
          <p:spPr>
            <a:xfrm>
              <a:off x="0" y="999078"/>
              <a:ext cx="1730480" cy="281360"/>
            </a:xfrm>
            <a:prstGeom prst="rect">
              <a:avLst/>
            </a:prstGeom>
          </p:spPr>
          <p:txBody>
            <a:bodyPr lIns="0" tIns="0" rIns="0" bIns="0" rtlCol="0" anchor="t">
              <a:spAutoFit/>
            </a:bodyPr>
            <a:lstStyle/>
            <a:p>
              <a:pPr defTabSz="609630">
                <a:lnSpc>
                  <a:spcPts val="1213"/>
                </a:lnSpc>
              </a:pPr>
              <a:r>
                <a:rPr lang="en-US" sz="866" b="1">
                  <a:solidFill>
                    <a:srgbClr val="4B4D4F"/>
                  </a:solidFill>
                  <a:latin typeface="Arial MT Pro Bold"/>
                  <a:ea typeface="Arial MT Pro Bold"/>
                  <a:cs typeface="Arial MT Pro Bold"/>
                  <a:sym typeface="Arial MT Pro Bold"/>
                </a:rPr>
                <a:t>Home Address:</a:t>
              </a:r>
            </a:p>
          </p:txBody>
        </p:sp>
        <p:sp>
          <p:nvSpPr>
            <p:cNvPr id="15" name="TextBox 15"/>
            <p:cNvSpPr txBox="1"/>
            <p:nvPr/>
          </p:nvSpPr>
          <p:spPr>
            <a:xfrm>
              <a:off x="2284498" y="978758"/>
              <a:ext cx="3181219" cy="589136"/>
            </a:xfrm>
            <a:prstGeom prst="rect">
              <a:avLst/>
            </a:prstGeom>
          </p:spPr>
          <p:txBody>
            <a:bodyPr wrap="square" lIns="0" tIns="0" rIns="0" bIns="0" rtlCol="0" anchor="t">
              <a:spAutoFit/>
            </a:bodyPr>
            <a:lstStyle/>
            <a:p>
              <a:pPr defTabSz="609630">
                <a:lnSpc>
                  <a:spcPts val="1213"/>
                </a:lnSpc>
              </a:pPr>
              <a:r>
                <a:rPr lang="en-US" sz="866">
                  <a:solidFill>
                    <a:srgbClr val="4B4D4F"/>
                  </a:solidFill>
                  <a:latin typeface="Arial MT Pro"/>
                  <a:ea typeface="Arial MT Pro"/>
                  <a:cs typeface="Arial MT Pro"/>
                  <a:sym typeface="Arial MT Pro"/>
                </a:rPr>
                <a:t>1775 John McClane Avenue</a:t>
              </a:r>
            </a:p>
            <a:p>
              <a:pPr defTabSz="609630">
                <a:lnSpc>
                  <a:spcPts val="1213"/>
                </a:lnSpc>
              </a:pPr>
              <a:r>
                <a:rPr lang="en-US" sz="866">
                  <a:solidFill>
                    <a:srgbClr val="4B4D4F"/>
                  </a:solidFill>
                  <a:latin typeface="Arial MT Pro"/>
                  <a:ea typeface="Arial MT Pro"/>
                  <a:cs typeface="Arial MT Pro"/>
                  <a:sym typeface="Arial MT Pro"/>
                </a:rPr>
                <a:t>Manifold, CA 92405</a:t>
              </a:r>
            </a:p>
          </p:txBody>
        </p:sp>
        <p:sp>
          <p:nvSpPr>
            <p:cNvPr id="16" name="TextBox 16"/>
            <p:cNvSpPr txBox="1"/>
            <p:nvPr/>
          </p:nvSpPr>
          <p:spPr>
            <a:xfrm>
              <a:off x="2284498" y="1615061"/>
              <a:ext cx="2377574" cy="281360"/>
            </a:xfrm>
            <a:prstGeom prst="rect">
              <a:avLst/>
            </a:prstGeom>
          </p:spPr>
          <p:txBody>
            <a:bodyPr lIns="0" tIns="0" rIns="0" bIns="0" rtlCol="0" anchor="t">
              <a:spAutoFit/>
            </a:bodyPr>
            <a:lstStyle/>
            <a:p>
              <a:pPr defTabSz="609630">
                <a:lnSpc>
                  <a:spcPts val="1213"/>
                </a:lnSpc>
              </a:pPr>
              <a:r>
                <a:rPr lang="en-US" sz="866" i="1">
                  <a:solidFill>
                    <a:srgbClr val="933C21"/>
                  </a:solidFill>
                  <a:latin typeface="Arial MT Pro Italics"/>
                  <a:ea typeface="Arial MT Pro Italics"/>
                  <a:cs typeface="Arial MT Pro Italics"/>
                  <a:sym typeface="Arial MT Pro Italics"/>
                </a:rPr>
                <a:t>[Update Needed]</a:t>
              </a:r>
            </a:p>
          </p:txBody>
        </p:sp>
      </p:grpSp>
      <p:sp>
        <p:nvSpPr>
          <p:cNvPr id="17" name="TextBox 17"/>
          <p:cNvSpPr txBox="1"/>
          <p:nvPr/>
        </p:nvSpPr>
        <p:spPr>
          <a:xfrm>
            <a:off x="323933" y="413534"/>
            <a:ext cx="1220724" cy="163891"/>
          </a:xfrm>
          <a:prstGeom prst="rect">
            <a:avLst/>
          </a:prstGeom>
        </p:spPr>
        <p:txBody>
          <a:bodyPr lIns="0" tIns="0" rIns="0" bIns="0" rtlCol="0" anchor="t">
            <a:spAutoFit/>
          </a:bodyPr>
          <a:lstStyle/>
          <a:p>
            <a:pPr defTabSz="609630">
              <a:lnSpc>
                <a:spcPts val="1400"/>
              </a:lnSpc>
            </a:pPr>
            <a:r>
              <a:rPr lang="en-US" sz="1000" b="1">
                <a:solidFill>
                  <a:srgbClr val="243270"/>
                </a:solidFill>
                <a:latin typeface="Arial MT Pro Bold"/>
                <a:ea typeface="Arial MT Pro Bold"/>
                <a:cs typeface="Arial MT Pro Bold"/>
                <a:sym typeface="Arial MT Pro Bold"/>
              </a:rPr>
              <a:t>Member Information</a:t>
            </a:r>
          </a:p>
        </p:txBody>
      </p:sp>
      <p:grpSp>
        <p:nvGrpSpPr>
          <p:cNvPr id="18" name="Group 18"/>
          <p:cNvGrpSpPr/>
          <p:nvPr/>
        </p:nvGrpSpPr>
        <p:grpSpPr>
          <a:xfrm>
            <a:off x="4195031" y="241398"/>
            <a:ext cx="5849571" cy="1693309"/>
            <a:chOff x="0" y="0"/>
            <a:chExt cx="2310941" cy="668962"/>
          </a:xfrm>
        </p:grpSpPr>
        <p:sp>
          <p:nvSpPr>
            <p:cNvPr id="19" name="Freeform 19"/>
            <p:cNvSpPr/>
            <p:nvPr/>
          </p:nvSpPr>
          <p:spPr>
            <a:xfrm>
              <a:off x="0" y="0"/>
              <a:ext cx="2310942" cy="668962"/>
            </a:xfrm>
            <a:custGeom>
              <a:avLst/>
              <a:gdLst/>
              <a:ahLst/>
              <a:cxnLst/>
              <a:rect l="l" t="t" r="r" b="b"/>
              <a:pathLst>
                <a:path w="2310942" h="668962">
                  <a:moveTo>
                    <a:pt x="22058" y="0"/>
                  </a:moveTo>
                  <a:lnTo>
                    <a:pt x="2288883" y="0"/>
                  </a:lnTo>
                  <a:cubicBezTo>
                    <a:pt x="2294733" y="0"/>
                    <a:pt x="2300344" y="2324"/>
                    <a:pt x="2304481" y="6461"/>
                  </a:cubicBezTo>
                  <a:cubicBezTo>
                    <a:pt x="2308617" y="10597"/>
                    <a:pt x="2310942" y="16208"/>
                    <a:pt x="2310942" y="22058"/>
                  </a:cubicBezTo>
                  <a:lnTo>
                    <a:pt x="2310942" y="646903"/>
                  </a:lnTo>
                  <a:cubicBezTo>
                    <a:pt x="2310942" y="659086"/>
                    <a:pt x="2301066" y="668962"/>
                    <a:pt x="2288883" y="668962"/>
                  </a:cubicBezTo>
                  <a:lnTo>
                    <a:pt x="22058" y="668962"/>
                  </a:lnTo>
                  <a:cubicBezTo>
                    <a:pt x="9876" y="668962"/>
                    <a:pt x="0" y="659086"/>
                    <a:pt x="0" y="646903"/>
                  </a:cubicBezTo>
                  <a:lnTo>
                    <a:pt x="0" y="22058"/>
                  </a:lnTo>
                  <a:cubicBezTo>
                    <a:pt x="0" y="9876"/>
                    <a:pt x="9876" y="0"/>
                    <a:pt x="2205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20" name="TextBox 20"/>
            <p:cNvSpPr txBox="1"/>
            <p:nvPr/>
          </p:nvSpPr>
          <p:spPr>
            <a:xfrm>
              <a:off x="0" y="-76200"/>
              <a:ext cx="2310941" cy="74516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21" name="Group 21"/>
          <p:cNvGrpSpPr/>
          <p:nvPr/>
        </p:nvGrpSpPr>
        <p:grpSpPr>
          <a:xfrm>
            <a:off x="4370141" y="594358"/>
            <a:ext cx="5414071" cy="280498"/>
            <a:chOff x="0" y="0"/>
            <a:chExt cx="1781886" cy="92318"/>
          </a:xfrm>
        </p:grpSpPr>
        <p:sp>
          <p:nvSpPr>
            <p:cNvPr id="22" name="Freeform 22"/>
            <p:cNvSpPr/>
            <p:nvPr/>
          </p:nvSpPr>
          <p:spPr>
            <a:xfrm>
              <a:off x="0" y="0"/>
              <a:ext cx="1781886" cy="92318"/>
            </a:xfrm>
            <a:custGeom>
              <a:avLst/>
              <a:gdLst/>
              <a:ahLst/>
              <a:cxnLst/>
              <a:rect l="l" t="t" r="r" b="b"/>
              <a:pathLst>
                <a:path w="1781886" h="92318">
                  <a:moveTo>
                    <a:pt x="14300" y="0"/>
                  </a:moveTo>
                  <a:lnTo>
                    <a:pt x="1767586" y="0"/>
                  </a:lnTo>
                  <a:cubicBezTo>
                    <a:pt x="1775483" y="0"/>
                    <a:pt x="1781886" y="6402"/>
                    <a:pt x="1781886" y="14300"/>
                  </a:cubicBezTo>
                  <a:lnTo>
                    <a:pt x="1781886" y="78018"/>
                  </a:lnTo>
                  <a:cubicBezTo>
                    <a:pt x="1781886" y="81811"/>
                    <a:pt x="1780379" y="85448"/>
                    <a:pt x="1777697" y="88130"/>
                  </a:cubicBezTo>
                  <a:cubicBezTo>
                    <a:pt x="1775016" y="90811"/>
                    <a:pt x="1771379" y="92318"/>
                    <a:pt x="1767586" y="92318"/>
                  </a:cubicBezTo>
                  <a:lnTo>
                    <a:pt x="14300" y="92318"/>
                  </a:lnTo>
                  <a:cubicBezTo>
                    <a:pt x="6402" y="92318"/>
                    <a:pt x="0" y="85916"/>
                    <a:pt x="0" y="78018"/>
                  </a:cubicBezTo>
                  <a:lnTo>
                    <a:pt x="0" y="14300"/>
                  </a:lnTo>
                  <a:cubicBezTo>
                    <a:pt x="0" y="6402"/>
                    <a:pt x="6402" y="0"/>
                    <a:pt x="14300"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23" name="TextBox 23"/>
            <p:cNvSpPr txBox="1"/>
            <p:nvPr/>
          </p:nvSpPr>
          <p:spPr>
            <a:xfrm>
              <a:off x="0" y="-57150"/>
              <a:ext cx="1781886" cy="149468"/>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24" name="TextBox 24"/>
          <p:cNvSpPr txBox="1"/>
          <p:nvPr/>
        </p:nvSpPr>
        <p:spPr>
          <a:xfrm>
            <a:off x="4431520" y="636817"/>
            <a:ext cx="55897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No.</a:t>
            </a:r>
          </a:p>
        </p:txBody>
      </p:sp>
      <p:grpSp>
        <p:nvGrpSpPr>
          <p:cNvPr id="25" name="Group 25"/>
          <p:cNvGrpSpPr/>
          <p:nvPr/>
        </p:nvGrpSpPr>
        <p:grpSpPr>
          <a:xfrm>
            <a:off x="4370140" y="901737"/>
            <a:ext cx="5408247" cy="189479"/>
            <a:chOff x="0" y="0"/>
            <a:chExt cx="1779969" cy="62362"/>
          </a:xfrm>
        </p:grpSpPr>
        <p:sp>
          <p:nvSpPr>
            <p:cNvPr id="26" name="Freeform 26"/>
            <p:cNvSpPr/>
            <p:nvPr/>
          </p:nvSpPr>
          <p:spPr>
            <a:xfrm>
              <a:off x="0" y="0"/>
              <a:ext cx="1779969" cy="62362"/>
            </a:xfrm>
            <a:custGeom>
              <a:avLst/>
              <a:gdLst/>
              <a:ahLst/>
              <a:cxnLst/>
              <a:rect l="l" t="t" r="r" b="b"/>
              <a:pathLst>
                <a:path w="1779969" h="62362">
                  <a:moveTo>
                    <a:pt x="14315" y="0"/>
                  </a:moveTo>
                  <a:lnTo>
                    <a:pt x="1765654" y="0"/>
                  </a:lnTo>
                  <a:cubicBezTo>
                    <a:pt x="1769450" y="0"/>
                    <a:pt x="1773091" y="1508"/>
                    <a:pt x="1775776" y="4193"/>
                  </a:cubicBezTo>
                  <a:cubicBezTo>
                    <a:pt x="1778460" y="6877"/>
                    <a:pt x="1779969" y="10518"/>
                    <a:pt x="1779969" y="14315"/>
                  </a:cubicBezTo>
                  <a:lnTo>
                    <a:pt x="1779969" y="48047"/>
                  </a:lnTo>
                  <a:cubicBezTo>
                    <a:pt x="1779969" y="51843"/>
                    <a:pt x="1778460" y="55484"/>
                    <a:pt x="1775776" y="58169"/>
                  </a:cubicBezTo>
                  <a:cubicBezTo>
                    <a:pt x="1773091" y="60854"/>
                    <a:pt x="1769450" y="62362"/>
                    <a:pt x="1765654" y="62362"/>
                  </a:cubicBezTo>
                  <a:lnTo>
                    <a:pt x="14315" y="62362"/>
                  </a:lnTo>
                  <a:cubicBezTo>
                    <a:pt x="10518" y="62362"/>
                    <a:pt x="6877" y="60854"/>
                    <a:pt x="4193" y="58169"/>
                  </a:cubicBezTo>
                  <a:cubicBezTo>
                    <a:pt x="1508" y="55484"/>
                    <a:pt x="0" y="51843"/>
                    <a:pt x="0" y="48047"/>
                  </a:cubicBezTo>
                  <a:lnTo>
                    <a:pt x="0" y="14315"/>
                  </a:lnTo>
                  <a:cubicBezTo>
                    <a:pt x="0" y="10518"/>
                    <a:pt x="1508" y="6877"/>
                    <a:pt x="4193" y="4193"/>
                  </a:cubicBezTo>
                  <a:cubicBezTo>
                    <a:pt x="6877" y="1508"/>
                    <a:pt x="10518" y="0"/>
                    <a:pt x="14315"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27" name="TextBox 27"/>
            <p:cNvSpPr txBox="1"/>
            <p:nvPr/>
          </p:nvSpPr>
          <p:spPr>
            <a:xfrm>
              <a:off x="0" y="-57150"/>
              <a:ext cx="1779969" cy="119512"/>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28" name="TextBox 28"/>
          <p:cNvSpPr txBox="1"/>
          <p:nvPr/>
        </p:nvSpPr>
        <p:spPr>
          <a:xfrm>
            <a:off x="4616819" y="893182"/>
            <a:ext cx="5795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1</a:t>
            </a:r>
          </a:p>
        </p:txBody>
      </p:sp>
      <p:grpSp>
        <p:nvGrpSpPr>
          <p:cNvPr id="29" name="Group 29"/>
          <p:cNvGrpSpPr/>
          <p:nvPr/>
        </p:nvGrpSpPr>
        <p:grpSpPr>
          <a:xfrm>
            <a:off x="4375964" y="1111376"/>
            <a:ext cx="5408247" cy="189479"/>
            <a:chOff x="0" y="0"/>
            <a:chExt cx="1779969" cy="62362"/>
          </a:xfrm>
        </p:grpSpPr>
        <p:sp>
          <p:nvSpPr>
            <p:cNvPr id="30" name="Freeform 30"/>
            <p:cNvSpPr/>
            <p:nvPr/>
          </p:nvSpPr>
          <p:spPr>
            <a:xfrm>
              <a:off x="0" y="0"/>
              <a:ext cx="1779969" cy="62362"/>
            </a:xfrm>
            <a:custGeom>
              <a:avLst/>
              <a:gdLst/>
              <a:ahLst/>
              <a:cxnLst/>
              <a:rect l="l" t="t" r="r" b="b"/>
              <a:pathLst>
                <a:path w="1779969" h="62362">
                  <a:moveTo>
                    <a:pt x="14315" y="0"/>
                  </a:moveTo>
                  <a:lnTo>
                    <a:pt x="1765654" y="0"/>
                  </a:lnTo>
                  <a:cubicBezTo>
                    <a:pt x="1769450" y="0"/>
                    <a:pt x="1773091" y="1508"/>
                    <a:pt x="1775776" y="4193"/>
                  </a:cubicBezTo>
                  <a:cubicBezTo>
                    <a:pt x="1778460" y="6877"/>
                    <a:pt x="1779969" y="10518"/>
                    <a:pt x="1779969" y="14315"/>
                  </a:cubicBezTo>
                  <a:lnTo>
                    <a:pt x="1779969" y="48047"/>
                  </a:lnTo>
                  <a:cubicBezTo>
                    <a:pt x="1779969" y="51843"/>
                    <a:pt x="1778460" y="55484"/>
                    <a:pt x="1775776" y="58169"/>
                  </a:cubicBezTo>
                  <a:cubicBezTo>
                    <a:pt x="1773091" y="60854"/>
                    <a:pt x="1769450" y="62362"/>
                    <a:pt x="1765654" y="62362"/>
                  </a:cubicBezTo>
                  <a:lnTo>
                    <a:pt x="14315" y="62362"/>
                  </a:lnTo>
                  <a:cubicBezTo>
                    <a:pt x="10518" y="62362"/>
                    <a:pt x="6877" y="60854"/>
                    <a:pt x="4193" y="58169"/>
                  </a:cubicBezTo>
                  <a:cubicBezTo>
                    <a:pt x="1508" y="55484"/>
                    <a:pt x="0" y="51843"/>
                    <a:pt x="0" y="48047"/>
                  </a:cubicBezTo>
                  <a:lnTo>
                    <a:pt x="0" y="14315"/>
                  </a:lnTo>
                  <a:cubicBezTo>
                    <a:pt x="0" y="10518"/>
                    <a:pt x="1508" y="6877"/>
                    <a:pt x="4193" y="4193"/>
                  </a:cubicBezTo>
                  <a:cubicBezTo>
                    <a:pt x="6877" y="1508"/>
                    <a:pt x="10518" y="0"/>
                    <a:pt x="14315"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31" name="TextBox 31"/>
            <p:cNvSpPr txBox="1"/>
            <p:nvPr/>
          </p:nvSpPr>
          <p:spPr>
            <a:xfrm>
              <a:off x="0" y="-57150"/>
              <a:ext cx="1779969" cy="119512"/>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sp>
        <p:nvSpPr>
          <p:cNvPr id="32" name="TextBox 32"/>
          <p:cNvSpPr txBox="1"/>
          <p:nvPr/>
        </p:nvSpPr>
        <p:spPr>
          <a:xfrm>
            <a:off x="4616819" y="1102821"/>
            <a:ext cx="5795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2</a:t>
            </a:r>
          </a:p>
        </p:txBody>
      </p:sp>
      <p:sp>
        <p:nvSpPr>
          <p:cNvPr id="33" name="TextBox 33"/>
          <p:cNvSpPr txBox="1"/>
          <p:nvPr/>
        </p:nvSpPr>
        <p:spPr>
          <a:xfrm>
            <a:off x="4195031" y="348116"/>
            <a:ext cx="1785335" cy="163891"/>
          </a:xfrm>
          <a:prstGeom prst="rect">
            <a:avLst/>
          </a:prstGeom>
        </p:spPr>
        <p:txBody>
          <a:bodyPr lIns="0" tIns="0" rIns="0" bIns="0" rtlCol="0" anchor="t">
            <a:spAutoFit/>
          </a:bodyPr>
          <a:lstStyle/>
          <a:p>
            <a:pPr algn="ctr" defTabSz="609630">
              <a:lnSpc>
                <a:spcPts val="1400"/>
              </a:lnSpc>
              <a:spcBef>
                <a:spcPct val="0"/>
              </a:spcBef>
            </a:pPr>
            <a:r>
              <a:rPr lang="en-US" sz="1000" b="1">
                <a:solidFill>
                  <a:srgbClr val="243270"/>
                </a:solidFill>
                <a:latin typeface="Arial MT Pro Bold"/>
                <a:ea typeface="Arial MT Pro Bold"/>
                <a:cs typeface="Arial MT Pro Bold"/>
                <a:sym typeface="Arial MT Pro Bold"/>
              </a:rPr>
              <a:t>Dependent’s Information</a:t>
            </a:r>
          </a:p>
        </p:txBody>
      </p:sp>
      <p:sp>
        <p:nvSpPr>
          <p:cNvPr id="34" name="TextBox 34"/>
          <p:cNvSpPr txBox="1"/>
          <p:nvPr/>
        </p:nvSpPr>
        <p:spPr>
          <a:xfrm>
            <a:off x="5544409" y="647700"/>
            <a:ext cx="518173"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Name</a:t>
            </a:r>
          </a:p>
        </p:txBody>
      </p:sp>
      <p:sp>
        <p:nvSpPr>
          <p:cNvPr id="35" name="TextBox 35"/>
          <p:cNvSpPr txBox="1"/>
          <p:nvPr/>
        </p:nvSpPr>
        <p:spPr>
          <a:xfrm>
            <a:off x="6667955" y="646043"/>
            <a:ext cx="739759"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Date of Birth</a:t>
            </a:r>
          </a:p>
        </p:txBody>
      </p:sp>
      <p:sp>
        <p:nvSpPr>
          <p:cNvPr id="36" name="TextBox 36"/>
          <p:cNvSpPr txBox="1"/>
          <p:nvPr/>
        </p:nvSpPr>
        <p:spPr>
          <a:xfrm>
            <a:off x="7920418" y="646043"/>
            <a:ext cx="486438"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Relation</a:t>
            </a:r>
          </a:p>
        </p:txBody>
      </p:sp>
      <p:sp>
        <p:nvSpPr>
          <p:cNvPr id="37" name="TextBox 37"/>
          <p:cNvSpPr txBox="1"/>
          <p:nvPr/>
        </p:nvSpPr>
        <p:spPr>
          <a:xfrm>
            <a:off x="8880219" y="646043"/>
            <a:ext cx="691812"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Contact No.</a:t>
            </a:r>
          </a:p>
        </p:txBody>
      </p:sp>
      <p:grpSp>
        <p:nvGrpSpPr>
          <p:cNvPr id="38" name="Group 38"/>
          <p:cNvGrpSpPr/>
          <p:nvPr/>
        </p:nvGrpSpPr>
        <p:grpSpPr>
          <a:xfrm>
            <a:off x="4375722" y="1427855"/>
            <a:ext cx="5408490" cy="386080"/>
            <a:chOff x="0" y="0"/>
            <a:chExt cx="2019066" cy="144129"/>
          </a:xfrm>
        </p:grpSpPr>
        <p:sp>
          <p:nvSpPr>
            <p:cNvPr id="39" name="Freeform 39"/>
            <p:cNvSpPr/>
            <p:nvPr/>
          </p:nvSpPr>
          <p:spPr>
            <a:xfrm>
              <a:off x="0" y="0"/>
              <a:ext cx="2019066" cy="144129"/>
            </a:xfrm>
            <a:custGeom>
              <a:avLst/>
              <a:gdLst/>
              <a:ahLst/>
              <a:cxnLst/>
              <a:rect l="l" t="t" r="r" b="b"/>
              <a:pathLst>
                <a:path w="2019066" h="144129">
                  <a:moveTo>
                    <a:pt x="19086" y="0"/>
                  </a:moveTo>
                  <a:lnTo>
                    <a:pt x="1999981" y="0"/>
                  </a:lnTo>
                  <a:cubicBezTo>
                    <a:pt x="2005043" y="0"/>
                    <a:pt x="2009897" y="2011"/>
                    <a:pt x="2013476" y="5590"/>
                  </a:cubicBezTo>
                  <a:cubicBezTo>
                    <a:pt x="2017056" y="9169"/>
                    <a:pt x="2019066" y="14024"/>
                    <a:pt x="2019066" y="19086"/>
                  </a:cubicBezTo>
                  <a:lnTo>
                    <a:pt x="2019066" y="125043"/>
                  </a:lnTo>
                  <a:cubicBezTo>
                    <a:pt x="2019066" y="130105"/>
                    <a:pt x="2017056" y="134960"/>
                    <a:pt x="2013476" y="138539"/>
                  </a:cubicBezTo>
                  <a:cubicBezTo>
                    <a:pt x="2009897" y="142118"/>
                    <a:pt x="2005043" y="144129"/>
                    <a:pt x="1999981" y="144129"/>
                  </a:cubicBezTo>
                  <a:lnTo>
                    <a:pt x="19086" y="144129"/>
                  </a:lnTo>
                  <a:cubicBezTo>
                    <a:pt x="8545" y="144129"/>
                    <a:pt x="0" y="135584"/>
                    <a:pt x="0" y="125043"/>
                  </a:cubicBezTo>
                  <a:lnTo>
                    <a:pt x="0" y="19086"/>
                  </a:lnTo>
                  <a:cubicBezTo>
                    <a:pt x="0" y="14024"/>
                    <a:pt x="2011" y="9169"/>
                    <a:pt x="5590" y="5590"/>
                  </a:cubicBezTo>
                  <a:cubicBezTo>
                    <a:pt x="9169" y="2011"/>
                    <a:pt x="14024" y="0"/>
                    <a:pt x="19086" y="0"/>
                  </a:cubicBezTo>
                  <a:close/>
                </a:path>
              </a:pathLst>
            </a:custGeom>
            <a:solidFill>
              <a:srgbClr val="FAF8F2"/>
            </a:solidFill>
            <a:ln w="19050" cap="sq">
              <a:solidFill>
                <a:srgbClr val="FF612B"/>
              </a:solidFill>
              <a:prstDash val="sysDot"/>
              <a:miter/>
            </a:ln>
          </p:spPr>
          <p:txBody>
            <a:bodyPr/>
            <a:lstStyle/>
            <a:p>
              <a:pPr defTabSz="609630"/>
              <a:endParaRPr lang="en-US" sz="1200">
                <a:solidFill>
                  <a:prstClr val="black"/>
                </a:solidFill>
                <a:latin typeface="Calibri"/>
              </a:endParaRPr>
            </a:p>
          </p:txBody>
        </p:sp>
        <p:sp>
          <p:nvSpPr>
            <p:cNvPr id="40" name="TextBox 40"/>
            <p:cNvSpPr txBox="1"/>
            <p:nvPr/>
          </p:nvSpPr>
          <p:spPr>
            <a:xfrm>
              <a:off x="0" y="-76200"/>
              <a:ext cx="2019066" cy="220329"/>
            </a:xfrm>
            <a:prstGeom prst="rect">
              <a:avLst/>
            </a:prstGeom>
          </p:spPr>
          <p:txBody>
            <a:bodyPr lIns="35839" tIns="35839" rIns="35839" bIns="35839" rtlCol="0" anchor="ctr"/>
            <a:lstStyle/>
            <a:p>
              <a:pPr algn="ctr" defTabSz="609630">
                <a:lnSpc>
                  <a:spcPts val="1825"/>
                </a:lnSpc>
              </a:pPr>
              <a:endParaRPr sz="1200">
                <a:solidFill>
                  <a:prstClr val="black"/>
                </a:solidFill>
                <a:latin typeface="Calibri"/>
              </a:endParaRPr>
            </a:p>
          </p:txBody>
        </p:sp>
      </p:grpSp>
      <p:sp>
        <p:nvSpPr>
          <p:cNvPr id="41" name="TextBox 41"/>
          <p:cNvSpPr txBox="1"/>
          <p:nvPr/>
        </p:nvSpPr>
        <p:spPr>
          <a:xfrm>
            <a:off x="4563089" y="1441413"/>
            <a:ext cx="5107223" cy="318998"/>
          </a:xfrm>
          <a:prstGeom prst="rect">
            <a:avLst/>
          </a:prstGeom>
        </p:spPr>
        <p:txBody>
          <a:bodyPr lIns="0" tIns="0" rIns="0" bIns="0" rtlCol="0" anchor="t">
            <a:spAutoFit/>
          </a:bodyPr>
          <a:lstStyle/>
          <a:p>
            <a:pPr defTabSz="609630">
              <a:lnSpc>
                <a:spcPts val="1306"/>
              </a:lnSpc>
            </a:pPr>
            <a:r>
              <a:rPr lang="en-US" sz="933" i="1">
                <a:solidFill>
                  <a:srgbClr val="933C21"/>
                </a:solidFill>
                <a:latin typeface="Arial MT Pro Italics"/>
                <a:ea typeface="Arial MT Pro Italics"/>
                <a:cs typeface="Arial MT Pro Italics"/>
                <a:sym typeface="Arial MT Pro Italics"/>
              </a:rPr>
              <a:t>*Newly enrolled dependent information will reflect within 24 to 48 hours. Dependent’s HMO card will be delivered within 5 business days.</a:t>
            </a:r>
          </a:p>
        </p:txBody>
      </p:sp>
      <p:grpSp>
        <p:nvGrpSpPr>
          <p:cNvPr id="42" name="Group 42"/>
          <p:cNvGrpSpPr/>
          <p:nvPr/>
        </p:nvGrpSpPr>
        <p:grpSpPr>
          <a:xfrm>
            <a:off x="10127032" y="241398"/>
            <a:ext cx="1896665" cy="6390402"/>
            <a:chOff x="0" y="0"/>
            <a:chExt cx="749300" cy="2524603"/>
          </a:xfrm>
        </p:grpSpPr>
        <p:sp>
          <p:nvSpPr>
            <p:cNvPr id="43" name="Freeform 43"/>
            <p:cNvSpPr/>
            <p:nvPr/>
          </p:nvSpPr>
          <p:spPr>
            <a:xfrm>
              <a:off x="0" y="0"/>
              <a:ext cx="749300" cy="2524603"/>
            </a:xfrm>
            <a:custGeom>
              <a:avLst/>
              <a:gdLst/>
              <a:ahLst/>
              <a:cxnLst/>
              <a:rect l="l" t="t" r="r" b="b"/>
              <a:pathLst>
                <a:path w="749300" h="2524603">
                  <a:moveTo>
                    <a:pt x="68031" y="0"/>
                  </a:moveTo>
                  <a:lnTo>
                    <a:pt x="681269" y="0"/>
                  </a:lnTo>
                  <a:cubicBezTo>
                    <a:pt x="699312" y="0"/>
                    <a:pt x="716616" y="7168"/>
                    <a:pt x="729374" y="19926"/>
                  </a:cubicBezTo>
                  <a:cubicBezTo>
                    <a:pt x="742132" y="32684"/>
                    <a:pt x="749300" y="49988"/>
                    <a:pt x="749300" y="68031"/>
                  </a:cubicBezTo>
                  <a:lnTo>
                    <a:pt x="749300" y="2456572"/>
                  </a:lnTo>
                  <a:cubicBezTo>
                    <a:pt x="749300" y="2494145"/>
                    <a:pt x="718841" y="2524603"/>
                    <a:pt x="681269" y="2524603"/>
                  </a:cubicBezTo>
                  <a:lnTo>
                    <a:pt x="68031" y="2524603"/>
                  </a:lnTo>
                  <a:cubicBezTo>
                    <a:pt x="49988" y="2524603"/>
                    <a:pt x="32684" y="2517436"/>
                    <a:pt x="19926" y="2504678"/>
                  </a:cubicBezTo>
                  <a:cubicBezTo>
                    <a:pt x="7168" y="2491919"/>
                    <a:pt x="0" y="2474615"/>
                    <a:pt x="0" y="2456572"/>
                  </a:cubicBezTo>
                  <a:lnTo>
                    <a:pt x="0" y="68031"/>
                  </a:lnTo>
                  <a:cubicBezTo>
                    <a:pt x="0" y="49988"/>
                    <a:pt x="7168" y="32684"/>
                    <a:pt x="19926" y="19926"/>
                  </a:cubicBezTo>
                  <a:cubicBezTo>
                    <a:pt x="32684" y="7168"/>
                    <a:pt x="49988" y="0"/>
                    <a:pt x="68031"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44" name="TextBox 44"/>
            <p:cNvSpPr txBox="1"/>
            <p:nvPr/>
          </p:nvSpPr>
          <p:spPr>
            <a:xfrm>
              <a:off x="0" y="-47625"/>
              <a:ext cx="749300" cy="2572228"/>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45" name="Group 45"/>
          <p:cNvGrpSpPr/>
          <p:nvPr/>
        </p:nvGrpSpPr>
        <p:grpSpPr>
          <a:xfrm>
            <a:off x="10243426" y="796178"/>
            <a:ext cx="1663878" cy="2920958"/>
            <a:chOff x="0" y="0"/>
            <a:chExt cx="657334" cy="1153959"/>
          </a:xfrm>
        </p:grpSpPr>
        <p:sp>
          <p:nvSpPr>
            <p:cNvPr id="46" name="Freeform 46"/>
            <p:cNvSpPr/>
            <p:nvPr/>
          </p:nvSpPr>
          <p:spPr>
            <a:xfrm>
              <a:off x="0" y="0"/>
              <a:ext cx="657334" cy="1153959"/>
            </a:xfrm>
            <a:custGeom>
              <a:avLst/>
              <a:gdLst/>
              <a:ahLst/>
              <a:cxnLst/>
              <a:rect l="l" t="t" r="r" b="b"/>
              <a:pathLst>
                <a:path w="657334" h="1153959">
                  <a:moveTo>
                    <a:pt x="77549" y="0"/>
                  </a:moveTo>
                  <a:lnTo>
                    <a:pt x="579785" y="0"/>
                  </a:lnTo>
                  <a:cubicBezTo>
                    <a:pt x="600353" y="0"/>
                    <a:pt x="620078" y="8170"/>
                    <a:pt x="634621" y="22714"/>
                  </a:cubicBezTo>
                  <a:cubicBezTo>
                    <a:pt x="649164" y="37257"/>
                    <a:pt x="657334" y="56982"/>
                    <a:pt x="657334" y="77549"/>
                  </a:cubicBezTo>
                  <a:lnTo>
                    <a:pt x="657334" y="1076410"/>
                  </a:lnTo>
                  <a:cubicBezTo>
                    <a:pt x="657334" y="1119239"/>
                    <a:pt x="622615" y="1153959"/>
                    <a:pt x="579785" y="1153959"/>
                  </a:cubicBezTo>
                  <a:lnTo>
                    <a:pt x="77549" y="1153959"/>
                  </a:lnTo>
                  <a:cubicBezTo>
                    <a:pt x="34720" y="1153959"/>
                    <a:pt x="0" y="1119239"/>
                    <a:pt x="0" y="1076410"/>
                  </a:cubicBezTo>
                  <a:lnTo>
                    <a:pt x="0" y="77549"/>
                  </a:lnTo>
                  <a:cubicBezTo>
                    <a:pt x="0" y="34720"/>
                    <a:pt x="34720" y="0"/>
                    <a:pt x="77549" y="0"/>
                  </a:cubicBezTo>
                  <a:close/>
                </a:path>
              </a:pathLst>
            </a:custGeom>
            <a:ln w="19050" cap="rnd">
              <a:solidFill>
                <a:srgbClr val="F06030"/>
              </a:solidFill>
              <a:prstDash val="sysDot"/>
              <a:round/>
            </a:ln>
          </p:spPr>
          <p:txBody>
            <a:bodyPr/>
            <a:lstStyle/>
            <a:p>
              <a:pPr defTabSz="609630"/>
              <a:endParaRPr lang="en-US" sz="1200">
                <a:solidFill>
                  <a:prstClr val="black"/>
                </a:solidFill>
                <a:latin typeface="Calibri"/>
              </a:endParaRPr>
            </a:p>
          </p:txBody>
        </p:sp>
        <p:sp>
          <p:nvSpPr>
            <p:cNvPr id="47" name="TextBox 47"/>
            <p:cNvSpPr txBox="1"/>
            <p:nvPr/>
          </p:nvSpPr>
          <p:spPr>
            <a:xfrm>
              <a:off x="0" y="-47625"/>
              <a:ext cx="657334" cy="1201584"/>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48" name="TextBox 48"/>
          <p:cNvSpPr txBox="1"/>
          <p:nvPr/>
        </p:nvSpPr>
        <p:spPr>
          <a:xfrm>
            <a:off x="10472759" y="1312720"/>
            <a:ext cx="1362454" cy="448456"/>
          </a:xfrm>
          <a:prstGeom prst="rect">
            <a:avLst/>
          </a:prstGeom>
        </p:spPr>
        <p:txBody>
          <a:bodyPr lIns="0" tIns="0" rIns="0" bIns="0" rtlCol="0" anchor="t">
            <a:spAutoFit/>
          </a:bodyPr>
          <a:lstStyle/>
          <a:p>
            <a:pPr defTabSz="609630">
              <a:lnSpc>
                <a:spcPts val="1213"/>
              </a:lnSpc>
            </a:pPr>
            <a:r>
              <a:rPr lang="en-US" sz="866">
                <a:solidFill>
                  <a:srgbClr val="4B4D4F"/>
                </a:solidFill>
                <a:latin typeface="Arial MT Pro"/>
                <a:ea typeface="Arial MT Pro"/>
                <a:cs typeface="Arial MT Pro"/>
                <a:sym typeface="Arial MT Pro"/>
              </a:rPr>
              <a:t>Collect the following information from the requesting party:</a:t>
            </a:r>
          </a:p>
        </p:txBody>
      </p:sp>
      <p:sp>
        <p:nvSpPr>
          <p:cNvPr id="49" name="TextBox 49"/>
          <p:cNvSpPr txBox="1"/>
          <p:nvPr/>
        </p:nvSpPr>
        <p:spPr>
          <a:xfrm>
            <a:off x="10472759" y="1902239"/>
            <a:ext cx="1262776" cy="756233"/>
          </a:xfrm>
          <a:prstGeom prst="rect">
            <a:avLst/>
          </a:prstGeom>
        </p:spPr>
        <p:txBody>
          <a:bodyPr lIns="0" tIns="0" rIns="0" bIns="0" rtlCol="0" anchor="t">
            <a:spAutoFit/>
          </a:bodyPr>
          <a:lstStyle/>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Member’s Name</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Policy Number</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E-mail Address</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Name of the Facility</a:t>
            </a:r>
          </a:p>
          <a:p>
            <a:pPr marL="187122" lvl="1" indent="-93561" defTabSz="609630">
              <a:lnSpc>
                <a:spcPts val="1213"/>
              </a:lnSpc>
              <a:buFontTx/>
              <a:buAutoNum type="arabicPeriod"/>
            </a:pPr>
            <a:r>
              <a:rPr lang="en-US" sz="866">
                <a:solidFill>
                  <a:srgbClr val="4B4D4F"/>
                </a:solidFill>
                <a:latin typeface="Arial MT Pro"/>
                <a:ea typeface="Arial MT Pro"/>
                <a:cs typeface="Arial MT Pro"/>
                <a:sym typeface="Arial MT Pro"/>
              </a:rPr>
              <a:t>Member’s Contact #</a:t>
            </a:r>
          </a:p>
        </p:txBody>
      </p:sp>
      <p:sp>
        <p:nvSpPr>
          <p:cNvPr id="50" name="TextBox 50"/>
          <p:cNvSpPr txBox="1"/>
          <p:nvPr/>
        </p:nvSpPr>
        <p:spPr>
          <a:xfrm>
            <a:off x="10432568" y="2794626"/>
            <a:ext cx="1343158" cy="756233"/>
          </a:xfrm>
          <a:prstGeom prst="rect">
            <a:avLst/>
          </a:prstGeom>
        </p:spPr>
        <p:txBody>
          <a:bodyPr lIns="0" tIns="0" rIns="0" bIns="0" rtlCol="0" anchor="t">
            <a:spAutoFit/>
          </a:bodyPr>
          <a:lstStyle/>
          <a:p>
            <a:pPr defTabSz="609630">
              <a:lnSpc>
                <a:spcPts val="1213"/>
              </a:lnSpc>
            </a:pPr>
            <a:r>
              <a:rPr lang="en-US" sz="866" i="1">
                <a:solidFill>
                  <a:srgbClr val="933C21"/>
                </a:solidFill>
                <a:latin typeface="Arial MT Pro Italics"/>
                <a:ea typeface="Arial MT Pro Italics"/>
                <a:cs typeface="Arial MT Pro Italics"/>
                <a:sym typeface="Arial MT Pro Italics"/>
              </a:rPr>
              <a:t>*Email and SMS notification will be sent to facility and member, four (4) hours after submission of request.</a:t>
            </a:r>
          </a:p>
        </p:txBody>
      </p:sp>
      <p:grpSp>
        <p:nvGrpSpPr>
          <p:cNvPr id="51" name="Group 51"/>
          <p:cNvGrpSpPr/>
          <p:nvPr/>
        </p:nvGrpSpPr>
        <p:grpSpPr>
          <a:xfrm>
            <a:off x="10247682" y="3851088"/>
            <a:ext cx="1663878" cy="2665913"/>
            <a:chOff x="0" y="0"/>
            <a:chExt cx="657334" cy="1053200"/>
          </a:xfrm>
        </p:grpSpPr>
        <p:sp>
          <p:nvSpPr>
            <p:cNvPr id="52" name="Freeform 52"/>
            <p:cNvSpPr/>
            <p:nvPr/>
          </p:nvSpPr>
          <p:spPr>
            <a:xfrm>
              <a:off x="0" y="0"/>
              <a:ext cx="657334" cy="1053200"/>
            </a:xfrm>
            <a:custGeom>
              <a:avLst/>
              <a:gdLst/>
              <a:ahLst/>
              <a:cxnLst/>
              <a:rect l="l" t="t" r="r" b="b"/>
              <a:pathLst>
                <a:path w="657334" h="1053200">
                  <a:moveTo>
                    <a:pt x="77549" y="0"/>
                  </a:moveTo>
                  <a:lnTo>
                    <a:pt x="579785" y="0"/>
                  </a:lnTo>
                  <a:cubicBezTo>
                    <a:pt x="600353" y="0"/>
                    <a:pt x="620078" y="8170"/>
                    <a:pt x="634621" y="22714"/>
                  </a:cubicBezTo>
                  <a:cubicBezTo>
                    <a:pt x="649164" y="37257"/>
                    <a:pt x="657334" y="56982"/>
                    <a:pt x="657334" y="77549"/>
                  </a:cubicBezTo>
                  <a:lnTo>
                    <a:pt x="657334" y="975651"/>
                  </a:lnTo>
                  <a:cubicBezTo>
                    <a:pt x="657334" y="1018480"/>
                    <a:pt x="622615" y="1053200"/>
                    <a:pt x="579785" y="1053200"/>
                  </a:cubicBezTo>
                  <a:lnTo>
                    <a:pt x="77549" y="1053200"/>
                  </a:lnTo>
                  <a:cubicBezTo>
                    <a:pt x="34720" y="1053200"/>
                    <a:pt x="0" y="1018480"/>
                    <a:pt x="0" y="975651"/>
                  </a:cubicBezTo>
                  <a:lnTo>
                    <a:pt x="0" y="77549"/>
                  </a:lnTo>
                  <a:cubicBezTo>
                    <a:pt x="0" y="34720"/>
                    <a:pt x="34720" y="0"/>
                    <a:pt x="77549" y="0"/>
                  </a:cubicBezTo>
                  <a:close/>
                </a:path>
              </a:pathLst>
            </a:custGeom>
            <a:ln w="19050" cap="rnd">
              <a:solidFill>
                <a:srgbClr val="F06030"/>
              </a:solidFill>
              <a:prstDash val="sysDot"/>
              <a:round/>
            </a:ln>
          </p:spPr>
          <p:txBody>
            <a:bodyPr/>
            <a:lstStyle/>
            <a:p>
              <a:pPr defTabSz="609630"/>
              <a:endParaRPr lang="en-US" sz="1200">
                <a:solidFill>
                  <a:prstClr val="black"/>
                </a:solidFill>
                <a:latin typeface="Calibri"/>
              </a:endParaRPr>
            </a:p>
          </p:txBody>
        </p:sp>
        <p:sp>
          <p:nvSpPr>
            <p:cNvPr id="53" name="TextBox 53"/>
            <p:cNvSpPr txBox="1"/>
            <p:nvPr/>
          </p:nvSpPr>
          <p:spPr>
            <a:xfrm>
              <a:off x="0" y="-47625"/>
              <a:ext cx="657334" cy="1100825"/>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54" name="TextBox 54"/>
          <p:cNvSpPr txBox="1"/>
          <p:nvPr/>
        </p:nvSpPr>
        <p:spPr>
          <a:xfrm>
            <a:off x="10521962" y="4002291"/>
            <a:ext cx="1106805" cy="140680"/>
          </a:xfrm>
          <a:prstGeom prst="rect">
            <a:avLst/>
          </a:prstGeom>
        </p:spPr>
        <p:txBody>
          <a:bodyPr lIns="0" tIns="0" rIns="0" bIns="0" rtlCol="0" anchor="t">
            <a:spAutoFit/>
          </a:bodyPr>
          <a:lstStyle/>
          <a:p>
            <a:pPr algn="ctr" defTabSz="609630">
              <a:lnSpc>
                <a:spcPts val="1213"/>
              </a:lnSpc>
            </a:pPr>
            <a:r>
              <a:rPr lang="en-US" sz="866" b="1">
                <a:solidFill>
                  <a:srgbClr val="002677"/>
                </a:solidFill>
                <a:latin typeface="Arial MT Pro Bold"/>
                <a:ea typeface="Arial MT Pro Bold"/>
                <a:cs typeface="Arial MT Pro Bold"/>
                <a:sym typeface="Arial MT Pro Bold"/>
              </a:rPr>
              <a:t>How to File a Claim? </a:t>
            </a:r>
          </a:p>
        </p:txBody>
      </p:sp>
      <p:sp>
        <p:nvSpPr>
          <p:cNvPr id="55" name="TextBox 55"/>
          <p:cNvSpPr txBox="1"/>
          <p:nvPr/>
        </p:nvSpPr>
        <p:spPr>
          <a:xfrm>
            <a:off x="10402990" y="4242317"/>
            <a:ext cx="1402315" cy="2230995"/>
          </a:xfrm>
          <a:prstGeom prst="rect">
            <a:avLst/>
          </a:prstGeom>
        </p:spPr>
        <p:txBody>
          <a:bodyPr lIns="0" tIns="0" rIns="0" bIns="0" rtlCol="0" anchor="t">
            <a:spAutoFit/>
          </a:bodyPr>
          <a:lstStyle/>
          <a:p>
            <a:pPr defTabSz="609630">
              <a:lnSpc>
                <a:spcPts val="1559"/>
              </a:lnSpc>
            </a:pPr>
            <a:r>
              <a:rPr lang="en-US" sz="866">
                <a:solidFill>
                  <a:srgbClr val="4B4D4F"/>
                </a:solidFill>
                <a:latin typeface="Arial MT Pro"/>
                <a:ea typeface="Arial MT Pro"/>
                <a:cs typeface="Arial MT Pro"/>
                <a:sym typeface="Arial MT Pro"/>
              </a:rPr>
              <a:t>Submit your claims online at </a:t>
            </a:r>
            <a:r>
              <a:rPr lang="en-US" sz="866" u="sng">
                <a:solidFill>
                  <a:srgbClr val="0C55B8"/>
                </a:solidFill>
                <a:latin typeface="Arial MT Pro"/>
                <a:ea typeface="Arial MT Pro"/>
                <a:cs typeface="Arial MT Pro"/>
                <a:sym typeface="Arial MT Pro"/>
                <a:hlinkClick r:id="rId4" tooltip="http://www.uhc.com"/>
              </a:rPr>
              <a:t>www.uhc.com</a:t>
            </a:r>
            <a:r>
              <a:rPr lang="en-US" sz="866">
                <a:solidFill>
                  <a:srgbClr val="4B4D4F"/>
                </a:solidFill>
                <a:latin typeface="Arial MT Pro"/>
                <a:ea typeface="Arial MT Pro"/>
                <a:cs typeface="Arial MT Pro"/>
                <a:sym typeface="Arial MT Pro"/>
              </a:rPr>
              <a:t> or fax the following documents to 1-866-308-6294, attention to “Claims Department”:</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Claim form with the member’s signature</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Supporting medical documentation</a:t>
            </a:r>
          </a:p>
          <a:p>
            <a:pPr marL="187122" lvl="1" indent="-93561" defTabSz="609630">
              <a:lnSpc>
                <a:spcPts val="1559"/>
              </a:lnSpc>
              <a:buFont typeface="Arial"/>
              <a:buChar char="•"/>
            </a:pPr>
            <a:r>
              <a:rPr lang="en-US" sz="866">
                <a:solidFill>
                  <a:srgbClr val="4B4D4F"/>
                </a:solidFill>
                <a:latin typeface="Arial MT Pro"/>
                <a:ea typeface="Arial MT Pro"/>
                <a:cs typeface="Arial MT Pro"/>
                <a:sym typeface="Arial MT Pro"/>
              </a:rPr>
              <a:t>Case ID on the cover sheet</a:t>
            </a:r>
          </a:p>
        </p:txBody>
      </p:sp>
      <p:sp>
        <p:nvSpPr>
          <p:cNvPr id="56" name="TextBox 56"/>
          <p:cNvSpPr txBox="1"/>
          <p:nvPr/>
        </p:nvSpPr>
        <p:spPr>
          <a:xfrm>
            <a:off x="10492139" y="885228"/>
            <a:ext cx="1224015" cy="294568"/>
          </a:xfrm>
          <a:prstGeom prst="rect">
            <a:avLst/>
          </a:prstGeom>
        </p:spPr>
        <p:txBody>
          <a:bodyPr lIns="0" tIns="0" rIns="0" bIns="0" rtlCol="0" anchor="t">
            <a:spAutoFit/>
          </a:bodyPr>
          <a:lstStyle/>
          <a:p>
            <a:pPr algn="ctr" defTabSz="609630">
              <a:lnSpc>
                <a:spcPts val="1213"/>
              </a:lnSpc>
            </a:pPr>
            <a:r>
              <a:rPr lang="en-US" sz="866" b="1">
                <a:solidFill>
                  <a:srgbClr val="002677"/>
                </a:solidFill>
                <a:latin typeface="Arial MT Pro Bold"/>
                <a:ea typeface="Arial MT Pro Bold"/>
                <a:cs typeface="Arial MT Pro Bold"/>
                <a:sym typeface="Arial MT Pro Bold"/>
              </a:rPr>
              <a:t>Request for Letter of Authorization</a:t>
            </a:r>
          </a:p>
        </p:txBody>
      </p:sp>
      <p:sp>
        <p:nvSpPr>
          <p:cNvPr id="57" name="TextBox 57"/>
          <p:cNvSpPr txBox="1"/>
          <p:nvPr/>
        </p:nvSpPr>
        <p:spPr>
          <a:xfrm>
            <a:off x="10458631" y="434493"/>
            <a:ext cx="1305560" cy="163891"/>
          </a:xfrm>
          <a:prstGeom prst="rect">
            <a:avLst/>
          </a:prstGeom>
        </p:spPr>
        <p:txBody>
          <a:bodyPr lIns="0" tIns="0" rIns="0" bIns="0" rtlCol="0" anchor="t">
            <a:spAutoFit/>
          </a:bodyPr>
          <a:lstStyle/>
          <a:p>
            <a:pPr algn="ctr" defTabSz="609630">
              <a:lnSpc>
                <a:spcPts val="1400"/>
              </a:lnSpc>
            </a:pPr>
            <a:r>
              <a:rPr lang="en-US" sz="1000" b="1">
                <a:solidFill>
                  <a:srgbClr val="002677"/>
                </a:solidFill>
                <a:latin typeface="Arial MT Pro Bold"/>
                <a:ea typeface="Arial MT Pro Bold"/>
                <a:cs typeface="Arial MT Pro Bold"/>
                <a:sym typeface="Arial MT Pro Bold"/>
              </a:rPr>
              <a:t>Additional Resources</a:t>
            </a:r>
          </a:p>
        </p:txBody>
      </p:sp>
      <p:sp>
        <p:nvSpPr>
          <p:cNvPr id="58" name="Freeform 58"/>
          <p:cNvSpPr/>
          <p:nvPr/>
        </p:nvSpPr>
        <p:spPr>
          <a:xfrm>
            <a:off x="10218254" y="415443"/>
            <a:ext cx="214313" cy="237483"/>
          </a:xfrm>
          <a:custGeom>
            <a:avLst/>
            <a:gdLst/>
            <a:ahLst/>
            <a:cxnLst/>
            <a:rect l="l" t="t" r="r" b="b"/>
            <a:pathLst>
              <a:path w="321470" h="356224">
                <a:moveTo>
                  <a:pt x="0" y="0"/>
                </a:moveTo>
                <a:lnTo>
                  <a:pt x="321471" y="0"/>
                </a:lnTo>
                <a:lnTo>
                  <a:pt x="321471" y="356223"/>
                </a:lnTo>
                <a:lnTo>
                  <a:pt x="0" y="356223"/>
                </a:lnTo>
                <a:lnTo>
                  <a:pt x="0" y="0"/>
                </a:lnTo>
                <a:close/>
              </a:path>
            </a:pathLst>
          </a:custGeom>
          <a:blipFill>
            <a:blip r:embed="rId5"/>
            <a:stretch>
              <a:fillRect/>
            </a:stretch>
          </a:blipFill>
        </p:spPr>
        <p:txBody>
          <a:bodyPr/>
          <a:lstStyle/>
          <a:p>
            <a:pPr defTabSz="609630"/>
            <a:endParaRPr lang="en-US" sz="1200">
              <a:solidFill>
                <a:prstClr val="black"/>
              </a:solidFill>
              <a:latin typeface="Calibri"/>
            </a:endParaRPr>
          </a:p>
        </p:txBody>
      </p:sp>
      <p:grpSp>
        <p:nvGrpSpPr>
          <p:cNvPr id="59" name="Group 59"/>
          <p:cNvGrpSpPr/>
          <p:nvPr/>
        </p:nvGrpSpPr>
        <p:grpSpPr>
          <a:xfrm>
            <a:off x="4188800" y="4163581"/>
            <a:ext cx="5855801" cy="2458059"/>
            <a:chOff x="0" y="0"/>
            <a:chExt cx="2313403" cy="971085"/>
          </a:xfrm>
        </p:grpSpPr>
        <p:sp>
          <p:nvSpPr>
            <p:cNvPr id="60" name="Freeform 60"/>
            <p:cNvSpPr/>
            <p:nvPr/>
          </p:nvSpPr>
          <p:spPr>
            <a:xfrm>
              <a:off x="0" y="0"/>
              <a:ext cx="2313403" cy="971085"/>
            </a:xfrm>
            <a:custGeom>
              <a:avLst/>
              <a:gdLst/>
              <a:ahLst/>
              <a:cxnLst/>
              <a:rect l="l" t="t" r="r" b="b"/>
              <a:pathLst>
                <a:path w="2313403" h="971085">
                  <a:moveTo>
                    <a:pt x="22035" y="0"/>
                  </a:moveTo>
                  <a:lnTo>
                    <a:pt x="2291368" y="0"/>
                  </a:lnTo>
                  <a:cubicBezTo>
                    <a:pt x="2303538" y="0"/>
                    <a:pt x="2313403" y="9865"/>
                    <a:pt x="2313403" y="22035"/>
                  </a:cubicBezTo>
                  <a:lnTo>
                    <a:pt x="2313403" y="949050"/>
                  </a:lnTo>
                  <a:cubicBezTo>
                    <a:pt x="2313403" y="961219"/>
                    <a:pt x="2303538" y="971085"/>
                    <a:pt x="2291368" y="971085"/>
                  </a:cubicBezTo>
                  <a:lnTo>
                    <a:pt x="22035" y="971085"/>
                  </a:lnTo>
                  <a:cubicBezTo>
                    <a:pt x="9865" y="971085"/>
                    <a:pt x="0" y="961219"/>
                    <a:pt x="0" y="949050"/>
                  </a:cubicBezTo>
                  <a:lnTo>
                    <a:pt x="0" y="22035"/>
                  </a:lnTo>
                  <a:cubicBezTo>
                    <a:pt x="0" y="9865"/>
                    <a:pt x="9865" y="0"/>
                    <a:pt x="22035"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61" name="TextBox 61"/>
            <p:cNvSpPr txBox="1"/>
            <p:nvPr/>
          </p:nvSpPr>
          <p:spPr>
            <a:xfrm>
              <a:off x="0" y="-76200"/>
              <a:ext cx="2313403" cy="1047285"/>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sp>
        <p:nvSpPr>
          <p:cNvPr id="62" name="TextBox 62"/>
          <p:cNvSpPr txBox="1"/>
          <p:nvPr/>
        </p:nvSpPr>
        <p:spPr>
          <a:xfrm>
            <a:off x="4366939" y="4267717"/>
            <a:ext cx="1121965" cy="163891"/>
          </a:xfrm>
          <a:prstGeom prst="rect">
            <a:avLst/>
          </a:prstGeom>
        </p:spPr>
        <p:txBody>
          <a:bodyPr lIns="0" tIns="0" rIns="0" bIns="0" rtlCol="0" anchor="t">
            <a:spAutoFit/>
          </a:bodyPr>
          <a:lstStyle/>
          <a:p>
            <a:pPr algn="ctr" defTabSz="609630">
              <a:lnSpc>
                <a:spcPts val="1400"/>
              </a:lnSpc>
              <a:spcBef>
                <a:spcPct val="0"/>
              </a:spcBef>
            </a:pPr>
            <a:r>
              <a:rPr lang="en-US" sz="1000" b="1">
                <a:solidFill>
                  <a:srgbClr val="243270"/>
                </a:solidFill>
                <a:latin typeface="Arial MT Pro Bold"/>
                <a:ea typeface="Arial MT Pro Bold"/>
                <a:cs typeface="Arial MT Pro Bold"/>
                <a:sym typeface="Arial MT Pro Bold"/>
              </a:rPr>
              <a:t>Drug &amp; Medication</a:t>
            </a:r>
          </a:p>
        </p:txBody>
      </p:sp>
      <p:sp>
        <p:nvSpPr>
          <p:cNvPr id="63" name="TextBox 63"/>
          <p:cNvSpPr txBox="1"/>
          <p:nvPr/>
        </p:nvSpPr>
        <p:spPr>
          <a:xfrm>
            <a:off x="9277354" y="4845689"/>
            <a:ext cx="438317"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$12.00</a:t>
            </a:r>
          </a:p>
        </p:txBody>
      </p:sp>
      <p:sp>
        <p:nvSpPr>
          <p:cNvPr id="64" name="TextBox 64"/>
          <p:cNvSpPr txBox="1"/>
          <p:nvPr/>
        </p:nvSpPr>
        <p:spPr>
          <a:xfrm>
            <a:off x="9277354" y="5012052"/>
            <a:ext cx="438317"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$10.00</a:t>
            </a:r>
          </a:p>
        </p:txBody>
      </p:sp>
      <p:grpSp>
        <p:nvGrpSpPr>
          <p:cNvPr id="65" name="Group 65"/>
          <p:cNvGrpSpPr/>
          <p:nvPr/>
        </p:nvGrpSpPr>
        <p:grpSpPr>
          <a:xfrm>
            <a:off x="4276597" y="4618558"/>
            <a:ext cx="5666324" cy="204236"/>
            <a:chOff x="0" y="0"/>
            <a:chExt cx="2536116" cy="91411"/>
          </a:xfrm>
        </p:grpSpPr>
        <p:sp>
          <p:nvSpPr>
            <p:cNvPr id="66" name="Freeform 66"/>
            <p:cNvSpPr/>
            <p:nvPr/>
          </p:nvSpPr>
          <p:spPr>
            <a:xfrm>
              <a:off x="0" y="0"/>
              <a:ext cx="2536116" cy="91411"/>
            </a:xfrm>
            <a:custGeom>
              <a:avLst/>
              <a:gdLst/>
              <a:ahLst/>
              <a:cxnLst/>
              <a:rect l="l" t="t" r="r" b="b"/>
              <a:pathLst>
                <a:path w="2536116" h="91411">
                  <a:moveTo>
                    <a:pt x="13663" y="0"/>
                  </a:moveTo>
                  <a:lnTo>
                    <a:pt x="2522453" y="0"/>
                  </a:lnTo>
                  <a:cubicBezTo>
                    <a:pt x="2526077" y="0"/>
                    <a:pt x="2529552" y="1439"/>
                    <a:pt x="2532114" y="4002"/>
                  </a:cubicBezTo>
                  <a:cubicBezTo>
                    <a:pt x="2534677" y="6564"/>
                    <a:pt x="2536116" y="10039"/>
                    <a:pt x="2536116" y="13663"/>
                  </a:cubicBezTo>
                  <a:lnTo>
                    <a:pt x="2536116" y="77748"/>
                  </a:lnTo>
                  <a:cubicBezTo>
                    <a:pt x="2536116" y="81372"/>
                    <a:pt x="2534677" y="84847"/>
                    <a:pt x="2532114" y="87409"/>
                  </a:cubicBezTo>
                  <a:cubicBezTo>
                    <a:pt x="2529552" y="89972"/>
                    <a:pt x="2526077" y="91411"/>
                    <a:pt x="2522453" y="91411"/>
                  </a:cubicBezTo>
                  <a:lnTo>
                    <a:pt x="13663" y="91411"/>
                  </a:lnTo>
                  <a:cubicBezTo>
                    <a:pt x="10039" y="91411"/>
                    <a:pt x="6564" y="89972"/>
                    <a:pt x="4002" y="87409"/>
                  </a:cubicBezTo>
                  <a:cubicBezTo>
                    <a:pt x="1439" y="84847"/>
                    <a:pt x="0" y="81372"/>
                    <a:pt x="0" y="77748"/>
                  </a:cubicBezTo>
                  <a:lnTo>
                    <a:pt x="0" y="13663"/>
                  </a:lnTo>
                  <a:cubicBezTo>
                    <a:pt x="0" y="10039"/>
                    <a:pt x="1439" y="6564"/>
                    <a:pt x="4002" y="4002"/>
                  </a:cubicBezTo>
                  <a:cubicBezTo>
                    <a:pt x="6564" y="1439"/>
                    <a:pt x="10039" y="0"/>
                    <a:pt x="13663"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67" name="TextBox 67"/>
            <p:cNvSpPr txBox="1"/>
            <p:nvPr/>
          </p:nvSpPr>
          <p:spPr>
            <a:xfrm>
              <a:off x="0" y="-57150"/>
              <a:ext cx="2536116" cy="148561"/>
            </a:xfrm>
            <a:prstGeom prst="rect">
              <a:avLst/>
            </a:prstGeom>
          </p:spPr>
          <p:txBody>
            <a:bodyPr lIns="29115" tIns="29115" rIns="29115" bIns="29115" rtlCol="0" anchor="ctr"/>
            <a:lstStyle/>
            <a:p>
              <a:pPr algn="ctr" defTabSz="609630">
                <a:lnSpc>
                  <a:spcPts val="1307"/>
                </a:lnSpc>
              </a:pPr>
              <a:endParaRPr sz="1200">
                <a:solidFill>
                  <a:prstClr val="black"/>
                </a:solidFill>
                <a:latin typeface="Calibri"/>
              </a:endParaRPr>
            </a:p>
          </p:txBody>
        </p:sp>
      </p:grpSp>
      <p:sp>
        <p:nvSpPr>
          <p:cNvPr id="68" name="TextBox 68"/>
          <p:cNvSpPr txBox="1"/>
          <p:nvPr/>
        </p:nvSpPr>
        <p:spPr>
          <a:xfrm>
            <a:off x="4448200" y="4627354"/>
            <a:ext cx="764568"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Drug Name</a:t>
            </a:r>
          </a:p>
        </p:txBody>
      </p:sp>
      <p:sp>
        <p:nvSpPr>
          <p:cNvPr id="69" name="TextBox 69"/>
          <p:cNvSpPr txBox="1"/>
          <p:nvPr/>
        </p:nvSpPr>
        <p:spPr>
          <a:xfrm>
            <a:off x="5705366" y="4627354"/>
            <a:ext cx="708759"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Drug Type</a:t>
            </a:r>
          </a:p>
        </p:txBody>
      </p:sp>
      <p:sp>
        <p:nvSpPr>
          <p:cNvPr id="70" name="TextBox 70"/>
          <p:cNvSpPr txBox="1"/>
          <p:nvPr/>
        </p:nvSpPr>
        <p:spPr>
          <a:xfrm>
            <a:off x="7241130" y="4627354"/>
            <a:ext cx="1106943"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Quantity &amp; Limit</a:t>
            </a:r>
          </a:p>
        </p:txBody>
      </p:sp>
      <p:sp>
        <p:nvSpPr>
          <p:cNvPr id="71" name="TextBox 71"/>
          <p:cNvSpPr txBox="1"/>
          <p:nvPr/>
        </p:nvSpPr>
        <p:spPr>
          <a:xfrm>
            <a:off x="9057065" y="4627354"/>
            <a:ext cx="732856"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Total Price</a:t>
            </a:r>
          </a:p>
        </p:txBody>
      </p:sp>
      <p:sp>
        <p:nvSpPr>
          <p:cNvPr id="72" name="TextBox 72"/>
          <p:cNvSpPr txBox="1"/>
          <p:nvPr/>
        </p:nvSpPr>
        <p:spPr>
          <a:xfrm>
            <a:off x="4527837" y="4856899"/>
            <a:ext cx="605294"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Losartan</a:t>
            </a:r>
          </a:p>
        </p:txBody>
      </p:sp>
      <p:sp>
        <p:nvSpPr>
          <p:cNvPr id="73" name="TextBox 73"/>
          <p:cNvSpPr txBox="1"/>
          <p:nvPr/>
        </p:nvSpPr>
        <p:spPr>
          <a:xfrm>
            <a:off x="5642480" y="4856899"/>
            <a:ext cx="844384"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Hypertension</a:t>
            </a:r>
          </a:p>
        </p:txBody>
      </p:sp>
      <p:sp>
        <p:nvSpPr>
          <p:cNvPr id="74" name="TextBox 74"/>
          <p:cNvSpPr txBox="1"/>
          <p:nvPr/>
        </p:nvSpPr>
        <p:spPr>
          <a:xfrm>
            <a:off x="6666024" y="4856899"/>
            <a:ext cx="2257155"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30 tabs • 2 tabs per day for 15 days</a:t>
            </a:r>
          </a:p>
        </p:txBody>
      </p:sp>
      <p:sp>
        <p:nvSpPr>
          <p:cNvPr id="75" name="TextBox 75"/>
          <p:cNvSpPr txBox="1"/>
          <p:nvPr/>
        </p:nvSpPr>
        <p:spPr>
          <a:xfrm>
            <a:off x="4484122" y="5023262"/>
            <a:ext cx="692725" cy="152286"/>
          </a:xfrm>
          <a:prstGeom prst="rect">
            <a:avLst/>
          </a:prstGeom>
        </p:spPr>
        <p:txBody>
          <a:bodyPr lIns="0" tIns="0" rIns="0" bIns="0" rtlCol="0" anchor="t">
            <a:spAutoFit/>
          </a:bodyPr>
          <a:lstStyle/>
          <a:p>
            <a:pPr algn="ctr" defTabSz="609630">
              <a:lnSpc>
                <a:spcPts val="1307"/>
              </a:lnSpc>
              <a:spcBef>
                <a:spcPct val="0"/>
              </a:spcBef>
            </a:pPr>
            <a:r>
              <a:rPr lang="en-US" sz="933" b="1">
                <a:solidFill>
                  <a:srgbClr val="4B4D4F"/>
                </a:solidFill>
                <a:latin typeface="Arial MT Pro Bold"/>
                <a:ea typeface="Arial MT Pro Bold"/>
                <a:cs typeface="Arial MT Pro Bold"/>
                <a:sym typeface="Arial MT Pro Bold"/>
              </a:rPr>
              <a:t>Metformin</a:t>
            </a:r>
          </a:p>
        </p:txBody>
      </p:sp>
      <p:sp>
        <p:nvSpPr>
          <p:cNvPr id="76" name="TextBox 76"/>
          <p:cNvSpPr txBox="1"/>
          <p:nvPr/>
        </p:nvSpPr>
        <p:spPr>
          <a:xfrm>
            <a:off x="5781867" y="5023262"/>
            <a:ext cx="565610"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Diabetes</a:t>
            </a:r>
          </a:p>
        </p:txBody>
      </p:sp>
      <p:sp>
        <p:nvSpPr>
          <p:cNvPr id="77" name="TextBox 77"/>
          <p:cNvSpPr txBox="1"/>
          <p:nvPr/>
        </p:nvSpPr>
        <p:spPr>
          <a:xfrm>
            <a:off x="6666024" y="5023262"/>
            <a:ext cx="2257155" cy="152286"/>
          </a:xfrm>
          <a:prstGeom prst="rect">
            <a:avLst/>
          </a:prstGeom>
        </p:spPr>
        <p:txBody>
          <a:bodyPr lIns="0" tIns="0" rIns="0" bIns="0" rtlCol="0" anchor="t">
            <a:spAutoFit/>
          </a:bodyPr>
          <a:lstStyle/>
          <a:p>
            <a:pPr algn="ctr" defTabSz="609630">
              <a:lnSpc>
                <a:spcPts val="1307"/>
              </a:lnSpc>
              <a:spcBef>
                <a:spcPct val="0"/>
              </a:spcBef>
            </a:pPr>
            <a:r>
              <a:rPr lang="en-US" sz="933">
                <a:solidFill>
                  <a:srgbClr val="4B4D4F"/>
                </a:solidFill>
                <a:latin typeface="Arial MT Pro"/>
                <a:ea typeface="Arial MT Pro"/>
                <a:cs typeface="Arial MT Pro"/>
                <a:sym typeface="Arial MT Pro"/>
              </a:rPr>
              <a:t>60 tabs • 2 tabs per day for 30 days</a:t>
            </a:r>
          </a:p>
        </p:txBody>
      </p:sp>
      <p:sp>
        <p:nvSpPr>
          <p:cNvPr id="78" name="TextBox 78"/>
          <p:cNvSpPr txBox="1"/>
          <p:nvPr/>
        </p:nvSpPr>
        <p:spPr>
          <a:xfrm>
            <a:off x="4482320" y="5348808"/>
            <a:ext cx="1778389" cy="152286"/>
          </a:xfrm>
          <a:prstGeom prst="rect">
            <a:avLst/>
          </a:prstGeom>
        </p:spPr>
        <p:txBody>
          <a:bodyPr wrap="square" lIns="0" tIns="0" rIns="0" bIns="0" rtlCol="0" anchor="t">
            <a:spAutoFit/>
          </a:bodyPr>
          <a:lstStyle/>
          <a:p>
            <a:pPr algn="ctr" defTabSz="609630">
              <a:lnSpc>
                <a:spcPts val="1307"/>
              </a:lnSpc>
              <a:spcBef>
                <a:spcPct val="0"/>
              </a:spcBef>
            </a:pPr>
            <a:r>
              <a:rPr lang="en-US" sz="933" b="1">
                <a:solidFill>
                  <a:srgbClr val="243270"/>
                </a:solidFill>
                <a:latin typeface="Arial MT Pro Bold"/>
                <a:ea typeface="Arial MT Pro Bold"/>
                <a:cs typeface="Arial MT Pro Bold"/>
                <a:sym typeface="Arial MT Pro Bold"/>
              </a:rPr>
              <a:t>Submit medication order for:</a:t>
            </a:r>
          </a:p>
        </p:txBody>
      </p:sp>
      <p:grpSp>
        <p:nvGrpSpPr>
          <p:cNvPr id="79" name="Group 79"/>
          <p:cNvGrpSpPr/>
          <p:nvPr/>
        </p:nvGrpSpPr>
        <p:grpSpPr>
          <a:xfrm>
            <a:off x="4482320" y="5567357"/>
            <a:ext cx="1442693" cy="322535"/>
            <a:chOff x="0" y="0"/>
            <a:chExt cx="541601" cy="121083"/>
          </a:xfrm>
        </p:grpSpPr>
        <p:sp>
          <p:nvSpPr>
            <p:cNvPr id="80" name="Freeform 80"/>
            <p:cNvSpPr/>
            <p:nvPr/>
          </p:nvSpPr>
          <p:spPr>
            <a:xfrm>
              <a:off x="0" y="0"/>
              <a:ext cx="541601" cy="121083"/>
            </a:xfrm>
            <a:custGeom>
              <a:avLst/>
              <a:gdLst/>
              <a:ahLst/>
              <a:cxnLst/>
              <a:rect l="l" t="t" r="r" b="b"/>
              <a:pathLst>
                <a:path w="541601" h="121083">
                  <a:moveTo>
                    <a:pt x="60541" y="0"/>
                  </a:moveTo>
                  <a:lnTo>
                    <a:pt x="481059" y="0"/>
                  </a:lnTo>
                  <a:cubicBezTo>
                    <a:pt x="497116" y="0"/>
                    <a:pt x="512515" y="6378"/>
                    <a:pt x="523868" y="17732"/>
                  </a:cubicBezTo>
                  <a:cubicBezTo>
                    <a:pt x="535222" y="29086"/>
                    <a:pt x="541601" y="44485"/>
                    <a:pt x="541601" y="60541"/>
                  </a:cubicBezTo>
                  <a:lnTo>
                    <a:pt x="541601" y="60541"/>
                  </a:lnTo>
                  <a:cubicBezTo>
                    <a:pt x="541601" y="93978"/>
                    <a:pt x="514495" y="121083"/>
                    <a:pt x="481059" y="121083"/>
                  </a:cubicBezTo>
                  <a:lnTo>
                    <a:pt x="60541" y="121083"/>
                  </a:lnTo>
                  <a:cubicBezTo>
                    <a:pt x="27105" y="121083"/>
                    <a:pt x="0" y="93978"/>
                    <a:pt x="0" y="60541"/>
                  </a:cubicBezTo>
                  <a:lnTo>
                    <a:pt x="0" y="60541"/>
                  </a:lnTo>
                  <a:cubicBezTo>
                    <a:pt x="0" y="27105"/>
                    <a:pt x="27105" y="0"/>
                    <a:pt x="60541" y="0"/>
                  </a:cubicBezTo>
                  <a:close/>
                </a:path>
              </a:pathLst>
            </a:custGeom>
            <a:solidFill>
              <a:srgbClr val="FF612B"/>
            </a:solidFill>
          </p:spPr>
          <p:txBody>
            <a:bodyPr/>
            <a:lstStyle/>
            <a:p>
              <a:pPr defTabSz="609630"/>
              <a:endParaRPr lang="en-US" sz="1200">
                <a:solidFill>
                  <a:prstClr val="black"/>
                </a:solidFill>
                <a:latin typeface="Calibri"/>
              </a:endParaRPr>
            </a:p>
          </p:txBody>
        </p:sp>
        <p:sp>
          <p:nvSpPr>
            <p:cNvPr id="81" name="TextBox 81"/>
            <p:cNvSpPr txBox="1"/>
            <p:nvPr/>
          </p:nvSpPr>
          <p:spPr>
            <a:xfrm>
              <a:off x="0" y="-47625"/>
              <a:ext cx="541601" cy="168708"/>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82" name="TextBox 82"/>
          <p:cNvSpPr txBox="1"/>
          <p:nvPr/>
        </p:nvSpPr>
        <p:spPr>
          <a:xfrm>
            <a:off x="4499849" y="5609532"/>
            <a:ext cx="1407633" cy="186333"/>
          </a:xfrm>
          <a:prstGeom prst="rect">
            <a:avLst/>
          </a:prstGeom>
        </p:spPr>
        <p:txBody>
          <a:bodyPr lIns="0" tIns="0" rIns="0" bIns="0" rtlCol="0" anchor="t">
            <a:spAutoFit/>
          </a:bodyPr>
          <a:lstStyle/>
          <a:p>
            <a:pPr algn="ctr" defTabSz="609630">
              <a:lnSpc>
                <a:spcPts val="1555"/>
              </a:lnSpc>
            </a:pPr>
            <a:r>
              <a:rPr lang="en-US" sz="1111" b="1">
                <a:solidFill>
                  <a:srgbClr val="FAF8F2"/>
                </a:solidFill>
                <a:latin typeface="Arial MT Pro Bold"/>
                <a:ea typeface="Arial MT Pro Bold"/>
                <a:cs typeface="Arial MT Pro Bold"/>
                <a:sym typeface="Arial MT Pro Bold"/>
              </a:rPr>
              <a:t>Home Delivery</a:t>
            </a:r>
          </a:p>
        </p:txBody>
      </p:sp>
      <p:grpSp>
        <p:nvGrpSpPr>
          <p:cNvPr id="83" name="Group 83"/>
          <p:cNvGrpSpPr/>
          <p:nvPr/>
        </p:nvGrpSpPr>
        <p:grpSpPr>
          <a:xfrm>
            <a:off x="6192815" y="5567357"/>
            <a:ext cx="1407633" cy="312895"/>
            <a:chOff x="0" y="0"/>
            <a:chExt cx="528439" cy="117464"/>
          </a:xfrm>
        </p:grpSpPr>
        <p:sp>
          <p:nvSpPr>
            <p:cNvPr id="84" name="Freeform 84"/>
            <p:cNvSpPr/>
            <p:nvPr/>
          </p:nvSpPr>
          <p:spPr>
            <a:xfrm>
              <a:off x="0" y="0"/>
              <a:ext cx="528439" cy="117464"/>
            </a:xfrm>
            <a:custGeom>
              <a:avLst/>
              <a:gdLst/>
              <a:ahLst/>
              <a:cxnLst/>
              <a:rect l="l" t="t" r="r" b="b"/>
              <a:pathLst>
                <a:path w="528439" h="117464">
                  <a:moveTo>
                    <a:pt x="58732" y="0"/>
                  </a:moveTo>
                  <a:lnTo>
                    <a:pt x="469707" y="0"/>
                  </a:lnTo>
                  <a:cubicBezTo>
                    <a:pt x="485284" y="0"/>
                    <a:pt x="500222" y="6188"/>
                    <a:pt x="511237" y="17202"/>
                  </a:cubicBezTo>
                  <a:cubicBezTo>
                    <a:pt x="522251" y="28217"/>
                    <a:pt x="528439" y="43155"/>
                    <a:pt x="528439" y="58732"/>
                  </a:cubicBezTo>
                  <a:lnTo>
                    <a:pt x="528439" y="58732"/>
                  </a:lnTo>
                  <a:cubicBezTo>
                    <a:pt x="528439" y="91169"/>
                    <a:pt x="502144" y="117464"/>
                    <a:pt x="469707" y="117464"/>
                  </a:cubicBezTo>
                  <a:lnTo>
                    <a:pt x="58732" y="117464"/>
                  </a:lnTo>
                  <a:cubicBezTo>
                    <a:pt x="26295" y="117464"/>
                    <a:pt x="0" y="91169"/>
                    <a:pt x="0" y="58732"/>
                  </a:cubicBezTo>
                  <a:lnTo>
                    <a:pt x="0" y="58732"/>
                  </a:lnTo>
                  <a:cubicBezTo>
                    <a:pt x="0" y="26295"/>
                    <a:pt x="26295" y="0"/>
                    <a:pt x="58732" y="0"/>
                  </a:cubicBezTo>
                  <a:close/>
                </a:path>
              </a:pathLst>
            </a:custGeom>
            <a:solidFill>
              <a:srgbClr val="D2C8BE"/>
            </a:solidFill>
          </p:spPr>
          <p:txBody>
            <a:bodyPr/>
            <a:lstStyle/>
            <a:p>
              <a:pPr defTabSz="609630"/>
              <a:endParaRPr lang="en-US" sz="1200">
                <a:solidFill>
                  <a:prstClr val="black"/>
                </a:solidFill>
                <a:latin typeface="Calibri"/>
              </a:endParaRPr>
            </a:p>
          </p:txBody>
        </p:sp>
        <p:sp>
          <p:nvSpPr>
            <p:cNvPr id="85" name="TextBox 85"/>
            <p:cNvSpPr txBox="1"/>
            <p:nvPr/>
          </p:nvSpPr>
          <p:spPr>
            <a:xfrm>
              <a:off x="0" y="-47625"/>
              <a:ext cx="528439" cy="165089"/>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86" name="TextBox 86"/>
          <p:cNvSpPr txBox="1"/>
          <p:nvPr/>
        </p:nvSpPr>
        <p:spPr>
          <a:xfrm>
            <a:off x="6260709" y="5609532"/>
            <a:ext cx="1271845" cy="186333"/>
          </a:xfrm>
          <a:prstGeom prst="rect">
            <a:avLst/>
          </a:prstGeom>
        </p:spPr>
        <p:txBody>
          <a:bodyPr lIns="0" tIns="0" rIns="0" bIns="0" rtlCol="0" anchor="t">
            <a:spAutoFit/>
          </a:bodyPr>
          <a:lstStyle/>
          <a:p>
            <a:pPr algn="ctr" defTabSz="609630">
              <a:lnSpc>
                <a:spcPts val="1555"/>
              </a:lnSpc>
            </a:pPr>
            <a:r>
              <a:rPr lang="en-US" sz="1111" b="1">
                <a:solidFill>
                  <a:srgbClr val="4B4D4F"/>
                </a:solidFill>
                <a:latin typeface="Arial MT Pro Bold"/>
                <a:ea typeface="Arial MT Pro Bold"/>
                <a:cs typeface="Arial MT Pro Bold"/>
                <a:sym typeface="Arial MT Pro Bold"/>
              </a:rPr>
              <a:t>Store Pick Up</a:t>
            </a:r>
          </a:p>
        </p:txBody>
      </p:sp>
      <p:grpSp>
        <p:nvGrpSpPr>
          <p:cNvPr id="87" name="Group 87"/>
          <p:cNvGrpSpPr/>
          <p:nvPr/>
        </p:nvGrpSpPr>
        <p:grpSpPr>
          <a:xfrm>
            <a:off x="4497933" y="5959742"/>
            <a:ext cx="3072047" cy="482423"/>
            <a:chOff x="0" y="0"/>
            <a:chExt cx="1282361" cy="201377"/>
          </a:xfrm>
        </p:grpSpPr>
        <p:sp>
          <p:nvSpPr>
            <p:cNvPr id="88" name="Freeform 88"/>
            <p:cNvSpPr/>
            <p:nvPr/>
          </p:nvSpPr>
          <p:spPr>
            <a:xfrm>
              <a:off x="0" y="0"/>
              <a:ext cx="1282361" cy="201377"/>
            </a:xfrm>
            <a:custGeom>
              <a:avLst/>
              <a:gdLst/>
              <a:ahLst/>
              <a:cxnLst/>
              <a:rect l="l" t="t" r="r" b="b"/>
              <a:pathLst>
                <a:path w="1282361" h="201377">
                  <a:moveTo>
                    <a:pt x="33602" y="0"/>
                  </a:moveTo>
                  <a:lnTo>
                    <a:pt x="1248759" y="0"/>
                  </a:lnTo>
                  <a:cubicBezTo>
                    <a:pt x="1267317" y="0"/>
                    <a:pt x="1282361" y="15044"/>
                    <a:pt x="1282361" y="33602"/>
                  </a:cubicBezTo>
                  <a:lnTo>
                    <a:pt x="1282361" y="167776"/>
                  </a:lnTo>
                  <a:cubicBezTo>
                    <a:pt x="1282361" y="186333"/>
                    <a:pt x="1267317" y="201377"/>
                    <a:pt x="1248759" y="201377"/>
                  </a:cubicBezTo>
                  <a:lnTo>
                    <a:pt x="33602" y="201377"/>
                  </a:lnTo>
                  <a:cubicBezTo>
                    <a:pt x="15044" y="201377"/>
                    <a:pt x="0" y="186333"/>
                    <a:pt x="0" y="167776"/>
                  </a:cubicBezTo>
                  <a:lnTo>
                    <a:pt x="0" y="33602"/>
                  </a:lnTo>
                  <a:cubicBezTo>
                    <a:pt x="0" y="15044"/>
                    <a:pt x="15044" y="0"/>
                    <a:pt x="33602" y="0"/>
                  </a:cubicBezTo>
                  <a:close/>
                </a:path>
              </a:pathLst>
            </a:custGeom>
            <a:solidFill>
              <a:srgbClr val="FAF8F2"/>
            </a:solidFill>
            <a:ln w="19050" cap="sq">
              <a:solidFill>
                <a:srgbClr val="FF612B"/>
              </a:solidFill>
              <a:prstDash val="sysDot"/>
              <a:miter/>
            </a:ln>
          </p:spPr>
          <p:txBody>
            <a:bodyPr/>
            <a:lstStyle/>
            <a:p>
              <a:pPr defTabSz="609630"/>
              <a:endParaRPr lang="en-US" sz="1200">
                <a:solidFill>
                  <a:prstClr val="black"/>
                </a:solidFill>
                <a:latin typeface="Calibri"/>
              </a:endParaRPr>
            </a:p>
          </p:txBody>
        </p:sp>
        <p:sp>
          <p:nvSpPr>
            <p:cNvPr id="89" name="TextBox 89"/>
            <p:cNvSpPr txBox="1"/>
            <p:nvPr/>
          </p:nvSpPr>
          <p:spPr>
            <a:xfrm>
              <a:off x="0" y="-76200"/>
              <a:ext cx="1282361" cy="277577"/>
            </a:xfrm>
            <a:prstGeom prst="rect">
              <a:avLst/>
            </a:prstGeom>
          </p:spPr>
          <p:txBody>
            <a:bodyPr lIns="28272" tIns="28272" rIns="28272" bIns="28272" rtlCol="0" anchor="ctr"/>
            <a:lstStyle/>
            <a:p>
              <a:pPr algn="ctr" defTabSz="609630">
                <a:lnSpc>
                  <a:spcPts val="1825"/>
                </a:lnSpc>
              </a:pPr>
              <a:endParaRPr sz="1200">
                <a:solidFill>
                  <a:prstClr val="black"/>
                </a:solidFill>
                <a:latin typeface="Calibri"/>
              </a:endParaRPr>
            </a:p>
          </p:txBody>
        </p:sp>
      </p:grpSp>
      <p:sp>
        <p:nvSpPr>
          <p:cNvPr id="90" name="TextBox 90"/>
          <p:cNvSpPr txBox="1"/>
          <p:nvPr/>
        </p:nvSpPr>
        <p:spPr>
          <a:xfrm>
            <a:off x="4722792" y="6023242"/>
            <a:ext cx="2684921" cy="318998"/>
          </a:xfrm>
          <a:prstGeom prst="rect">
            <a:avLst/>
          </a:prstGeom>
        </p:spPr>
        <p:txBody>
          <a:bodyPr lIns="0" tIns="0" rIns="0" bIns="0" rtlCol="0" anchor="t">
            <a:spAutoFit/>
          </a:bodyPr>
          <a:lstStyle/>
          <a:p>
            <a:pPr defTabSz="609630">
              <a:lnSpc>
                <a:spcPts val="1307"/>
              </a:lnSpc>
              <a:spcBef>
                <a:spcPct val="0"/>
              </a:spcBef>
            </a:pPr>
            <a:r>
              <a:rPr lang="en-US" sz="933" i="1">
                <a:solidFill>
                  <a:srgbClr val="933C21"/>
                </a:solidFill>
                <a:latin typeface="Arial MT Pro Italics"/>
                <a:ea typeface="Arial MT Pro Italics"/>
                <a:cs typeface="Arial MT Pro Italics"/>
                <a:sym typeface="Arial MT Pro Italics"/>
              </a:rPr>
              <a:t>*For home delivery, please expect medication to be delivered in 24 to 48 hours.</a:t>
            </a:r>
          </a:p>
        </p:txBody>
      </p:sp>
      <p:grpSp>
        <p:nvGrpSpPr>
          <p:cNvPr id="91" name="Group 91"/>
          <p:cNvGrpSpPr/>
          <p:nvPr/>
        </p:nvGrpSpPr>
        <p:grpSpPr>
          <a:xfrm>
            <a:off x="7802348" y="5399606"/>
            <a:ext cx="1913841" cy="1032418"/>
            <a:chOff x="0" y="0"/>
            <a:chExt cx="3827681" cy="2064836"/>
          </a:xfrm>
        </p:grpSpPr>
        <p:grpSp>
          <p:nvGrpSpPr>
            <p:cNvPr id="92" name="Group 92"/>
            <p:cNvGrpSpPr/>
            <p:nvPr/>
          </p:nvGrpSpPr>
          <p:grpSpPr>
            <a:xfrm>
              <a:off x="0" y="0"/>
              <a:ext cx="3827681" cy="2064836"/>
              <a:chOff x="0" y="0"/>
              <a:chExt cx="783477" cy="422645"/>
            </a:xfrm>
          </p:grpSpPr>
          <p:sp>
            <p:nvSpPr>
              <p:cNvPr id="93" name="Freeform 93"/>
              <p:cNvSpPr/>
              <p:nvPr/>
            </p:nvSpPr>
            <p:spPr>
              <a:xfrm>
                <a:off x="0" y="0"/>
                <a:ext cx="783477" cy="422645"/>
              </a:xfrm>
              <a:custGeom>
                <a:avLst/>
                <a:gdLst/>
                <a:ahLst/>
                <a:cxnLst/>
                <a:rect l="l" t="t" r="r" b="b"/>
                <a:pathLst>
                  <a:path w="783477" h="422645">
                    <a:moveTo>
                      <a:pt x="41188" y="0"/>
                    </a:moveTo>
                    <a:lnTo>
                      <a:pt x="742289" y="0"/>
                    </a:lnTo>
                    <a:cubicBezTo>
                      <a:pt x="753213" y="0"/>
                      <a:pt x="763689" y="4339"/>
                      <a:pt x="771413" y="12064"/>
                    </a:cubicBezTo>
                    <a:cubicBezTo>
                      <a:pt x="779138" y="19788"/>
                      <a:pt x="783477" y="30264"/>
                      <a:pt x="783477" y="41188"/>
                    </a:cubicBezTo>
                    <a:lnTo>
                      <a:pt x="783477" y="381458"/>
                    </a:lnTo>
                    <a:cubicBezTo>
                      <a:pt x="783477" y="392381"/>
                      <a:pt x="779138" y="402858"/>
                      <a:pt x="771413" y="410582"/>
                    </a:cubicBezTo>
                    <a:cubicBezTo>
                      <a:pt x="763689" y="418306"/>
                      <a:pt x="753213" y="422645"/>
                      <a:pt x="742289" y="422645"/>
                    </a:cubicBezTo>
                    <a:lnTo>
                      <a:pt x="41188" y="422645"/>
                    </a:lnTo>
                    <a:cubicBezTo>
                      <a:pt x="30264" y="422645"/>
                      <a:pt x="19788" y="418306"/>
                      <a:pt x="12064" y="410582"/>
                    </a:cubicBezTo>
                    <a:cubicBezTo>
                      <a:pt x="4339" y="402858"/>
                      <a:pt x="0" y="392381"/>
                      <a:pt x="0" y="381458"/>
                    </a:cubicBezTo>
                    <a:lnTo>
                      <a:pt x="0" y="41188"/>
                    </a:lnTo>
                    <a:cubicBezTo>
                      <a:pt x="0" y="30264"/>
                      <a:pt x="4339" y="19788"/>
                      <a:pt x="12064" y="12064"/>
                    </a:cubicBezTo>
                    <a:cubicBezTo>
                      <a:pt x="19788" y="4339"/>
                      <a:pt x="30264" y="0"/>
                      <a:pt x="41188"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94" name="TextBox 94"/>
              <p:cNvSpPr txBox="1"/>
              <p:nvPr/>
            </p:nvSpPr>
            <p:spPr>
              <a:xfrm>
                <a:off x="0" y="-47625"/>
                <a:ext cx="783477" cy="470270"/>
              </a:xfrm>
              <a:prstGeom prst="rect">
                <a:avLst/>
              </a:prstGeom>
            </p:spPr>
            <p:txBody>
              <a:bodyPr lIns="25668" tIns="25668" rIns="25668" bIns="25668" rtlCol="0" anchor="ctr"/>
              <a:lstStyle/>
              <a:p>
                <a:pPr algn="ctr" defTabSz="609630">
                  <a:lnSpc>
                    <a:spcPts val="1119"/>
                  </a:lnSpc>
                </a:pPr>
                <a:endParaRPr sz="1200">
                  <a:solidFill>
                    <a:prstClr val="black"/>
                  </a:solidFill>
                  <a:latin typeface="Calibri"/>
                </a:endParaRPr>
              </a:p>
            </p:txBody>
          </p:sp>
        </p:grpSp>
        <p:sp>
          <p:nvSpPr>
            <p:cNvPr id="95" name="Freeform 95"/>
            <p:cNvSpPr/>
            <p:nvPr/>
          </p:nvSpPr>
          <p:spPr>
            <a:xfrm>
              <a:off x="2816410" y="176224"/>
              <a:ext cx="901308" cy="619371"/>
            </a:xfrm>
            <a:custGeom>
              <a:avLst/>
              <a:gdLst/>
              <a:ahLst/>
              <a:cxnLst/>
              <a:rect l="l" t="t" r="r" b="b"/>
              <a:pathLst>
                <a:path w="901308" h="619371">
                  <a:moveTo>
                    <a:pt x="0" y="0"/>
                  </a:moveTo>
                  <a:lnTo>
                    <a:pt x="901308" y="0"/>
                  </a:lnTo>
                  <a:lnTo>
                    <a:pt x="901308" y="619371"/>
                  </a:lnTo>
                  <a:lnTo>
                    <a:pt x="0" y="619371"/>
                  </a:lnTo>
                  <a:lnTo>
                    <a:pt x="0" y="0"/>
                  </a:lnTo>
                  <a:close/>
                </a:path>
              </a:pathLst>
            </a:custGeom>
            <a:blipFill>
              <a:blip r:embed="rId6"/>
              <a:stretch>
                <a:fillRect t="-13576" b="-13576"/>
              </a:stretch>
            </a:blipFill>
          </p:spPr>
          <p:txBody>
            <a:bodyPr/>
            <a:lstStyle/>
            <a:p>
              <a:pPr defTabSz="609630"/>
              <a:endParaRPr lang="en-US" sz="1200">
                <a:solidFill>
                  <a:prstClr val="black"/>
                </a:solidFill>
                <a:latin typeface="Calibri"/>
              </a:endParaRPr>
            </a:p>
          </p:txBody>
        </p:sp>
        <p:sp>
          <p:nvSpPr>
            <p:cNvPr id="96" name="TextBox 96"/>
            <p:cNvSpPr txBox="1"/>
            <p:nvPr/>
          </p:nvSpPr>
          <p:spPr>
            <a:xfrm>
              <a:off x="384212" y="540568"/>
              <a:ext cx="2890809" cy="1406026"/>
            </a:xfrm>
            <a:prstGeom prst="rect">
              <a:avLst/>
            </a:prstGeom>
          </p:spPr>
          <p:txBody>
            <a:bodyPr lIns="0" tIns="0" rIns="0" bIns="0" rtlCol="0" anchor="t">
              <a:spAutoFit/>
            </a:bodyPr>
            <a:lstStyle/>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Walgreens</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Rite Aid Corporation</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Safeway</a:t>
              </a:r>
            </a:p>
            <a:p>
              <a:pPr marL="219932" lvl="1" indent="-109966" defTabSz="609630">
                <a:lnSpc>
                  <a:spcPts val="1426"/>
                </a:lnSpc>
                <a:buFont typeface="Arial"/>
                <a:buChar char="•"/>
              </a:pPr>
              <a:r>
                <a:rPr lang="en-US" sz="1018">
                  <a:solidFill>
                    <a:srgbClr val="4B4D4F"/>
                  </a:solidFill>
                  <a:latin typeface="Arial MT Pro"/>
                  <a:ea typeface="Arial MT Pro"/>
                  <a:cs typeface="Arial MT Pro"/>
                  <a:sym typeface="Arial MT Pro"/>
                </a:rPr>
                <a:t>Costco Pharmacies</a:t>
              </a:r>
            </a:p>
          </p:txBody>
        </p:sp>
        <p:sp>
          <p:nvSpPr>
            <p:cNvPr id="97" name="TextBox 97"/>
            <p:cNvSpPr txBox="1"/>
            <p:nvPr/>
          </p:nvSpPr>
          <p:spPr>
            <a:xfrm>
              <a:off x="281738" y="147712"/>
              <a:ext cx="2449941" cy="328808"/>
            </a:xfrm>
            <a:prstGeom prst="rect">
              <a:avLst/>
            </a:prstGeom>
          </p:spPr>
          <p:txBody>
            <a:bodyPr lIns="0" tIns="0" rIns="0" bIns="0" rtlCol="0" anchor="t">
              <a:spAutoFit/>
            </a:bodyPr>
            <a:lstStyle/>
            <a:p>
              <a:pPr algn="ctr" defTabSz="609630">
                <a:lnSpc>
                  <a:spcPts val="1426"/>
                </a:lnSpc>
                <a:spcBef>
                  <a:spcPct val="0"/>
                </a:spcBef>
              </a:pPr>
              <a:r>
                <a:rPr lang="en-US" sz="1018" b="1">
                  <a:solidFill>
                    <a:srgbClr val="243270"/>
                  </a:solidFill>
                  <a:latin typeface="Arial MT Pro Bold"/>
                  <a:ea typeface="Arial MT Pro Bold"/>
                  <a:cs typeface="Arial MT Pro Bold"/>
                  <a:sym typeface="Arial MT Pro Bold"/>
                </a:rPr>
                <a:t>Partner Pharmacies</a:t>
              </a:r>
            </a:p>
          </p:txBody>
        </p:sp>
      </p:grpSp>
      <p:grpSp>
        <p:nvGrpSpPr>
          <p:cNvPr id="98" name="Group 98"/>
          <p:cNvGrpSpPr/>
          <p:nvPr/>
        </p:nvGrpSpPr>
        <p:grpSpPr>
          <a:xfrm>
            <a:off x="2325558" y="2286177"/>
            <a:ext cx="1678501" cy="818276"/>
            <a:chOff x="0" y="0"/>
            <a:chExt cx="3357002" cy="1636553"/>
          </a:xfrm>
        </p:grpSpPr>
        <p:grpSp>
          <p:nvGrpSpPr>
            <p:cNvPr id="99" name="Group 99"/>
            <p:cNvGrpSpPr/>
            <p:nvPr/>
          </p:nvGrpSpPr>
          <p:grpSpPr>
            <a:xfrm>
              <a:off x="0" y="0"/>
              <a:ext cx="3357002" cy="1636553"/>
              <a:chOff x="0" y="0"/>
              <a:chExt cx="865598" cy="421983"/>
            </a:xfrm>
          </p:grpSpPr>
          <p:sp>
            <p:nvSpPr>
              <p:cNvPr id="100" name="Freeform 100"/>
              <p:cNvSpPr/>
              <p:nvPr/>
            </p:nvSpPr>
            <p:spPr>
              <a:xfrm>
                <a:off x="0" y="0"/>
                <a:ext cx="865598" cy="421983"/>
              </a:xfrm>
              <a:custGeom>
                <a:avLst/>
                <a:gdLst/>
                <a:ahLst/>
                <a:cxnLst/>
                <a:rect l="l" t="t" r="r" b="b"/>
                <a:pathLst>
                  <a:path w="865598" h="421983">
                    <a:moveTo>
                      <a:pt x="46829" y="0"/>
                    </a:moveTo>
                    <a:lnTo>
                      <a:pt x="818769" y="0"/>
                    </a:lnTo>
                    <a:cubicBezTo>
                      <a:pt x="844632" y="0"/>
                      <a:pt x="865598" y="20966"/>
                      <a:pt x="865598" y="46829"/>
                    </a:cubicBezTo>
                    <a:lnTo>
                      <a:pt x="865598" y="375154"/>
                    </a:lnTo>
                    <a:cubicBezTo>
                      <a:pt x="865598" y="387573"/>
                      <a:pt x="860664" y="399485"/>
                      <a:pt x="851882" y="408267"/>
                    </a:cubicBezTo>
                    <a:cubicBezTo>
                      <a:pt x="843100" y="417049"/>
                      <a:pt x="831189" y="421983"/>
                      <a:pt x="818769" y="421983"/>
                    </a:cubicBezTo>
                    <a:lnTo>
                      <a:pt x="46829" y="421983"/>
                    </a:lnTo>
                    <a:cubicBezTo>
                      <a:pt x="34409" y="421983"/>
                      <a:pt x="22498" y="417049"/>
                      <a:pt x="13716" y="408267"/>
                    </a:cubicBezTo>
                    <a:cubicBezTo>
                      <a:pt x="4934" y="399485"/>
                      <a:pt x="0" y="387573"/>
                      <a:pt x="0" y="375154"/>
                    </a:cubicBezTo>
                    <a:lnTo>
                      <a:pt x="0" y="46829"/>
                    </a:lnTo>
                    <a:cubicBezTo>
                      <a:pt x="0" y="34409"/>
                      <a:pt x="4934" y="22498"/>
                      <a:pt x="13716" y="13716"/>
                    </a:cubicBezTo>
                    <a:cubicBezTo>
                      <a:pt x="22498" y="4934"/>
                      <a:pt x="34409" y="0"/>
                      <a:pt x="46829"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01" name="TextBox 101"/>
              <p:cNvSpPr txBox="1"/>
              <p:nvPr/>
            </p:nvSpPr>
            <p:spPr>
              <a:xfrm>
                <a:off x="0" y="-76200"/>
                <a:ext cx="865598" cy="498183"/>
              </a:xfrm>
              <a:prstGeom prst="rect">
                <a:avLst/>
              </a:prstGeom>
            </p:spPr>
            <p:txBody>
              <a:bodyPr lIns="22147" tIns="22147" rIns="22147" bIns="22147" rtlCol="0" anchor="ctr"/>
              <a:lstStyle/>
              <a:p>
                <a:pPr algn="ctr" defTabSz="609630">
                  <a:lnSpc>
                    <a:spcPts val="1825"/>
                  </a:lnSpc>
                </a:pPr>
                <a:endParaRPr sz="1200">
                  <a:solidFill>
                    <a:prstClr val="black"/>
                  </a:solidFill>
                  <a:latin typeface="Calibri"/>
                </a:endParaRPr>
              </a:p>
            </p:txBody>
          </p:sp>
        </p:grpSp>
        <p:sp>
          <p:nvSpPr>
            <p:cNvPr id="102" name="Freeform 102"/>
            <p:cNvSpPr/>
            <p:nvPr/>
          </p:nvSpPr>
          <p:spPr>
            <a:xfrm>
              <a:off x="2297146" y="649027"/>
              <a:ext cx="990926" cy="283822"/>
            </a:xfrm>
            <a:custGeom>
              <a:avLst/>
              <a:gdLst/>
              <a:ahLst/>
              <a:cxnLst/>
              <a:rect l="l" t="t" r="r" b="b"/>
              <a:pathLst>
                <a:path w="990926" h="283822">
                  <a:moveTo>
                    <a:pt x="0" y="0"/>
                  </a:moveTo>
                  <a:lnTo>
                    <a:pt x="990927" y="0"/>
                  </a:lnTo>
                  <a:lnTo>
                    <a:pt x="990927" y="283822"/>
                  </a:lnTo>
                  <a:lnTo>
                    <a:pt x="0" y="283822"/>
                  </a:lnTo>
                  <a:lnTo>
                    <a:pt x="0" y="0"/>
                  </a:lnTo>
                  <a:close/>
                </a:path>
              </a:pathLst>
            </a:custGeom>
            <a:blipFill>
              <a:blip r:embed="rId7"/>
              <a:stretch>
                <a:fillRect t="-19393" b="-19393"/>
              </a:stretch>
            </a:blipFill>
          </p:spPr>
          <p:txBody>
            <a:bodyPr/>
            <a:lstStyle/>
            <a:p>
              <a:pPr defTabSz="609630"/>
              <a:endParaRPr lang="en-US" sz="1200">
                <a:solidFill>
                  <a:prstClr val="black"/>
                </a:solidFill>
                <a:latin typeface="Calibri"/>
              </a:endParaRPr>
            </a:p>
          </p:txBody>
        </p:sp>
        <p:sp>
          <p:nvSpPr>
            <p:cNvPr id="103" name="Freeform 103"/>
            <p:cNvSpPr/>
            <p:nvPr/>
          </p:nvSpPr>
          <p:spPr>
            <a:xfrm>
              <a:off x="2673852" y="188538"/>
              <a:ext cx="437815" cy="237704"/>
            </a:xfrm>
            <a:custGeom>
              <a:avLst/>
              <a:gdLst/>
              <a:ahLst/>
              <a:cxnLst/>
              <a:rect l="l" t="t" r="r" b="b"/>
              <a:pathLst>
                <a:path w="437815" h="237704">
                  <a:moveTo>
                    <a:pt x="0" y="0"/>
                  </a:moveTo>
                  <a:lnTo>
                    <a:pt x="437815" y="0"/>
                  </a:lnTo>
                  <a:lnTo>
                    <a:pt x="437815" y="237704"/>
                  </a:lnTo>
                  <a:lnTo>
                    <a:pt x="0" y="237704"/>
                  </a:lnTo>
                  <a:lnTo>
                    <a:pt x="0" y="0"/>
                  </a:lnTo>
                  <a:close/>
                </a:path>
              </a:pathLst>
            </a:custGeom>
            <a:blipFill>
              <a:blip r:embed="rId8"/>
              <a:stretch>
                <a:fillRect t="-19393" b="-19393"/>
              </a:stretch>
            </a:blipFill>
          </p:spPr>
          <p:txBody>
            <a:bodyPr/>
            <a:lstStyle/>
            <a:p>
              <a:pPr defTabSz="609630"/>
              <a:endParaRPr lang="en-US" sz="1200">
                <a:solidFill>
                  <a:prstClr val="black"/>
                </a:solidFill>
                <a:latin typeface="Calibri"/>
              </a:endParaRPr>
            </a:p>
          </p:txBody>
        </p:sp>
        <p:sp>
          <p:nvSpPr>
            <p:cNvPr id="104" name="TextBox 104"/>
            <p:cNvSpPr txBox="1"/>
            <p:nvPr/>
          </p:nvSpPr>
          <p:spPr>
            <a:xfrm>
              <a:off x="262082" y="542726"/>
              <a:ext cx="2312354" cy="540404"/>
            </a:xfrm>
            <a:prstGeom prst="rect">
              <a:avLst/>
            </a:prstGeom>
          </p:spPr>
          <p:txBody>
            <a:bodyPr lIns="0" tIns="0" rIns="0" bIns="0" rtlCol="0" anchor="t">
              <a:spAutoFit/>
            </a:bodyPr>
            <a:lstStyle/>
            <a:p>
              <a:pPr defTabSz="609630">
                <a:lnSpc>
                  <a:spcPts val="1119"/>
                </a:lnSpc>
              </a:pPr>
              <a:r>
                <a:rPr lang="en-US" sz="799">
                  <a:solidFill>
                    <a:srgbClr val="4B4D4F"/>
                  </a:solidFill>
                  <a:latin typeface="Arial MT Pro"/>
                  <a:ea typeface="Arial MT Pro"/>
                  <a:cs typeface="Arial MT Pro"/>
                  <a:sym typeface="Arial MT Pro"/>
                </a:rPr>
                <a:t>Credit Card No.</a:t>
              </a:r>
            </a:p>
            <a:p>
              <a:pPr defTabSz="609630">
                <a:lnSpc>
                  <a:spcPts val="1119"/>
                </a:lnSpc>
              </a:pPr>
              <a:r>
                <a:rPr lang="en-US" sz="799">
                  <a:solidFill>
                    <a:srgbClr val="4B4D4F"/>
                  </a:solidFill>
                  <a:latin typeface="Arial MT Pro"/>
                  <a:ea typeface="Arial MT Pro"/>
                  <a:cs typeface="Arial MT Pro"/>
                  <a:sym typeface="Arial MT Pro"/>
                </a:rPr>
                <a:t>**** **** **** </a:t>
              </a:r>
              <a:r>
                <a:rPr lang="en-US" sz="799" b="1">
                  <a:solidFill>
                    <a:srgbClr val="4B4D4F"/>
                  </a:solidFill>
                  <a:latin typeface="Arial MT Pro Bold"/>
                  <a:ea typeface="Arial MT Pro Bold"/>
                  <a:cs typeface="Arial MT Pro Bold"/>
                  <a:sym typeface="Arial MT Pro Bold"/>
                </a:rPr>
                <a:t>1457</a:t>
              </a:r>
            </a:p>
          </p:txBody>
        </p:sp>
        <p:sp>
          <p:nvSpPr>
            <p:cNvPr id="105" name="TextBox 105"/>
            <p:cNvSpPr txBox="1"/>
            <p:nvPr/>
          </p:nvSpPr>
          <p:spPr>
            <a:xfrm>
              <a:off x="157580" y="140598"/>
              <a:ext cx="2290940" cy="281360"/>
            </a:xfrm>
            <a:prstGeom prst="rect">
              <a:avLst/>
            </a:prstGeom>
          </p:spPr>
          <p:txBody>
            <a:bodyPr lIns="0" tIns="0" rIns="0" bIns="0" rtlCol="0" anchor="t">
              <a:spAutoFit/>
            </a:bodyPr>
            <a:lstStyle/>
            <a:p>
              <a:pPr algn="ctr" defTabSz="609630">
                <a:lnSpc>
                  <a:spcPts val="1213"/>
                </a:lnSpc>
                <a:spcBef>
                  <a:spcPct val="0"/>
                </a:spcBef>
              </a:pPr>
              <a:r>
                <a:rPr lang="en-US" sz="866" b="1">
                  <a:solidFill>
                    <a:srgbClr val="243270"/>
                  </a:solidFill>
                  <a:latin typeface="Arial MT Pro Bold"/>
                  <a:ea typeface="Arial MT Pro Bold"/>
                  <a:cs typeface="Arial MT Pro Bold"/>
                  <a:sym typeface="Arial MT Pro Bold"/>
                </a:rPr>
                <a:t>Payment Information</a:t>
              </a:r>
            </a:p>
          </p:txBody>
        </p:sp>
        <p:sp>
          <p:nvSpPr>
            <p:cNvPr id="106" name="TextBox 106"/>
            <p:cNvSpPr txBox="1"/>
            <p:nvPr/>
          </p:nvSpPr>
          <p:spPr>
            <a:xfrm>
              <a:off x="262082" y="1217739"/>
              <a:ext cx="2586236" cy="258276"/>
            </a:xfrm>
            <a:prstGeom prst="rect">
              <a:avLst/>
            </a:prstGeom>
          </p:spPr>
          <p:txBody>
            <a:bodyPr lIns="0" tIns="0" rIns="0" bIns="0" rtlCol="0" anchor="t">
              <a:spAutoFit/>
            </a:bodyPr>
            <a:lstStyle/>
            <a:p>
              <a:pPr defTabSz="609630">
                <a:lnSpc>
                  <a:spcPts val="1119"/>
                </a:lnSpc>
              </a:pPr>
              <a:r>
                <a:rPr lang="en-US" sz="799">
                  <a:solidFill>
                    <a:srgbClr val="4B4D4F"/>
                  </a:solidFill>
                  <a:latin typeface="Arial MT Pro"/>
                  <a:ea typeface="Arial MT Pro"/>
                  <a:cs typeface="Arial MT Pro"/>
                  <a:sym typeface="Arial MT Pro"/>
                </a:rPr>
                <a:t>Automatic Payment: </a:t>
              </a:r>
              <a:r>
                <a:rPr lang="en-US" sz="799" b="1">
                  <a:solidFill>
                    <a:srgbClr val="0C55B8"/>
                  </a:solidFill>
                  <a:latin typeface="Arial MT Pro Bold"/>
                  <a:ea typeface="Arial MT Pro Bold"/>
                  <a:cs typeface="Arial MT Pro Bold"/>
                  <a:sym typeface="Arial MT Pro Bold"/>
                </a:rPr>
                <a:t>YES</a:t>
              </a:r>
            </a:p>
          </p:txBody>
        </p:sp>
      </p:grpSp>
      <p:grpSp>
        <p:nvGrpSpPr>
          <p:cNvPr id="107" name="Group 107"/>
          <p:cNvGrpSpPr/>
          <p:nvPr/>
        </p:nvGrpSpPr>
        <p:grpSpPr>
          <a:xfrm>
            <a:off x="4184974" y="1988414"/>
            <a:ext cx="5849571" cy="2095500"/>
            <a:chOff x="0" y="0"/>
            <a:chExt cx="2310941" cy="827852"/>
          </a:xfrm>
        </p:grpSpPr>
        <p:sp>
          <p:nvSpPr>
            <p:cNvPr id="108" name="Freeform 108"/>
            <p:cNvSpPr/>
            <p:nvPr/>
          </p:nvSpPr>
          <p:spPr>
            <a:xfrm>
              <a:off x="0" y="0"/>
              <a:ext cx="2310942" cy="827852"/>
            </a:xfrm>
            <a:custGeom>
              <a:avLst/>
              <a:gdLst/>
              <a:ahLst/>
              <a:cxnLst/>
              <a:rect l="l" t="t" r="r" b="b"/>
              <a:pathLst>
                <a:path w="2310942" h="827852">
                  <a:moveTo>
                    <a:pt x="22058" y="0"/>
                  </a:moveTo>
                  <a:lnTo>
                    <a:pt x="2288883" y="0"/>
                  </a:lnTo>
                  <a:cubicBezTo>
                    <a:pt x="2294733" y="0"/>
                    <a:pt x="2300344" y="2324"/>
                    <a:pt x="2304481" y="6461"/>
                  </a:cubicBezTo>
                  <a:cubicBezTo>
                    <a:pt x="2308617" y="10597"/>
                    <a:pt x="2310942" y="16208"/>
                    <a:pt x="2310942" y="22058"/>
                  </a:cubicBezTo>
                  <a:lnTo>
                    <a:pt x="2310942" y="805793"/>
                  </a:lnTo>
                  <a:cubicBezTo>
                    <a:pt x="2310942" y="817976"/>
                    <a:pt x="2301066" y="827852"/>
                    <a:pt x="2288883" y="827852"/>
                  </a:cubicBezTo>
                  <a:lnTo>
                    <a:pt x="22058" y="827852"/>
                  </a:lnTo>
                  <a:cubicBezTo>
                    <a:pt x="16208" y="827852"/>
                    <a:pt x="10597" y="825528"/>
                    <a:pt x="6461" y="821391"/>
                  </a:cubicBezTo>
                  <a:cubicBezTo>
                    <a:pt x="2324" y="817254"/>
                    <a:pt x="0" y="811644"/>
                    <a:pt x="0" y="805793"/>
                  </a:cubicBezTo>
                  <a:lnTo>
                    <a:pt x="0" y="22058"/>
                  </a:lnTo>
                  <a:cubicBezTo>
                    <a:pt x="0" y="9876"/>
                    <a:pt x="9876" y="0"/>
                    <a:pt x="2205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109" name="TextBox 109"/>
            <p:cNvSpPr txBox="1"/>
            <p:nvPr/>
          </p:nvSpPr>
          <p:spPr>
            <a:xfrm>
              <a:off x="0" y="-76200"/>
              <a:ext cx="2310941" cy="90405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110" name="Group 110"/>
          <p:cNvGrpSpPr/>
          <p:nvPr/>
        </p:nvGrpSpPr>
        <p:grpSpPr>
          <a:xfrm>
            <a:off x="4315910" y="2328431"/>
            <a:ext cx="5578995" cy="347524"/>
            <a:chOff x="0" y="0"/>
            <a:chExt cx="1836166" cy="114378"/>
          </a:xfrm>
        </p:grpSpPr>
        <p:sp>
          <p:nvSpPr>
            <p:cNvPr id="111" name="Freeform 111"/>
            <p:cNvSpPr/>
            <p:nvPr/>
          </p:nvSpPr>
          <p:spPr>
            <a:xfrm>
              <a:off x="0" y="0"/>
              <a:ext cx="1836166" cy="114378"/>
            </a:xfrm>
            <a:custGeom>
              <a:avLst/>
              <a:gdLst/>
              <a:ahLst/>
              <a:cxnLst/>
              <a:rect l="l" t="t" r="r" b="b"/>
              <a:pathLst>
                <a:path w="1836166" h="114378">
                  <a:moveTo>
                    <a:pt x="13877" y="0"/>
                  </a:moveTo>
                  <a:lnTo>
                    <a:pt x="1822289" y="0"/>
                  </a:lnTo>
                  <a:cubicBezTo>
                    <a:pt x="1829953" y="0"/>
                    <a:pt x="1836166" y="6213"/>
                    <a:pt x="1836166" y="13877"/>
                  </a:cubicBezTo>
                  <a:lnTo>
                    <a:pt x="1836166" y="100501"/>
                  </a:lnTo>
                  <a:cubicBezTo>
                    <a:pt x="1836166" y="104181"/>
                    <a:pt x="1834704" y="107711"/>
                    <a:pt x="1832101" y="110313"/>
                  </a:cubicBezTo>
                  <a:cubicBezTo>
                    <a:pt x="1829499" y="112916"/>
                    <a:pt x="1825969" y="114378"/>
                    <a:pt x="1822289" y="114378"/>
                  </a:cubicBezTo>
                  <a:lnTo>
                    <a:pt x="13877" y="114378"/>
                  </a:lnTo>
                  <a:cubicBezTo>
                    <a:pt x="10197" y="114378"/>
                    <a:pt x="6667" y="112916"/>
                    <a:pt x="4064" y="110313"/>
                  </a:cubicBezTo>
                  <a:cubicBezTo>
                    <a:pt x="1462" y="107711"/>
                    <a:pt x="0" y="104181"/>
                    <a:pt x="0" y="100501"/>
                  </a:cubicBezTo>
                  <a:lnTo>
                    <a:pt x="0" y="13877"/>
                  </a:lnTo>
                  <a:cubicBezTo>
                    <a:pt x="0" y="6213"/>
                    <a:pt x="6213" y="0"/>
                    <a:pt x="13877"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12" name="TextBox 112"/>
            <p:cNvSpPr txBox="1"/>
            <p:nvPr/>
          </p:nvSpPr>
          <p:spPr>
            <a:xfrm>
              <a:off x="0" y="-57150"/>
              <a:ext cx="1836166" cy="171528"/>
            </a:xfrm>
            <a:prstGeom prst="rect">
              <a:avLst/>
            </a:prstGeom>
          </p:spPr>
          <p:txBody>
            <a:bodyPr lIns="40652" tIns="40652" rIns="40652" bIns="40652" rtlCol="0" anchor="ctr"/>
            <a:lstStyle/>
            <a:p>
              <a:pPr algn="ctr" defTabSz="609630">
                <a:lnSpc>
                  <a:spcPts val="1307"/>
                </a:lnSpc>
              </a:pPr>
              <a:endParaRPr sz="1200">
                <a:solidFill>
                  <a:prstClr val="black"/>
                </a:solidFill>
                <a:latin typeface="Calibri"/>
              </a:endParaRPr>
            </a:p>
          </p:txBody>
        </p:sp>
      </p:grpSp>
      <p:grpSp>
        <p:nvGrpSpPr>
          <p:cNvPr id="113" name="Group 113"/>
          <p:cNvGrpSpPr/>
          <p:nvPr/>
        </p:nvGrpSpPr>
        <p:grpSpPr>
          <a:xfrm>
            <a:off x="4315910" y="3482647"/>
            <a:ext cx="5578995" cy="476888"/>
            <a:chOff x="0" y="0"/>
            <a:chExt cx="2204047" cy="188400"/>
          </a:xfrm>
        </p:grpSpPr>
        <p:sp>
          <p:nvSpPr>
            <p:cNvPr id="114" name="Freeform 114"/>
            <p:cNvSpPr/>
            <p:nvPr/>
          </p:nvSpPr>
          <p:spPr>
            <a:xfrm>
              <a:off x="0" y="0"/>
              <a:ext cx="2204047" cy="188400"/>
            </a:xfrm>
            <a:custGeom>
              <a:avLst/>
              <a:gdLst/>
              <a:ahLst/>
              <a:cxnLst/>
              <a:rect l="l" t="t" r="r" b="b"/>
              <a:pathLst>
                <a:path w="2204047" h="188400">
                  <a:moveTo>
                    <a:pt x="18503" y="0"/>
                  </a:moveTo>
                  <a:lnTo>
                    <a:pt x="2185545" y="0"/>
                  </a:lnTo>
                  <a:cubicBezTo>
                    <a:pt x="2190452" y="0"/>
                    <a:pt x="2195158" y="1949"/>
                    <a:pt x="2198628" y="5419"/>
                  </a:cubicBezTo>
                  <a:cubicBezTo>
                    <a:pt x="2202098" y="8889"/>
                    <a:pt x="2204047" y="13595"/>
                    <a:pt x="2204047" y="18503"/>
                  </a:cubicBezTo>
                  <a:lnTo>
                    <a:pt x="2204047" y="169898"/>
                  </a:lnTo>
                  <a:cubicBezTo>
                    <a:pt x="2204047" y="180116"/>
                    <a:pt x="2195764" y="188400"/>
                    <a:pt x="2185545" y="188400"/>
                  </a:cubicBezTo>
                  <a:lnTo>
                    <a:pt x="18503" y="188400"/>
                  </a:lnTo>
                  <a:cubicBezTo>
                    <a:pt x="8284" y="188400"/>
                    <a:pt x="0" y="180116"/>
                    <a:pt x="0" y="169898"/>
                  </a:cubicBezTo>
                  <a:lnTo>
                    <a:pt x="0" y="18503"/>
                  </a:lnTo>
                  <a:cubicBezTo>
                    <a:pt x="0" y="8284"/>
                    <a:pt x="8284" y="0"/>
                    <a:pt x="18503" y="0"/>
                  </a:cubicBezTo>
                  <a:close/>
                </a:path>
              </a:pathLst>
            </a:custGeom>
            <a:solidFill>
              <a:srgbClr val="FAF8F2"/>
            </a:solidFill>
            <a:ln w="28575" cap="sq">
              <a:solidFill>
                <a:srgbClr val="FF612B"/>
              </a:solidFill>
              <a:prstDash val="sysDot"/>
              <a:miter/>
            </a:ln>
          </p:spPr>
          <p:txBody>
            <a:bodyPr/>
            <a:lstStyle/>
            <a:p>
              <a:pPr defTabSz="609630"/>
              <a:endParaRPr lang="en-US" sz="1200">
                <a:solidFill>
                  <a:prstClr val="black"/>
                </a:solidFill>
                <a:latin typeface="Calibri"/>
              </a:endParaRPr>
            </a:p>
          </p:txBody>
        </p:sp>
        <p:sp>
          <p:nvSpPr>
            <p:cNvPr id="115" name="TextBox 115"/>
            <p:cNvSpPr txBox="1"/>
            <p:nvPr/>
          </p:nvSpPr>
          <p:spPr>
            <a:xfrm>
              <a:off x="0" y="-47625"/>
              <a:ext cx="2204047" cy="236025"/>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16" name="TextBox 116"/>
          <p:cNvSpPr txBox="1"/>
          <p:nvPr/>
        </p:nvSpPr>
        <p:spPr>
          <a:xfrm>
            <a:off x="4393372" y="2080782"/>
            <a:ext cx="1121918" cy="163891"/>
          </a:xfrm>
          <a:prstGeom prst="rect">
            <a:avLst/>
          </a:prstGeom>
        </p:spPr>
        <p:txBody>
          <a:bodyPr lIns="0" tIns="0" rIns="0" bIns="0" rtlCol="0" anchor="t">
            <a:spAutoFit/>
          </a:bodyPr>
          <a:lstStyle/>
          <a:p>
            <a:pPr algn="ctr" defTabSz="609630">
              <a:lnSpc>
                <a:spcPts val="1400"/>
              </a:lnSpc>
            </a:pPr>
            <a:r>
              <a:rPr lang="en-US" sz="1000" b="1">
                <a:solidFill>
                  <a:srgbClr val="002677"/>
                </a:solidFill>
                <a:latin typeface="Arial MT Pro Bold"/>
                <a:ea typeface="Arial MT Pro Bold"/>
                <a:cs typeface="Arial MT Pro Bold"/>
                <a:sym typeface="Arial MT Pro Bold"/>
              </a:rPr>
              <a:t>Billing Information</a:t>
            </a:r>
          </a:p>
        </p:txBody>
      </p:sp>
      <p:sp>
        <p:nvSpPr>
          <p:cNvPr id="117" name="TextBox 117"/>
          <p:cNvSpPr txBox="1"/>
          <p:nvPr/>
        </p:nvSpPr>
        <p:spPr>
          <a:xfrm>
            <a:off x="4564905" y="3529745"/>
            <a:ext cx="5089711" cy="318998"/>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*This member enrolled to </a:t>
            </a:r>
            <a:r>
              <a:rPr lang="en-US" sz="933" b="1">
                <a:solidFill>
                  <a:srgbClr val="4B4D4F"/>
                </a:solidFill>
                <a:latin typeface="Arial MT Pro Bold"/>
                <a:ea typeface="Arial MT Pro Bold"/>
                <a:cs typeface="Arial MT Pro Bold"/>
                <a:sym typeface="Arial MT Pro Bold"/>
              </a:rPr>
              <a:t>Dental and Vision Standalone Benefits</a:t>
            </a:r>
            <a:r>
              <a:rPr lang="en-US" sz="933">
                <a:solidFill>
                  <a:srgbClr val="4B4D4F"/>
                </a:solidFill>
                <a:latin typeface="Arial MT Pro"/>
                <a:ea typeface="Arial MT Pro"/>
                <a:cs typeface="Arial MT Pro"/>
                <a:sym typeface="Arial MT Pro"/>
              </a:rPr>
              <a:t> on September 1, 202X.  </a:t>
            </a:r>
            <a:r>
              <a:rPr lang="en-US" sz="933" i="1">
                <a:solidFill>
                  <a:srgbClr val="933C21"/>
                </a:solidFill>
                <a:latin typeface="Arial MT Pro Italics"/>
                <a:ea typeface="Arial MT Pro Italics"/>
                <a:cs typeface="Arial MT Pro Italics"/>
                <a:sym typeface="Arial MT Pro Italics"/>
              </a:rPr>
              <a:t>An additional $150.00 will be added on top of member’s monthly premium.</a:t>
            </a:r>
          </a:p>
        </p:txBody>
      </p:sp>
      <p:grpSp>
        <p:nvGrpSpPr>
          <p:cNvPr id="118" name="Group 118"/>
          <p:cNvGrpSpPr/>
          <p:nvPr/>
        </p:nvGrpSpPr>
        <p:grpSpPr>
          <a:xfrm>
            <a:off x="134733" y="3436600"/>
            <a:ext cx="3971636" cy="3195201"/>
            <a:chOff x="0" y="0"/>
            <a:chExt cx="1569041" cy="1262302"/>
          </a:xfrm>
        </p:grpSpPr>
        <p:sp>
          <p:nvSpPr>
            <p:cNvPr id="119" name="Freeform 119"/>
            <p:cNvSpPr/>
            <p:nvPr/>
          </p:nvSpPr>
          <p:spPr>
            <a:xfrm>
              <a:off x="0" y="0"/>
              <a:ext cx="1569041" cy="1262302"/>
            </a:xfrm>
            <a:custGeom>
              <a:avLst/>
              <a:gdLst/>
              <a:ahLst/>
              <a:cxnLst/>
              <a:rect l="l" t="t" r="r" b="b"/>
              <a:pathLst>
                <a:path w="1569041" h="1262302">
                  <a:moveTo>
                    <a:pt x="32488" y="0"/>
                  </a:moveTo>
                  <a:lnTo>
                    <a:pt x="1536553" y="0"/>
                  </a:lnTo>
                  <a:cubicBezTo>
                    <a:pt x="1545169" y="0"/>
                    <a:pt x="1553433" y="3423"/>
                    <a:pt x="1559526" y="9516"/>
                  </a:cubicBezTo>
                  <a:cubicBezTo>
                    <a:pt x="1565618" y="15608"/>
                    <a:pt x="1569041" y="23872"/>
                    <a:pt x="1569041" y="32488"/>
                  </a:cubicBezTo>
                  <a:lnTo>
                    <a:pt x="1569041" y="1229813"/>
                  </a:lnTo>
                  <a:cubicBezTo>
                    <a:pt x="1569041" y="1238430"/>
                    <a:pt x="1565618" y="1246693"/>
                    <a:pt x="1559526" y="1252786"/>
                  </a:cubicBezTo>
                  <a:cubicBezTo>
                    <a:pt x="1553433" y="1258879"/>
                    <a:pt x="1545169" y="1262302"/>
                    <a:pt x="1536553" y="1262302"/>
                  </a:cubicBezTo>
                  <a:lnTo>
                    <a:pt x="32488" y="1262302"/>
                  </a:lnTo>
                  <a:cubicBezTo>
                    <a:pt x="23872" y="1262302"/>
                    <a:pt x="15608" y="1258879"/>
                    <a:pt x="9516" y="1252786"/>
                  </a:cubicBezTo>
                  <a:cubicBezTo>
                    <a:pt x="3423" y="1246693"/>
                    <a:pt x="0" y="1238430"/>
                    <a:pt x="0" y="1229813"/>
                  </a:cubicBezTo>
                  <a:lnTo>
                    <a:pt x="0" y="32488"/>
                  </a:lnTo>
                  <a:cubicBezTo>
                    <a:pt x="0" y="23872"/>
                    <a:pt x="3423" y="15608"/>
                    <a:pt x="9516" y="9516"/>
                  </a:cubicBezTo>
                  <a:cubicBezTo>
                    <a:pt x="15608" y="3423"/>
                    <a:pt x="23872" y="0"/>
                    <a:pt x="32488" y="0"/>
                  </a:cubicBezTo>
                  <a:close/>
                </a:path>
              </a:pathLst>
            </a:custGeom>
            <a:ln w="19050" cap="rnd">
              <a:solidFill>
                <a:srgbClr val="F06030"/>
              </a:solidFill>
              <a:prstDash val="solid"/>
              <a:round/>
            </a:ln>
          </p:spPr>
          <p:txBody>
            <a:bodyPr/>
            <a:lstStyle/>
            <a:p>
              <a:pPr defTabSz="609630"/>
              <a:endParaRPr lang="en-US" sz="1200">
                <a:solidFill>
                  <a:prstClr val="black"/>
                </a:solidFill>
                <a:latin typeface="Calibri"/>
              </a:endParaRPr>
            </a:p>
          </p:txBody>
        </p:sp>
        <p:sp>
          <p:nvSpPr>
            <p:cNvPr id="120" name="TextBox 120"/>
            <p:cNvSpPr txBox="1"/>
            <p:nvPr/>
          </p:nvSpPr>
          <p:spPr>
            <a:xfrm>
              <a:off x="0" y="-47625"/>
              <a:ext cx="1569041" cy="1309927"/>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21" name="Group 121"/>
          <p:cNvGrpSpPr/>
          <p:nvPr/>
        </p:nvGrpSpPr>
        <p:grpSpPr>
          <a:xfrm>
            <a:off x="254368" y="4801862"/>
            <a:ext cx="3732369" cy="365337"/>
            <a:chOff x="0" y="0"/>
            <a:chExt cx="1474516" cy="144331"/>
          </a:xfrm>
        </p:grpSpPr>
        <p:sp>
          <p:nvSpPr>
            <p:cNvPr id="122" name="Freeform 122"/>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23" name="TextBox 123"/>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24" name="Freeform 124"/>
          <p:cNvSpPr/>
          <p:nvPr/>
        </p:nvSpPr>
        <p:spPr>
          <a:xfrm>
            <a:off x="271929" y="3895348"/>
            <a:ext cx="710681" cy="710510"/>
          </a:xfrm>
          <a:custGeom>
            <a:avLst/>
            <a:gdLst/>
            <a:ahLst/>
            <a:cxnLst/>
            <a:rect l="l" t="t" r="r" b="b"/>
            <a:pathLst>
              <a:path w="1066022" h="1065765">
                <a:moveTo>
                  <a:pt x="0" y="0"/>
                </a:moveTo>
                <a:lnTo>
                  <a:pt x="1066022" y="0"/>
                </a:lnTo>
                <a:lnTo>
                  <a:pt x="1066022" y="1065765"/>
                </a:lnTo>
                <a:lnTo>
                  <a:pt x="0" y="1065765"/>
                </a:lnTo>
                <a:lnTo>
                  <a:pt x="0" y="0"/>
                </a:lnTo>
                <a:close/>
              </a:path>
            </a:pathLst>
          </a:custGeom>
          <a:blipFill>
            <a:blip r:embed="rId9"/>
            <a:stretch>
              <a:fillRect t="-1209" b="-1209"/>
            </a:stretch>
          </a:blipFill>
        </p:spPr>
        <p:txBody>
          <a:bodyPr/>
          <a:lstStyle/>
          <a:p>
            <a:pPr defTabSz="609630"/>
            <a:endParaRPr lang="en-US" sz="1200">
              <a:solidFill>
                <a:prstClr val="black"/>
              </a:solidFill>
              <a:latin typeface="Calibri"/>
            </a:endParaRPr>
          </a:p>
        </p:txBody>
      </p:sp>
      <p:grpSp>
        <p:nvGrpSpPr>
          <p:cNvPr id="125" name="Group 125"/>
          <p:cNvGrpSpPr/>
          <p:nvPr/>
        </p:nvGrpSpPr>
        <p:grpSpPr>
          <a:xfrm>
            <a:off x="1006652" y="3864813"/>
            <a:ext cx="2997407" cy="886372"/>
            <a:chOff x="0" y="0"/>
            <a:chExt cx="1184161" cy="350172"/>
          </a:xfrm>
        </p:grpSpPr>
        <p:sp>
          <p:nvSpPr>
            <p:cNvPr id="126" name="Freeform 126"/>
            <p:cNvSpPr/>
            <p:nvPr/>
          </p:nvSpPr>
          <p:spPr>
            <a:xfrm>
              <a:off x="0" y="0"/>
              <a:ext cx="1184161" cy="350172"/>
            </a:xfrm>
            <a:custGeom>
              <a:avLst/>
              <a:gdLst/>
              <a:ahLst/>
              <a:cxnLst/>
              <a:rect l="l" t="t" r="r" b="b"/>
              <a:pathLst>
                <a:path w="1184161" h="350172">
                  <a:moveTo>
                    <a:pt x="43048" y="0"/>
                  </a:moveTo>
                  <a:lnTo>
                    <a:pt x="1141113" y="0"/>
                  </a:lnTo>
                  <a:cubicBezTo>
                    <a:pt x="1164888" y="0"/>
                    <a:pt x="1184161" y="19273"/>
                    <a:pt x="1184161" y="43048"/>
                  </a:cubicBezTo>
                  <a:lnTo>
                    <a:pt x="1184161" y="307124"/>
                  </a:lnTo>
                  <a:cubicBezTo>
                    <a:pt x="1184161" y="330898"/>
                    <a:pt x="1164888" y="350172"/>
                    <a:pt x="1141113" y="350172"/>
                  </a:cubicBezTo>
                  <a:lnTo>
                    <a:pt x="43048" y="350172"/>
                  </a:lnTo>
                  <a:cubicBezTo>
                    <a:pt x="19273" y="350172"/>
                    <a:pt x="0" y="330898"/>
                    <a:pt x="0" y="307124"/>
                  </a:cubicBezTo>
                  <a:lnTo>
                    <a:pt x="0" y="43048"/>
                  </a:lnTo>
                  <a:cubicBezTo>
                    <a:pt x="0" y="19273"/>
                    <a:pt x="19273" y="0"/>
                    <a:pt x="43048"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27" name="TextBox 127"/>
            <p:cNvSpPr txBox="1"/>
            <p:nvPr/>
          </p:nvSpPr>
          <p:spPr>
            <a:xfrm>
              <a:off x="0" y="-76200"/>
              <a:ext cx="1184161" cy="426372"/>
            </a:xfrm>
            <a:prstGeom prst="rect">
              <a:avLst/>
            </a:prstGeom>
          </p:spPr>
          <p:txBody>
            <a:bodyPr lIns="33867" tIns="33867" rIns="33867" bIns="33867" rtlCol="0" anchor="ctr"/>
            <a:lstStyle/>
            <a:p>
              <a:pPr algn="ctr" defTabSz="609630">
                <a:lnSpc>
                  <a:spcPts val="1825"/>
                </a:lnSpc>
              </a:pPr>
              <a:endParaRPr sz="1200">
                <a:solidFill>
                  <a:prstClr val="black"/>
                </a:solidFill>
                <a:latin typeface="Calibri"/>
              </a:endParaRPr>
            </a:p>
          </p:txBody>
        </p:sp>
      </p:grpSp>
      <p:grpSp>
        <p:nvGrpSpPr>
          <p:cNvPr id="128" name="Group 128"/>
          <p:cNvGrpSpPr/>
          <p:nvPr/>
        </p:nvGrpSpPr>
        <p:grpSpPr>
          <a:xfrm>
            <a:off x="254368" y="5230698"/>
            <a:ext cx="3732369" cy="408093"/>
            <a:chOff x="0" y="0"/>
            <a:chExt cx="1474516" cy="161222"/>
          </a:xfrm>
        </p:grpSpPr>
        <p:sp>
          <p:nvSpPr>
            <p:cNvPr id="129" name="Freeform 129"/>
            <p:cNvSpPr/>
            <p:nvPr/>
          </p:nvSpPr>
          <p:spPr>
            <a:xfrm>
              <a:off x="0" y="0"/>
              <a:ext cx="1474516" cy="161222"/>
            </a:xfrm>
            <a:custGeom>
              <a:avLst/>
              <a:gdLst/>
              <a:ahLst/>
              <a:cxnLst/>
              <a:rect l="l" t="t" r="r" b="b"/>
              <a:pathLst>
                <a:path w="1474516" h="161222">
                  <a:moveTo>
                    <a:pt x="34571" y="0"/>
                  </a:moveTo>
                  <a:lnTo>
                    <a:pt x="1439945" y="0"/>
                  </a:lnTo>
                  <a:cubicBezTo>
                    <a:pt x="1459038" y="0"/>
                    <a:pt x="1474516" y="15478"/>
                    <a:pt x="1474516" y="34571"/>
                  </a:cubicBezTo>
                  <a:lnTo>
                    <a:pt x="1474516" y="126651"/>
                  </a:lnTo>
                  <a:cubicBezTo>
                    <a:pt x="1474516" y="145744"/>
                    <a:pt x="1459038" y="161222"/>
                    <a:pt x="1439945" y="161222"/>
                  </a:cubicBezTo>
                  <a:lnTo>
                    <a:pt x="34571" y="161222"/>
                  </a:lnTo>
                  <a:cubicBezTo>
                    <a:pt x="15478" y="161222"/>
                    <a:pt x="0" y="145744"/>
                    <a:pt x="0" y="126651"/>
                  </a:cubicBezTo>
                  <a:lnTo>
                    <a:pt x="0" y="34571"/>
                  </a:lnTo>
                  <a:cubicBezTo>
                    <a:pt x="0" y="15478"/>
                    <a:pt x="15478" y="0"/>
                    <a:pt x="34571"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30" name="TextBox 130"/>
            <p:cNvSpPr txBox="1"/>
            <p:nvPr/>
          </p:nvSpPr>
          <p:spPr>
            <a:xfrm>
              <a:off x="0" y="-47625"/>
              <a:ext cx="1474516" cy="208847"/>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31" name="Group 131"/>
          <p:cNvGrpSpPr/>
          <p:nvPr/>
        </p:nvGrpSpPr>
        <p:grpSpPr>
          <a:xfrm>
            <a:off x="254368" y="5708642"/>
            <a:ext cx="3732369" cy="365337"/>
            <a:chOff x="0" y="0"/>
            <a:chExt cx="1474516" cy="144331"/>
          </a:xfrm>
        </p:grpSpPr>
        <p:sp>
          <p:nvSpPr>
            <p:cNvPr id="132" name="Freeform 132"/>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33" name="TextBox 133"/>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grpSp>
        <p:nvGrpSpPr>
          <p:cNvPr id="134" name="Group 134"/>
          <p:cNvGrpSpPr/>
          <p:nvPr/>
        </p:nvGrpSpPr>
        <p:grpSpPr>
          <a:xfrm>
            <a:off x="254368" y="6143828"/>
            <a:ext cx="3732369" cy="365337"/>
            <a:chOff x="0" y="0"/>
            <a:chExt cx="1474516" cy="144331"/>
          </a:xfrm>
        </p:grpSpPr>
        <p:sp>
          <p:nvSpPr>
            <p:cNvPr id="135" name="Freeform 135"/>
            <p:cNvSpPr/>
            <p:nvPr/>
          </p:nvSpPr>
          <p:spPr>
            <a:xfrm>
              <a:off x="0" y="0"/>
              <a:ext cx="1474516" cy="144331"/>
            </a:xfrm>
            <a:custGeom>
              <a:avLst/>
              <a:gdLst/>
              <a:ahLst/>
              <a:cxnLst/>
              <a:rect l="l" t="t" r="r" b="b"/>
              <a:pathLst>
                <a:path w="1474516" h="144331">
                  <a:moveTo>
                    <a:pt x="34571" y="0"/>
                  </a:moveTo>
                  <a:lnTo>
                    <a:pt x="1439945" y="0"/>
                  </a:lnTo>
                  <a:cubicBezTo>
                    <a:pt x="1459038" y="0"/>
                    <a:pt x="1474516" y="15478"/>
                    <a:pt x="1474516" y="34571"/>
                  </a:cubicBezTo>
                  <a:lnTo>
                    <a:pt x="1474516" y="109759"/>
                  </a:lnTo>
                  <a:cubicBezTo>
                    <a:pt x="1474516" y="128853"/>
                    <a:pt x="1459038" y="144331"/>
                    <a:pt x="1439945" y="144331"/>
                  </a:cubicBezTo>
                  <a:lnTo>
                    <a:pt x="34571" y="144331"/>
                  </a:lnTo>
                  <a:cubicBezTo>
                    <a:pt x="15478" y="144331"/>
                    <a:pt x="0" y="128853"/>
                    <a:pt x="0" y="109759"/>
                  </a:cubicBezTo>
                  <a:lnTo>
                    <a:pt x="0" y="34571"/>
                  </a:lnTo>
                  <a:cubicBezTo>
                    <a:pt x="0" y="15478"/>
                    <a:pt x="15478" y="0"/>
                    <a:pt x="34571" y="0"/>
                  </a:cubicBezTo>
                  <a:close/>
                </a:path>
              </a:pathLst>
            </a:custGeom>
            <a:solidFill>
              <a:srgbClr val="D9F6FA"/>
            </a:solidFill>
          </p:spPr>
          <p:txBody>
            <a:bodyPr/>
            <a:lstStyle/>
            <a:p>
              <a:pPr defTabSz="609630"/>
              <a:endParaRPr lang="en-US" sz="1200">
                <a:solidFill>
                  <a:prstClr val="black"/>
                </a:solidFill>
                <a:latin typeface="Calibri"/>
              </a:endParaRPr>
            </a:p>
          </p:txBody>
        </p:sp>
        <p:sp>
          <p:nvSpPr>
            <p:cNvPr id="136" name="TextBox 136"/>
            <p:cNvSpPr txBox="1"/>
            <p:nvPr/>
          </p:nvSpPr>
          <p:spPr>
            <a:xfrm>
              <a:off x="0" y="-47625"/>
              <a:ext cx="1474516" cy="191956"/>
            </a:xfrm>
            <a:prstGeom prst="rect">
              <a:avLst/>
            </a:prstGeom>
          </p:spPr>
          <p:txBody>
            <a:bodyPr lIns="33867" tIns="33867" rIns="33867" bIns="33867" rtlCol="0" anchor="ctr"/>
            <a:lstStyle/>
            <a:p>
              <a:pPr algn="ctr" defTabSz="609630">
                <a:lnSpc>
                  <a:spcPts val="1119"/>
                </a:lnSpc>
              </a:pPr>
              <a:endParaRPr sz="1200">
                <a:solidFill>
                  <a:prstClr val="black"/>
                </a:solidFill>
                <a:latin typeface="Calibri"/>
              </a:endParaRPr>
            </a:p>
          </p:txBody>
        </p:sp>
      </p:grpSp>
      <p:sp>
        <p:nvSpPr>
          <p:cNvPr id="137" name="TextBox 137"/>
          <p:cNvSpPr txBox="1"/>
          <p:nvPr/>
        </p:nvSpPr>
        <p:spPr>
          <a:xfrm>
            <a:off x="254367" y="3528263"/>
            <a:ext cx="2104044" cy="163891"/>
          </a:xfrm>
          <a:prstGeom prst="rect">
            <a:avLst/>
          </a:prstGeom>
        </p:spPr>
        <p:txBody>
          <a:bodyPr lIns="0" tIns="0" rIns="0" bIns="0" rtlCol="0" anchor="t">
            <a:spAutoFit/>
          </a:bodyPr>
          <a:lstStyle/>
          <a:p>
            <a:pPr algn="ctr" defTabSz="609630">
              <a:lnSpc>
                <a:spcPts val="1400"/>
              </a:lnSpc>
            </a:pPr>
            <a:r>
              <a:rPr lang="en-US" sz="1000" b="1">
                <a:solidFill>
                  <a:srgbClr val="002677"/>
                </a:solidFill>
                <a:latin typeface="Arial MT Pro Bold"/>
                <a:ea typeface="Arial MT Pro Bold"/>
                <a:cs typeface="Arial MT Pro Bold"/>
                <a:sym typeface="Arial MT Pro Bold"/>
              </a:rPr>
              <a:t>Accredited Facilities and Clinics</a:t>
            </a:r>
          </a:p>
        </p:txBody>
      </p:sp>
      <p:sp>
        <p:nvSpPr>
          <p:cNvPr id="138" name="TextBox 138"/>
          <p:cNvSpPr txBox="1"/>
          <p:nvPr/>
        </p:nvSpPr>
        <p:spPr>
          <a:xfrm>
            <a:off x="1211077" y="4044941"/>
            <a:ext cx="1400207" cy="294568"/>
          </a:xfrm>
          <a:prstGeom prst="rect">
            <a:avLst/>
          </a:prstGeom>
        </p:spPr>
        <p:txBody>
          <a:bodyPr lIns="0" tIns="0" rIns="0" bIns="0" rtlCol="0" anchor="t">
            <a:spAutoFit/>
          </a:bodyPr>
          <a:lstStyle/>
          <a:p>
            <a:pPr defTabSz="609630">
              <a:lnSpc>
                <a:spcPts val="1213"/>
              </a:lnSpc>
            </a:pPr>
            <a:r>
              <a:rPr lang="en-US" sz="866" b="1">
                <a:solidFill>
                  <a:srgbClr val="002677"/>
                </a:solidFill>
                <a:latin typeface="Arial MT Pro Bold"/>
                <a:ea typeface="Arial MT Pro Bold"/>
                <a:cs typeface="Arial MT Pro Bold"/>
                <a:sym typeface="Arial MT Pro Bold"/>
              </a:rPr>
              <a:t>MANIFOLD GENERAL HOSPITAL</a:t>
            </a:r>
          </a:p>
        </p:txBody>
      </p:sp>
      <p:sp>
        <p:nvSpPr>
          <p:cNvPr id="139" name="TextBox 139"/>
          <p:cNvSpPr txBox="1"/>
          <p:nvPr/>
        </p:nvSpPr>
        <p:spPr>
          <a:xfrm>
            <a:off x="2587849" y="4044941"/>
            <a:ext cx="1272816" cy="294568"/>
          </a:xfrm>
          <a:prstGeom prst="rect">
            <a:avLst/>
          </a:prstGeom>
        </p:spPr>
        <p:txBody>
          <a:bodyPr lIns="0" tIns="0" rIns="0" bIns="0" rtlCol="0" anchor="t">
            <a:spAutoFit/>
          </a:bodyPr>
          <a:lstStyle/>
          <a:p>
            <a:pPr defTabSz="609630">
              <a:lnSpc>
                <a:spcPts val="1213"/>
              </a:lnSpc>
            </a:pPr>
            <a:r>
              <a:rPr lang="en-US" sz="866" b="1">
                <a:solidFill>
                  <a:srgbClr val="002677"/>
                </a:solidFill>
                <a:latin typeface="Arial MT Pro Bold"/>
                <a:ea typeface="Arial MT Pro Bold"/>
                <a:cs typeface="Arial MT Pro Bold"/>
                <a:sym typeface="Arial MT Pro Bold"/>
              </a:rPr>
              <a:t>MIGHTY TEETH DENTAL CARE</a:t>
            </a:r>
          </a:p>
        </p:txBody>
      </p:sp>
      <p:sp>
        <p:nvSpPr>
          <p:cNvPr id="140" name="TextBox 140"/>
          <p:cNvSpPr txBox="1"/>
          <p:nvPr/>
        </p:nvSpPr>
        <p:spPr>
          <a:xfrm>
            <a:off x="1218977" y="4461078"/>
            <a:ext cx="885067" cy="129138"/>
          </a:xfrm>
          <a:prstGeom prst="rect">
            <a:avLst/>
          </a:prstGeom>
        </p:spPr>
        <p:txBody>
          <a:bodyPr lIns="0" tIns="0" rIns="0" bIns="0" rtlCol="0" anchor="t">
            <a:spAutoFit/>
          </a:bodyPr>
          <a:lstStyle/>
          <a:p>
            <a:pPr algn="ctr" defTabSz="609630">
              <a:lnSpc>
                <a:spcPts val="1120"/>
              </a:lnSpc>
            </a:pPr>
            <a:r>
              <a:rPr lang="en-US" sz="800">
                <a:solidFill>
                  <a:srgbClr val="4B4D4F"/>
                </a:solidFill>
                <a:latin typeface="Arial MT Pro"/>
                <a:ea typeface="Arial MT Pro"/>
                <a:cs typeface="Arial MT Pro"/>
                <a:sym typeface="Arial MT Pro"/>
              </a:rPr>
              <a:t>Tax ID: 620728634</a:t>
            </a:r>
          </a:p>
        </p:txBody>
      </p:sp>
      <p:sp>
        <p:nvSpPr>
          <p:cNvPr id="141" name="TextBox 141"/>
          <p:cNvSpPr txBox="1"/>
          <p:nvPr/>
        </p:nvSpPr>
        <p:spPr>
          <a:xfrm>
            <a:off x="2587850" y="4461078"/>
            <a:ext cx="885067" cy="129138"/>
          </a:xfrm>
          <a:prstGeom prst="rect">
            <a:avLst/>
          </a:prstGeom>
        </p:spPr>
        <p:txBody>
          <a:bodyPr lIns="0" tIns="0" rIns="0" bIns="0" rtlCol="0" anchor="t">
            <a:spAutoFit/>
          </a:bodyPr>
          <a:lstStyle/>
          <a:p>
            <a:pPr defTabSz="609630">
              <a:lnSpc>
                <a:spcPts val="1120"/>
              </a:lnSpc>
            </a:pPr>
            <a:r>
              <a:rPr lang="en-US" sz="800">
                <a:solidFill>
                  <a:srgbClr val="4B4D4F"/>
                </a:solidFill>
                <a:latin typeface="Arial MT Pro"/>
                <a:ea typeface="Arial MT Pro"/>
                <a:cs typeface="Arial MT Pro"/>
                <a:sym typeface="Arial MT Pro"/>
              </a:rPr>
              <a:t>Tax ID: 235093485</a:t>
            </a:r>
          </a:p>
        </p:txBody>
      </p:sp>
      <p:sp>
        <p:nvSpPr>
          <p:cNvPr id="142" name="TextBox 142"/>
          <p:cNvSpPr txBox="1"/>
          <p:nvPr/>
        </p:nvSpPr>
        <p:spPr>
          <a:xfrm>
            <a:off x="409627" y="4893090"/>
            <a:ext cx="39314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Doctors</a:t>
            </a:r>
          </a:p>
        </p:txBody>
      </p:sp>
      <p:sp>
        <p:nvSpPr>
          <p:cNvPr id="143" name="TextBox 143"/>
          <p:cNvSpPr txBox="1"/>
          <p:nvPr/>
        </p:nvSpPr>
        <p:spPr>
          <a:xfrm>
            <a:off x="409627" y="5355158"/>
            <a:ext cx="41639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Address</a:t>
            </a:r>
          </a:p>
        </p:txBody>
      </p:sp>
      <p:sp>
        <p:nvSpPr>
          <p:cNvPr id="144" name="TextBox 144"/>
          <p:cNvSpPr txBox="1"/>
          <p:nvPr/>
        </p:nvSpPr>
        <p:spPr>
          <a:xfrm>
            <a:off x="409627" y="5814298"/>
            <a:ext cx="1400207"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Contact No.</a:t>
            </a:r>
          </a:p>
        </p:txBody>
      </p:sp>
      <p:sp>
        <p:nvSpPr>
          <p:cNvPr id="145" name="TextBox 145"/>
          <p:cNvSpPr txBox="1"/>
          <p:nvPr/>
        </p:nvSpPr>
        <p:spPr>
          <a:xfrm>
            <a:off x="384654" y="6251778"/>
            <a:ext cx="612970" cy="129138"/>
          </a:xfrm>
          <a:prstGeom prst="rect">
            <a:avLst/>
          </a:prstGeom>
        </p:spPr>
        <p:txBody>
          <a:bodyPr lIns="0" tIns="0" rIns="0" bIns="0" rtlCol="0" anchor="t">
            <a:spAutoFit/>
          </a:bodyPr>
          <a:lstStyle/>
          <a:p>
            <a:pPr defTabSz="609630">
              <a:lnSpc>
                <a:spcPts val="1119"/>
              </a:lnSpc>
            </a:pPr>
            <a:r>
              <a:rPr lang="en-US" sz="800" b="1">
                <a:solidFill>
                  <a:srgbClr val="002677"/>
                </a:solidFill>
                <a:latin typeface="Arial MT Pro Bold"/>
                <a:ea typeface="Arial MT Pro Bold"/>
                <a:cs typeface="Arial MT Pro Bold"/>
                <a:sym typeface="Arial MT Pro Bold"/>
              </a:rPr>
              <a:t>Clinic Hours</a:t>
            </a:r>
          </a:p>
        </p:txBody>
      </p:sp>
      <p:sp>
        <p:nvSpPr>
          <p:cNvPr id="146" name="TextBox 146"/>
          <p:cNvSpPr txBox="1"/>
          <p:nvPr/>
        </p:nvSpPr>
        <p:spPr>
          <a:xfrm>
            <a:off x="1211076" y="4893090"/>
            <a:ext cx="763286" cy="129138"/>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Dr. Adam L. Nail</a:t>
            </a:r>
          </a:p>
        </p:txBody>
      </p:sp>
      <p:sp>
        <p:nvSpPr>
          <p:cNvPr id="147" name="TextBox 147"/>
          <p:cNvSpPr txBox="1"/>
          <p:nvPr/>
        </p:nvSpPr>
        <p:spPr>
          <a:xfrm>
            <a:off x="2587850" y="4893090"/>
            <a:ext cx="954087"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Dr. Deena C. Pilgrim</a:t>
            </a:r>
          </a:p>
        </p:txBody>
      </p:sp>
      <p:sp>
        <p:nvSpPr>
          <p:cNvPr id="148" name="TextBox 148"/>
          <p:cNvSpPr txBox="1"/>
          <p:nvPr/>
        </p:nvSpPr>
        <p:spPr>
          <a:xfrm>
            <a:off x="1218977" y="5273455"/>
            <a:ext cx="1208787" cy="270202"/>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742 Highland Ave.</a:t>
            </a:r>
          </a:p>
          <a:p>
            <a:pPr defTabSz="609630">
              <a:lnSpc>
                <a:spcPts val="1119"/>
              </a:lnSpc>
            </a:pPr>
            <a:r>
              <a:rPr lang="en-US" sz="800">
                <a:solidFill>
                  <a:srgbClr val="4B4D4F"/>
                </a:solidFill>
                <a:latin typeface="Arial MT Pro"/>
                <a:ea typeface="Arial MT Pro"/>
                <a:cs typeface="Arial MT Pro"/>
                <a:sym typeface="Arial MT Pro"/>
              </a:rPr>
              <a:t>Manifold, California 92405</a:t>
            </a:r>
          </a:p>
        </p:txBody>
      </p:sp>
      <p:sp>
        <p:nvSpPr>
          <p:cNvPr id="149" name="TextBox 149"/>
          <p:cNvSpPr txBox="1"/>
          <p:nvPr/>
        </p:nvSpPr>
        <p:spPr>
          <a:xfrm>
            <a:off x="2587849" y="5273455"/>
            <a:ext cx="1208787" cy="270202"/>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4588 Midland Way</a:t>
            </a:r>
          </a:p>
          <a:p>
            <a:pPr defTabSz="609630">
              <a:lnSpc>
                <a:spcPts val="1119"/>
              </a:lnSpc>
            </a:pPr>
            <a:r>
              <a:rPr lang="en-US" sz="800">
                <a:solidFill>
                  <a:srgbClr val="4B4D4F"/>
                </a:solidFill>
                <a:latin typeface="Arial MT Pro"/>
                <a:ea typeface="Arial MT Pro"/>
                <a:cs typeface="Arial MT Pro"/>
                <a:sym typeface="Arial MT Pro"/>
              </a:rPr>
              <a:t>Manifold, California 92415</a:t>
            </a:r>
          </a:p>
        </p:txBody>
      </p:sp>
      <p:sp>
        <p:nvSpPr>
          <p:cNvPr id="150" name="TextBox 150"/>
          <p:cNvSpPr txBox="1"/>
          <p:nvPr/>
        </p:nvSpPr>
        <p:spPr>
          <a:xfrm>
            <a:off x="1211076" y="5803891"/>
            <a:ext cx="65361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(909) 881-732</a:t>
            </a:r>
          </a:p>
        </p:txBody>
      </p:sp>
      <p:sp>
        <p:nvSpPr>
          <p:cNvPr id="151" name="TextBox 151"/>
          <p:cNvSpPr txBox="1"/>
          <p:nvPr/>
        </p:nvSpPr>
        <p:spPr>
          <a:xfrm>
            <a:off x="2587850" y="5814298"/>
            <a:ext cx="65361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(909) 789-558</a:t>
            </a:r>
          </a:p>
        </p:txBody>
      </p:sp>
      <p:sp>
        <p:nvSpPr>
          <p:cNvPr id="152" name="TextBox 152"/>
          <p:cNvSpPr txBox="1"/>
          <p:nvPr/>
        </p:nvSpPr>
        <p:spPr>
          <a:xfrm>
            <a:off x="1218977" y="6251778"/>
            <a:ext cx="54947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8am to 7pm</a:t>
            </a:r>
          </a:p>
        </p:txBody>
      </p:sp>
      <p:sp>
        <p:nvSpPr>
          <p:cNvPr id="153" name="TextBox 153"/>
          <p:cNvSpPr txBox="1"/>
          <p:nvPr/>
        </p:nvSpPr>
        <p:spPr>
          <a:xfrm>
            <a:off x="2587850" y="6251778"/>
            <a:ext cx="549478" cy="129138"/>
          </a:xfrm>
          <a:prstGeom prst="rect">
            <a:avLst/>
          </a:prstGeom>
        </p:spPr>
        <p:txBody>
          <a:bodyPr lIns="0" tIns="0" rIns="0" bIns="0" rtlCol="0" anchor="t">
            <a:spAutoFit/>
          </a:bodyPr>
          <a:lstStyle/>
          <a:p>
            <a:pPr algn="ctr" defTabSz="609630">
              <a:lnSpc>
                <a:spcPts val="1119"/>
              </a:lnSpc>
            </a:pPr>
            <a:r>
              <a:rPr lang="en-US" sz="800">
                <a:solidFill>
                  <a:srgbClr val="4B4D4F"/>
                </a:solidFill>
                <a:latin typeface="Arial MT Pro"/>
                <a:ea typeface="Arial MT Pro"/>
                <a:cs typeface="Arial MT Pro"/>
                <a:sym typeface="Arial MT Pro"/>
              </a:rPr>
              <a:t>7am to 7pm</a:t>
            </a:r>
          </a:p>
        </p:txBody>
      </p:sp>
      <p:grpSp>
        <p:nvGrpSpPr>
          <p:cNvPr id="154" name="Group 154"/>
          <p:cNvGrpSpPr/>
          <p:nvPr/>
        </p:nvGrpSpPr>
        <p:grpSpPr>
          <a:xfrm>
            <a:off x="6627392" y="2929825"/>
            <a:ext cx="3150995" cy="179135"/>
            <a:chOff x="0" y="0"/>
            <a:chExt cx="1244838" cy="70769"/>
          </a:xfrm>
        </p:grpSpPr>
        <p:sp>
          <p:nvSpPr>
            <p:cNvPr id="155" name="Freeform 155"/>
            <p:cNvSpPr/>
            <p:nvPr/>
          </p:nvSpPr>
          <p:spPr>
            <a:xfrm>
              <a:off x="0" y="0"/>
              <a:ext cx="1244838" cy="70769"/>
            </a:xfrm>
            <a:custGeom>
              <a:avLst/>
              <a:gdLst/>
              <a:ahLst/>
              <a:cxnLst/>
              <a:rect l="l" t="t" r="r" b="b"/>
              <a:pathLst>
                <a:path w="1244838" h="70769">
                  <a:moveTo>
                    <a:pt x="29484" y="0"/>
                  </a:moveTo>
                  <a:lnTo>
                    <a:pt x="1215354" y="0"/>
                  </a:lnTo>
                  <a:cubicBezTo>
                    <a:pt x="1231637" y="0"/>
                    <a:pt x="1244838" y="13200"/>
                    <a:pt x="1244838" y="29484"/>
                  </a:cubicBezTo>
                  <a:lnTo>
                    <a:pt x="1244838" y="41285"/>
                  </a:lnTo>
                  <a:cubicBezTo>
                    <a:pt x="1244838" y="57569"/>
                    <a:pt x="1231637" y="70769"/>
                    <a:pt x="1215354" y="70769"/>
                  </a:cubicBezTo>
                  <a:lnTo>
                    <a:pt x="29484" y="70769"/>
                  </a:lnTo>
                  <a:cubicBezTo>
                    <a:pt x="13200" y="70769"/>
                    <a:pt x="0" y="57569"/>
                    <a:pt x="0" y="41285"/>
                  </a:cubicBezTo>
                  <a:lnTo>
                    <a:pt x="0" y="29484"/>
                  </a:lnTo>
                  <a:cubicBezTo>
                    <a:pt x="0" y="13200"/>
                    <a:pt x="13200" y="0"/>
                    <a:pt x="29484"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56" name="TextBox 156"/>
            <p:cNvSpPr txBox="1"/>
            <p:nvPr/>
          </p:nvSpPr>
          <p:spPr>
            <a:xfrm>
              <a:off x="0" y="-57150"/>
              <a:ext cx="1244838" cy="127919"/>
            </a:xfrm>
            <a:prstGeom prst="rect">
              <a:avLst/>
            </a:prstGeom>
          </p:spPr>
          <p:txBody>
            <a:bodyPr lIns="33867" tIns="33867" rIns="33867" bIns="33867" rtlCol="0" anchor="ctr"/>
            <a:lstStyle/>
            <a:p>
              <a:pPr algn="ctr" defTabSz="609630">
                <a:lnSpc>
                  <a:spcPts val="1307"/>
                </a:lnSpc>
              </a:pPr>
              <a:endParaRPr sz="1200">
                <a:solidFill>
                  <a:prstClr val="black"/>
                </a:solidFill>
                <a:latin typeface="Calibri"/>
              </a:endParaRPr>
            </a:p>
          </p:txBody>
        </p:sp>
      </p:grpSp>
      <p:sp>
        <p:nvSpPr>
          <p:cNvPr id="157" name="TextBox 157"/>
          <p:cNvSpPr txBox="1"/>
          <p:nvPr/>
        </p:nvSpPr>
        <p:spPr>
          <a:xfrm>
            <a:off x="4459720" y="2413912"/>
            <a:ext cx="355441"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Month</a:t>
            </a:r>
          </a:p>
        </p:txBody>
      </p:sp>
      <p:sp>
        <p:nvSpPr>
          <p:cNvPr id="158" name="TextBox 158"/>
          <p:cNvSpPr txBox="1"/>
          <p:nvPr/>
        </p:nvSpPr>
        <p:spPr>
          <a:xfrm>
            <a:off x="5107731" y="2331362"/>
            <a:ext cx="897499"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Premium Amount</a:t>
            </a:r>
          </a:p>
        </p:txBody>
      </p:sp>
      <p:sp>
        <p:nvSpPr>
          <p:cNvPr id="159" name="TextBox 159"/>
          <p:cNvSpPr txBox="1"/>
          <p:nvPr/>
        </p:nvSpPr>
        <p:spPr>
          <a:xfrm>
            <a:off x="6081429" y="2413912"/>
            <a:ext cx="362188" cy="152286"/>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Status</a:t>
            </a:r>
          </a:p>
        </p:txBody>
      </p:sp>
      <p:sp>
        <p:nvSpPr>
          <p:cNvPr id="160" name="TextBox 160"/>
          <p:cNvSpPr txBox="1"/>
          <p:nvPr/>
        </p:nvSpPr>
        <p:spPr>
          <a:xfrm>
            <a:off x="8924886" y="2331362"/>
            <a:ext cx="970019"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Outstanding Balance</a:t>
            </a:r>
          </a:p>
        </p:txBody>
      </p:sp>
      <p:sp>
        <p:nvSpPr>
          <p:cNvPr id="161" name="TextBox 161"/>
          <p:cNvSpPr txBox="1"/>
          <p:nvPr/>
        </p:nvSpPr>
        <p:spPr>
          <a:xfrm>
            <a:off x="4458053" y="2938310"/>
            <a:ext cx="579675"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September</a:t>
            </a:r>
          </a:p>
        </p:txBody>
      </p:sp>
      <p:sp>
        <p:nvSpPr>
          <p:cNvPr id="162" name="TextBox 162"/>
          <p:cNvSpPr txBox="1"/>
          <p:nvPr/>
        </p:nvSpPr>
        <p:spPr>
          <a:xfrm>
            <a:off x="5342287" y="2938310"/>
            <a:ext cx="42838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$280.00</a:t>
            </a:r>
          </a:p>
        </p:txBody>
      </p:sp>
      <p:sp>
        <p:nvSpPr>
          <p:cNvPr id="163" name="TextBox 163"/>
          <p:cNvSpPr txBox="1"/>
          <p:nvPr/>
        </p:nvSpPr>
        <p:spPr>
          <a:xfrm>
            <a:off x="6143938" y="2924275"/>
            <a:ext cx="237173"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Paid</a:t>
            </a:r>
          </a:p>
        </p:txBody>
      </p:sp>
      <p:sp>
        <p:nvSpPr>
          <p:cNvPr id="164" name="TextBox 164"/>
          <p:cNvSpPr txBox="1"/>
          <p:nvPr/>
        </p:nvSpPr>
        <p:spPr>
          <a:xfrm>
            <a:off x="9209300" y="2929466"/>
            <a:ext cx="428387" cy="152286"/>
          </a:xfrm>
          <a:prstGeom prst="rect">
            <a:avLst/>
          </a:prstGeom>
        </p:spPr>
        <p:txBody>
          <a:bodyPr lIns="0" tIns="0" rIns="0" bIns="0" rtlCol="0" anchor="t">
            <a:spAutoFit/>
          </a:bodyPr>
          <a:lstStyle/>
          <a:p>
            <a:pPr defTabSz="609630">
              <a:lnSpc>
                <a:spcPts val="1307"/>
              </a:lnSpc>
            </a:pPr>
            <a:r>
              <a:rPr lang="en-US" sz="933" b="1">
                <a:solidFill>
                  <a:srgbClr val="933C21"/>
                </a:solidFill>
                <a:latin typeface="Arial MT Pro Bold"/>
                <a:ea typeface="Arial MT Pro Bold"/>
                <a:cs typeface="Arial MT Pro Bold"/>
                <a:sym typeface="Arial MT Pro Bold"/>
              </a:rPr>
              <a:t>$150.00</a:t>
            </a:r>
          </a:p>
        </p:txBody>
      </p:sp>
      <p:grpSp>
        <p:nvGrpSpPr>
          <p:cNvPr id="165" name="Group 165"/>
          <p:cNvGrpSpPr/>
          <p:nvPr/>
        </p:nvGrpSpPr>
        <p:grpSpPr>
          <a:xfrm>
            <a:off x="4342386" y="3132552"/>
            <a:ext cx="5441980" cy="187117"/>
            <a:chOff x="0" y="0"/>
            <a:chExt cx="2149918" cy="73923"/>
          </a:xfrm>
        </p:grpSpPr>
        <p:sp>
          <p:nvSpPr>
            <p:cNvPr id="166" name="Freeform 166"/>
            <p:cNvSpPr/>
            <p:nvPr/>
          </p:nvSpPr>
          <p:spPr>
            <a:xfrm>
              <a:off x="0" y="0"/>
              <a:ext cx="2149918" cy="73923"/>
            </a:xfrm>
            <a:custGeom>
              <a:avLst/>
              <a:gdLst/>
              <a:ahLst/>
              <a:cxnLst/>
              <a:rect l="l" t="t" r="r" b="b"/>
              <a:pathLst>
                <a:path w="2149918" h="73923">
                  <a:moveTo>
                    <a:pt x="17072" y="0"/>
                  </a:moveTo>
                  <a:lnTo>
                    <a:pt x="2132847" y="0"/>
                  </a:lnTo>
                  <a:cubicBezTo>
                    <a:pt x="2137374" y="0"/>
                    <a:pt x="2141717" y="1799"/>
                    <a:pt x="2144918" y="5000"/>
                  </a:cubicBezTo>
                  <a:cubicBezTo>
                    <a:pt x="2148120" y="8202"/>
                    <a:pt x="2149918" y="12544"/>
                    <a:pt x="2149918" y="17072"/>
                  </a:cubicBezTo>
                  <a:lnTo>
                    <a:pt x="2149918" y="56851"/>
                  </a:lnTo>
                  <a:cubicBezTo>
                    <a:pt x="2149918" y="66280"/>
                    <a:pt x="2142275" y="73923"/>
                    <a:pt x="2132847" y="73923"/>
                  </a:cubicBezTo>
                  <a:lnTo>
                    <a:pt x="17072" y="73923"/>
                  </a:lnTo>
                  <a:cubicBezTo>
                    <a:pt x="12544" y="73923"/>
                    <a:pt x="8202" y="72124"/>
                    <a:pt x="5000" y="68923"/>
                  </a:cubicBezTo>
                  <a:cubicBezTo>
                    <a:pt x="1799" y="65721"/>
                    <a:pt x="0" y="61379"/>
                    <a:pt x="0" y="56851"/>
                  </a:cubicBezTo>
                  <a:lnTo>
                    <a:pt x="0" y="17072"/>
                  </a:lnTo>
                  <a:cubicBezTo>
                    <a:pt x="0" y="12544"/>
                    <a:pt x="1799" y="8202"/>
                    <a:pt x="5000" y="5000"/>
                  </a:cubicBezTo>
                  <a:cubicBezTo>
                    <a:pt x="8202" y="1799"/>
                    <a:pt x="12544" y="0"/>
                    <a:pt x="17072" y="0"/>
                  </a:cubicBezTo>
                  <a:close/>
                </a:path>
              </a:pathLst>
            </a:custGeom>
            <a:solidFill>
              <a:srgbClr val="FAF8F2"/>
            </a:solidFill>
          </p:spPr>
          <p:txBody>
            <a:bodyPr/>
            <a:lstStyle/>
            <a:p>
              <a:pPr defTabSz="609630"/>
              <a:endParaRPr lang="en-US" sz="1200">
                <a:solidFill>
                  <a:prstClr val="black"/>
                </a:solidFill>
                <a:latin typeface="Calibri"/>
              </a:endParaRPr>
            </a:p>
          </p:txBody>
        </p:sp>
        <p:sp>
          <p:nvSpPr>
            <p:cNvPr id="167" name="TextBox 167"/>
            <p:cNvSpPr txBox="1"/>
            <p:nvPr/>
          </p:nvSpPr>
          <p:spPr>
            <a:xfrm>
              <a:off x="0" y="-57150"/>
              <a:ext cx="2149918" cy="131073"/>
            </a:xfrm>
            <a:prstGeom prst="rect">
              <a:avLst/>
            </a:prstGeom>
          </p:spPr>
          <p:txBody>
            <a:bodyPr lIns="33867" tIns="33867" rIns="33867" bIns="33867" rtlCol="0" anchor="ctr"/>
            <a:lstStyle/>
            <a:p>
              <a:pPr algn="ctr" defTabSz="609630">
                <a:lnSpc>
                  <a:spcPts val="1307"/>
                </a:lnSpc>
              </a:pPr>
              <a:endParaRPr sz="1200">
                <a:solidFill>
                  <a:prstClr val="black"/>
                </a:solidFill>
                <a:latin typeface="Calibri"/>
              </a:endParaRPr>
            </a:p>
          </p:txBody>
        </p:sp>
      </p:grpSp>
      <p:sp>
        <p:nvSpPr>
          <p:cNvPr id="168" name="TextBox 168"/>
          <p:cNvSpPr txBox="1"/>
          <p:nvPr/>
        </p:nvSpPr>
        <p:spPr>
          <a:xfrm>
            <a:off x="4458052" y="3130080"/>
            <a:ext cx="421640"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October</a:t>
            </a:r>
          </a:p>
        </p:txBody>
      </p:sp>
      <p:sp>
        <p:nvSpPr>
          <p:cNvPr id="169" name="TextBox 169"/>
          <p:cNvSpPr txBox="1"/>
          <p:nvPr/>
        </p:nvSpPr>
        <p:spPr>
          <a:xfrm>
            <a:off x="5342287" y="3140175"/>
            <a:ext cx="42838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$280.00</a:t>
            </a:r>
          </a:p>
        </p:txBody>
      </p:sp>
      <p:sp>
        <p:nvSpPr>
          <p:cNvPr id="170" name="TextBox 170"/>
          <p:cNvSpPr txBox="1"/>
          <p:nvPr/>
        </p:nvSpPr>
        <p:spPr>
          <a:xfrm>
            <a:off x="9209300" y="3117313"/>
            <a:ext cx="428387" cy="152286"/>
          </a:xfrm>
          <a:prstGeom prst="rect">
            <a:avLst/>
          </a:prstGeom>
        </p:spPr>
        <p:txBody>
          <a:bodyPr lIns="0" tIns="0" rIns="0" bIns="0" rtlCol="0" anchor="t">
            <a:spAutoFit/>
          </a:bodyPr>
          <a:lstStyle/>
          <a:p>
            <a:pPr defTabSz="609630">
              <a:lnSpc>
                <a:spcPts val="1307"/>
              </a:lnSpc>
            </a:pPr>
            <a:r>
              <a:rPr lang="en-US" sz="933" b="1">
                <a:solidFill>
                  <a:srgbClr val="933C21"/>
                </a:solidFill>
                <a:latin typeface="Arial MT Pro Bold"/>
                <a:ea typeface="Arial MT Pro Bold"/>
                <a:cs typeface="Arial MT Pro Bold"/>
                <a:sym typeface="Arial MT Pro Bold"/>
              </a:rPr>
              <a:t>$430.00</a:t>
            </a:r>
          </a:p>
        </p:txBody>
      </p:sp>
      <p:sp>
        <p:nvSpPr>
          <p:cNvPr id="171" name="TextBox 171"/>
          <p:cNvSpPr txBox="1"/>
          <p:nvPr/>
        </p:nvSpPr>
        <p:spPr>
          <a:xfrm>
            <a:off x="6976298" y="2413912"/>
            <a:ext cx="941625" cy="318998"/>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Top-up Premium</a:t>
            </a:r>
          </a:p>
        </p:txBody>
      </p:sp>
      <p:sp>
        <p:nvSpPr>
          <p:cNvPr id="172" name="TextBox 172"/>
          <p:cNvSpPr txBox="1"/>
          <p:nvPr/>
        </p:nvSpPr>
        <p:spPr>
          <a:xfrm>
            <a:off x="6798328" y="2924275"/>
            <a:ext cx="135040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$150.00 (Dental &amp; Vision)</a:t>
            </a:r>
          </a:p>
        </p:txBody>
      </p:sp>
      <p:sp>
        <p:nvSpPr>
          <p:cNvPr id="173" name="TextBox 173"/>
          <p:cNvSpPr txBox="1"/>
          <p:nvPr/>
        </p:nvSpPr>
        <p:spPr>
          <a:xfrm>
            <a:off x="6797622" y="3140175"/>
            <a:ext cx="1350407"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$150.00 (Dental &amp; Vision)</a:t>
            </a:r>
          </a:p>
        </p:txBody>
      </p:sp>
      <p:sp>
        <p:nvSpPr>
          <p:cNvPr id="174" name="TextBox 174"/>
          <p:cNvSpPr txBox="1"/>
          <p:nvPr/>
        </p:nvSpPr>
        <p:spPr>
          <a:xfrm>
            <a:off x="8492349" y="2400009"/>
            <a:ext cx="362188" cy="152286"/>
          </a:xfrm>
          <a:prstGeom prst="rect">
            <a:avLst/>
          </a:prstGeom>
        </p:spPr>
        <p:txBody>
          <a:bodyPr lIns="0" tIns="0" rIns="0" bIns="0" rtlCol="0" anchor="t">
            <a:spAutoFit/>
          </a:bodyPr>
          <a:lstStyle/>
          <a:p>
            <a:pPr algn="ctr" defTabSz="609630">
              <a:lnSpc>
                <a:spcPts val="1307"/>
              </a:lnSpc>
            </a:pPr>
            <a:r>
              <a:rPr lang="en-US" sz="933" b="1">
                <a:solidFill>
                  <a:srgbClr val="002677"/>
                </a:solidFill>
                <a:latin typeface="Arial MT Pro Bold"/>
                <a:ea typeface="Arial MT Pro Bold"/>
                <a:cs typeface="Arial MT Pro Bold"/>
                <a:sym typeface="Arial MT Pro Bold"/>
              </a:rPr>
              <a:t>Status</a:t>
            </a:r>
          </a:p>
        </p:txBody>
      </p:sp>
      <p:sp>
        <p:nvSpPr>
          <p:cNvPr id="175" name="TextBox 175"/>
          <p:cNvSpPr txBox="1"/>
          <p:nvPr/>
        </p:nvSpPr>
        <p:spPr>
          <a:xfrm>
            <a:off x="8472585" y="2929466"/>
            <a:ext cx="477272" cy="152286"/>
          </a:xfrm>
          <a:prstGeom prst="rect">
            <a:avLst/>
          </a:prstGeom>
        </p:spPr>
        <p:txBody>
          <a:bodyPr wrap="square" lIns="0" tIns="0" rIns="0" bIns="0" rtlCol="0" anchor="t">
            <a:spAutoFit/>
          </a:bodyPr>
          <a:lstStyle/>
          <a:p>
            <a:pPr algn="ctr" defTabSz="609630">
              <a:lnSpc>
                <a:spcPts val="1307"/>
              </a:lnSpc>
            </a:pPr>
            <a:r>
              <a:rPr lang="en-US" sz="933" b="1">
                <a:solidFill>
                  <a:srgbClr val="933C21"/>
                </a:solidFill>
                <a:latin typeface="Arial MT Pro Bold"/>
                <a:ea typeface="Arial MT Pro Bold"/>
                <a:cs typeface="Arial MT Pro Bold"/>
                <a:sym typeface="Arial MT Pro Bold"/>
              </a:rPr>
              <a:t>Unpaid</a:t>
            </a:r>
          </a:p>
        </p:txBody>
      </p:sp>
      <p:sp>
        <p:nvSpPr>
          <p:cNvPr id="176" name="TextBox 176"/>
          <p:cNvSpPr txBox="1"/>
          <p:nvPr/>
        </p:nvSpPr>
        <p:spPr>
          <a:xfrm>
            <a:off x="8472585" y="3130080"/>
            <a:ext cx="500923" cy="152286"/>
          </a:xfrm>
          <a:prstGeom prst="rect">
            <a:avLst/>
          </a:prstGeom>
        </p:spPr>
        <p:txBody>
          <a:bodyPr wrap="square" lIns="0" tIns="0" rIns="0" bIns="0" rtlCol="0" anchor="t">
            <a:spAutoFit/>
          </a:bodyPr>
          <a:lstStyle/>
          <a:p>
            <a:pPr algn="ctr" defTabSz="609630">
              <a:lnSpc>
                <a:spcPts val="1307"/>
              </a:lnSpc>
            </a:pPr>
            <a:r>
              <a:rPr lang="en-US" sz="933" b="1">
                <a:solidFill>
                  <a:srgbClr val="933C21"/>
                </a:solidFill>
                <a:latin typeface="Arial MT Pro Bold"/>
                <a:ea typeface="Arial MT Pro Bold"/>
                <a:cs typeface="Arial MT Pro Bold"/>
                <a:sym typeface="Arial MT Pro Bold"/>
              </a:rPr>
              <a:t>Unpaid</a:t>
            </a:r>
          </a:p>
        </p:txBody>
      </p:sp>
      <p:sp>
        <p:nvSpPr>
          <p:cNvPr id="177" name="TextBox 177"/>
          <p:cNvSpPr txBox="1"/>
          <p:nvPr/>
        </p:nvSpPr>
        <p:spPr>
          <a:xfrm>
            <a:off x="6083290" y="3140175"/>
            <a:ext cx="582734" cy="152286"/>
          </a:xfrm>
          <a:prstGeom prst="rect">
            <a:avLst/>
          </a:prstGeom>
        </p:spPr>
        <p:txBody>
          <a:bodyPr wrap="square" lIns="0" tIns="0" rIns="0" bIns="0" rtlCol="0" anchor="t">
            <a:spAutoFit/>
          </a:bodyPr>
          <a:lstStyle/>
          <a:p>
            <a:pPr algn="ctr" defTabSz="609630">
              <a:lnSpc>
                <a:spcPts val="1307"/>
              </a:lnSpc>
            </a:pPr>
            <a:r>
              <a:rPr lang="en-US" sz="933" b="1">
                <a:solidFill>
                  <a:srgbClr val="933C21"/>
                </a:solidFill>
                <a:latin typeface="Arial MT Pro Bold"/>
                <a:ea typeface="Arial MT Pro Bold"/>
                <a:cs typeface="Arial MT Pro Bold"/>
                <a:sym typeface="Arial MT Pro Bold"/>
              </a:rPr>
              <a:t>Unpaid</a:t>
            </a:r>
          </a:p>
        </p:txBody>
      </p:sp>
      <p:sp>
        <p:nvSpPr>
          <p:cNvPr id="178" name="TextBox 178"/>
          <p:cNvSpPr txBox="1"/>
          <p:nvPr/>
        </p:nvSpPr>
        <p:spPr>
          <a:xfrm>
            <a:off x="4460439" y="2713455"/>
            <a:ext cx="49696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August</a:t>
            </a:r>
          </a:p>
        </p:txBody>
      </p:sp>
      <p:sp>
        <p:nvSpPr>
          <p:cNvPr id="179" name="TextBox 179"/>
          <p:cNvSpPr txBox="1"/>
          <p:nvPr/>
        </p:nvSpPr>
        <p:spPr>
          <a:xfrm>
            <a:off x="5342287" y="2713455"/>
            <a:ext cx="428387" cy="152286"/>
          </a:xfrm>
          <a:prstGeom prst="rect">
            <a:avLst/>
          </a:prstGeom>
        </p:spPr>
        <p:txBody>
          <a:bodyPr lIns="0" tIns="0" rIns="0" bIns="0" rtlCol="0" anchor="t">
            <a:spAutoFit/>
          </a:bodyPr>
          <a:lstStyle/>
          <a:p>
            <a:pPr defTabSz="609630">
              <a:lnSpc>
                <a:spcPts val="1307"/>
              </a:lnSpc>
            </a:pPr>
            <a:r>
              <a:rPr lang="en-US" sz="933">
                <a:solidFill>
                  <a:srgbClr val="4B4D4F"/>
                </a:solidFill>
                <a:latin typeface="Arial MT Pro"/>
                <a:ea typeface="Arial MT Pro"/>
                <a:cs typeface="Arial MT Pro"/>
                <a:sym typeface="Arial MT Pro"/>
              </a:rPr>
              <a:t>$280.00</a:t>
            </a:r>
          </a:p>
        </p:txBody>
      </p:sp>
      <p:sp>
        <p:nvSpPr>
          <p:cNvPr id="180" name="TextBox 180"/>
          <p:cNvSpPr txBox="1"/>
          <p:nvPr/>
        </p:nvSpPr>
        <p:spPr>
          <a:xfrm>
            <a:off x="6143938" y="2699421"/>
            <a:ext cx="237173"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Paid</a:t>
            </a:r>
          </a:p>
        </p:txBody>
      </p:sp>
      <p:sp>
        <p:nvSpPr>
          <p:cNvPr id="181" name="TextBox 181"/>
          <p:cNvSpPr txBox="1"/>
          <p:nvPr/>
        </p:nvSpPr>
        <p:spPr>
          <a:xfrm>
            <a:off x="9239900" y="2713455"/>
            <a:ext cx="36718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sp>
        <p:nvSpPr>
          <p:cNvPr id="182" name="TextBox 182"/>
          <p:cNvSpPr txBox="1"/>
          <p:nvPr/>
        </p:nvSpPr>
        <p:spPr>
          <a:xfrm>
            <a:off x="7472826" y="2708168"/>
            <a:ext cx="3952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sp>
        <p:nvSpPr>
          <p:cNvPr id="183" name="TextBox 183"/>
          <p:cNvSpPr txBox="1"/>
          <p:nvPr/>
        </p:nvSpPr>
        <p:spPr>
          <a:xfrm>
            <a:off x="8501279" y="2713455"/>
            <a:ext cx="344329" cy="152286"/>
          </a:xfrm>
          <a:prstGeom prst="rect">
            <a:avLst/>
          </a:prstGeom>
        </p:spPr>
        <p:txBody>
          <a:bodyPr lIns="0" tIns="0" rIns="0" bIns="0" rtlCol="0" anchor="t">
            <a:spAutoFit/>
          </a:bodyPr>
          <a:lstStyle/>
          <a:p>
            <a:pPr algn="ctr" defTabSz="609630">
              <a:lnSpc>
                <a:spcPts val="1307"/>
              </a:lnSpc>
            </a:pPr>
            <a:r>
              <a:rPr lang="en-US" sz="933">
                <a:solidFill>
                  <a:srgbClr val="4B4D4F"/>
                </a:solidFill>
                <a:latin typeface="Arial MT Pro"/>
                <a:ea typeface="Arial MT Pro"/>
                <a:cs typeface="Arial MT Pro"/>
                <a:sym typeface="Arial MT Pro"/>
              </a:rPr>
              <a:t>-</a:t>
            </a:r>
          </a:p>
        </p:txBody>
      </p:sp>
      <p:grpSp>
        <p:nvGrpSpPr>
          <p:cNvPr id="184" name="Group 184"/>
          <p:cNvGrpSpPr/>
          <p:nvPr/>
        </p:nvGrpSpPr>
        <p:grpSpPr>
          <a:xfrm>
            <a:off x="217203" y="2141318"/>
            <a:ext cx="2033882" cy="1107993"/>
            <a:chOff x="0" y="0"/>
            <a:chExt cx="1426278" cy="776991"/>
          </a:xfrm>
        </p:grpSpPr>
        <p:sp>
          <p:nvSpPr>
            <p:cNvPr id="185" name="Freeform 185"/>
            <p:cNvSpPr/>
            <p:nvPr/>
          </p:nvSpPr>
          <p:spPr>
            <a:xfrm>
              <a:off x="0" y="0"/>
              <a:ext cx="1426278" cy="776991"/>
            </a:xfrm>
            <a:custGeom>
              <a:avLst/>
              <a:gdLst/>
              <a:ahLst/>
              <a:cxnLst/>
              <a:rect l="l" t="t" r="r" b="b"/>
              <a:pathLst>
                <a:path w="1426278" h="776991">
                  <a:moveTo>
                    <a:pt x="32989" y="0"/>
                  </a:moveTo>
                  <a:lnTo>
                    <a:pt x="1393289" y="0"/>
                  </a:lnTo>
                  <a:cubicBezTo>
                    <a:pt x="1402038" y="0"/>
                    <a:pt x="1410429" y="3476"/>
                    <a:pt x="1416616" y="9662"/>
                  </a:cubicBezTo>
                  <a:cubicBezTo>
                    <a:pt x="1422803" y="15849"/>
                    <a:pt x="1426278" y="24240"/>
                    <a:pt x="1426278" y="32989"/>
                  </a:cubicBezTo>
                  <a:lnTo>
                    <a:pt x="1426278" y="744001"/>
                  </a:lnTo>
                  <a:cubicBezTo>
                    <a:pt x="1426278" y="762221"/>
                    <a:pt x="1411508" y="776991"/>
                    <a:pt x="1393289" y="776991"/>
                  </a:cubicBezTo>
                  <a:lnTo>
                    <a:pt x="32989" y="776991"/>
                  </a:lnTo>
                  <a:cubicBezTo>
                    <a:pt x="24240" y="776991"/>
                    <a:pt x="15849" y="773515"/>
                    <a:pt x="9662" y="767328"/>
                  </a:cubicBezTo>
                  <a:cubicBezTo>
                    <a:pt x="3476" y="761141"/>
                    <a:pt x="0" y="752750"/>
                    <a:pt x="0" y="744001"/>
                  </a:cubicBezTo>
                  <a:lnTo>
                    <a:pt x="0" y="32989"/>
                  </a:lnTo>
                  <a:cubicBezTo>
                    <a:pt x="0" y="14770"/>
                    <a:pt x="14770" y="0"/>
                    <a:pt x="32989" y="0"/>
                  </a:cubicBezTo>
                  <a:close/>
                </a:path>
              </a:pathLst>
            </a:custGeom>
            <a:ln w="19050" cap="sq">
              <a:solidFill>
                <a:srgbClr val="F06030"/>
              </a:solidFill>
              <a:prstDash val="sysDot"/>
              <a:miter/>
            </a:ln>
          </p:spPr>
          <p:txBody>
            <a:bodyPr/>
            <a:lstStyle/>
            <a:p>
              <a:pPr defTabSz="609630"/>
              <a:endParaRPr lang="en-US" sz="1200">
                <a:solidFill>
                  <a:prstClr val="black"/>
                </a:solidFill>
                <a:latin typeface="Calibri"/>
              </a:endParaRPr>
            </a:p>
          </p:txBody>
        </p:sp>
        <p:sp>
          <p:nvSpPr>
            <p:cNvPr id="186" name="TextBox 186"/>
            <p:cNvSpPr txBox="1"/>
            <p:nvPr/>
          </p:nvSpPr>
          <p:spPr>
            <a:xfrm>
              <a:off x="0" y="-47625"/>
              <a:ext cx="1426278" cy="824616"/>
            </a:xfrm>
            <a:prstGeom prst="rect">
              <a:avLst/>
            </a:prstGeom>
          </p:spPr>
          <p:txBody>
            <a:bodyPr lIns="19079" tIns="19079" rIns="19079" bIns="19079" rtlCol="0" anchor="ctr"/>
            <a:lstStyle/>
            <a:p>
              <a:pPr algn="ctr" defTabSz="609630">
                <a:lnSpc>
                  <a:spcPts val="1120"/>
                </a:lnSpc>
              </a:pPr>
              <a:endParaRPr sz="1200">
                <a:solidFill>
                  <a:prstClr val="black"/>
                </a:solidFill>
                <a:latin typeface="Calibri"/>
              </a:endParaRPr>
            </a:p>
          </p:txBody>
        </p:sp>
      </p:grpSp>
      <p:sp>
        <p:nvSpPr>
          <p:cNvPr id="187" name="TextBox 187"/>
          <p:cNvSpPr txBox="1"/>
          <p:nvPr/>
        </p:nvSpPr>
        <p:spPr>
          <a:xfrm>
            <a:off x="361366" y="2400009"/>
            <a:ext cx="1220724" cy="128433"/>
          </a:xfrm>
          <a:prstGeom prst="rect">
            <a:avLst/>
          </a:prstGeom>
        </p:spPr>
        <p:txBody>
          <a:bodyPr wrap="square" lIns="0" tIns="0" rIns="0" bIns="0" rtlCol="0" anchor="t">
            <a:spAutoFit/>
          </a:bodyPr>
          <a:lstStyle/>
          <a:p>
            <a:pPr defTabSz="609630">
              <a:lnSpc>
                <a:spcPts val="1087"/>
              </a:lnSpc>
            </a:pPr>
            <a:r>
              <a:rPr lang="en-US" sz="776" b="1">
                <a:solidFill>
                  <a:srgbClr val="4B4D4F"/>
                </a:solidFill>
                <a:latin typeface="Arial MT Pro Bold"/>
                <a:ea typeface="Arial MT Pro Bold"/>
                <a:cs typeface="Arial MT Pro Bold"/>
                <a:sym typeface="Arial MT Pro Bold"/>
              </a:rPr>
              <a:t>Policy Number:</a:t>
            </a:r>
          </a:p>
        </p:txBody>
      </p:sp>
      <p:sp>
        <p:nvSpPr>
          <p:cNvPr id="188" name="TextBox 188"/>
          <p:cNvSpPr txBox="1"/>
          <p:nvPr/>
        </p:nvSpPr>
        <p:spPr>
          <a:xfrm>
            <a:off x="360570" y="2566444"/>
            <a:ext cx="2198411" cy="128433"/>
          </a:xfrm>
          <a:prstGeom prst="rect">
            <a:avLst/>
          </a:prstGeom>
        </p:spPr>
        <p:txBody>
          <a:bodyPr wrap="square" lIns="0" tIns="0" rIns="0" bIns="0" rtlCol="0" anchor="t">
            <a:spAutoFit/>
          </a:bodyPr>
          <a:lstStyle/>
          <a:p>
            <a:pPr defTabSz="609630">
              <a:lnSpc>
                <a:spcPts val="1087"/>
              </a:lnSpc>
            </a:pPr>
            <a:r>
              <a:rPr lang="en-US" sz="776" b="1">
                <a:solidFill>
                  <a:srgbClr val="4B4D4F"/>
                </a:solidFill>
                <a:latin typeface="Arial MT Pro Bold"/>
                <a:ea typeface="Arial MT Pro Bold"/>
                <a:cs typeface="Arial MT Pro Bold"/>
                <a:sym typeface="Arial MT Pro Bold"/>
              </a:rPr>
              <a:t>Plan Type:</a:t>
            </a:r>
          </a:p>
        </p:txBody>
      </p:sp>
      <p:sp>
        <p:nvSpPr>
          <p:cNvPr id="189" name="TextBox 189"/>
          <p:cNvSpPr txBox="1"/>
          <p:nvPr/>
        </p:nvSpPr>
        <p:spPr>
          <a:xfrm>
            <a:off x="361366" y="2703410"/>
            <a:ext cx="1158429" cy="128433"/>
          </a:xfrm>
          <a:prstGeom prst="rect">
            <a:avLst/>
          </a:prstGeom>
        </p:spPr>
        <p:txBody>
          <a:bodyPr wrap="square" lIns="0" tIns="0" rIns="0" bIns="0" rtlCol="0" anchor="t">
            <a:spAutoFit/>
          </a:bodyPr>
          <a:lstStyle/>
          <a:p>
            <a:pPr defTabSz="609630">
              <a:lnSpc>
                <a:spcPts val="1087"/>
              </a:lnSpc>
            </a:pPr>
            <a:r>
              <a:rPr lang="en-US" sz="776" b="1">
                <a:solidFill>
                  <a:srgbClr val="4B4D4F"/>
                </a:solidFill>
                <a:latin typeface="Arial MT Pro Bold"/>
                <a:ea typeface="Arial MT Pro Bold"/>
                <a:cs typeface="Arial MT Pro Bold"/>
                <a:sym typeface="Arial MT Pro Bold"/>
              </a:rPr>
              <a:t>Insurance Provider:</a:t>
            </a:r>
          </a:p>
        </p:txBody>
      </p:sp>
      <p:sp>
        <p:nvSpPr>
          <p:cNvPr id="190" name="TextBox 190"/>
          <p:cNvSpPr txBox="1"/>
          <p:nvPr/>
        </p:nvSpPr>
        <p:spPr>
          <a:xfrm>
            <a:off x="358993" y="2892949"/>
            <a:ext cx="1420395" cy="128433"/>
          </a:xfrm>
          <a:prstGeom prst="rect">
            <a:avLst/>
          </a:prstGeom>
        </p:spPr>
        <p:txBody>
          <a:bodyPr wrap="square" lIns="0" tIns="0" rIns="0" bIns="0" rtlCol="0" anchor="t">
            <a:spAutoFit/>
          </a:bodyPr>
          <a:lstStyle/>
          <a:p>
            <a:pPr defTabSz="609630">
              <a:lnSpc>
                <a:spcPts val="1087"/>
              </a:lnSpc>
            </a:pPr>
            <a:r>
              <a:rPr lang="en-US" sz="776" b="1">
                <a:solidFill>
                  <a:srgbClr val="4B4D4F"/>
                </a:solidFill>
                <a:latin typeface="Arial MT Pro Bold"/>
                <a:ea typeface="Arial MT Pro Bold"/>
                <a:cs typeface="Arial MT Pro Bold"/>
                <a:sym typeface="Arial MT Pro Bold"/>
              </a:rPr>
              <a:t>Membership Status:</a:t>
            </a:r>
          </a:p>
        </p:txBody>
      </p:sp>
      <p:sp>
        <p:nvSpPr>
          <p:cNvPr id="191" name="TextBox 191"/>
          <p:cNvSpPr txBox="1"/>
          <p:nvPr/>
        </p:nvSpPr>
        <p:spPr>
          <a:xfrm>
            <a:off x="1360217" y="2400009"/>
            <a:ext cx="463153" cy="270202"/>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265-747-7</a:t>
            </a:r>
          </a:p>
        </p:txBody>
      </p:sp>
      <p:sp>
        <p:nvSpPr>
          <p:cNvPr id="192" name="TextBox 192"/>
          <p:cNvSpPr txBox="1"/>
          <p:nvPr/>
        </p:nvSpPr>
        <p:spPr>
          <a:xfrm>
            <a:off x="1352096" y="2555782"/>
            <a:ext cx="717823" cy="129138"/>
          </a:xfrm>
          <a:prstGeom prst="rect">
            <a:avLst/>
          </a:prstGeom>
        </p:spPr>
        <p:txBody>
          <a:bodyPr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Silver Premium</a:t>
            </a:r>
          </a:p>
        </p:txBody>
      </p:sp>
      <p:sp>
        <p:nvSpPr>
          <p:cNvPr id="193" name="TextBox 193"/>
          <p:cNvSpPr txBox="1"/>
          <p:nvPr/>
        </p:nvSpPr>
        <p:spPr>
          <a:xfrm>
            <a:off x="1361896" y="2715886"/>
            <a:ext cx="996515" cy="129138"/>
          </a:xfrm>
          <a:prstGeom prst="rect">
            <a:avLst/>
          </a:prstGeom>
        </p:spPr>
        <p:txBody>
          <a:bodyPr wrap="square"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United Healthcare</a:t>
            </a:r>
          </a:p>
        </p:txBody>
      </p:sp>
      <p:sp>
        <p:nvSpPr>
          <p:cNvPr id="194" name="TextBox 194"/>
          <p:cNvSpPr txBox="1"/>
          <p:nvPr/>
        </p:nvSpPr>
        <p:spPr>
          <a:xfrm>
            <a:off x="1366261" y="2879390"/>
            <a:ext cx="737783" cy="129138"/>
          </a:xfrm>
          <a:prstGeom prst="rect">
            <a:avLst/>
          </a:prstGeom>
        </p:spPr>
        <p:txBody>
          <a:bodyPr wrap="square" lIns="0" tIns="0" rIns="0" bIns="0" rtlCol="0" anchor="t">
            <a:spAutoFit/>
          </a:bodyPr>
          <a:lstStyle/>
          <a:p>
            <a:pPr defTabSz="609630">
              <a:lnSpc>
                <a:spcPts val="1119"/>
              </a:lnSpc>
            </a:pPr>
            <a:r>
              <a:rPr lang="en-US" sz="800" b="1">
                <a:solidFill>
                  <a:srgbClr val="0C55B8"/>
                </a:solidFill>
                <a:latin typeface="Arial MT Pro Bold"/>
                <a:ea typeface="Arial MT Pro Bold"/>
                <a:cs typeface="Arial MT Pro Bold"/>
                <a:sym typeface="Arial MT Pro Bold"/>
              </a:rPr>
              <a:t>Active</a:t>
            </a:r>
          </a:p>
        </p:txBody>
      </p:sp>
      <p:sp>
        <p:nvSpPr>
          <p:cNvPr id="195" name="TextBox 195"/>
          <p:cNvSpPr txBox="1"/>
          <p:nvPr/>
        </p:nvSpPr>
        <p:spPr>
          <a:xfrm>
            <a:off x="361366" y="3069835"/>
            <a:ext cx="2038325" cy="128433"/>
          </a:xfrm>
          <a:prstGeom prst="rect">
            <a:avLst/>
          </a:prstGeom>
        </p:spPr>
        <p:txBody>
          <a:bodyPr wrap="square" lIns="0" tIns="0" rIns="0" bIns="0" rtlCol="0" anchor="t">
            <a:spAutoFit/>
          </a:bodyPr>
          <a:lstStyle/>
          <a:p>
            <a:pPr defTabSz="609630">
              <a:lnSpc>
                <a:spcPts val="1087"/>
              </a:lnSpc>
            </a:pPr>
            <a:r>
              <a:rPr lang="en-US" sz="776" b="1">
                <a:solidFill>
                  <a:srgbClr val="4B4D4F"/>
                </a:solidFill>
                <a:latin typeface="Arial MT Pro Bold"/>
                <a:ea typeface="Arial MT Pro Bold"/>
                <a:cs typeface="Arial MT Pro Bold"/>
                <a:sym typeface="Arial MT Pro Bold"/>
              </a:rPr>
              <a:t>Effective Date:</a:t>
            </a:r>
          </a:p>
        </p:txBody>
      </p:sp>
      <p:sp>
        <p:nvSpPr>
          <p:cNvPr id="196" name="TextBox 196"/>
          <p:cNvSpPr txBox="1"/>
          <p:nvPr/>
        </p:nvSpPr>
        <p:spPr>
          <a:xfrm>
            <a:off x="1344144" y="3064678"/>
            <a:ext cx="579675" cy="129138"/>
          </a:xfrm>
          <a:prstGeom prst="rect">
            <a:avLst/>
          </a:prstGeom>
        </p:spPr>
        <p:txBody>
          <a:bodyPr wrap="square" lIns="0" tIns="0" rIns="0" bIns="0" rtlCol="0" anchor="t">
            <a:spAutoFit/>
          </a:bodyPr>
          <a:lstStyle/>
          <a:p>
            <a:pPr defTabSz="609630">
              <a:lnSpc>
                <a:spcPts val="1119"/>
              </a:lnSpc>
            </a:pPr>
            <a:r>
              <a:rPr lang="en-US" sz="800">
                <a:solidFill>
                  <a:srgbClr val="4B4D4F"/>
                </a:solidFill>
                <a:latin typeface="Arial MT Pro"/>
                <a:ea typeface="Arial MT Pro"/>
                <a:cs typeface="Arial MT Pro"/>
                <a:sym typeface="Arial MT Pro"/>
              </a:rPr>
              <a:t>05/01/2015</a:t>
            </a:r>
          </a:p>
        </p:txBody>
      </p:sp>
      <p:sp>
        <p:nvSpPr>
          <p:cNvPr id="197" name="TextBox 197"/>
          <p:cNvSpPr txBox="1"/>
          <p:nvPr/>
        </p:nvSpPr>
        <p:spPr>
          <a:xfrm>
            <a:off x="350798" y="2200975"/>
            <a:ext cx="868204" cy="140680"/>
          </a:xfrm>
          <a:prstGeom prst="rect">
            <a:avLst/>
          </a:prstGeom>
        </p:spPr>
        <p:txBody>
          <a:bodyPr lIns="0" tIns="0" rIns="0" bIns="0" rtlCol="0" anchor="t">
            <a:spAutoFit/>
          </a:bodyPr>
          <a:lstStyle/>
          <a:p>
            <a:pPr algn="ctr" defTabSz="609630">
              <a:lnSpc>
                <a:spcPts val="1213"/>
              </a:lnSpc>
              <a:spcBef>
                <a:spcPct val="0"/>
              </a:spcBef>
            </a:pPr>
            <a:r>
              <a:rPr lang="en-US" sz="866" b="1">
                <a:solidFill>
                  <a:srgbClr val="243270"/>
                </a:solidFill>
                <a:latin typeface="Arial MT Pro Bold"/>
                <a:ea typeface="Arial MT Pro Bold"/>
                <a:cs typeface="Arial MT Pro Bold"/>
                <a:sym typeface="Arial MT Pro Bold"/>
              </a:rPr>
              <a:t>Plan Information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327FC-D9AA-38F4-A928-66CD7004EF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BF87C4-BB9E-471B-DEE7-576CDA78CBBD}"/>
              </a:ext>
            </a:extLst>
          </p:cNvPr>
          <p:cNvSpPr>
            <a:spLocks noGrp="1"/>
          </p:cNvSpPr>
          <p:nvPr>
            <p:ph type="title"/>
          </p:nvPr>
        </p:nvSpPr>
        <p:spPr>
          <a:xfrm>
            <a:off x="467926" y="555639"/>
            <a:ext cx="9601200" cy="304699"/>
          </a:xfrm>
        </p:spPr>
        <p:txBody>
          <a:bodyPr/>
          <a:lstStyle/>
          <a:p>
            <a:r>
              <a:rPr lang="en-US">
                <a:solidFill>
                  <a:srgbClr val="3D3C38"/>
                </a:solidFill>
              </a:rPr>
              <a:t>Scenario Mapping Voice CAT</a:t>
            </a:r>
          </a:p>
        </p:txBody>
      </p:sp>
      <p:sp>
        <p:nvSpPr>
          <p:cNvPr id="3" name="Rectangle: Rounded Corners 2">
            <a:extLst>
              <a:ext uri="{FF2B5EF4-FFF2-40B4-BE49-F238E27FC236}">
                <a16:creationId xmlns:a16="http://schemas.microsoft.com/office/drawing/2014/main" id="{932A17AB-60BF-1249-A834-F3D8F7F0D6AC}"/>
              </a:ext>
            </a:extLst>
          </p:cNvPr>
          <p:cNvSpPr/>
          <p:nvPr/>
        </p:nvSpPr>
        <p:spPr>
          <a:xfrm>
            <a:off x="474669" y="1491519"/>
            <a:ext cx="3657600" cy="91440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rPr>
              <a:t>Scenario 1: Benefits and Eligibility + Account Update</a:t>
            </a:r>
          </a:p>
        </p:txBody>
      </p:sp>
      <p:sp>
        <p:nvSpPr>
          <p:cNvPr id="4" name="Rectangle: Rounded Corners 3">
            <a:extLst>
              <a:ext uri="{FF2B5EF4-FFF2-40B4-BE49-F238E27FC236}">
                <a16:creationId xmlns:a16="http://schemas.microsoft.com/office/drawing/2014/main" id="{7A456350-924D-8F2E-B225-4ECDFA75B021}"/>
              </a:ext>
            </a:extLst>
          </p:cNvPr>
          <p:cNvSpPr/>
          <p:nvPr/>
        </p:nvSpPr>
        <p:spPr>
          <a:xfrm>
            <a:off x="4233477" y="149152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called to check the list of pharmacies covered by her plan. They usually receive their medications through home delivery. However, her husband recently passed, and she would like to explore the store pick up option since she’ll be moving in with her son temporarily. </a:t>
            </a:r>
          </a:p>
        </p:txBody>
      </p:sp>
      <p:sp>
        <p:nvSpPr>
          <p:cNvPr id="5" name="Rectangle: Rounded Corners 4">
            <a:extLst>
              <a:ext uri="{FF2B5EF4-FFF2-40B4-BE49-F238E27FC236}">
                <a16:creationId xmlns:a16="http://schemas.microsoft.com/office/drawing/2014/main" id="{18923EBC-B60A-7D52-3BF2-4F3A9F7A477D}"/>
              </a:ext>
            </a:extLst>
          </p:cNvPr>
          <p:cNvSpPr/>
          <p:nvPr/>
        </p:nvSpPr>
        <p:spPr>
          <a:xfrm>
            <a:off x="7992286" y="1491519"/>
            <a:ext cx="3657600" cy="91440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Proper Setting of Expectations, Providing Options</a:t>
            </a:r>
          </a:p>
        </p:txBody>
      </p:sp>
      <p:sp>
        <p:nvSpPr>
          <p:cNvPr id="6" name="Rectangle: Rounded Corners 5">
            <a:extLst>
              <a:ext uri="{FF2B5EF4-FFF2-40B4-BE49-F238E27FC236}">
                <a16:creationId xmlns:a16="http://schemas.microsoft.com/office/drawing/2014/main" id="{7AB9699A-E5B4-CEB4-DD3C-30931D91C11B}"/>
              </a:ext>
            </a:extLst>
          </p:cNvPr>
          <p:cNvSpPr/>
          <p:nvPr/>
        </p:nvSpPr>
        <p:spPr>
          <a:xfrm>
            <a:off x="467926" y="2452687"/>
            <a:ext cx="3657600" cy="91440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600"/>
              </a:spcBef>
            </a:pPr>
            <a:r>
              <a:rPr lang="en-US" sz="1200" b="1">
                <a:solidFill>
                  <a:srgbClr val="3D3C38"/>
                </a:solidFill>
              </a:rPr>
              <a:t>Scenario 2: Bill Inquiry + Dependent Enrollment</a:t>
            </a:r>
          </a:p>
        </p:txBody>
      </p:sp>
      <p:sp>
        <p:nvSpPr>
          <p:cNvPr id="7" name="Rectangle: Rounded Corners 6">
            <a:extLst>
              <a:ext uri="{FF2B5EF4-FFF2-40B4-BE49-F238E27FC236}">
                <a16:creationId xmlns:a16="http://schemas.microsoft.com/office/drawing/2014/main" id="{637B1867-ED25-776B-A869-9651261D634F}"/>
              </a:ext>
            </a:extLst>
          </p:cNvPr>
          <p:cNvSpPr/>
          <p:nvPr/>
        </p:nvSpPr>
        <p:spPr>
          <a:xfrm>
            <a:off x="467926" y="3442432"/>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3: Filing a Claim + </a:t>
            </a:r>
            <a:r>
              <a:rPr lang="en-US" sz="1200" b="1">
                <a:solidFill>
                  <a:srgbClr val="3D3C38"/>
                </a:solidFill>
                <a:ea typeface="Times New Roman" panose="02020603050405020304" pitchFamily="18" charset="0"/>
              </a:rPr>
              <a:t>Benefits and Eligibility</a:t>
            </a:r>
            <a:endParaRPr lang="en-US" sz="1200" b="1" u="sng">
              <a:solidFill>
                <a:srgbClr val="3D3C38"/>
              </a:solidFill>
            </a:endParaRPr>
          </a:p>
        </p:txBody>
      </p:sp>
      <p:sp>
        <p:nvSpPr>
          <p:cNvPr id="8" name="Rectangle: Rounded Corners 7">
            <a:extLst>
              <a:ext uri="{FF2B5EF4-FFF2-40B4-BE49-F238E27FC236}">
                <a16:creationId xmlns:a16="http://schemas.microsoft.com/office/drawing/2014/main" id="{F6F4D79F-3168-5E66-9025-4333E20FE0BD}"/>
              </a:ext>
            </a:extLst>
          </p:cNvPr>
          <p:cNvSpPr/>
          <p:nvPr/>
        </p:nvSpPr>
        <p:spPr>
          <a:xfrm>
            <a:off x="4240220" y="2452687"/>
            <a:ext cx="3657600" cy="914400"/>
          </a:xfrm>
          <a:prstGeom prst="roundRect">
            <a:avLst>
              <a:gd name="adj" fmla="val 10591"/>
            </a:avLst>
          </a:prstGeom>
          <a:solidFill>
            <a:srgbClr val="FCFBF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is calling to complain about a bill she received for $580. She's upset because she just lost her job and still figuring out how to pay all her bills.</a:t>
            </a:r>
          </a:p>
        </p:txBody>
      </p:sp>
      <p:sp>
        <p:nvSpPr>
          <p:cNvPr id="9" name="Rectangle: Rounded Corners 8">
            <a:extLst>
              <a:ext uri="{FF2B5EF4-FFF2-40B4-BE49-F238E27FC236}">
                <a16:creationId xmlns:a16="http://schemas.microsoft.com/office/drawing/2014/main" id="{FA49F040-BB95-AA2C-92CB-90019FFFD834}"/>
              </a:ext>
            </a:extLst>
          </p:cNvPr>
          <p:cNvSpPr/>
          <p:nvPr/>
        </p:nvSpPr>
        <p:spPr>
          <a:xfrm>
            <a:off x="7999029" y="2452685"/>
            <a:ext cx="3657600" cy="91440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Clear and Logical Explanation</a:t>
            </a:r>
          </a:p>
        </p:txBody>
      </p:sp>
      <p:sp>
        <p:nvSpPr>
          <p:cNvPr id="10" name="Rectangle: Rounded Corners 9">
            <a:extLst>
              <a:ext uri="{FF2B5EF4-FFF2-40B4-BE49-F238E27FC236}">
                <a16:creationId xmlns:a16="http://schemas.microsoft.com/office/drawing/2014/main" id="{BDAEBB6E-737D-1C88-423D-A33D658A24D5}"/>
              </a:ext>
            </a:extLst>
          </p:cNvPr>
          <p:cNvSpPr/>
          <p:nvPr/>
        </p:nvSpPr>
        <p:spPr>
          <a:xfrm>
            <a:off x="4246963" y="3413859"/>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called in to complain about the incorrect dosage of her medications. She skipped dinner to pick it up from the pharmacy and she feels it’s extremely inconvenient to have it replaced. She would like to know the process to file a claim.</a:t>
            </a:r>
          </a:p>
        </p:txBody>
      </p:sp>
      <p:sp>
        <p:nvSpPr>
          <p:cNvPr id="11" name="Rectangle: Rounded Corners 10">
            <a:extLst>
              <a:ext uri="{FF2B5EF4-FFF2-40B4-BE49-F238E27FC236}">
                <a16:creationId xmlns:a16="http://schemas.microsoft.com/office/drawing/2014/main" id="{4BDF0A6D-1A4F-6A13-7A7E-AF956081FE55}"/>
              </a:ext>
            </a:extLst>
          </p:cNvPr>
          <p:cNvSpPr/>
          <p:nvPr/>
        </p:nvSpPr>
        <p:spPr>
          <a:xfrm>
            <a:off x="8005772" y="341386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Positive Scripting, Proper Setting of Expectations, Providing Options</a:t>
            </a:r>
          </a:p>
        </p:txBody>
      </p:sp>
      <p:sp>
        <p:nvSpPr>
          <p:cNvPr id="12" name="TextBox 11">
            <a:extLst>
              <a:ext uri="{FF2B5EF4-FFF2-40B4-BE49-F238E27FC236}">
                <a16:creationId xmlns:a16="http://schemas.microsoft.com/office/drawing/2014/main" id="{407A7126-3C3B-1A9E-F68E-EC13CBAF40B2}"/>
              </a:ext>
            </a:extLst>
          </p:cNvPr>
          <p:cNvSpPr txBox="1"/>
          <p:nvPr/>
        </p:nvSpPr>
        <p:spPr bwMode="gray">
          <a:xfrm>
            <a:off x="1872702" y="1118281"/>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Scenario</a:t>
            </a:r>
          </a:p>
        </p:txBody>
      </p:sp>
      <p:sp>
        <p:nvSpPr>
          <p:cNvPr id="13" name="TextBox 12">
            <a:extLst>
              <a:ext uri="{FF2B5EF4-FFF2-40B4-BE49-F238E27FC236}">
                <a16:creationId xmlns:a16="http://schemas.microsoft.com/office/drawing/2014/main" id="{EBD7E9CE-DC3F-697E-546E-BFCEDDA912EF}"/>
              </a:ext>
            </a:extLst>
          </p:cNvPr>
          <p:cNvSpPr txBox="1"/>
          <p:nvPr/>
        </p:nvSpPr>
        <p:spPr bwMode="gray">
          <a:xfrm>
            <a:off x="5535060" y="1126029"/>
            <a:ext cx="1645581"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Synopsis</a:t>
            </a:r>
          </a:p>
        </p:txBody>
      </p:sp>
      <p:sp>
        <p:nvSpPr>
          <p:cNvPr id="14" name="TextBox 13">
            <a:extLst>
              <a:ext uri="{FF2B5EF4-FFF2-40B4-BE49-F238E27FC236}">
                <a16:creationId xmlns:a16="http://schemas.microsoft.com/office/drawing/2014/main" id="{390F9A29-4F18-B6AC-D4AD-53C979198608}"/>
              </a:ext>
            </a:extLst>
          </p:cNvPr>
          <p:cNvSpPr txBox="1"/>
          <p:nvPr/>
        </p:nvSpPr>
        <p:spPr bwMode="gray">
          <a:xfrm>
            <a:off x="9295011" y="1064228"/>
            <a:ext cx="1933821" cy="723275"/>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Expected Behavior or Skill</a:t>
            </a:r>
          </a:p>
          <a:p>
            <a:pPr algn="ctr">
              <a:spcBef>
                <a:spcPts val="600"/>
              </a:spcBef>
            </a:pPr>
            <a:endParaRPr lang="en-US" sz="1400" b="1">
              <a:solidFill>
                <a:srgbClr val="3D3C38"/>
              </a:solidFill>
            </a:endParaRPr>
          </a:p>
        </p:txBody>
      </p:sp>
      <p:pic>
        <p:nvPicPr>
          <p:cNvPr id="15" name="Picture 14">
            <a:extLst>
              <a:ext uri="{FF2B5EF4-FFF2-40B4-BE49-F238E27FC236}">
                <a16:creationId xmlns:a16="http://schemas.microsoft.com/office/drawing/2014/main" id="{0D666FCB-3457-179B-02D6-C4EE0F69A0A9}"/>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56" r="156"/>
          <a:stretch/>
        </p:blipFill>
        <p:spPr bwMode="gray">
          <a:xfrm>
            <a:off x="1388610" y="910497"/>
            <a:ext cx="546926" cy="548640"/>
          </a:xfrm>
          <a:prstGeom prst="rect">
            <a:avLst/>
          </a:prstGeom>
        </p:spPr>
      </p:pic>
      <p:pic>
        <p:nvPicPr>
          <p:cNvPr id="16" name="Picture 15">
            <a:extLst>
              <a:ext uri="{FF2B5EF4-FFF2-40B4-BE49-F238E27FC236}">
                <a16:creationId xmlns:a16="http://schemas.microsoft.com/office/drawing/2014/main" id="{DF4197B9-5B61-90D2-F1AE-FD262D02F60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8691067" y="896220"/>
            <a:ext cx="547498" cy="548640"/>
          </a:xfrm>
          <a:prstGeom prst="rect">
            <a:avLst/>
          </a:prstGeom>
        </p:spPr>
      </p:pic>
      <p:pic>
        <p:nvPicPr>
          <p:cNvPr id="17" name="Picture 16">
            <a:extLst>
              <a:ext uri="{FF2B5EF4-FFF2-40B4-BE49-F238E27FC236}">
                <a16:creationId xmlns:a16="http://schemas.microsoft.com/office/drawing/2014/main" id="{CA82DC23-4D2B-062C-4CB3-D63308E22C4D}"/>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007615" y="844080"/>
            <a:ext cx="611373" cy="612648"/>
          </a:xfrm>
          <a:prstGeom prst="rect">
            <a:avLst/>
          </a:prstGeom>
        </p:spPr>
      </p:pic>
      <p:sp>
        <p:nvSpPr>
          <p:cNvPr id="18" name="Rectangle: Rounded Corners 17">
            <a:extLst>
              <a:ext uri="{FF2B5EF4-FFF2-40B4-BE49-F238E27FC236}">
                <a16:creationId xmlns:a16="http://schemas.microsoft.com/office/drawing/2014/main" id="{1661D8F8-8525-A620-DACF-C8520142846F}"/>
              </a:ext>
            </a:extLst>
          </p:cNvPr>
          <p:cNvSpPr/>
          <p:nvPr/>
        </p:nvSpPr>
        <p:spPr>
          <a:xfrm>
            <a:off x="462280" y="4396347"/>
            <a:ext cx="3657600" cy="914400"/>
          </a:xfrm>
          <a:prstGeom prst="roundRect">
            <a:avLst>
              <a:gd name="adj" fmla="val 10591"/>
            </a:avLst>
          </a:prstGeom>
          <a:solidFill>
            <a:srgbClr val="FCFBF8"/>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4: </a:t>
            </a:r>
            <a:r>
              <a:rPr lang="en-US" sz="1200" b="1">
                <a:solidFill>
                  <a:srgbClr val="3D3C38"/>
                </a:solidFill>
                <a:ea typeface="Times New Roman" panose="02020603050405020304" pitchFamily="18" charset="0"/>
              </a:rPr>
              <a:t>Benefits and Eligibility + Letter of Authorization</a:t>
            </a:r>
            <a:endParaRPr lang="en-US" sz="1200" b="1" u="sng">
              <a:solidFill>
                <a:srgbClr val="3D3C38"/>
              </a:solidFill>
            </a:endParaRPr>
          </a:p>
        </p:txBody>
      </p:sp>
      <p:sp>
        <p:nvSpPr>
          <p:cNvPr id="19" name="Rectangle: Rounded Corners 18">
            <a:extLst>
              <a:ext uri="{FF2B5EF4-FFF2-40B4-BE49-F238E27FC236}">
                <a16:creationId xmlns:a16="http://schemas.microsoft.com/office/drawing/2014/main" id="{617049C8-9462-9956-6D6F-68E2391C18B1}"/>
              </a:ext>
            </a:extLst>
          </p:cNvPr>
          <p:cNvSpPr/>
          <p:nvPr/>
        </p:nvSpPr>
        <p:spPr>
          <a:xfrm>
            <a:off x="4241317" y="4367774"/>
            <a:ext cx="3649760" cy="914400"/>
          </a:xfrm>
          <a:prstGeom prst="roundRect">
            <a:avLst>
              <a:gd name="adj" fmla="val 10591"/>
            </a:avLst>
          </a:prstGeom>
          <a:solidFill>
            <a:srgbClr val="FCFBF8">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Provider called in to confirm if their facility is an accredited UHC partner. He is set to undergo a procedure and was previously advised that it will not be covered. The provider was very upset because their back and forth with the member and UHC was time consuming.</a:t>
            </a:r>
          </a:p>
        </p:txBody>
      </p:sp>
      <p:sp>
        <p:nvSpPr>
          <p:cNvPr id="20" name="Rectangle: Rounded Corners 19">
            <a:extLst>
              <a:ext uri="{FF2B5EF4-FFF2-40B4-BE49-F238E27FC236}">
                <a16:creationId xmlns:a16="http://schemas.microsoft.com/office/drawing/2014/main" id="{93CAC608-80A4-D64D-35D6-47C81FB07CC1}"/>
              </a:ext>
            </a:extLst>
          </p:cNvPr>
          <p:cNvSpPr/>
          <p:nvPr/>
        </p:nvSpPr>
        <p:spPr>
          <a:xfrm>
            <a:off x="8000126" y="4367776"/>
            <a:ext cx="3657600" cy="914400"/>
          </a:xfrm>
          <a:prstGeom prst="roundRect">
            <a:avLst>
              <a:gd name="adj" fmla="val 10591"/>
            </a:avLst>
          </a:prstGeom>
          <a:solidFill>
            <a:srgbClr val="FCFBF8">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Positive Scripting, Proper Setting of Expectations</a:t>
            </a:r>
          </a:p>
        </p:txBody>
      </p:sp>
      <p:sp>
        <p:nvSpPr>
          <p:cNvPr id="21" name="Rectangle: Rounded Corners 20">
            <a:extLst>
              <a:ext uri="{FF2B5EF4-FFF2-40B4-BE49-F238E27FC236}">
                <a16:creationId xmlns:a16="http://schemas.microsoft.com/office/drawing/2014/main" id="{97345C1C-5A28-968F-876D-CE8E3227FD49}"/>
              </a:ext>
            </a:extLst>
          </p:cNvPr>
          <p:cNvSpPr/>
          <p:nvPr/>
        </p:nvSpPr>
        <p:spPr>
          <a:xfrm>
            <a:off x="473569" y="5344612"/>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b="1">
                <a:solidFill>
                  <a:srgbClr val="3D3C38"/>
                </a:solidFill>
                <a:effectLst/>
                <a:ea typeface="Times New Roman" panose="02020603050405020304" pitchFamily="18" charset="0"/>
              </a:rPr>
              <a:t>Scenario 5: </a:t>
            </a:r>
            <a:r>
              <a:rPr lang="en-US" sz="1200" b="1">
                <a:solidFill>
                  <a:srgbClr val="3D3C38"/>
                </a:solidFill>
                <a:ea typeface="Times New Roman" panose="02020603050405020304" pitchFamily="18" charset="0"/>
              </a:rPr>
              <a:t>Benefits and Eligibility + Deescalation</a:t>
            </a:r>
            <a:endParaRPr lang="en-US" sz="1200" b="1" u="sng">
              <a:solidFill>
                <a:srgbClr val="3D3C38"/>
              </a:solidFill>
            </a:endParaRPr>
          </a:p>
        </p:txBody>
      </p:sp>
      <p:sp>
        <p:nvSpPr>
          <p:cNvPr id="22" name="Rectangle: Rounded Corners 21">
            <a:extLst>
              <a:ext uri="{FF2B5EF4-FFF2-40B4-BE49-F238E27FC236}">
                <a16:creationId xmlns:a16="http://schemas.microsoft.com/office/drawing/2014/main" id="{8E25A7E7-B8A9-624D-1368-787A30E5A52B}"/>
              </a:ext>
            </a:extLst>
          </p:cNvPr>
          <p:cNvSpPr/>
          <p:nvPr/>
        </p:nvSpPr>
        <p:spPr>
          <a:xfrm>
            <a:off x="4252606" y="5316039"/>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a:solidFill>
                  <a:srgbClr val="3D3C38"/>
                </a:solidFill>
              </a:rPr>
              <a:t>The member sounded upset because she was charged $20 instead of the usual $10 for her medication. She forgot to order her diabetes medication because she and her family just recently moved to their new home.</a:t>
            </a:r>
          </a:p>
        </p:txBody>
      </p:sp>
      <p:sp>
        <p:nvSpPr>
          <p:cNvPr id="23" name="Rectangle: Rounded Corners 22">
            <a:extLst>
              <a:ext uri="{FF2B5EF4-FFF2-40B4-BE49-F238E27FC236}">
                <a16:creationId xmlns:a16="http://schemas.microsoft.com/office/drawing/2014/main" id="{17286F0B-1566-75FD-3849-C4996AA253B5}"/>
              </a:ext>
            </a:extLst>
          </p:cNvPr>
          <p:cNvSpPr/>
          <p:nvPr/>
        </p:nvSpPr>
        <p:spPr>
          <a:xfrm>
            <a:off x="8011415" y="5316041"/>
            <a:ext cx="3657600" cy="914400"/>
          </a:xfrm>
          <a:prstGeom prst="roundRect">
            <a:avLst>
              <a:gd name="adj" fmla="val 10591"/>
            </a:avLst>
          </a:prstGeom>
          <a:solidFill>
            <a:srgbClr val="ECFAF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1200">
                <a:solidFill>
                  <a:srgbClr val="3D3C38"/>
                </a:solidFill>
              </a:rPr>
              <a:t>Empathy</a:t>
            </a:r>
          </a:p>
          <a:p>
            <a:pPr marL="171450" indent="-171450">
              <a:buFont typeface="Arial" panose="020B0604020202020204" pitchFamily="34" charset="0"/>
              <a:buChar char="•"/>
            </a:pPr>
            <a:r>
              <a:rPr lang="en-US" sz="1200">
                <a:solidFill>
                  <a:srgbClr val="3D3C38"/>
                </a:solidFill>
              </a:rPr>
              <a:t>Active Listening and Comprehension</a:t>
            </a:r>
          </a:p>
          <a:p>
            <a:pPr marL="171450" indent="-171450">
              <a:buFont typeface="Arial" panose="020B0604020202020204" pitchFamily="34" charset="0"/>
              <a:buChar char="•"/>
            </a:pPr>
            <a:r>
              <a:rPr lang="en-US" sz="1200">
                <a:solidFill>
                  <a:srgbClr val="3D3C38"/>
                </a:solidFill>
              </a:rPr>
              <a:t>Clear and Logical Explanation</a:t>
            </a:r>
          </a:p>
        </p:txBody>
      </p:sp>
    </p:spTree>
    <p:extLst>
      <p:ext uri="{BB962C8B-B14F-4D97-AF65-F5344CB8AC3E}">
        <p14:creationId xmlns:p14="http://schemas.microsoft.com/office/powerpoint/2010/main" val="1601693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640BB-9D63-8BE7-815D-46320D936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213F3-27D4-2AE5-83E7-2AF9824AF5E5}"/>
              </a:ext>
            </a:extLst>
          </p:cNvPr>
          <p:cNvSpPr>
            <a:spLocks noGrp="1"/>
          </p:cNvSpPr>
          <p:nvPr>
            <p:ph type="title"/>
          </p:nvPr>
        </p:nvSpPr>
        <p:spPr>
          <a:xfrm>
            <a:off x="488155" y="539931"/>
            <a:ext cx="9601200" cy="304699"/>
          </a:xfrm>
        </p:spPr>
        <p:txBody>
          <a:bodyPr/>
          <a:lstStyle/>
          <a:p>
            <a:r>
              <a:rPr lang="en-US">
                <a:solidFill>
                  <a:srgbClr val="3D3C38"/>
                </a:solidFill>
              </a:rPr>
              <a:t>Skills Mapping (Voice CAT)</a:t>
            </a:r>
          </a:p>
        </p:txBody>
      </p:sp>
      <p:sp>
        <p:nvSpPr>
          <p:cNvPr id="42" name="Rectangle: Rounded Corners 41">
            <a:extLst>
              <a:ext uri="{FF2B5EF4-FFF2-40B4-BE49-F238E27FC236}">
                <a16:creationId xmlns:a16="http://schemas.microsoft.com/office/drawing/2014/main" id="{858A64AB-07FC-71A5-6BDD-07FD18853C16}"/>
              </a:ext>
            </a:extLst>
          </p:cNvPr>
          <p:cNvSpPr/>
          <p:nvPr/>
        </p:nvSpPr>
        <p:spPr>
          <a:xfrm>
            <a:off x="474669" y="1672145"/>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ffectLst/>
                <a:ea typeface="Times New Roman" panose="02020603050405020304" pitchFamily="18" charset="0"/>
              </a:rPr>
              <a:t>US Patient Interaction</a:t>
            </a:r>
            <a:endParaRPr lang="en-US" sz="1200" u="sng">
              <a:solidFill>
                <a:srgbClr val="3D3C38"/>
              </a:solidFill>
            </a:endParaRPr>
          </a:p>
        </p:txBody>
      </p:sp>
      <p:sp>
        <p:nvSpPr>
          <p:cNvPr id="43" name="Rectangle: Rounded Corners 42">
            <a:extLst>
              <a:ext uri="{FF2B5EF4-FFF2-40B4-BE49-F238E27FC236}">
                <a16:creationId xmlns:a16="http://schemas.microsoft.com/office/drawing/2014/main" id="{2DC8D94D-16A0-4784-5840-BC9EEFE0FF30}"/>
              </a:ext>
            </a:extLst>
          </p:cNvPr>
          <p:cNvSpPr/>
          <p:nvPr/>
        </p:nvSpPr>
        <p:spPr>
          <a:xfrm>
            <a:off x="4233477" y="1672145"/>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English Proficiency </a:t>
            </a:r>
          </a:p>
        </p:txBody>
      </p:sp>
      <p:sp>
        <p:nvSpPr>
          <p:cNvPr id="44" name="Rectangle: Rounded Corners 43">
            <a:extLst>
              <a:ext uri="{FF2B5EF4-FFF2-40B4-BE49-F238E27FC236}">
                <a16:creationId xmlns:a16="http://schemas.microsoft.com/office/drawing/2014/main" id="{5F7A91F6-28C0-D6F6-972E-F695055834B4}"/>
              </a:ext>
            </a:extLst>
          </p:cNvPr>
          <p:cNvSpPr/>
          <p:nvPr/>
        </p:nvSpPr>
        <p:spPr>
          <a:xfrm>
            <a:off x="7992286" y="1672145"/>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Phonological Control, Lexical Resource, Grammar</a:t>
            </a:r>
            <a:endParaRPr lang="en-US" sz="1200">
              <a:solidFill>
                <a:srgbClr val="3D3C38"/>
              </a:solidFill>
              <a:effectLst/>
              <a:ea typeface="Times New Roman" panose="02020603050405020304" pitchFamily="18" charset="0"/>
            </a:endParaRPr>
          </a:p>
        </p:txBody>
      </p:sp>
      <p:sp>
        <p:nvSpPr>
          <p:cNvPr id="45" name="Rectangle: Rounded Corners 44">
            <a:extLst>
              <a:ext uri="{FF2B5EF4-FFF2-40B4-BE49-F238E27FC236}">
                <a16:creationId xmlns:a16="http://schemas.microsoft.com/office/drawing/2014/main" id="{90D416A4-23B6-D5F0-A69A-61F6C98139B2}"/>
              </a:ext>
            </a:extLst>
          </p:cNvPr>
          <p:cNvSpPr/>
          <p:nvPr/>
        </p:nvSpPr>
        <p:spPr>
          <a:xfrm>
            <a:off x="467926" y="2412374"/>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Cultural Sensitivity</a:t>
            </a:r>
          </a:p>
        </p:txBody>
      </p:sp>
      <p:sp>
        <p:nvSpPr>
          <p:cNvPr id="46" name="Rectangle: Rounded Corners 45">
            <a:extLst>
              <a:ext uri="{FF2B5EF4-FFF2-40B4-BE49-F238E27FC236}">
                <a16:creationId xmlns:a16="http://schemas.microsoft.com/office/drawing/2014/main" id="{35D52202-94C6-E277-5235-78FD37461C5C}"/>
              </a:ext>
            </a:extLst>
          </p:cNvPr>
          <p:cNvSpPr/>
          <p:nvPr/>
        </p:nvSpPr>
        <p:spPr>
          <a:xfrm>
            <a:off x="4226734" y="2412374"/>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Use and Understanding of Idioms, Empathy, Rapport Building, Engaging in a Conversation</a:t>
            </a:r>
          </a:p>
        </p:txBody>
      </p:sp>
      <p:sp>
        <p:nvSpPr>
          <p:cNvPr id="47" name="Rectangle: Rounded Corners 46">
            <a:extLst>
              <a:ext uri="{FF2B5EF4-FFF2-40B4-BE49-F238E27FC236}">
                <a16:creationId xmlns:a16="http://schemas.microsoft.com/office/drawing/2014/main" id="{623501DE-4896-BC14-A0DE-67399A9A76B3}"/>
              </a:ext>
            </a:extLst>
          </p:cNvPr>
          <p:cNvSpPr/>
          <p:nvPr/>
        </p:nvSpPr>
        <p:spPr>
          <a:xfrm>
            <a:off x="7985543" y="2412374"/>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Lexical Resource, Interaction and Discourse Management</a:t>
            </a:r>
          </a:p>
        </p:txBody>
      </p:sp>
      <p:sp>
        <p:nvSpPr>
          <p:cNvPr id="48" name="Rectangle: Rounded Corners 47">
            <a:extLst>
              <a:ext uri="{FF2B5EF4-FFF2-40B4-BE49-F238E27FC236}">
                <a16:creationId xmlns:a16="http://schemas.microsoft.com/office/drawing/2014/main" id="{91B4F453-3E9B-FDCF-021B-08695C9DC11A}"/>
              </a:ext>
            </a:extLst>
          </p:cNvPr>
          <p:cNvSpPr/>
          <p:nvPr/>
        </p:nvSpPr>
        <p:spPr>
          <a:xfrm>
            <a:off x="481412" y="3152603"/>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Account Management</a:t>
            </a:r>
          </a:p>
        </p:txBody>
      </p:sp>
      <p:sp>
        <p:nvSpPr>
          <p:cNvPr id="49" name="Rectangle: Rounded Corners 48">
            <a:extLst>
              <a:ext uri="{FF2B5EF4-FFF2-40B4-BE49-F238E27FC236}">
                <a16:creationId xmlns:a16="http://schemas.microsoft.com/office/drawing/2014/main" id="{4330A919-0F72-FA9F-FAB8-F40007AECDD9}"/>
              </a:ext>
            </a:extLst>
          </p:cNvPr>
          <p:cNvSpPr/>
          <p:nvPr/>
        </p:nvSpPr>
        <p:spPr>
          <a:xfrm>
            <a:off x="4240220" y="3152603"/>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Active Listening and Comprehension</a:t>
            </a:r>
          </a:p>
        </p:txBody>
      </p:sp>
      <p:sp>
        <p:nvSpPr>
          <p:cNvPr id="50" name="Rectangle: Rounded Corners 49">
            <a:extLst>
              <a:ext uri="{FF2B5EF4-FFF2-40B4-BE49-F238E27FC236}">
                <a16:creationId xmlns:a16="http://schemas.microsoft.com/office/drawing/2014/main" id="{7A41AE67-40C2-00D5-46C4-FF4CAA35746F}"/>
              </a:ext>
            </a:extLst>
          </p:cNvPr>
          <p:cNvSpPr/>
          <p:nvPr/>
        </p:nvSpPr>
        <p:spPr>
          <a:xfrm>
            <a:off x="7999029" y="3152603"/>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a:t>
            </a:r>
          </a:p>
        </p:txBody>
      </p:sp>
      <p:sp>
        <p:nvSpPr>
          <p:cNvPr id="51" name="Rectangle: Rounded Corners 50">
            <a:extLst>
              <a:ext uri="{FF2B5EF4-FFF2-40B4-BE49-F238E27FC236}">
                <a16:creationId xmlns:a16="http://schemas.microsoft.com/office/drawing/2014/main" id="{3D4364D3-58CC-1ABA-BA24-ED201CD95BC7}"/>
              </a:ext>
            </a:extLst>
          </p:cNvPr>
          <p:cNvSpPr/>
          <p:nvPr/>
        </p:nvSpPr>
        <p:spPr>
          <a:xfrm>
            <a:off x="474669" y="3892832"/>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Problem Solving</a:t>
            </a:r>
          </a:p>
        </p:txBody>
      </p:sp>
      <p:sp>
        <p:nvSpPr>
          <p:cNvPr id="52" name="Rectangle: Rounded Corners 51">
            <a:extLst>
              <a:ext uri="{FF2B5EF4-FFF2-40B4-BE49-F238E27FC236}">
                <a16:creationId xmlns:a16="http://schemas.microsoft.com/office/drawing/2014/main" id="{1F8B330C-6F28-D0E6-E4AB-F210E34F84D0}"/>
              </a:ext>
            </a:extLst>
          </p:cNvPr>
          <p:cNvSpPr/>
          <p:nvPr/>
        </p:nvSpPr>
        <p:spPr>
          <a:xfrm>
            <a:off x="4233477" y="3892832"/>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Probing, Critical Thinking and Decision Making</a:t>
            </a:r>
          </a:p>
        </p:txBody>
      </p:sp>
      <p:sp>
        <p:nvSpPr>
          <p:cNvPr id="53" name="Rectangle: Rounded Corners 52">
            <a:extLst>
              <a:ext uri="{FF2B5EF4-FFF2-40B4-BE49-F238E27FC236}">
                <a16:creationId xmlns:a16="http://schemas.microsoft.com/office/drawing/2014/main" id="{25BD678E-94ED-F026-7D60-1DF2AFA1C30F}"/>
              </a:ext>
            </a:extLst>
          </p:cNvPr>
          <p:cNvSpPr/>
          <p:nvPr/>
        </p:nvSpPr>
        <p:spPr>
          <a:xfrm>
            <a:off x="7992286" y="3892832"/>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a:t>
            </a:r>
            <a:endParaRPr lang="en-US" sz="1200">
              <a:solidFill>
                <a:srgbClr val="3D3C38"/>
              </a:solidFill>
              <a:effectLst/>
              <a:ea typeface="Times New Roman" panose="02020603050405020304" pitchFamily="18" charset="0"/>
            </a:endParaRPr>
          </a:p>
        </p:txBody>
      </p:sp>
      <p:sp>
        <p:nvSpPr>
          <p:cNvPr id="54" name="Rectangle: Rounded Corners 53">
            <a:extLst>
              <a:ext uri="{FF2B5EF4-FFF2-40B4-BE49-F238E27FC236}">
                <a16:creationId xmlns:a16="http://schemas.microsoft.com/office/drawing/2014/main" id="{80D634D7-2681-63FF-9821-097AB202A5BC}"/>
              </a:ext>
            </a:extLst>
          </p:cNvPr>
          <p:cNvSpPr/>
          <p:nvPr/>
        </p:nvSpPr>
        <p:spPr>
          <a:xfrm>
            <a:off x="488155" y="4633061"/>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Customer Service </a:t>
            </a:r>
          </a:p>
        </p:txBody>
      </p:sp>
      <p:sp>
        <p:nvSpPr>
          <p:cNvPr id="55" name="Rectangle: Rounded Corners 54">
            <a:extLst>
              <a:ext uri="{FF2B5EF4-FFF2-40B4-BE49-F238E27FC236}">
                <a16:creationId xmlns:a16="http://schemas.microsoft.com/office/drawing/2014/main" id="{1099A541-E05B-0C5A-0075-DA1C43FFB28B}"/>
              </a:ext>
            </a:extLst>
          </p:cNvPr>
          <p:cNvSpPr/>
          <p:nvPr/>
        </p:nvSpPr>
        <p:spPr>
          <a:xfrm>
            <a:off x="4246963" y="4633061"/>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rPr>
              <a:t>Positive Scripting, Proper Setting of Expectations,  Providing Options</a:t>
            </a:r>
          </a:p>
        </p:txBody>
      </p:sp>
      <p:sp>
        <p:nvSpPr>
          <p:cNvPr id="56" name="Rectangle: Rounded Corners 55">
            <a:extLst>
              <a:ext uri="{FF2B5EF4-FFF2-40B4-BE49-F238E27FC236}">
                <a16:creationId xmlns:a16="http://schemas.microsoft.com/office/drawing/2014/main" id="{F2F5D3FE-F600-3609-F74F-E2993D8C9701}"/>
              </a:ext>
            </a:extLst>
          </p:cNvPr>
          <p:cNvSpPr/>
          <p:nvPr/>
        </p:nvSpPr>
        <p:spPr>
          <a:xfrm>
            <a:off x="8005772" y="4633061"/>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Interaction and Discourse Management, Coherence</a:t>
            </a:r>
          </a:p>
        </p:txBody>
      </p:sp>
      <p:sp>
        <p:nvSpPr>
          <p:cNvPr id="57" name="Rectangle: Rounded Corners 56">
            <a:extLst>
              <a:ext uri="{FF2B5EF4-FFF2-40B4-BE49-F238E27FC236}">
                <a16:creationId xmlns:a16="http://schemas.microsoft.com/office/drawing/2014/main" id="{293FC1B1-63FA-16BB-A95D-A1B176DA507D}"/>
              </a:ext>
            </a:extLst>
          </p:cNvPr>
          <p:cNvSpPr/>
          <p:nvPr/>
        </p:nvSpPr>
        <p:spPr>
          <a:xfrm>
            <a:off x="481412" y="5373290"/>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Account Education</a:t>
            </a:r>
          </a:p>
        </p:txBody>
      </p:sp>
      <p:sp>
        <p:nvSpPr>
          <p:cNvPr id="58" name="Rectangle: Rounded Corners 57">
            <a:extLst>
              <a:ext uri="{FF2B5EF4-FFF2-40B4-BE49-F238E27FC236}">
                <a16:creationId xmlns:a16="http://schemas.microsoft.com/office/drawing/2014/main" id="{0F83A036-0526-895F-4CF4-7DB94705D9E8}"/>
              </a:ext>
            </a:extLst>
          </p:cNvPr>
          <p:cNvSpPr/>
          <p:nvPr/>
        </p:nvSpPr>
        <p:spPr>
          <a:xfrm>
            <a:off x="4240220" y="5373290"/>
            <a:ext cx="3657600" cy="64008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solidFill>
                  <a:srgbClr val="3D3C38"/>
                </a:solidFill>
              </a:rPr>
              <a:t>Clear and Logical Explanation, Providing Instructions </a:t>
            </a:r>
          </a:p>
        </p:txBody>
      </p:sp>
      <p:sp>
        <p:nvSpPr>
          <p:cNvPr id="59" name="Rectangle: Rounded Corners 58">
            <a:extLst>
              <a:ext uri="{FF2B5EF4-FFF2-40B4-BE49-F238E27FC236}">
                <a16:creationId xmlns:a16="http://schemas.microsoft.com/office/drawing/2014/main" id="{4EF77E8E-6E8C-5003-328C-58EA4FBED2DC}"/>
              </a:ext>
            </a:extLst>
          </p:cNvPr>
          <p:cNvSpPr/>
          <p:nvPr/>
        </p:nvSpPr>
        <p:spPr>
          <a:xfrm>
            <a:off x="7999029" y="5373290"/>
            <a:ext cx="3657600" cy="64008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rgbClr val="3D3C38"/>
                </a:solidFill>
                <a:ea typeface="Times New Roman" panose="02020603050405020304" pitchFamily="18" charset="0"/>
              </a:rPr>
              <a:t>Coherence</a:t>
            </a:r>
            <a:endParaRPr lang="en-US" sz="1200">
              <a:solidFill>
                <a:srgbClr val="3D3C38"/>
              </a:solidFill>
              <a:effectLst/>
              <a:ea typeface="Times New Roman" panose="02020603050405020304" pitchFamily="18" charset="0"/>
            </a:endParaRPr>
          </a:p>
        </p:txBody>
      </p:sp>
      <p:sp>
        <p:nvSpPr>
          <p:cNvPr id="60" name="TextBox 59">
            <a:extLst>
              <a:ext uri="{FF2B5EF4-FFF2-40B4-BE49-F238E27FC236}">
                <a16:creationId xmlns:a16="http://schemas.microsoft.com/office/drawing/2014/main" id="{2536D377-8986-B86A-9722-D9E70162C9BE}"/>
              </a:ext>
            </a:extLst>
          </p:cNvPr>
          <p:cNvSpPr txBox="1"/>
          <p:nvPr/>
        </p:nvSpPr>
        <p:spPr bwMode="gray">
          <a:xfrm>
            <a:off x="1749956"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Task</a:t>
            </a:r>
          </a:p>
        </p:txBody>
      </p:sp>
      <p:sp>
        <p:nvSpPr>
          <p:cNvPr id="61" name="TextBox 60">
            <a:extLst>
              <a:ext uri="{FF2B5EF4-FFF2-40B4-BE49-F238E27FC236}">
                <a16:creationId xmlns:a16="http://schemas.microsoft.com/office/drawing/2014/main" id="{B44DBFCB-6D52-05F7-74F5-D41F94B59F48}"/>
              </a:ext>
            </a:extLst>
          </p:cNvPr>
          <p:cNvSpPr txBox="1"/>
          <p:nvPr/>
        </p:nvSpPr>
        <p:spPr bwMode="gray">
          <a:xfrm>
            <a:off x="5531967"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Skill</a:t>
            </a:r>
          </a:p>
        </p:txBody>
      </p:sp>
      <p:sp>
        <p:nvSpPr>
          <p:cNvPr id="62" name="TextBox 61">
            <a:extLst>
              <a:ext uri="{FF2B5EF4-FFF2-40B4-BE49-F238E27FC236}">
                <a16:creationId xmlns:a16="http://schemas.microsoft.com/office/drawing/2014/main" id="{02D25776-E2BD-8DDF-D293-D9A77A119110}"/>
              </a:ext>
            </a:extLst>
          </p:cNvPr>
          <p:cNvSpPr txBox="1"/>
          <p:nvPr/>
        </p:nvSpPr>
        <p:spPr bwMode="gray">
          <a:xfrm>
            <a:off x="9302620" y="1298905"/>
            <a:ext cx="1280160" cy="215444"/>
          </a:xfrm>
          <a:prstGeom prst="rect">
            <a:avLst/>
          </a:prstGeom>
          <a:noFill/>
        </p:spPr>
        <p:txBody>
          <a:bodyPr vert="horz" wrap="square" lIns="0" tIns="0" rIns="0" bIns="0" rtlCol="0">
            <a:spAutoFit/>
          </a:bodyPr>
          <a:lstStyle/>
          <a:p>
            <a:pPr algn="ctr">
              <a:spcBef>
                <a:spcPts val="600"/>
              </a:spcBef>
            </a:pPr>
            <a:r>
              <a:rPr lang="en-US" sz="1400" b="1">
                <a:solidFill>
                  <a:srgbClr val="3D3C38"/>
                </a:solidFill>
              </a:rPr>
              <a:t>CAT Measure</a:t>
            </a:r>
          </a:p>
        </p:txBody>
      </p:sp>
      <p:pic>
        <p:nvPicPr>
          <p:cNvPr id="63" name="Picture 62">
            <a:extLst>
              <a:ext uri="{FF2B5EF4-FFF2-40B4-BE49-F238E27FC236}">
                <a16:creationId xmlns:a16="http://schemas.microsoft.com/office/drawing/2014/main" id="{2BB9A60B-C8EA-46EC-DA2D-879B8798F9E5}"/>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a:xfrm>
            <a:off x="8801318" y="1091121"/>
            <a:ext cx="547498" cy="548640"/>
          </a:xfrm>
          <a:prstGeom prst="rect">
            <a:avLst/>
          </a:prstGeom>
        </p:spPr>
      </p:pic>
      <p:pic>
        <p:nvPicPr>
          <p:cNvPr id="64" name="Picture 63">
            <a:extLst>
              <a:ext uri="{FF2B5EF4-FFF2-40B4-BE49-F238E27FC236}">
                <a16:creationId xmlns:a16="http://schemas.microsoft.com/office/drawing/2014/main" id="{CD0E25A6-E5B9-D07A-3FD7-030AEEE3EDB8}"/>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56" r="156"/>
          <a:stretch/>
        </p:blipFill>
        <p:spPr bwMode="gray">
          <a:xfrm>
            <a:off x="1571469" y="1091121"/>
            <a:ext cx="546926" cy="548640"/>
          </a:xfrm>
          <a:prstGeom prst="rect">
            <a:avLst/>
          </a:prstGeom>
        </p:spPr>
      </p:pic>
      <p:pic>
        <p:nvPicPr>
          <p:cNvPr id="65" name="Picture 64">
            <a:extLst>
              <a:ext uri="{FF2B5EF4-FFF2-40B4-BE49-F238E27FC236}">
                <a16:creationId xmlns:a16="http://schemas.microsoft.com/office/drawing/2014/main" id="{AFC912C3-8265-D4C8-76B4-033FE1F751D8}"/>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326071" y="1088576"/>
            <a:ext cx="547498" cy="548640"/>
          </a:xfrm>
          <a:prstGeom prst="rect">
            <a:avLst/>
          </a:prstGeom>
        </p:spPr>
      </p:pic>
    </p:spTree>
    <p:extLst>
      <p:ext uri="{BB962C8B-B14F-4D97-AF65-F5344CB8AC3E}">
        <p14:creationId xmlns:p14="http://schemas.microsoft.com/office/powerpoint/2010/main" val="1269674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69EFD-803B-14D7-C91A-1E0F35281D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4D97C-A826-511D-2835-A00A74091373}"/>
              </a:ext>
            </a:extLst>
          </p:cNvPr>
          <p:cNvSpPr>
            <a:spLocks noGrp="1"/>
          </p:cNvSpPr>
          <p:nvPr>
            <p:ph type="title"/>
          </p:nvPr>
        </p:nvSpPr>
        <p:spPr/>
        <p:txBody>
          <a:bodyPr/>
          <a:lstStyle/>
          <a:p>
            <a:r>
              <a:rPr lang="en-US"/>
              <a:t>Skills Mapping (Non-voice CAT)</a:t>
            </a:r>
          </a:p>
        </p:txBody>
      </p:sp>
      <p:sp>
        <p:nvSpPr>
          <p:cNvPr id="3" name="Rectangle: Rounded Corners 2">
            <a:extLst>
              <a:ext uri="{FF2B5EF4-FFF2-40B4-BE49-F238E27FC236}">
                <a16:creationId xmlns:a16="http://schemas.microsoft.com/office/drawing/2014/main" id="{3F1DBB16-CA82-5FC6-F9F7-5CAE320E658A}"/>
              </a:ext>
            </a:extLst>
          </p:cNvPr>
          <p:cNvSpPr/>
          <p:nvPr/>
        </p:nvSpPr>
        <p:spPr>
          <a:xfrm>
            <a:off x="474669" y="1937617"/>
            <a:ext cx="3657600" cy="3436928"/>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ffectLst/>
                <a:ea typeface="Times New Roman" panose="02020603050405020304" pitchFamily="18" charset="0"/>
              </a:rPr>
              <a:t>Complete and Accurate Documentation</a:t>
            </a:r>
            <a:endParaRPr lang="en-US" sz="1200" u="sng">
              <a:solidFill>
                <a:schemeClr val="accent3"/>
              </a:solidFill>
            </a:endParaRPr>
          </a:p>
        </p:txBody>
      </p:sp>
      <p:sp>
        <p:nvSpPr>
          <p:cNvPr id="4" name="Rectangle: Rounded Corners 3">
            <a:extLst>
              <a:ext uri="{FF2B5EF4-FFF2-40B4-BE49-F238E27FC236}">
                <a16:creationId xmlns:a16="http://schemas.microsoft.com/office/drawing/2014/main" id="{3FE2BE54-42C7-DE47-0D5E-D31D5EAC0AF0}"/>
              </a:ext>
            </a:extLst>
          </p:cNvPr>
          <p:cNvSpPr/>
          <p:nvPr/>
        </p:nvSpPr>
        <p:spPr>
          <a:xfrm>
            <a:off x="4233477" y="1937617"/>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rPr>
              <a:t>English Proficiency </a:t>
            </a:r>
          </a:p>
        </p:txBody>
      </p:sp>
      <p:sp>
        <p:nvSpPr>
          <p:cNvPr id="5" name="Rectangle: Rounded Corners 4">
            <a:extLst>
              <a:ext uri="{FF2B5EF4-FFF2-40B4-BE49-F238E27FC236}">
                <a16:creationId xmlns:a16="http://schemas.microsoft.com/office/drawing/2014/main" id="{2F5FC3C2-4640-1C30-60C2-0032CF16531D}"/>
              </a:ext>
            </a:extLst>
          </p:cNvPr>
          <p:cNvSpPr/>
          <p:nvPr/>
        </p:nvSpPr>
        <p:spPr>
          <a:xfrm>
            <a:off x="7992286" y="1937617"/>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Correctness of Grammar</a:t>
            </a:r>
            <a:endParaRPr lang="en-US" sz="1200">
              <a:solidFill>
                <a:schemeClr val="accent3"/>
              </a:solidFill>
              <a:effectLst/>
              <a:ea typeface="Times New Roman" panose="02020603050405020304" pitchFamily="18" charset="0"/>
            </a:endParaRPr>
          </a:p>
        </p:txBody>
      </p:sp>
      <p:sp>
        <p:nvSpPr>
          <p:cNvPr id="7" name="Rectangle: Rounded Corners 6">
            <a:extLst>
              <a:ext uri="{FF2B5EF4-FFF2-40B4-BE49-F238E27FC236}">
                <a16:creationId xmlns:a16="http://schemas.microsoft.com/office/drawing/2014/main" id="{81495B86-601F-688B-CCDA-96906EF8E3FE}"/>
              </a:ext>
            </a:extLst>
          </p:cNvPr>
          <p:cNvSpPr/>
          <p:nvPr/>
        </p:nvSpPr>
        <p:spPr>
          <a:xfrm>
            <a:off x="4226734" y="2825331"/>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t>Information Accuracy</a:t>
            </a:r>
          </a:p>
        </p:txBody>
      </p:sp>
      <p:sp>
        <p:nvSpPr>
          <p:cNvPr id="8" name="Rectangle: Rounded Corners 7">
            <a:extLst>
              <a:ext uri="{FF2B5EF4-FFF2-40B4-BE49-F238E27FC236}">
                <a16:creationId xmlns:a16="http://schemas.microsoft.com/office/drawing/2014/main" id="{5EC12205-7212-DB19-D913-F4C42FB94C3B}"/>
              </a:ext>
            </a:extLst>
          </p:cNvPr>
          <p:cNvSpPr/>
          <p:nvPr/>
        </p:nvSpPr>
        <p:spPr>
          <a:xfrm>
            <a:off x="7985543" y="2815494"/>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Professionalism and Formality, Spelling and Punctuation, Coherence of Thought</a:t>
            </a:r>
            <a:endParaRPr lang="en-US" sz="1200">
              <a:solidFill>
                <a:schemeClr val="accent3"/>
              </a:solidFill>
              <a:effectLst/>
              <a:ea typeface="Times New Roman" panose="02020603050405020304" pitchFamily="18" charset="0"/>
            </a:endParaRPr>
          </a:p>
        </p:txBody>
      </p:sp>
      <p:sp>
        <p:nvSpPr>
          <p:cNvPr id="10" name="Rectangle: Rounded Corners 9">
            <a:extLst>
              <a:ext uri="{FF2B5EF4-FFF2-40B4-BE49-F238E27FC236}">
                <a16:creationId xmlns:a16="http://schemas.microsoft.com/office/drawing/2014/main" id="{41A17256-1EEF-E09D-DCCA-08200CD182A3}"/>
              </a:ext>
            </a:extLst>
          </p:cNvPr>
          <p:cNvSpPr/>
          <p:nvPr/>
        </p:nvSpPr>
        <p:spPr>
          <a:xfrm>
            <a:off x="4240220" y="3693376"/>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rPr>
              <a:t>Completeness of Documentation</a:t>
            </a:r>
          </a:p>
        </p:txBody>
      </p:sp>
      <p:sp>
        <p:nvSpPr>
          <p:cNvPr id="11" name="Rectangle: Rounded Corners 10">
            <a:extLst>
              <a:ext uri="{FF2B5EF4-FFF2-40B4-BE49-F238E27FC236}">
                <a16:creationId xmlns:a16="http://schemas.microsoft.com/office/drawing/2014/main" id="{8A1F79D5-2221-32E6-474F-502068A81E2C}"/>
              </a:ext>
            </a:extLst>
          </p:cNvPr>
          <p:cNvSpPr/>
          <p:nvPr/>
        </p:nvSpPr>
        <p:spPr>
          <a:xfrm>
            <a:off x="7999029" y="3683540"/>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Spelling and Punctuation, Coherence of Thought</a:t>
            </a:r>
          </a:p>
        </p:txBody>
      </p:sp>
      <p:sp>
        <p:nvSpPr>
          <p:cNvPr id="13" name="Rectangle: Rounded Corners 12">
            <a:extLst>
              <a:ext uri="{FF2B5EF4-FFF2-40B4-BE49-F238E27FC236}">
                <a16:creationId xmlns:a16="http://schemas.microsoft.com/office/drawing/2014/main" id="{82D86153-2370-4F9E-ED3E-9C19F9B1DC1F}"/>
              </a:ext>
            </a:extLst>
          </p:cNvPr>
          <p:cNvSpPr/>
          <p:nvPr/>
        </p:nvSpPr>
        <p:spPr>
          <a:xfrm>
            <a:off x="4233477" y="4561421"/>
            <a:ext cx="3657600" cy="822960"/>
          </a:xfrm>
          <a:prstGeom prst="roundRect">
            <a:avLst>
              <a:gd name="adj" fmla="val 10591"/>
            </a:avLst>
          </a:prstGeom>
          <a:solidFill>
            <a:srgbClr val="FAF8F2">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600"/>
              </a:spcBef>
            </a:pPr>
            <a:r>
              <a:rPr lang="en-US" sz="1200"/>
              <a:t>Attention to Detail</a:t>
            </a:r>
          </a:p>
        </p:txBody>
      </p:sp>
      <p:sp>
        <p:nvSpPr>
          <p:cNvPr id="14" name="Rectangle: Rounded Corners 13">
            <a:extLst>
              <a:ext uri="{FF2B5EF4-FFF2-40B4-BE49-F238E27FC236}">
                <a16:creationId xmlns:a16="http://schemas.microsoft.com/office/drawing/2014/main" id="{ADA25E46-EAE2-C281-5AA1-0125F317312E}"/>
              </a:ext>
            </a:extLst>
          </p:cNvPr>
          <p:cNvSpPr/>
          <p:nvPr/>
        </p:nvSpPr>
        <p:spPr>
          <a:xfrm>
            <a:off x="7992286" y="4551585"/>
            <a:ext cx="3657600" cy="822960"/>
          </a:xfrm>
          <a:prstGeom prst="roundRect">
            <a:avLst>
              <a:gd name="adj" fmla="val 10591"/>
            </a:avLst>
          </a:prstGeom>
          <a:solidFill>
            <a:srgbClr val="D9F6FA">
              <a:alpha val="50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a:solidFill>
                  <a:schemeClr val="accent3"/>
                </a:solidFill>
                <a:ea typeface="Times New Roman" panose="02020603050405020304" pitchFamily="18" charset="0"/>
              </a:rPr>
              <a:t>Professionalism and Formality, Coherence of Thought</a:t>
            </a:r>
            <a:endParaRPr lang="en-US" sz="1200">
              <a:solidFill>
                <a:schemeClr val="accent3"/>
              </a:solidFill>
              <a:effectLst/>
              <a:ea typeface="Times New Roman" panose="02020603050405020304" pitchFamily="18" charset="0"/>
            </a:endParaRPr>
          </a:p>
        </p:txBody>
      </p:sp>
      <p:sp>
        <p:nvSpPr>
          <p:cNvPr id="21" name="TextBox 20">
            <a:extLst>
              <a:ext uri="{FF2B5EF4-FFF2-40B4-BE49-F238E27FC236}">
                <a16:creationId xmlns:a16="http://schemas.microsoft.com/office/drawing/2014/main" id="{4D5C86E5-2875-BEAC-DF2F-F4D2D1690E7B}"/>
              </a:ext>
            </a:extLst>
          </p:cNvPr>
          <p:cNvSpPr txBox="1"/>
          <p:nvPr/>
        </p:nvSpPr>
        <p:spPr bwMode="gray">
          <a:xfrm>
            <a:off x="1749956"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Task</a:t>
            </a:r>
          </a:p>
        </p:txBody>
      </p:sp>
      <p:sp>
        <p:nvSpPr>
          <p:cNvPr id="22" name="TextBox 21">
            <a:extLst>
              <a:ext uri="{FF2B5EF4-FFF2-40B4-BE49-F238E27FC236}">
                <a16:creationId xmlns:a16="http://schemas.microsoft.com/office/drawing/2014/main" id="{CB924493-5BF2-2432-6807-80F17602AA03}"/>
              </a:ext>
            </a:extLst>
          </p:cNvPr>
          <p:cNvSpPr txBox="1"/>
          <p:nvPr/>
        </p:nvSpPr>
        <p:spPr bwMode="gray">
          <a:xfrm>
            <a:off x="5531967"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Skill</a:t>
            </a:r>
          </a:p>
        </p:txBody>
      </p:sp>
      <p:sp>
        <p:nvSpPr>
          <p:cNvPr id="23" name="TextBox 22">
            <a:extLst>
              <a:ext uri="{FF2B5EF4-FFF2-40B4-BE49-F238E27FC236}">
                <a16:creationId xmlns:a16="http://schemas.microsoft.com/office/drawing/2014/main" id="{F8D84C0C-32DA-E92E-F87B-ED5F07C7F2AB}"/>
              </a:ext>
            </a:extLst>
          </p:cNvPr>
          <p:cNvSpPr txBox="1"/>
          <p:nvPr/>
        </p:nvSpPr>
        <p:spPr bwMode="gray">
          <a:xfrm>
            <a:off x="9302620" y="1564377"/>
            <a:ext cx="1280160" cy="215444"/>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CAT Measure</a:t>
            </a:r>
          </a:p>
        </p:txBody>
      </p:sp>
      <p:pic>
        <p:nvPicPr>
          <p:cNvPr id="24" name="Picture 23">
            <a:extLst>
              <a:ext uri="{FF2B5EF4-FFF2-40B4-BE49-F238E27FC236}">
                <a16:creationId xmlns:a16="http://schemas.microsoft.com/office/drawing/2014/main" id="{9D4371BB-3018-657C-48BF-DCCC85230698}"/>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a:xfrm>
            <a:off x="8801318" y="1356593"/>
            <a:ext cx="547498" cy="548640"/>
          </a:xfrm>
          <a:prstGeom prst="rect">
            <a:avLst/>
          </a:prstGeom>
        </p:spPr>
      </p:pic>
      <p:pic>
        <p:nvPicPr>
          <p:cNvPr id="25" name="Picture 24">
            <a:extLst>
              <a:ext uri="{FF2B5EF4-FFF2-40B4-BE49-F238E27FC236}">
                <a16:creationId xmlns:a16="http://schemas.microsoft.com/office/drawing/2014/main" id="{70D04220-BB1B-A5B7-F44C-B16FD8EB0F6D}"/>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56" r="156"/>
          <a:stretch/>
        </p:blipFill>
        <p:spPr bwMode="gray">
          <a:xfrm>
            <a:off x="1571469" y="1356593"/>
            <a:ext cx="546926" cy="548640"/>
          </a:xfrm>
          <a:prstGeom prst="rect">
            <a:avLst/>
          </a:prstGeom>
        </p:spPr>
      </p:pic>
      <p:pic>
        <p:nvPicPr>
          <p:cNvPr id="26" name="Picture 25">
            <a:extLst>
              <a:ext uri="{FF2B5EF4-FFF2-40B4-BE49-F238E27FC236}">
                <a16:creationId xmlns:a16="http://schemas.microsoft.com/office/drawing/2014/main" id="{61459F36-8333-E20F-C119-CB615EC81DA4}"/>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5326071" y="1354048"/>
            <a:ext cx="547498" cy="548640"/>
          </a:xfrm>
          <a:prstGeom prst="rect">
            <a:avLst/>
          </a:prstGeom>
        </p:spPr>
      </p:pic>
    </p:spTree>
    <p:extLst>
      <p:ext uri="{BB962C8B-B14F-4D97-AF65-F5344CB8AC3E}">
        <p14:creationId xmlns:p14="http://schemas.microsoft.com/office/powerpoint/2010/main" val="3638952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D59FC-57ED-EA81-8EB3-CDCFEFE714B1}"/>
              </a:ext>
            </a:extLst>
          </p:cNvPr>
          <p:cNvSpPr>
            <a:spLocks noGrp="1"/>
          </p:cNvSpPr>
          <p:nvPr>
            <p:ph type="title"/>
          </p:nvPr>
        </p:nvSpPr>
        <p:spPr>
          <a:xfrm>
            <a:off x="1752600" y="2375435"/>
            <a:ext cx="8686800" cy="1523494"/>
          </a:xfrm>
        </p:spPr>
        <p:txBody>
          <a:bodyPr/>
          <a:lstStyle/>
          <a:p>
            <a:r>
              <a:rPr lang="en-US"/>
              <a:t>CAT Automation</a:t>
            </a:r>
            <a:br>
              <a:rPr lang="en-US"/>
            </a:br>
            <a:r>
              <a:rPr lang="en-US"/>
              <a:t>Pre-screening Test</a:t>
            </a:r>
          </a:p>
        </p:txBody>
      </p:sp>
      <p:sp>
        <p:nvSpPr>
          <p:cNvPr id="3" name="Text Placeholder 2">
            <a:extLst>
              <a:ext uri="{FF2B5EF4-FFF2-40B4-BE49-F238E27FC236}">
                <a16:creationId xmlns:a16="http://schemas.microsoft.com/office/drawing/2014/main" id="{B60AC2FB-C69B-909E-1E12-55AE093F3E8D}"/>
              </a:ext>
            </a:extLst>
          </p:cNvPr>
          <p:cNvSpPr>
            <a:spLocks noGrp="1"/>
          </p:cNvSpPr>
          <p:nvPr>
            <p:ph type="body" idx="1"/>
          </p:nvPr>
        </p:nvSpPr>
        <p:spPr/>
        <p:txBody>
          <a:bodyPr/>
          <a:lstStyle/>
          <a:p>
            <a:r>
              <a:rPr lang="en-US"/>
              <a:t>Web-based Testing Application</a:t>
            </a:r>
          </a:p>
        </p:txBody>
      </p:sp>
    </p:spTree>
    <p:extLst>
      <p:ext uri="{BB962C8B-B14F-4D97-AF65-F5344CB8AC3E}">
        <p14:creationId xmlns:p14="http://schemas.microsoft.com/office/powerpoint/2010/main" val="190932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Rounded Corners 31">
            <a:extLst>
              <a:ext uri="{FF2B5EF4-FFF2-40B4-BE49-F238E27FC236}">
                <a16:creationId xmlns:a16="http://schemas.microsoft.com/office/drawing/2014/main" id="{367B2116-5BD1-5F35-3034-FCF13CC5AAFC}"/>
              </a:ext>
            </a:extLst>
          </p:cNvPr>
          <p:cNvSpPr/>
          <p:nvPr/>
        </p:nvSpPr>
        <p:spPr bwMode="gray">
          <a:xfrm>
            <a:off x="7741032" y="3278148"/>
            <a:ext cx="1388560" cy="1408401"/>
          </a:xfrm>
          <a:prstGeom prst="roundRect">
            <a:avLst>
              <a:gd name="adj" fmla="val 6175"/>
            </a:avLst>
          </a:prstGeom>
          <a:solidFill>
            <a:schemeClr val="bg2"/>
          </a:solidFill>
          <a:ln w="9525" cap="rnd">
            <a:solidFill>
              <a:schemeClr val="tx2"/>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1" name="Rectangle: Rounded Corners 30">
            <a:extLst>
              <a:ext uri="{FF2B5EF4-FFF2-40B4-BE49-F238E27FC236}">
                <a16:creationId xmlns:a16="http://schemas.microsoft.com/office/drawing/2014/main" id="{0CE18918-1169-3C22-F123-29964CBC8DFB}"/>
              </a:ext>
            </a:extLst>
          </p:cNvPr>
          <p:cNvSpPr/>
          <p:nvPr/>
        </p:nvSpPr>
        <p:spPr bwMode="gray">
          <a:xfrm>
            <a:off x="4965316" y="3278148"/>
            <a:ext cx="1407202" cy="1408402"/>
          </a:xfrm>
          <a:prstGeom prst="roundRect">
            <a:avLst>
              <a:gd name="adj" fmla="val 6175"/>
            </a:avLst>
          </a:prstGeom>
          <a:solidFill>
            <a:schemeClr val="bg2"/>
          </a:solidFill>
          <a:ln w="9525" cap="rnd">
            <a:solidFill>
              <a:schemeClr val="tx2"/>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7" name="Rectangle 26">
            <a:extLst>
              <a:ext uri="{FF2B5EF4-FFF2-40B4-BE49-F238E27FC236}">
                <a16:creationId xmlns:a16="http://schemas.microsoft.com/office/drawing/2014/main" id="{ABFDD517-9AE6-970E-E5C6-93DA99DF479C}"/>
              </a:ext>
            </a:extLst>
          </p:cNvPr>
          <p:cNvSpPr/>
          <p:nvPr/>
        </p:nvSpPr>
        <p:spPr bwMode="gray">
          <a:xfrm>
            <a:off x="10518964" y="3278147"/>
            <a:ext cx="1250826" cy="1408402"/>
          </a:xfrm>
          <a:prstGeom prst="rect">
            <a:avLst/>
          </a:prstGeom>
          <a:solidFill>
            <a:srgbClr val="FAF8F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 name="Title 1">
            <a:extLst>
              <a:ext uri="{FF2B5EF4-FFF2-40B4-BE49-F238E27FC236}">
                <a16:creationId xmlns:a16="http://schemas.microsoft.com/office/drawing/2014/main" id="{77876B1D-64CE-3A24-DCE5-0BC8F2995652}"/>
              </a:ext>
            </a:extLst>
          </p:cNvPr>
          <p:cNvSpPr>
            <a:spLocks noGrp="1"/>
          </p:cNvSpPr>
          <p:nvPr>
            <p:ph type="title"/>
          </p:nvPr>
        </p:nvSpPr>
        <p:spPr>
          <a:xfrm>
            <a:off x="433179" y="559087"/>
            <a:ext cx="9601200" cy="304699"/>
          </a:xfrm>
        </p:spPr>
        <p:txBody>
          <a:bodyPr/>
          <a:lstStyle/>
          <a:p>
            <a:r>
              <a:rPr lang="en-US" err="1"/>
              <a:t>CATalyze</a:t>
            </a:r>
            <a:r>
              <a:rPr lang="en-US"/>
              <a:t> AI</a:t>
            </a:r>
          </a:p>
        </p:txBody>
      </p:sp>
      <p:sp>
        <p:nvSpPr>
          <p:cNvPr id="3" name="Text Placeholder 6">
            <a:extLst>
              <a:ext uri="{FF2B5EF4-FFF2-40B4-BE49-F238E27FC236}">
                <a16:creationId xmlns:a16="http://schemas.microsoft.com/office/drawing/2014/main" id="{19EF86ED-88F9-ACBA-D7CA-B50AB15D6CBA}"/>
              </a:ext>
            </a:extLst>
          </p:cNvPr>
          <p:cNvSpPr txBox="1">
            <a:spLocks/>
          </p:cNvSpPr>
          <p:nvPr/>
        </p:nvSpPr>
        <p:spPr>
          <a:xfrm>
            <a:off x="467926" y="802727"/>
            <a:ext cx="9601200" cy="24622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a:t>Intelligent communication assessment and pre-screening solution</a:t>
            </a:r>
          </a:p>
        </p:txBody>
      </p:sp>
      <p:sp>
        <p:nvSpPr>
          <p:cNvPr id="4" name="Rectangle 3">
            <a:extLst>
              <a:ext uri="{FF2B5EF4-FFF2-40B4-BE49-F238E27FC236}">
                <a16:creationId xmlns:a16="http://schemas.microsoft.com/office/drawing/2014/main" id="{665DF3EC-3965-8E6E-01A4-F46EEBE936E5}"/>
              </a:ext>
            </a:extLst>
          </p:cNvPr>
          <p:cNvSpPr/>
          <p:nvPr/>
        </p:nvSpPr>
        <p:spPr bwMode="gray">
          <a:xfrm>
            <a:off x="0" y="1259633"/>
            <a:ext cx="2282890" cy="5040417"/>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 name="TextBox 6">
            <a:extLst>
              <a:ext uri="{FF2B5EF4-FFF2-40B4-BE49-F238E27FC236}">
                <a16:creationId xmlns:a16="http://schemas.microsoft.com/office/drawing/2014/main" id="{03454B52-3841-331E-CB19-3B9F27FFDB44}"/>
              </a:ext>
            </a:extLst>
          </p:cNvPr>
          <p:cNvSpPr txBox="1"/>
          <p:nvPr/>
        </p:nvSpPr>
        <p:spPr bwMode="gray">
          <a:xfrm>
            <a:off x="-72547" y="2750665"/>
            <a:ext cx="2227436" cy="138499"/>
          </a:xfrm>
          <a:prstGeom prst="rect">
            <a:avLst/>
          </a:prstGeom>
          <a:noFill/>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3D3C38"/>
              </a:buClr>
              <a:buSzTx/>
              <a:buFontTx/>
              <a:buNone/>
              <a:tabLst/>
              <a:defRPr/>
            </a:pPr>
            <a:endParaRPr kumimoji="0" lang="en-US" sz="900" b="0" i="0" u="none" strike="noStrike" kern="1200" cap="none" spc="0" normalizeH="0" baseline="0" noProof="0">
              <a:ln>
                <a:noFill/>
              </a:ln>
              <a:solidFill>
                <a:srgbClr val="3D3C38"/>
              </a:solidFill>
              <a:effectLst/>
              <a:uLnTx/>
              <a:uFillTx/>
              <a:latin typeface="Arial"/>
              <a:ea typeface="+mn-ea"/>
              <a:cs typeface="Arial"/>
            </a:endParaRPr>
          </a:p>
        </p:txBody>
      </p:sp>
      <p:sp>
        <p:nvSpPr>
          <p:cNvPr id="8" name="TextBox 7">
            <a:extLst>
              <a:ext uri="{FF2B5EF4-FFF2-40B4-BE49-F238E27FC236}">
                <a16:creationId xmlns:a16="http://schemas.microsoft.com/office/drawing/2014/main" id="{94842E05-A0EF-7521-F0DB-AE7D9A056425}"/>
              </a:ext>
            </a:extLst>
          </p:cNvPr>
          <p:cNvSpPr txBox="1"/>
          <p:nvPr/>
        </p:nvSpPr>
        <p:spPr bwMode="gray">
          <a:xfrm>
            <a:off x="327292" y="2376300"/>
            <a:ext cx="1674791" cy="3770263"/>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
                <a:srgbClr val="3D3C38"/>
              </a:buClr>
              <a:buSzTx/>
              <a:buFontTx/>
              <a:buNone/>
              <a:tabLst/>
              <a:defRPr/>
            </a:pPr>
            <a:r>
              <a:rPr kumimoji="0" lang="en-US" sz="1000" b="1" i="0" u="none" strike="noStrike" kern="1200" cap="none" spc="0" normalizeH="0" baseline="0" noProof="0" err="1">
                <a:ln>
                  <a:noFill/>
                </a:ln>
                <a:solidFill>
                  <a:srgbClr val="3D3C38"/>
                </a:solidFill>
                <a:effectLst/>
                <a:uLnTx/>
                <a:uFillTx/>
                <a:latin typeface="Georgia Pro"/>
                <a:ea typeface="+mn-ea"/>
                <a:cs typeface="+mn-cs"/>
              </a:rPr>
              <a:t>CATalyze</a:t>
            </a:r>
            <a:r>
              <a:rPr kumimoji="0" lang="en-US" sz="1000" b="1" i="0" u="none" strike="noStrike" kern="1200" cap="none" spc="0" normalizeH="0" baseline="0" noProof="0">
                <a:ln>
                  <a:noFill/>
                </a:ln>
                <a:solidFill>
                  <a:srgbClr val="3D3C38"/>
                </a:solidFill>
                <a:effectLst/>
                <a:uLnTx/>
                <a:uFillTx/>
                <a:latin typeface="Georgia Pro"/>
                <a:ea typeface="+mn-ea"/>
                <a:cs typeface="+mn-cs"/>
              </a:rPr>
              <a:t> AI </a:t>
            </a:r>
            <a:r>
              <a:rPr kumimoji="0" lang="en-US" sz="1000" b="0" i="0" u="none" strike="noStrike" kern="1200" cap="none" spc="0" normalizeH="0" baseline="0" noProof="0">
                <a:ln>
                  <a:noFill/>
                </a:ln>
                <a:solidFill>
                  <a:srgbClr val="3D3C38"/>
                </a:solidFill>
                <a:effectLst/>
                <a:uLnTx/>
                <a:uFillTx/>
                <a:latin typeface="Georgia Pro"/>
                <a:ea typeface="+mn-ea"/>
                <a:cs typeface="+mn-cs"/>
              </a:rPr>
              <a:t>is an </a:t>
            </a:r>
            <a:r>
              <a:rPr kumimoji="0" lang="en-US" sz="1000" b="1" i="0" u="none" strike="noStrike" kern="1200" cap="none" spc="0" normalizeH="0" baseline="0" noProof="0">
                <a:ln>
                  <a:noFill/>
                </a:ln>
                <a:solidFill>
                  <a:srgbClr val="3D3C38"/>
                </a:solidFill>
                <a:effectLst/>
                <a:uLnTx/>
                <a:uFillTx/>
                <a:latin typeface="Georgia Pro"/>
                <a:ea typeface="+mn-ea"/>
                <a:cs typeface="+mn-cs"/>
              </a:rPr>
              <a:t>AI-enabled communication assessment</a:t>
            </a:r>
            <a:r>
              <a:rPr kumimoji="0" lang="en-US" sz="1000" b="0" i="0" u="none" strike="noStrike" kern="1200" cap="none" spc="0" normalizeH="0" baseline="0" noProof="0">
                <a:ln>
                  <a:noFill/>
                </a:ln>
                <a:solidFill>
                  <a:srgbClr val="3D3C38"/>
                </a:solidFill>
                <a:effectLst/>
                <a:uLnTx/>
                <a:uFillTx/>
                <a:latin typeface="Georgia Pro"/>
                <a:ea typeface="+mn-ea"/>
                <a:cs typeface="+mn-cs"/>
              </a:rPr>
              <a:t> and </a:t>
            </a:r>
            <a:r>
              <a:rPr kumimoji="0" lang="en-US" sz="1000" b="1" i="0" u="none" strike="noStrike" kern="1200" cap="none" spc="0" normalizeH="0" baseline="0" noProof="0">
                <a:ln>
                  <a:noFill/>
                </a:ln>
                <a:solidFill>
                  <a:srgbClr val="3D3C38"/>
                </a:solidFill>
                <a:effectLst/>
                <a:uLnTx/>
                <a:uFillTx/>
                <a:latin typeface="Georgia Pro"/>
                <a:ea typeface="+mn-ea"/>
                <a:cs typeface="+mn-cs"/>
              </a:rPr>
              <a:t>pre-screening solution</a:t>
            </a:r>
            <a:r>
              <a:rPr kumimoji="0" lang="en-US" sz="1000" b="0" i="0" u="none" strike="noStrike" kern="1200" cap="none" spc="0" normalizeH="0" baseline="0" noProof="0">
                <a:ln>
                  <a:noFill/>
                </a:ln>
                <a:solidFill>
                  <a:srgbClr val="3D3C38"/>
                </a:solidFill>
                <a:effectLst/>
                <a:uLnTx/>
                <a:uFillTx/>
                <a:latin typeface="Georgia Pro"/>
                <a:ea typeface="+mn-ea"/>
                <a:cs typeface="+mn-cs"/>
              </a:rPr>
              <a:t> designed to automate the initial evaluation of candidate communication proficiency before live assessor engagement. The proposed solution will leverage </a:t>
            </a:r>
            <a:r>
              <a:rPr kumimoji="0" lang="en-US" sz="1000" b="1" i="0" u="none" strike="noStrike" kern="1200" cap="none" spc="0" normalizeH="0" baseline="0" noProof="0">
                <a:ln>
                  <a:noFill/>
                </a:ln>
                <a:solidFill>
                  <a:srgbClr val="3D3C38"/>
                </a:solidFill>
                <a:effectLst/>
                <a:uLnTx/>
                <a:uFillTx/>
                <a:latin typeface="Georgia Pro"/>
                <a:ea typeface="+mn-ea"/>
                <a:cs typeface="+mn-cs"/>
              </a:rPr>
              <a:t>speech analytics, AI-driven scoring, and scenario-based assessments aligned to CEFR communication standards</a:t>
            </a:r>
            <a:r>
              <a:rPr kumimoji="0" lang="en-US" sz="1000" b="0" i="0" u="none" strike="noStrike" kern="1200" cap="none" spc="0" normalizeH="0" baseline="0" noProof="0">
                <a:ln>
                  <a:noFill/>
                </a:ln>
                <a:solidFill>
                  <a:srgbClr val="3D3C38"/>
                </a:solidFill>
                <a:effectLst/>
                <a:uLnTx/>
                <a:uFillTx/>
                <a:latin typeface="Georgia Pro"/>
                <a:ea typeface="+mn-ea"/>
                <a:cs typeface="+mn-cs"/>
              </a:rPr>
              <a:t> to streamline hiring readiness evaluation.  </a:t>
            </a:r>
          </a:p>
          <a:p>
            <a:pPr marL="0" marR="0" lvl="0" indent="0" algn="l" defTabSz="914400" rtl="0" eaLnBrk="1" fontAlgn="auto" latinLnBrk="0" hangingPunct="1">
              <a:lnSpc>
                <a:spcPct val="100000"/>
              </a:lnSpc>
              <a:spcBef>
                <a:spcPts val="600"/>
              </a:spcBef>
              <a:spcAft>
                <a:spcPts val="0"/>
              </a:spcAft>
              <a:buClr>
                <a:srgbClr val="3D3C38"/>
              </a:buClr>
              <a:buSzTx/>
              <a:buFontTx/>
              <a:buNone/>
              <a:tabLst/>
              <a:defRPr/>
            </a:pPr>
            <a:r>
              <a:rPr kumimoji="0" lang="en-US" sz="1000" b="0" i="0" u="none" strike="noStrike" kern="1200" cap="none" spc="0" normalizeH="0" baseline="0" noProof="0">
                <a:ln>
                  <a:noFill/>
                </a:ln>
                <a:solidFill>
                  <a:srgbClr val="3D3C38"/>
                </a:solidFill>
                <a:effectLst/>
                <a:uLnTx/>
                <a:uFillTx/>
                <a:latin typeface="Georgia Pro"/>
                <a:ea typeface="+mn-ea"/>
                <a:cs typeface="+mn-cs"/>
              </a:rPr>
              <a:t>The platform is designed to </a:t>
            </a:r>
            <a:r>
              <a:rPr kumimoji="0" lang="en-US" sz="1000" b="1" i="0" u="none" strike="noStrike" kern="1200" cap="none" spc="0" normalizeH="0" baseline="0" noProof="0">
                <a:ln>
                  <a:noFill/>
                </a:ln>
                <a:solidFill>
                  <a:srgbClr val="3D3C38"/>
                </a:solidFill>
                <a:effectLst/>
                <a:uLnTx/>
                <a:uFillTx/>
                <a:latin typeface="Georgia Pro"/>
                <a:ea typeface="+mn-ea"/>
                <a:cs typeface="+mn-cs"/>
              </a:rPr>
              <a:t>reduce dependency on live assessors </a:t>
            </a:r>
            <a:r>
              <a:rPr kumimoji="0" lang="en-US" sz="1000" b="0" i="0" u="none" strike="noStrike" kern="1200" cap="none" spc="0" normalizeH="0" baseline="0" noProof="0">
                <a:ln>
                  <a:noFill/>
                </a:ln>
                <a:solidFill>
                  <a:srgbClr val="3D3C38"/>
                </a:solidFill>
                <a:effectLst/>
                <a:uLnTx/>
                <a:uFillTx/>
                <a:latin typeface="Georgia Pro"/>
                <a:ea typeface="+mn-ea"/>
                <a:cs typeface="+mn-cs"/>
              </a:rPr>
              <a:t>for early-stage screening while improving assessment scalability, consistency and turnaround time.  </a:t>
            </a:r>
            <a:endParaRPr kumimoji="0" lang="en-US" sz="1000" b="0" i="0" u="none" strike="noStrike" kern="1200" cap="none" spc="0" normalizeH="0" baseline="0" noProof="0">
              <a:ln>
                <a:noFill/>
              </a:ln>
              <a:solidFill>
                <a:srgbClr val="3D3C38"/>
              </a:solidFill>
              <a:effectLst/>
              <a:uLnTx/>
              <a:uFillTx/>
              <a:latin typeface="Arial"/>
              <a:ea typeface="+mn-ea"/>
              <a:cs typeface="+mn-cs"/>
            </a:endParaRPr>
          </a:p>
        </p:txBody>
      </p:sp>
      <p:graphicFrame>
        <p:nvGraphicFramePr>
          <p:cNvPr id="9" name="Table 8">
            <a:extLst>
              <a:ext uri="{FF2B5EF4-FFF2-40B4-BE49-F238E27FC236}">
                <a16:creationId xmlns:a16="http://schemas.microsoft.com/office/drawing/2014/main" id="{8A7E266C-24B3-4F76-3008-9B45FCCBFDBF}"/>
              </a:ext>
            </a:extLst>
          </p:cNvPr>
          <p:cNvGraphicFramePr>
            <a:graphicFrameLocks noGrp="1"/>
          </p:cNvGraphicFramePr>
          <p:nvPr/>
        </p:nvGraphicFramePr>
        <p:xfrm>
          <a:off x="2837292" y="1149169"/>
          <a:ext cx="8818626" cy="1889760"/>
        </p:xfrm>
        <a:graphic>
          <a:graphicData uri="http://schemas.openxmlformats.org/drawingml/2006/table">
            <a:tbl>
              <a:tblPr firstRow="1" bandRow="1">
                <a:tableStyleId>{5C22544A-7EE6-4342-B048-85BDC9FD1C3A}</a:tableStyleId>
              </a:tblPr>
              <a:tblGrid>
                <a:gridCol w="2939542">
                  <a:extLst>
                    <a:ext uri="{9D8B030D-6E8A-4147-A177-3AD203B41FA5}">
                      <a16:colId xmlns:a16="http://schemas.microsoft.com/office/drawing/2014/main" val="3352494824"/>
                    </a:ext>
                  </a:extLst>
                </a:gridCol>
                <a:gridCol w="3855549">
                  <a:extLst>
                    <a:ext uri="{9D8B030D-6E8A-4147-A177-3AD203B41FA5}">
                      <a16:colId xmlns:a16="http://schemas.microsoft.com/office/drawing/2014/main" val="4213815927"/>
                    </a:ext>
                  </a:extLst>
                </a:gridCol>
                <a:gridCol w="2023535">
                  <a:extLst>
                    <a:ext uri="{9D8B030D-6E8A-4147-A177-3AD203B41FA5}">
                      <a16:colId xmlns:a16="http://schemas.microsoft.com/office/drawing/2014/main" val="3169935218"/>
                    </a:ext>
                  </a:extLst>
                </a:gridCol>
              </a:tblGrid>
              <a:tr h="160168">
                <a:tc>
                  <a:txBody>
                    <a:bodyPr/>
                    <a:lstStyle/>
                    <a:p>
                      <a:pPr algn="ctr"/>
                      <a:r>
                        <a:rPr lang="en-US" sz="1000"/>
                        <a:t>Problem Statement</a:t>
                      </a:r>
                    </a:p>
                  </a:txBody>
                  <a:tcPr/>
                </a:tc>
                <a:tc>
                  <a:txBody>
                    <a:bodyPr/>
                    <a:lstStyle/>
                    <a:p>
                      <a:pPr algn="ctr"/>
                      <a:r>
                        <a:rPr lang="en-US" sz="1000"/>
                        <a:t>Goal</a:t>
                      </a:r>
                    </a:p>
                  </a:txBody>
                  <a:tcPr/>
                </a:tc>
                <a:tc>
                  <a:txBody>
                    <a:bodyPr/>
                    <a:lstStyle/>
                    <a:p>
                      <a:pPr algn="ctr"/>
                      <a:r>
                        <a:rPr lang="en-US" sz="1000"/>
                        <a:t>Impact to Business</a:t>
                      </a:r>
                    </a:p>
                  </a:txBody>
                  <a:tcPr/>
                </a:tc>
                <a:extLst>
                  <a:ext uri="{0D108BD9-81ED-4DB2-BD59-A6C34878D82A}">
                    <a16:rowId xmlns:a16="http://schemas.microsoft.com/office/drawing/2014/main" val="2884053100"/>
                  </a:ext>
                </a:extLst>
              </a:tr>
              <a:tr h="420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B4D4F"/>
                          </a:solidFill>
                          <a:effectLst/>
                          <a:uLnTx/>
                          <a:uFillTx/>
                          <a:latin typeface="+mn-lt"/>
                          <a:ea typeface="+mn-ea"/>
                          <a:cs typeface="Arial" panose="020B0604020202020204" pitchFamily="34" charset="0"/>
                        </a:rPr>
                        <a:t>Limited assessment capacity due to manual live-call evaluations with an average assessment handling time of 15 minutes per candidate</a:t>
                      </a:r>
                    </a:p>
                  </a:txBody>
                  <a:tcPr>
                    <a:solidFill>
                      <a:schemeClr val="bg2"/>
                    </a:solidFill>
                  </a:tcPr>
                </a:tc>
                <a:tc>
                  <a:txBody>
                    <a:bodyPr/>
                    <a:lstStyle/>
                    <a:p>
                      <a:pPr marL="171450" indent="-171450">
                        <a:buFont typeface="Arial" panose="020B0604020202020204" pitchFamily="34" charset="0"/>
                        <a:buChar char="•"/>
                      </a:pPr>
                      <a:r>
                        <a:rPr lang="en-US" sz="900"/>
                        <a:t>Increase hiring efficiency and turnaround time by utilizing the pre-screening tool to filter candidates for live assessment </a:t>
                      </a:r>
                    </a:p>
                    <a:p>
                      <a:pPr marL="171450" indent="-171450">
                        <a:buFont typeface="Arial" panose="020B0604020202020204" pitchFamily="34" charset="0"/>
                        <a:buChar char="•"/>
                      </a:pPr>
                      <a:r>
                        <a:rPr lang="en-US" sz="900"/>
                        <a:t>Reduce live assessment time by 40%</a:t>
                      </a:r>
                    </a:p>
                  </a:txBody>
                  <a:tcPr>
                    <a:solidFill>
                      <a:schemeClr val="bg2"/>
                    </a:solidFill>
                  </a:tcPr>
                </a:tc>
                <a:tc>
                  <a:txBody>
                    <a:bodyPr/>
                    <a:lstStyle/>
                    <a:p>
                      <a:pPr marL="0" indent="0">
                        <a:buFont typeface="Arial" panose="020B0604020202020204" pitchFamily="34" charset="0"/>
                        <a:buNone/>
                      </a:pPr>
                      <a:r>
                        <a:rPr lang="en-US" sz="900"/>
                        <a:t>Hiring efficiency </a:t>
                      </a:r>
                    </a:p>
                  </a:txBody>
                  <a:tcPr>
                    <a:solidFill>
                      <a:schemeClr val="bg2"/>
                    </a:solidFill>
                  </a:tcPr>
                </a:tc>
                <a:extLst>
                  <a:ext uri="{0D108BD9-81ED-4DB2-BD59-A6C34878D82A}">
                    <a16:rowId xmlns:a16="http://schemas.microsoft.com/office/drawing/2014/main" val="489279405"/>
                  </a:ext>
                </a:extLst>
              </a:tr>
              <a:tr h="2402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rgbClr val="4B4D4F"/>
                          </a:solidFill>
                          <a:latin typeface="+mn-lt"/>
                          <a:cs typeface="Arial" panose="020B0604020202020204" pitchFamily="34" charset="0"/>
                        </a:rPr>
                        <a:t>Heavy dependency on assessor availability and scheduling</a:t>
                      </a:r>
                    </a:p>
                  </a:txBody>
                  <a:tcPr>
                    <a:solidFill>
                      <a:schemeClr val="bg2"/>
                    </a:solidFill>
                  </a:tcPr>
                </a:tc>
                <a:tc>
                  <a:txBody>
                    <a:bodyPr/>
                    <a:lstStyle/>
                    <a:p>
                      <a:pPr marL="171450" indent="-171450">
                        <a:buFont typeface="Arial" panose="020B0604020202020204" pitchFamily="34" charset="0"/>
                        <a:buChar char="•"/>
                      </a:pPr>
                      <a:r>
                        <a:rPr lang="en-US" sz="900"/>
                        <a:t>Improve assessor utilization through AI-assisted pre-screening </a:t>
                      </a:r>
                    </a:p>
                  </a:txBody>
                  <a:tcPr>
                    <a:solidFill>
                      <a:schemeClr val="bg2"/>
                    </a:solidFill>
                  </a:tcPr>
                </a:tc>
                <a:tc rowSpan="2">
                  <a:txBody>
                    <a:bodyPr/>
                    <a:lstStyle/>
                    <a:p>
                      <a:pPr marL="0" indent="0">
                        <a:buFont typeface="Arial" panose="020B0604020202020204" pitchFamily="34" charset="0"/>
                        <a:buNone/>
                      </a:pPr>
                      <a:r>
                        <a:rPr lang="en-US" sz="900"/>
                        <a:t>Hiring scalability</a:t>
                      </a:r>
                    </a:p>
                  </a:txBody>
                  <a:tcPr>
                    <a:solidFill>
                      <a:schemeClr val="bg2"/>
                    </a:solidFill>
                  </a:tcPr>
                </a:tc>
                <a:extLst>
                  <a:ext uri="{0D108BD9-81ED-4DB2-BD59-A6C34878D82A}">
                    <a16:rowId xmlns:a16="http://schemas.microsoft.com/office/drawing/2014/main" val="143752730"/>
                  </a:ext>
                </a:extLst>
              </a:tr>
              <a:tr h="690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4B4D4F"/>
                          </a:solidFill>
                          <a:effectLst/>
                          <a:uLnTx/>
                          <a:uFillTx/>
                          <a:latin typeface="+mn-lt"/>
                          <a:ea typeface="+mn-ea"/>
                          <a:cs typeface="Arial" panose="020B0604020202020204" pitchFamily="34" charset="0"/>
                        </a:rPr>
                        <a:t>Hiring surges create operational strain on the CAT team and inconsistent assessment pacing during peak recruitment periods</a:t>
                      </a:r>
                    </a:p>
                  </a:txBody>
                  <a:tcPr>
                    <a:solidFill>
                      <a:schemeClr val="bg2"/>
                    </a:solidFill>
                  </a:tcPr>
                </a:tc>
                <a:tc>
                  <a:txBody>
                    <a:bodyPr/>
                    <a:lstStyle/>
                    <a:p>
                      <a:pPr marL="171450" indent="-171450">
                        <a:buFont typeface="Arial" panose="020B0604020202020204" pitchFamily="34" charset="0"/>
                        <a:buChar char="•"/>
                      </a:pPr>
                      <a:r>
                        <a:rPr lang="en-US" sz="900"/>
                        <a:t>Reduce dependency on live assessor availability during high peaks and expand their coverage to support multiple business simultaneously </a:t>
                      </a:r>
                    </a:p>
                    <a:p>
                      <a:pPr marL="171450" indent="-171450">
                        <a:buFont typeface="Arial" panose="020B0604020202020204" pitchFamily="34" charset="0"/>
                        <a:buChar char="•"/>
                      </a:pPr>
                      <a:r>
                        <a:rPr lang="en-US" sz="900"/>
                        <a:t>Enable continuous and scalable assessment operations without the need to increase headcount</a:t>
                      </a:r>
                    </a:p>
                  </a:txBody>
                  <a:tcPr>
                    <a:solidFill>
                      <a:schemeClr val="bg2"/>
                    </a:solidFill>
                  </a:tcPr>
                </a:tc>
                <a:tc vMerge="1">
                  <a:txBody>
                    <a:bodyPr/>
                    <a:lstStyle/>
                    <a:p>
                      <a:endParaRPr/>
                    </a:p>
                  </a:txBody>
                  <a:tcPr/>
                </a:tc>
                <a:extLst>
                  <a:ext uri="{0D108BD9-81ED-4DB2-BD59-A6C34878D82A}">
                    <a16:rowId xmlns:a16="http://schemas.microsoft.com/office/drawing/2014/main" val="3275036889"/>
                  </a:ext>
                </a:extLst>
              </a:tr>
            </a:tbl>
          </a:graphicData>
        </a:graphic>
      </p:graphicFrame>
      <p:sp>
        <p:nvSpPr>
          <p:cNvPr id="10" name="Rectangle 9">
            <a:extLst>
              <a:ext uri="{FF2B5EF4-FFF2-40B4-BE49-F238E27FC236}">
                <a16:creationId xmlns:a16="http://schemas.microsoft.com/office/drawing/2014/main" id="{CA2B4FC2-9A62-4023-EBEF-95FCF609073B}"/>
              </a:ext>
            </a:extLst>
          </p:cNvPr>
          <p:cNvSpPr/>
          <p:nvPr/>
        </p:nvSpPr>
        <p:spPr bwMode="gray">
          <a:xfrm>
            <a:off x="2865376" y="3059059"/>
            <a:ext cx="8869680" cy="21908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a:ea typeface="+mn-ea"/>
                <a:cs typeface="+mn-cs"/>
              </a:rPr>
              <a:t>Hiring Journey (future-state)</a:t>
            </a:r>
          </a:p>
        </p:txBody>
      </p:sp>
      <p:sp>
        <p:nvSpPr>
          <p:cNvPr id="12" name="TextBox 11">
            <a:extLst>
              <a:ext uri="{FF2B5EF4-FFF2-40B4-BE49-F238E27FC236}">
                <a16:creationId xmlns:a16="http://schemas.microsoft.com/office/drawing/2014/main" id="{C4107604-56CA-3F8D-7140-562524B31C35}"/>
              </a:ext>
            </a:extLst>
          </p:cNvPr>
          <p:cNvSpPr txBox="1"/>
          <p:nvPr/>
        </p:nvSpPr>
        <p:spPr bwMode="gray">
          <a:xfrm>
            <a:off x="3746517" y="3770026"/>
            <a:ext cx="1050750" cy="769441"/>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Profile Creation</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Talent Acquisition will create profile and encode in Light House</a:t>
            </a:r>
          </a:p>
        </p:txBody>
      </p:sp>
      <p:sp>
        <p:nvSpPr>
          <p:cNvPr id="13" name="TextBox 12">
            <a:extLst>
              <a:ext uri="{FF2B5EF4-FFF2-40B4-BE49-F238E27FC236}">
                <a16:creationId xmlns:a16="http://schemas.microsoft.com/office/drawing/2014/main" id="{4E315B92-65BE-568E-1259-716C4F311CE6}"/>
              </a:ext>
            </a:extLst>
          </p:cNvPr>
          <p:cNvSpPr txBox="1"/>
          <p:nvPr/>
        </p:nvSpPr>
        <p:spPr bwMode="gray">
          <a:xfrm>
            <a:off x="5071200" y="3771971"/>
            <a:ext cx="1110008" cy="907941"/>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AI-assisted pre-screening test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Candidates complete an automated and timed communication assessment tool.</a:t>
            </a:r>
          </a:p>
        </p:txBody>
      </p:sp>
      <p:sp>
        <p:nvSpPr>
          <p:cNvPr id="14" name="TextBox 13">
            <a:extLst>
              <a:ext uri="{FF2B5EF4-FFF2-40B4-BE49-F238E27FC236}">
                <a16:creationId xmlns:a16="http://schemas.microsoft.com/office/drawing/2014/main" id="{7A9161BE-829F-A8D8-A5E5-68ED0E8F7FE9}"/>
              </a:ext>
            </a:extLst>
          </p:cNvPr>
          <p:cNvSpPr txBox="1"/>
          <p:nvPr/>
        </p:nvSpPr>
        <p:spPr bwMode="gray">
          <a:xfrm>
            <a:off x="6533345" y="3685295"/>
            <a:ext cx="997082" cy="1046440"/>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Score/Report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Candidates who cleared the automated test will be endorsed to the CAT Center for mock call </a:t>
            </a:r>
          </a:p>
        </p:txBody>
      </p:sp>
      <p:sp>
        <p:nvSpPr>
          <p:cNvPr id="15" name="TextBox 14">
            <a:extLst>
              <a:ext uri="{FF2B5EF4-FFF2-40B4-BE49-F238E27FC236}">
                <a16:creationId xmlns:a16="http://schemas.microsoft.com/office/drawing/2014/main" id="{203214F2-30A9-D65C-4D74-91D3EDFB5DD5}"/>
              </a:ext>
            </a:extLst>
          </p:cNvPr>
          <p:cNvSpPr txBox="1"/>
          <p:nvPr/>
        </p:nvSpPr>
        <p:spPr bwMode="gray">
          <a:xfrm>
            <a:off x="7900867" y="3705615"/>
            <a:ext cx="1068890" cy="630942"/>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Job Audition Live Assessment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Call simulation with CAT assessor</a:t>
            </a:r>
          </a:p>
        </p:txBody>
      </p:sp>
      <p:sp>
        <p:nvSpPr>
          <p:cNvPr id="16" name="TextBox 15">
            <a:extLst>
              <a:ext uri="{FF2B5EF4-FFF2-40B4-BE49-F238E27FC236}">
                <a16:creationId xmlns:a16="http://schemas.microsoft.com/office/drawing/2014/main" id="{B7EA1CB9-CA6A-671F-0AEA-34B0056EE1FB}"/>
              </a:ext>
            </a:extLst>
          </p:cNvPr>
          <p:cNvSpPr txBox="1"/>
          <p:nvPr/>
        </p:nvSpPr>
        <p:spPr bwMode="gray">
          <a:xfrm>
            <a:off x="9251485" y="3685295"/>
            <a:ext cx="1163276" cy="907941"/>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Score/Report</a:t>
            </a: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Candidates who cleared the job audition will be endorsed to hiring manager </a:t>
            </a:r>
          </a:p>
        </p:txBody>
      </p:sp>
      <p:sp>
        <p:nvSpPr>
          <p:cNvPr id="17" name="TextBox 16">
            <a:extLst>
              <a:ext uri="{FF2B5EF4-FFF2-40B4-BE49-F238E27FC236}">
                <a16:creationId xmlns:a16="http://schemas.microsoft.com/office/drawing/2014/main" id="{91BCA97F-EA37-A6FA-63D8-F7099024D45D}"/>
              </a:ext>
            </a:extLst>
          </p:cNvPr>
          <p:cNvSpPr txBox="1"/>
          <p:nvPr/>
        </p:nvSpPr>
        <p:spPr bwMode="gray">
          <a:xfrm>
            <a:off x="10593725" y="4085496"/>
            <a:ext cx="1101305" cy="13849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Domain Interview</a:t>
            </a:r>
          </a:p>
        </p:txBody>
      </p:sp>
      <p:sp>
        <p:nvSpPr>
          <p:cNvPr id="28" name="Rectangle 27">
            <a:extLst>
              <a:ext uri="{FF2B5EF4-FFF2-40B4-BE49-F238E27FC236}">
                <a16:creationId xmlns:a16="http://schemas.microsoft.com/office/drawing/2014/main" id="{BF25D80A-80AC-7101-F635-2260AB35A1EC}"/>
              </a:ext>
            </a:extLst>
          </p:cNvPr>
          <p:cNvSpPr/>
          <p:nvPr/>
        </p:nvSpPr>
        <p:spPr bwMode="gray">
          <a:xfrm>
            <a:off x="2865376" y="3278148"/>
            <a:ext cx="815807" cy="1408402"/>
          </a:xfrm>
          <a:prstGeom prst="rect">
            <a:avLst/>
          </a:prstGeom>
          <a:solidFill>
            <a:srgbClr val="FAF8F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nvGrpSpPr>
          <p:cNvPr id="71" name="Group 70">
            <a:extLst>
              <a:ext uri="{FF2B5EF4-FFF2-40B4-BE49-F238E27FC236}">
                <a16:creationId xmlns:a16="http://schemas.microsoft.com/office/drawing/2014/main" id="{96645085-E5EE-8107-A33F-537438D2677D}"/>
              </a:ext>
            </a:extLst>
          </p:cNvPr>
          <p:cNvGrpSpPr/>
          <p:nvPr/>
        </p:nvGrpSpPr>
        <p:grpSpPr>
          <a:xfrm>
            <a:off x="2872934" y="3670882"/>
            <a:ext cx="800691" cy="780775"/>
            <a:chOff x="2872934" y="3821735"/>
            <a:chExt cx="800691" cy="780775"/>
          </a:xfrm>
        </p:grpSpPr>
        <p:pic>
          <p:nvPicPr>
            <p:cNvPr id="29" name="Picture 28">
              <a:extLst>
                <a:ext uri="{FF2B5EF4-FFF2-40B4-BE49-F238E27FC236}">
                  <a16:creationId xmlns:a16="http://schemas.microsoft.com/office/drawing/2014/main" id="{D9A7D07A-A687-8B53-BE68-69AC86CCC035}"/>
                </a:ext>
              </a:extLst>
            </p:cNvPr>
            <p:cNvPicPr>
              <a:picLocks noChangeAspect="1"/>
            </p:cNvPicPr>
            <p:nvPr/>
          </p:nvPicPr>
          <p:blipFill rotWithShape="1">
            <a:blip r:embed="rId3">
              <a:extLst>
                <a:ext uri="{28A0092B-C50C-407E-A947-70E740481C1C}">
                  <a14:useLocalDpi xmlns:a14="http://schemas.microsoft.com/office/drawing/2010/main" val="0"/>
                </a:ext>
              </a:extLst>
            </a:blip>
            <a:srcRect l="4104" t="5869" r="4444" b="2679"/>
            <a:stretch/>
          </p:blipFill>
          <p:spPr bwMode="gray">
            <a:xfrm>
              <a:off x="3011326" y="3821735"/>
              <a:ext cx="523907" cy="542915"/>
            </a:xfrm>
            <a:prstGeom prst="ellipse">
              <a:avLst/>
            </a:prstGeom>
            <a:ln w="19050">
              <a:solidFill>
                <a:schemeClr val="bg1"/>
              </a:solidFill>
            </a:ln>
          </p:spPr>
        </p:pic>
        <p:sp>
          <p:nvSpPr>
            <p:cNvPr id="30" name="TextBox 29">
              <a:extLst>
                <a:ext uri="{FF2B5EF4-FFF2-40B4-BE49-F238E27FC236}">
                  <a16:creationId xmlns:a16="http://schemas.microsoft.com/office/drawing/2014/main" id="{0401CAD2-2501-5253-5F4D-7AA89C6DAAF6}"/>
                </a:ext>
              </a:extLst>
            </p:cNvPr>
            <p:cNvSpPr txBox="1"/>
            <p:nvPr/>
          </p:nvSpPr>
          <p:spPr bwMode="gray">
            <a:xfrm>
              <a:off x="2872934" y="4464011"/>
              <a:ext cx="800691" cy="138499"/>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Candidate</a:t>
              </a:r>
            </a:p>
          </p:txBody>
        </p:sp>
      </p:grpSp>
      <p:grpSp>
        <p:nvGrpSpPr>
          <p:cNvPr id="54" name="Group 53">
            <a:extLst>
              <a:ext uri="{FF2B5EF4-FFF2-40B4-BE49-F238E27FC236}">
                <a16:creationId xmlns:a16="http://schemas.microsoft.com/office/drawing/2014/main" id="{3C96B1A4-6E36-66DA-28B2-314B958880AC}"/>
              </a:ext>
            </a:extLst>
          </p:cNvPr>
          <p:cNvGrpSpPr/>
          <p:nvPr/>
        </p:nvGrpSpPr>
        <p:grpSpPr>
          <a:xfrm>
            <a:off x="4070636" y="3306157"/>
            <a:ext cx="402512" cy="402512"/>
            <a:chOff x="4017642" y="3523205"/>
            <a:chExt cx="402512" cy="402512"/>
          </a:xfrm>
        </p:grpSpPr>
        <p:sp>
          <p:nvSpPr>
            <p:cNvPr id="48" name="Oval 47">
              <a:extLst>
                <a:ext uri="{FF2B5EF4-FFF2-40B4-BE49-F238E27FC236}">
                  <a16:creationId xmlns:a16="http://schemas.microsoft.com/office/drawing/2014/main" id="{6EAE3A35-3CB2-9E9B-7B77-D0CC4B441892}"/>
                </a:ext>
              </a:extLst>
            </p:cNvPr>
            <p:cNvSpPr/>
            <p:nvPr/>
          </p:nvSpPr>
          <p:spPr bwMode="gray">
            <a:xfrm>
              <a:off x="4017642" y="3523205"/>
              <a:ext cx="402512" cy="402512"/>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49" name="Picture 48">
              <a:extLst>
                <a:ext uri="{FF2B5EF4-FFF2-40B4-BE49-F238E27FC236}">
                  <a16:creationId xmlns:a16="http://schemas.microsoft.com/office/drawing/2014/main" id="{DDA6D7AF-95B8-F4B1-A820-EBC28F562B0E}"/>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a:xfrm>
              <a:off x="4087111" y="3592399"/>
              <a:ext cx="263575" cy="264125"/>
            </a:xfrm>
            <a:prstGeom prst="rect">
              <a:avLst/>
            </a:prstGeom>
          </p:spPr>
        </p:pic>
      </p:grpSp>
      <p:grpSp>
        <p:nvGrpSpPr>
          <p:cNvPr id="53" name="Group 52">
            <a:extLst>
              <a:ext uri="{FF2B5EF4-FFF2-40B4-BE49-F238E27FC236}">
                <a16:creationId xmlns:a16="http://schemas.microsoft.com/office/drawing/2014/main" id="{ADF2F2F3-6A6D-65DE-DC7D-84C027872BF6}"/>
              </a:ext>
            </a:extLst>
          </p:cNvPr>
          <p:cNvGrpSpPr/>
          <p:nvPr/>
        </p:nvGrpSpPr>
        <p:grpSpPr>
          <a:xfrm>
            <a:off x="5424948" y="3306157"/>
            <a:ext cx="402512" cy="402512"/>
            <a:chOff x="5369204" y="3481507"/>
            <a:chExt cx="402512" cy="402512"/>
          </a:xfrm>
        </p:grpSpPr>
        <p:sp>
          <p:nvSpPr>
            <p:cNvPr id="50" name="Oval 49">
              <a:extLst>
                <a:ext uri="{FF2B5EF4-FFF2-40B4-BE49-F238E27FC236}">
                  <a16:creationId xmlns:a16="http://schemas.microsoft.com/office/drawing/2014/main" id="{BC426494-B7F8-843A-D46A-D0556E2C6433}"/>
                </a:ext>
              </a:extLst>
            </p:cNvPr>
            <p:cNvSpPr/>
            <p:nvPr/>
          </p:nvSpPr>
          <p:spPr bwMode="gray">
            <a:xfrm>
              <a:off x="5369204" y="3481507"/>
              <a:ext cx="402512" cy="402512"/>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52" name="Picture 51">
              <a:extLst>
                <a:ext uri="{FF2B5EF4-FFF2-40B4-BE49-F238E27FC236}">
                  <a16:creationId xmlns:a16="http://schemas.microsoft.com/office/drawing/2014/main" id="{FADC9B60-5BCD-F644-F77D-54A8D1D11FCE}"/>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434375" y="3546395"/>
              <a:ext cx="272170" cy="272736"/>
            </a:xfrm>
            <a:prstGeom prst="rect">
              <a:avLst/>
            </a:prstGeom>
          </p:spPr>
        </p:pic>
      </p:grpSp>
      <p:grpSp>
        <p:nvGrpSpPr>
          <p:cNvPr id="59" name="Group 58">
            <a:extLst>
              <a:ext uri="{FF2B5EF4-FFF2-40B4-BE49-F238E27FC236}">
                <a16:creationId xmlns:a16="http://schemas.microsoft.com/office/drawing/2014/main" id="{9BD3B156-24A2-9411-A178-0CD7BE706ADF}"/>
              </a:ext>
            </a:extLst>
          </p:cNvPr>
          <p:cNvGrpSpPr/>
          <p:nvPr/>
        </p:nvGrpSpPr>
        <p:grpSpPr>
          <a:xfrm>
            <a:off x="6832652" y="3306157"/>
            <a:ext cx="402512" cy="402512"/>
            <a:chOff x="4017642" y="3523205"/>
            <a:chExt cx="402512" cy="402512"/>
          </a:xfrm>
        </p:grpSpPr>
        <p:sp>
          <p:nvSpPr>
            <p:cNvPr id="60" name="Oval 59">
              <a:extLst>
                <a:ext uri="{FF2B5EF4-FFF2-40B4-BE49-F238E27FC236}">
                  <a16:creationId xmlns:a16="http://schemas.microsoft.com/office/drawing/2014/main" id="{43FAF9FB-7880-F81B-8697-5D2B08F53FA2}"/>
                </a:ext>
              </a:extLst>
            </p:cNvPr>
            <p:cNvSpPr/>
            <p:nvPr/>
          </p:nvSpPr>
          <p:spPr bwMode="gray">
            <a:xfrm>
              <a:off x="4017642" y="3523205"/>
              <a:ext cx="402512" cy="402512"/>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1" name="Picture 60">
              <a:extLst>
                <a:ext uri="{FF2B5EF4-FFF2-40B4-BE49-F238E27FC236}">
                  <a16:creationId xmlns:a16="http://schemas.microsoft.com/office/drawing/2014/main" id="{3860E42B-2BBD-3A3E-FE44-E60A8B5BCF3E}"/>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a:xfrm>
              <a:off x="4087111" y="3592399"/>
              <a:ext cx="263575" cy="264125"/>
            </a:xfrm>
            <a:prstGeom prst="rect">
              <a:avLst/>
            </a:prstGeom>
          </p:spPr>
        </p:pic>
      </p:grpSp>
      <p:grpSp>
        <p:nvGrpSpPr>
          <p:cNvPr id="62" name="Group 61">
            <a:extLst>
              <a:ext uri="{FF2B5EF4-FFF2-40B4-BE49-F238E27FC236}">
                <a16:creationId xmlns:a16="http://schemas.microsoft.com/office/drawing/2014/main" id="{C7312859-B89B-C2A3-978A-20475C612A16}"/>
              </a:ext>
            </a:extLst>
          </p:cNvPr>
          <p:cNvGrpSpPr/>
          <p:nvPr/>
        </p:nvGrpSpPr>
        <p:grpSpPr>
          <a:xfrm>
            <a:off x="8234056" y="3306157"/>
            <a:ext cx="402512" cy="402512"/>
            <a:chOff x="5369204" y="3481507"/>
            <a:chExt cx="402512" cy="402512"/>
          </a:xfrm>
        </p:grpSpPr>
        <p:sp>
          <p:nvSpPr>
            <p:cNvPr id="63" name="Oval 62">
              <a:extLst>
                <a:ext uri="{FF2B5EF4-FFF2-40B4-BE49-F238E27FC236}">
                  <a16:creationId xmlns:a16="http://schemas.microsoft.com/office/drawing/2014/main" id="{A4F425DF-3730-EA7C-4590-CB9876FFC34C}"/>
                </a:ext>
              </a:extLst>
            </p:cNvPr>
            <p:cNvSpPr/>
            <p:nvPr/>
          </p:nvSpPr>
          <p:spPr bwMode="gray">
            <a:xfrm>
              <a:off x="5369204" y="3481507"/>
              <a:ext cx="402512" cy="402512"/>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4" name="Picture 63">
              <a:extLst>
                <a:ext uri="{FF2B5EF4-FFF2-40B4-BE49-F238E27FC236}">
                  <a16:creationId xmlns:a16="http://schemas.microsoft.com/office/drawing/2014/main" id="{73D457EC-E713-7B0A-ED89-335564C4CE38}"/>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434375" y="3546395"/>
              <a:ext cx="272170" cy="272736"/>
            </a:xfrm>
            <a:prstGeom prst="rect">
              <a:avLst/>
            </a:prstGeom>
          </p:spPr>
        </p:pic>
      </p:grpSp>
      <p:grpSp>
        <p:nvGrpSpPr>
          <p:cNvPr id="65" name="Group 64">
            <a:extLst>
              <a:ext uri="{FF2B5EF4-FFF2-40B4-BE49-F238E27FC236}">
                <a16:creationId xmlns:a16="http://schemas.microsoft.com/office/drawing/2014/main" id="{9D5AF056-79AC-7021-EA90-740A3FFEC9C8}"/>
              </a:ext>
            </a:extLst>
          </p:cNvPr>
          <p:cNvGrpSpPr/>
          <p:nvPr/>
        </p:nvGrpSpPr>
        <p:grpSpPr>
          <a:xfrm>
            <a:off x="9631867" y="3306157"/>
            <a:ext cx="402512" cy="402512"/>
            <a:chOff x="4017642" y="3523205"/>
            <a:chExt cx="402512" cy="402512"/>
          </a:xfrm>
        </p:grpSpPr>
        <p:sp>
          <p:nvSpPr>
            <p:cNvPr id="66" name="Oval 65">
              <a:extLst>
                <a:ext uri="{FF2B5EF4-FFF2-40B4-BE49-F238E27FC236}">
                  <a16:creationId xmlns:a16="http://schemas.microsoft.com/office/drawing/2014/main" id="{DD2E9FEC-FCA8-BDF8-C0A5-C1859C3F861E}"/>
                </a:ext>
              </a:extLst>
            </p:cNvPr>
            <p:cNvSpPr/>
            <p:nvPr/>
          </p:nvSpPr>
          <p:spPr bwMode="gray">
            <a:xfrm>
              <a:off x="4017642" y="3523205"/>
              <a:ext cx="402512" cy="402512"/>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67" name="Picture 66">
              <a:extLst>
                <a:ext uri="{FF2B5EF4-FFF2-40B4-BE49-F238E27FC236}">
                  <a16:creationId xmlns:a16="http://schemas.microsoft.com/office/drawing/2014/main" id="{71F64D7C-7C1B-9840-8900-1B123EB398F6}"/>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a:xfrm>
              <a:off x="4087111" y="3592399"/>
              <a:ext cx="263575" cy="264125"/>
            </a:xfrm>
            <a:prstGeom prst="rect">
              <a:avLst/>
            </a:prstGeom>
          </p:spPr>
        </p:pic>
      </p:grpSp>
      <p:grpSp>
        <p:nvGrpSpPr>
          <p:cNvPr id="68" name="Group 67">
            <a:extLst>
              <a:ext uri="{FF2B5EF4-FFF2-40B4-BE49-F238E27FC236}">
                <a16:creationId xmlns:a16="http://schemas.microsoft.com/office/drawing/2014/main" id="{824A5F50-065A-1B08-DB94-63CC319F8646}"/>
              </a:ext>
            </a:extLst>
          </p:cNvPr>
          <p:cNvGrpSpPr/>
          <p:nvPr/>
        </p:nvGrpSpPr>
        <p:grpSpPr>
          <a:xfrm>
            <a:off x="10943121" y="3306157"/>
            <a:ext cx="402512" cy="402512"/>
            <a:chOff x="5369204" y="3481507"/>
            <a:chExt cx="402512" cy="402512"/>
          </a:xfrm>
        </p:grpSpPr>
        <p:sp>
          <p:nvSpPr>
            <p:cNvPr id="69" name="Oval 68">
              <a:extLst>
                <a:ext uri="{FF2B5EF4-FFF2-40B4-BE49-F238E27FC236}">
                  <a16:creationId xmlns:a16="http://schemas.microsoft.com/office/drawing/2014/main" id="{3B09E143-FCD3-07D0-8319-DA034BD324F1}"/>
                </a:ext>
              </a:extLst>
            </p:cNvPr>
            <p:cNvSpPr/>
            <p:nvPr/>
          </p:nvSpPr>
          <p:spPr bwMode="gray">
            <a:xfrm>
              <a:off x="5369204" y="3481507"/>
              <a:ext cx="402512" cy="402512"/>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70" name="Picture 69">
              <a:extLst>
                <a:ext uri="{FF2B5EF4-FFF2-40B4-BE49-F238E27FC236}">
                  <a16:creationId xmlns:a16="http://schemas.microsoft.com/office/drawing/2014/main" id="{CDAED5A9-E5CB-5AF0-332E-6BF95DE4D2A0}"/>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434375" y="3546395"/>
              <a:ext cx="272170" cy="272736"/>
            </a:xfrm>
            <a:prstGeom prst="rect">
              <a:avLst/>
            </a:prstGeom>
          </p:spPr>
        </p:pic>
      </p:grpSp>
      <p:grpSp>
        <p:nvGrpSpPr>
          <p:cNvPr id="94" name="Group 93">
            <a:extLst>
              <a:ext uri="{FF2B5EF4-FFF2-40B4-BE49-F238E27FC236}">
                <a16:creationId xmlns:a16="http://schemas.microsoft.com/office/drawing/2014/main" id="{D89272D2-B98D-BF87-1DAE-4EC692021984}"/>
              </a:ext>
            </a:extLst>
          </p:cNvPr>
          <p:cNvGrpSpPr/>
          <p:nvPr/>
        </p:nvGrpSpPr>
        <p:grpSpPr>
          <a:xfrm>
            <a:off x="4811572" y="3946556"/>
            <a:ext cx="202027" cy="202027"/>
            <a:chOff x="4901626" y="4112363"/>
            <a:chExt cx="202027" cy="202027"/>
          </a:xfrm>
        </p:grpSpPr>
        <p:sp>
          <p:nvSpPr>
            <p:cNvPr id="38" name="Oval 37">
              <a:extLst>
                <a:ext uri="{FF2B5EF4-FFF2-40B4-BE49-F238E27FC236}">
                  <a16:creationId xmlns:a16="http://schemas.microsoft.com/office/drawing/2014/main" id="{04C83BE6-E60F-21A8-2CEB-B8355FF34176}"/>
                </a:ext>
              </a:extLst>
            </p:cNvPr>
            <p:cNvSpPr/>
            <p:nvPr/>
          </p:nvSpPr>
          <p:spPr bwMode="gray">
            <a:xfrm>
              <a:off x="4901626" y="4112363"/>
              <a:ext cx="202027" cy="202027"/>
            </a:xfrm>
            <a:prstGeom prst="ellipse">
              <a:avLst/>
            </a:prstGeom>
            <a:solidFill>
              <a:srgbClr val="3D3C38"/>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92" name="Straight Arrow Connector 91">
              <a:extLst>
                <a:ext uri="{FF2B5EF4-FFF2-40B4-BE49-F238E27FC236}">
                  <a16:creationId xmlns:a16="http://schemas.microsoft.com/office/drawing/2014/main" id="{607D4F2F-3FE0-A211-BD37-9075484A6435}"/>
                </a:ext>
              </a:extLst>
            </p:cNvPr>
            <p:cNvCxnSpPr>
              <a:cxnSpLocks/>
            </p:cNvCxnSpPr>
            <p:nvPr/>
          </p:nvCxnSpPr>
          <p:spPr bwMode="gray">
            <a:xfrm>
              <a:off x="4939807" y="4213376"/>
              <a:ext cx="125664" cy="0"/>
            </a:xfrm>
            <a:prstGeom prst="straightConnector1">
              <a:avLst/>
            </a:prstGeom>
            <a:ln w="19050" cap="rnd">
              <a:solidFill>
                <a:schemeClr val="bg1"/>
              </a:solidFill>
              <a:round/>
              <a:headEnd w="lg" len="med"/>
              <a:tailEnd type="triangle"/>
            </a:ln>
          </p:spPr>
          <p:style>
            <a:lnRef idx="1">
              <a:schemeClr val="accent1"/>
            </a:lnRef>
            <a:fillRef idx="0">
              <a:schemeClr val="accent1"/>
            </a:fillRef>
            <a:effectRef idx="0">
              <a:schemeClr val="accent1"/>
            </a:effectRef>
            <a:fontRef idx="minor">
              <a:schemeClr val="tx1"/>
            </a:fontRef>
          </p:style>
        </p:cxnSp>
      </p:grpSp>
      <p:grpSp>
        <p:nvGrpSpPr>
          <p:cNvPr id="98" name="Group 97">
            <a:extLst>
              <a:ext uri="{FF2B5EF4-FFF2-40B4-BE49-F238E27FC236}">
                <a16:creationId xmlns:a16="http://schemas.microsoft.com/office/drawing/2014/main" id="{2274C083-FB8F-68D6-C8F4-46F89B58FA43}"/>
              </a:ext>
            </a:extLst>
          </p:cNvPr>
          <p:cNvGrpSpPr/>
          <p:nvPr/>
        </p:nvGrpSpPr>
        <p:grpSpPr>
          <a:xfrm>
            <a:off x="6318544" y="3946556"/>
            <a:ext cx="202027" cy="202027"/>
            <a:chOff x="4901626" y="4112363"/>
            <a:chExt cx="202027" cy="202027"/>
          </a:xfrm>
        </p:grpSpPr>
        <p:sp>
          <p:nvSpPr>
            <p:cNvPr id="99" name="Oval 98">
              <a:extLst>
                <a:ext uri="{FF2B5EF4-FFF2-40B4-BE49-F238E27FC236}">
                  <a16:creationId xmlns:a16="http://schemas.microsoft.com/office/drawing/2014/main" id="{A2196B4D-48AA-8F39-5F7A-7F272CD65153}"/>
                </a:ext>
              </a:extLst>
            </p:cNvPr>
            <p:cNvSpPr/>
            <p:nvPr/>
          </p:nvSpPr>
          <p:spPr bwMode="gray">
            <a:xfrm>
              <a:off x="4901626" y="4112363"/>
              <a:ext cx="202027" cy="202027"/>
            </a:xfrm>
            <a:prstGeom prst="ellipse">
              <a:avLst/>
            </a:prstGeom>
            <a:solidFill>
              <a:srgbClr val="3D3C38"/>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100" name="Straight Arrow Connector 99">
              <a:extLst>
                <a:ext uri="{FF2B5EF4-FFF2-40B4-BE49-F238E27FC236}">
                  <a16:creationId xmlns:a16="http://schemas.microsoft.com/office/drawing/2014/main" id="{92F6A8B8-448A-1948-C78C-E77A6FAD92E5}"/>
                </a:ext>
              </a:extLst>
            </p:cNvPr>
            <p:cNvCxnSpPr>
              <a:cxnSpLocks/>
            </p:cNvCxnSpPr>
            <p:nvPr/>
          </p:nvCxnSpPr>
          <p:spPr bwMode="gray">
            <a:xfrm>
              <a:off x="4939807" y="4213376"/>
              <a:ext cx="125664" cy="0"/>
            </a:xfrm>
            <a:prstGeom prst="straightConnector1">
              <a:avLst/>
            </a:prstGeom>
            <a:ln w="19050" cap="rnd">
              <a:solidFill>
                <a:schemeClr val="bg1"/>
              </a:solidFill>
              <a:round/>
              <a:headEnd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DE447CDD-7116-D066-A814-DC81726C9B6A}"/>
              </a:ext>
            </a:extLst>
          </p:cNvPr>
          <p:cNvGrpSpPr/>
          <p:nvPr/>
        </p:nvGrpSpPr>
        <p:grpSpPr>
          <a:xfrm>
            <a:off x="7664885" y="3946556"/>
            <a:ext cx="202027" cy="202027"/>
            <a:chOff x="4901626" y="4112363"/>
            <a:chExt cx="202027" cy="202027"/>
          </a:xfrm>
        </p:grpSpPr>
        <p:sp>
          <p:nvSpPr>
            <p:cNvPr id="102" name="Oval 101">
              <a:extLst>
                <a:ext uri="{FF2B5EF4-FFF2-40B4-BE49-F238E27FC236}">
                  <a16:creationId xmlns:a16="http://schemas.microsoft.com/office/drawing/2014/main" id="{AEA0A4CE-F51C-E377-ED77-9CF7B2F37C6E}"/>
                </a:ext>
              </a:extLst>
            </p:cNvPr>
            <p:cNvSpPr/>
            <p:nvPr/>
          </p:nvSpPr>
          <p:spPr bwMode="gray">
            <a:xfrm>
              <a:off x="4901626" y="4112363"/>
              <a:ext cx="202027" cy="202027"/>
            </a:xfrm>
            <a:prstGeom prst="ellipse">
              <a:avLst/>
            </a:prstGeom>
            <a:solidFill>
              <a:srgbClr val="3D3C38"/>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103" name="Straight Arrow Connector 102">
              <a:extLst>
                <a:ext uri="{FF2B5EF4-FFF2-40B4-BE49-F238E27FC236}">
                  <a16:creationId xmlns:a16="http://schemas.microsoft.com/office/drawing/2014/main" id="{ECBECA45-204A-D97D-6792-6FFA99ED29E2}"/>
                </a:ext>
              </a:extLst>
            </p:cNvPr>
            <p:cNvCxnSpPr>
              <a:cxnSpLocks/>
            </p:cNvCxnSpPr>
            <p:nvPr/>
          </p:nvCxnSpPr>
          <p:spPr bwMode="gray">
            <a:xfrm>
              <a:off x="4939807" y="4213376"/>
              <a:ext cx="125664" cy="0"/>
            </a:xfrm>
            <a:prstGeom prst="straightConnector1">
              <a:avLst/>
            </a:prstGeom>
            <a:ln w="19050" cap="rnd">
              <a:solidFill>
                <a:schemeClr val="bg1"/>
              </a:solidFill>
              <a:round/>
              <a:headEnd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60C9FE5D-A8C8-C000-6EF1-667BBBA7BB23}"/>
              </a:ext>
            </a:extLst>
          </p:cNvPr>
          <p:cNvGrpSpPr/>
          <p:nvPr/>
        </p:nvGrpSpPr>
        <p:grpSpPr>
          <a:xfrm>
            <a:off x="9017082" y="3946556"/>
            <a:ext cx="202027" cy="202027"/>
            <a:chOff x="4901626" y="4112363"/>
            <a:chExt cx="202027" cy="202027"/>
          </a:xfrm>
        </p:grpSpPr>
        <p:sp>
          <p:nvSpPr>
            <p:cNvPr id="105" name="Oval 104">
              <a:extLst>
                <a:ext uri="{FF2B5EF4-FFF2-40B4-BE49-F238E27FC236}">
                  <a16:creationId xmlns:a16="http://schemas.microsoft.com/office/drawing/2014/main" id="{50FF3B18-F2C8-E1C6-FAAB-E89370ABD723}"/>
                </a:ext>
              </a:extLst>
            </p:cNvPr>
            <p:cNvSpPr/>
            <p:nvPr/>
          </p:nvSpPr>
          <p:spPr bwMode="gray">
            <a:xfrm>
              <a:off x="4901626" y="4112363"/>
              <a:ext cx="202027" cy="202027"/>
            </a:xfrm>
            <a:prstGeom prst="ellipse">
              <a:avLst/>
            </a:prstGeom>
            <a:solidFill>
              <a:srgbClr val="3D3C38"/>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106" name="Straight Arrow Connector 105">
              <a:extLst>
                <a:ext uri="{FF2B5EF4-FFF2-40B4-BE49-F238E27FC236}">
                  <a16:creationId xmlns:a16="http://schemas.microsoft.com/office/drawing/2014/main" id="{71B92BF3-F0B2-B025-01E3-0CB103BEE5E9}"/>
                </a:ext>
              </a:extLst>
            </p:cNvPr>
            <p:cNvCxnSpPr>
              <a:cxnSpLocks/>
            </p:cNvCxnSpPr>
            <p:nvPr/>
          </p:nvCxnSpPr>
          <p:spPr bwMode="gray">
            <a:xfrm>
              <a:off x="4939807" y="4213376"/>
              <a:ext cx="125664" cy="0"/>
            </a:xfrm>
            <a:prstGeom prst="straightConnector1">
              <a:avLst/>
            </a:prstGeom>
            <a:ln w="19050" cap="rnd">
              <a:solidFill>
                <a:schemeClr val="bg1"/>
              </a:solidFill>
              <a:round/>
              <a:headEnd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21421106-BA81-3296-DB7A-33B9128D261D}"/>
              </a:ext>
            </a:extLst>
          </p:cNvPr>
          <p:cNvGrpSpPr/>
          <p:nvPr/>
        </p:nvGrpSpPr>
        <p:grpSpPr>
          <a:xfrm>
            <a:off x="10416344" y="3946556"/>
            <a:ext cx="202027" cy="202027"/>
            <a:chOff x="4901626" y="4112363"/>
            <a:chExt cx="202027" cy="202027"/>
          </a:xfrm>
        </p:grpSpPr>
        <p:sp>
          <p:nvSpPr>
            <p:cNvPr id="108" name="Oval 107">
              <a:extLst>
                <a:ext uri="{FF2B5EF4-FFF2-40B4-BE49-F238E27FC236}">
                  <a16:creationId xmlns:a16="http://schemas.microsoft.com/office/drawing/2014/main" id="{F730AA0D-44AF-D38E-A355-AB16E4E450FA}"/>
                </a:ext>
              </a:extLst>
            </p:cNvPr>
            <p:cNvSpPr/>
            <p:nvPr/>
          </p:nvSpPr>
          <p:spPr bwMode="gray">
            <a:xfrm>
              <a:off x="4901626" y="4112363"/>
              <a:ext cx="202027" cy="202027"/>
            </a:xfrm>
            <a:prstGeom prst="ellipse">
              <a:avLst/>
            </a:prstGeom>
            <a:solidFill>
              <a:srgbClr val="3D3C38"/>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cxnSp>
          <p:nvCxnSpPr>
            <p:cNvPr id="109" name="Straight Arrow Connector 108">
              <a:extLst>
                <a:ext uri="{FF2B5EF4-FFF2-40B4-BE49-F238E27FC236}">
                  <a16:creationId xmlns:a16="http://schemas.microsoft.com/office/drawing/2014/main" id="{EFF48240-8D86-7526-3EE9-A3C93869AE92}"/>
                </a:ext>
              </a:extLst>
            </p:cNvPr>
            <p:cNvCxnSpPr>
              <a:cxnSpLocks/>
            </p:cNvCxnSpPr>
            <p:nvPr/>
          </p:nvCxnSpPr>
          <p:spPr bwMode="gray">
            <a:xfrm>
              <a:off x="4939807" y="4213376"/>
              <a:ext cx="125664" cy="0"/>
            </a:xfrm>
            <a:prstGeom prst="straightConnector1">
              <a:avLst/>
            </a:prstGeom>
            <a:ln w="19050" cap="rnd">
              <a:solidFill>
                <a:schemeClr val="bg1"/>
              </a:solidFill>
              <a:round/>
              <a:headEnd w="lg" len="med"/>
              <a:tailEnd type="triangle"/>
            </a:ln>
          </p:spPr>
          <p:style>
            <a:lnRef idx="1">
              <a:schemeClr val="accent1"/>
            </a:lnRef>
            <a:fillRef idx="0">
              <a:schemeClr val="accent1"/>
            </a:fillRef>
            <a:effectRef idx="0">
              <a:schemeClr val="accent1"/>
            </a:effectRef>
            <a:fontRef idx="minor">
              <a:schemeClr val="tx1"/>
            </a:fontRef>
          </p:style>
        </p:cxnSp>
      </p:grpSp>
      <p:grpSp>
        <p:nvGrpSpPr>
          <p:cNvPr id="168" name="Group 167">
            <a:extLst>
              <a:ext uri="{FF2B5EF4-FFF2-40B4-BE49-F238E27FC236}">
                <a16:creationId xmlns:a16="http://schemas.microsoft.com/office/drawing/2014/main" id="{6D6046CE-058E-35F5-5A94-E213A7B55E7A}"/>
              </a:ext>
            </a:extLst>
          </p:cNvPr>
          <p:cNvGrpSpPr/>
          <p:nvPr/>
        </p:nvGrpSpPr>
        <p:grpSpPr>
          <a:xfrm>
            <a:off x="2775859" y="4708977"/>
            <a:ext cx="9238128" cy="113153"/>
            <a:chOff x="2775859" y="4749617"/>
            <a:chExt cx="9238128" cy="113153"/>
          </a:xfrm>
        </p:grpSpPr>
        <p:cxnSp>
          <p:nvCxnSpPr>
            <p:cNvPr id="163" name="Straight Arrow Connector 162" descr="Dotted line.">
              <a:extLst>
                <a:ext uri="{FF2B5EF4-FFF2-40B4-BE49-F238E27FC236}">
                  <a16:creationId xmlns:a16="http://schemas.microsoft.com/office/drawing/2014/main" id="{28806F30-ACD0-EE76-6636-89A72EFCAFC3}"/>
                </a:ext>
              </a:extLst>
            </p:cNvPr>
            <p:cNvCxnSpPr>
              <a:cxnSpLocks/>
            </p:cNvCxnSpPr>
            <p:nvPr/>
          </p:nvCxnSpPr>
          <p:spPr bwMode="gray">
            <a:xfrm>
              <a:off x="2872934" y="4806193"/>
              <a:ext cx="9048203" cy="0"/>
            </a:xfrm>
            <a:prstGeom prst="straightConnector1">
              <a:avLst/>
            </a:prstGeom>
            <a:ln w="12700" cap="rnd">
              <a:solidFill>
                <a:schemeClr val="tx2"/>
              </a:solidFill>
              <a:prstDash val="solid"/>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166" name="Oval 165">
              <a:extLst>
                <a:ext uri="{FF2B5EF4-FFF2-40B4-BE49-F238E27FC236}">
                  <a16:creationId xmlns:a16="http://schemas.microsoft.com/office/drawing/2014/main" id="{2F9DFA75-30AD-5BA0-6CBE-A48AD5CEEF1C}"/>
                </a:ext>
              </a:extLst>
            </p:cNvPr>
            <p:cNvSpPr/>
            <p:nvPr/>
          </p:nvSpPr>
          <p:spPr bwMode="gray">
            <a:xfrm>
              <a:off x="2775859" y="4749617"/>
              <a:ext cx="113153" cy="11315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67" name="Oval 166">
              <a:extLst>
                <a:ext uri="{FF2B5EF4-FFF2-40B4-BE49-F238E27FC236}">
                  <a16:creationId xmlns:a16="http://schemas.microsoft.com/office/drawing/2014/main" id="{944A95F5-FE69-6E4A-12B2-8B6C9D88422C}"/>
                </a:ext>
              </a:extLst>
            </p:cNvPr>
            <p:cNvSpPr/>
            <p:nvPr/>
          </p:nvSpPr>
          <p:spPr bwMode="gray">
            <a:xfrm>
              <a:off x="11900834" y="4749617"/>
              <a:ext cx="113153" cy="113153"/>
            </a:xfrm>
            <a:prstGeom prst="ellipse">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grpSp>
      <p:pic>
        <p:nvPicPr>
          <p:cNvPr id="173" name="Picture 172">
            <a:extLst>
              <a:ext uri="{FF2B5EF4-FFF2-40B4-BE49-F238E27FC236}">
                <a16:creationId xmlns:a16="http://schemas.microsoft.com/office/drawing/2014/main" id="{98C91C48-BA94-28B1-1358-A842906BAEB6}"/>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709010" y="1344957"/>
            <a:ext cx="864870" cy="866674"/>
          </a:xfrm>
          <a:prstGeom prst="rect">
            <a:avLst/>
          </a:prstGeom>
        </p:spPr>
      </p:pic>
      <p:sp>
        <p:nvSpPr>
          <p:cNvPr id="177" name="TextBox 176">
            <a:extLst>
              <a:ext uri="{FF2B5EF4-FFF2-40B4-BE49-F238E27FC236}">
                <a16:creationId xmlns:a16="http://schemas.microsoft.com/office/drawing/2014/main" id="{6E0B7641-E1CB-855D-E903-FF5840AC33A3}"/>
              </a:ext>
            </a:extLst>
          </p:cNvPr>
          <p:cNvSpPr txBox="1"/>
          <p:nvPr/>
        </p:nvSpPr>
        <p:spPr bwMode="gray">
          <a:xfrm>
            <a:off x="8174169" y="4772947"/>
            <a:ext cx="496931" cy="153888"/>
          </a:xfrm>
          <a:prstGeom prst="rect">
            <a:avLst/>
          </a:prstGeom>
          <a:noFill/>
        </p:spPr>
        <p:txBody>
          <a:bodyPr vert="horz" wrap="non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1" u="none" strike="noStrike" kern="1200" cap="none" spc="0" normalizeH="0" baseline="0" noProof="0">
                <a:ln>
                  <a:noFill/>
                </a:ln>
                <a:solidFill>
                  <a:schemeClr val="tx2"/>
                </a:solidFill>
                <a:effectLst/>
                <a:uLnTx/>
                <a:uFillTx/>
                <a:latin typeface="Arial"/>
                <a:ea typeface="+mn-ea"/>
                <a:cs typeface="+mn-cs"/>
              </a:rPr>
              <a:t>Existing</a:t>
            </a:r>
            <a:endParaRPr kumimoji="0" lang="en-US" sz="1600" b="1" i="1" u="none" strike="noStrike" kern="1200" cap="none" spc="0" normalizeH="0" baseline="0" noProof="0">
              <a:ln>
                <a:noFill/>
              </a:ln>
              <a:solidFill>
                <a:schemeClr val="tx2"/>
              </a:solidFill>
              <a:effectLst/>
              <a:uLnTx/>
              <a:uFillTx/>
              <a:latin typeface="Arial"/>
              <a:ea typeface="+mn-ea"/>
              <a:cs typeface="+mn-cs"/>
            </a:endParaRPr>
          </a:p>
        </p:txBody>
      </p:sp>
      <p:sp>
        <p:nvSpPr>
          <p:cNvPr id="179" name="TextBox 178">
            <a:extLst>
              <a:ext uri="{FF2B5EF4-FFF2-40B4-BE49-F238E27FC236}">
                <a16:creationId xmlns:a16="http://schemas.microsoft.com/office/drawing/2014/main" id="{1C0BB4A1-DF3A-0335-DAC3-4EB1D8F5C89E}"/>
              </a:ext>
            </a:extLst>
          </p:cNvPr>
          <p:cNvSpPr txBox="1"/>
          <p:nvPr/>
        </p:nvSpPr>
        <p:spPr bwMode="gray">
          <a:xfrm>
            <a:off x="5490119" y="4784184"/>
            <a:ext cx="271333" cy="153888"/>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1" u="none" strike="noStrike" kern="1200" cap="none" spc="0" normalizeH="0" baseline="0" noProof="0">
                <a:ln>
                  <a:noFill/>
                </a:ln>
                <a:solidFill>
                  <a:schemeClr val="tx2"/>
                </a:solidFill>
                <a:effectLst/>
                <a:uLnTx/>
                <a:uFillTx/>
                <a:latin typeface="Arial"/>
                <a:ea typeface="+mn-ea"/>
                <a:cs typeface="+mn-cs"/>
              </a:rPr>
              <a:t>New</a:t>
            </a:r>
            <a:endParaRPr kumimoji="0" lang="en-US" sz="1400" b="1" i="1" u="none" strike="noStrike" kern="1200" cap="none" spc="0" normalizeH="0" baseline="0" noProof="0">
              <a:ln>
                <a:noFill/>
              </a:ln>
              <a:solidFill>
                <a:schemeClr val="tx2"/>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A268734D-7718-7F7C-0E15-86B665BBBEDB}"/>
              </a:ext>
            </a:extLst>
          </p:cNvPr>
          <p:cNvGrpSpPr/>
          <p:nvPr/>
        </p:nvGrpSpPr>
        <p:grpSpPr>
          <a:xfrm>
            <a:off x="2872934" y="4956427"/>
            <a:ext cx="7486667" cy="1724408"/>
            <a:chOff x="2850306" y="4955786"/>
            <a:chExt cx="7486667" cy="1724408"/>
          </a:xfrm>
        </p:grpSpPr>
        <p:sp>
          <p:nvSpPr>
            <p:cNvPr id="175" name="Rectangle 174">
              <a:extLst>
                <a:ext uri="{FF2B5EF4-FFF2-40B4-BE49-F238E27FC236}">
                  <a16:creationId xmlns:a16="http://schemas.microsoft.com/office/drawing/2014/main" id="{6B00EEC6-21BB-F693-1B9C-B076AF0F32E0}"/>
                </a:ext>
              </a:extLst>
            </p:cNvPr>
            <p:cNvSpPr/>
            <p:nvPr/>
          </p:nvSpPr>
          <p:spPr bwMode="gray">
            <a:xfrm>
              <a:off x="2850306" y="4955786"/>
              <a:ext cx="7341899" cy="1724408"/>
            </a:xfrm>
            <a:prstGeom prst="rect">
              <a:avLst/>
            </a:prstGeom>
            <a:solidFill>
              <a:schemeClr val="bg1"/>
            </a:solidFill>
            <a:ln cap="rnd">
              <a:solidFill>
                <a:schemeClr val="bg1">
                  <a:lumMod val="8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80" name="TextBox 179">
              <a:extLst>
                <a:ext uri="{FF2B5EF4-FFF2-40B4-BE49-F238E27FC236}">
                  <a16:creationId xmlns:a16="http://schemas.microsoft.com/office/drawing/2014/main" id="{C7AC335E-A228-5F8D-DB46-681D78323CEC}"/>
                </a:ext>
              </a:extLst>
            </p:cNvPr>
            <p:cNvSpPr txBox="1"/>
            <p:nvPr/>
          </p:nvSpPr>
          <p:spPr bwMode="gray">
            <a:xfrm>
              <a:off x="3679068" y="5880382"/>
              <a:ext cx="839727" cy="27699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Competencies to be assessed</a:t>
              </a:r>
            </a:p>
          </p:txBody>
        </p:sp>
        <p:sp>
          <p:nvSpPr>
            <p:cNvPr id="181" name="Rectangle: Rounded Corners 180">
              <a:extLst>
                <a:ext uri="{FF2B5EF4-FFF2-40B4-BE49-F238E27FC236}">
                  <a16:creationId xmlns:a16="http://schemas.microsoft.com/office/drawing/2014/main" id="{675CFE66-9B23-C9C7-095A-528BD7A27A53}"/>
                </a:ext>
              </a:extLst>
            </p:cNvPr>
            <p:cNvSpPr/>
            <p:nvPr/>
          </p:nvSpPr>
          <p:spPr bwMode="gray">
            <a:xfrm>
              <a:off x="4836596" y="5766294"/>
              <a:ext cx="2184988" cy="541866"/>
            </a:xfrm>
            <a:prstGeom prst="roundRect">
              <a:avLst/>
            </a:prstGeom>
            <a:no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Pronunciation and fluency checks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Listening and response exercises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Reading comprehension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Situational response recordings </a:t>
              </a:r>
            </a:p>
          </p:txBody>
        </p:sp>
        <p:sp>
          <p:nvSpPr>
            <p:cNvPr id="182" name="Rectangle: Rounded Corners 181">
              <a:extLst>
                <a:ext uri="{FF2B5EF4-FFF2-40B4-BE49-F238E27FC236}">
                  <a16:creationId xmlns:a16="http://schemas.microsoft.com/office/drawing/2014/main" id="{83219BA6-C2C1-C017-034F-DB0E00A38F38}"/>
                </a:ext>
              </a:extLst>
            </p:cNvPr>
            <p:cNvSpPr/>
            <p:nvPr/>
          </p:nvSpPr>
          <p:spPr bwMode="gray">
            <a:xfrm>
              <a:off x="7676046" y="5766294"/>
              <a:ext cx="2660927" cy="541866"/>
            </a:xfrm>
            <a:prstGeom prst="roundRect">
              <a:avLst/>
            </a:prstGeom>
            <a:no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Problem solving and critical </a:t>
              </a:r>
              <a:r>
                <a:rPr lang="en-US" sz="900">
                  <a:solidFill>
                    <a:srgbClr val="3D3C38"/>
                  </a:solidFill>
                  <a:latin typeface="Arial"/>
                </a:rPr>
                <a:t>t</a:t>
              </a:r>
              <a:r>
                <a:rPr kumimoji="0" lang="en-US" sz="900" b="0" i="0" u="none" strike="noStrike" kern="1200" cap="none" spc="0" normalizeH="0" baseline="0" noProof="0" err="1">
                  <a:ln>
                    <a:noFill/>
                  </a:ln>
                  <a:solidFill>
                    <a:srgbClr val="3D3C38"/>
                  </a:solidFill>
                  <a:effectLst/>
                  <a:uLnTx/>
                  <a:uFillTx/>
                  <a:latin typeface="Arial"/>
                  <a:ea typeface="+mn-ea"/>
                  <a:cs typeface="+mn-cs"/>
                </a:rPr>
                <a:t>hinking</a:t>
              </a:r>
              <a:endParaRPr kumimoji="0" lang="en-US" sz="900" b="0" i="0" u="none" strike="noStrike" kern="1200" cap="none" spc="0" normalizeH="0" baseline="0" noProof="0">
                <a:ln>
                  <a:noFill/>
                </a:ln>
                <a:solidFill>
                  <a:srgbClr val="3D3C38"/>
                </a:solidFill>
                <a:effectLst/>
                <a:uLnTx/>
                <a:uFillTx/>
                <a:latin typeface="Arial"/>
                <a:ea typeface="+mn-ea"/>
                <a:cs typeface="+mn-cs"/>
              </a:endParaRP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Empathy and rapport </a:t>
              </a:r>
              <a:r>
                <a:rPr lang="en-US" sz="900">
                  <a:solidFill>
                    <a:srgbClr val="3D3C38"/>
                  </a:solidFill>
                  <a:latin typeface="Arial"/>
                </a:rPr>
                <a:t>b</a:t>
              </a:r>
              <a:r>
                <a:rPr kumimoji="0" lang="en-US" sz="900" b="0" i="0" u="none" strike="noStrike" kern="1200" cap="none" spc="0" normalizeH="0" baseline="0" noProof="0" err="1">
                  <a:ln>
                    <a:noFill/>
                  </a:ln>
                  <a:solidFill>
                    <a:srgbClr val="3D3C38"/>
                  </a:solidFill>
                  <a:effectLst/>
                  <a:uLnTx/>
                  <a:uFillTx/>
                  <a:latin typeface="Arial"/>
                  <a:ea typeface="+mn-ea"/>
                  <a:cs typeface="+mn-cs"/>
                </a:rPr>
                <a:t>uilding</a:t>
              </a:r>
              <a:endParaRPr kumimoji="0" lang="en-US" sz="900" b="0" i="0" u="none" strike="noStrike" kern="1200" cap="none" spc="0" normalizeH="0" baseline="0" noProof="0">
                <a:ln>
                  <a:noFill/>
                </a:ln>
                <a:solidFill>
                  <a:srgbClr val="3D3C38"/>
                </a:solidFill>
                <a:effectLst/>
                <a:uLnTx/>
                <a:uFillTx/>
                <a:latin typeface="Arial"/>
                <a:ea typeface="+mn-ea"/>
                <a:cs typeface="+mn-cs"/>
              </a:endParaRP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900">
                  <a:solidFill>
                    <a:srgbClr val="3D3C38"/>
                  </a:solidFill>
                  <a:latin typeface="Arial"/>
                </a:rPr>
                <a:t>Positive scripting/breaking bad news</a:t>
              </a:r>
            </a:p>
            <a:p>
              <a:pPr marL="171450" marR="0" lvl="0" indent="-171450" algn="l" defTabSz="914400" rtl="0" eaLnBrk="1" fontAlgn="auto" latinLnBrk="0" hangingPunct="1">
                <a:lnSpc>
                  <a:spcPct val="100000"/>
                </a:lnSpc>
                <a:spcAft>
                  <a:spcPts val="0"/>
                </a:spcAft>
                <a:buClrTx/>
                <a:buSzTx/>
                <a:buFont typeface="Arial" panose="020B0604020202020204" pitchFamily="34" charset="0"/>
                <a:buChar char="•"/>
                <a:tabLst/>
                <a:defRPr/>
              </a:pPr>
              <a:r>
                <a:rPr lang="en-US" sz="900">
                  <a:solidFill>
                    <a:srgbClr val="3D3C38"/>
                  </a:solidFill>
                  <a:latin typeface="Arial"/>
                </a:rPr>
                <a:t>Handling difficult customers</a:t>
              </a:r>
            </a:p>
          </p:txBody>
        </p:sp>
        <p:sp>
          <p:nvSpPr>
            <p:cNvPr id="183" name="Rectangle 182">
              <a:extLst>
                <a:ext uri="{FF2B5EF4-FFF2-40B4-BE49-F238E27FC236}">
                  <a16:creationId xmlns:a16="http://schemas.microsoft.com/office/drawing/2014/main" id="{4E4A1698-CD51-B6CE-9743-65BB4ED4FD9F}"/>
                </a:ext>
              </a:extLst>
            </p:cNvPr>
            <p:cNvSpPr/>
            <p:nvPr/>
          </p:nvSpPr>
          <p:spPr bwMode="gray">
            <a:xfrm>
              <a:off x="2877510" y="4967489"/>
              <a:ext cx="7318150" cy="748969"/>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84" name="Rectangle: Rounded Corners 183">
              <a:extLst>
                <a:ext uri="{FF2B5EF4-FFF2-40B4-BE49-F238E27FC236}">
                  <a16:creationId xmlns:a16="http://schemas.microsoft.com/office/drawing/2014/main" id="{B9FB9408-0966-FA4C-2558-EDE68CA74DF7}"/>
                </a:ext>
              </a:extLst>
            </p:cNvPr>
            <p:cNvSpPr/>
            <p:nvPr/>
          </p:nvSpPr>
          <p:spPr bwMode="gray">
            <a:xfrm>
              <a:off x="4890566" y="5044320"/>
              <a:ext cx="1710618" cy="541866"/>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l" defTabSz="914400" rtl="0" eaLnBrk="1" fontAlgn="auto" latinLnBrk="0" hangingPunct="1">
                <a:lnSpc>
                  <a:spcPct val="100000"/>
                </a:lnSpc>
                <a:spcBef>
                  <a:spcPts val="600"/>
                </a:spcBef>
                <a:spcAft>
                  <a:spcPts val="0"/>
                </a:spcAft>
                <a:buClrTx/>
                <a:buSzTx/>
                <a:tabLst/>
                <a:defRPr/>
              </a:pPr>
              <a:r>
                <a:rPr lang="en-US" sz="900">
                  <a:solidFill>
                    <a:srgbClr val="3D3C38"/>
                  </a:solidFill>
                  <a:latin typeface="Arial"/>
                </a:rPr>
                <a:t>I</a:t>
              </a:r>
              <a:r>
                <a:rPr kumimoji="0" lang="en-US" sz="900" b="0" i="0" u="none" strike="noStrike" kern="1200" cap="none" spc="0" normalizeH="0" baseline="0" noProof="0" err="1">
                  <a:ln>
                    <a:noFill/>
                  </a:ln>
                  <a:solidFill>
                    <a:srgbClr val="3D3C38"/>
                  </a:solidFill>
                  <a:effectLst/>
                  <a:uLnTx/>
                  <a:uFillTx/>
                  <a:latin typeface="Arial"/>
                  <a:ea typeface="+mn-ea"/>
                  <a:cs typeface="+mn-cs"/>
                </a:rPr>
                <a:t>nitial</a:t>
              </a:r>
              <a:r>
                <a:rPr kumimoji="0" lang="en-US" sz="900" b="0" i="0" u="none" strike="noStrike" kern="1200" cap="none" spc="0" normalizeH="0" baseline="0" noProof="0">
                  <a:ln>
                    <a:noFill/>
                  </a:ln>
                  <a:solidFill>
                    <a:srgbClr val="3D3C38"/>
                  </a:solidFill>
                  <a:effectLst/>
                  <a:uLnTx/>
                  <a:uFillTx/>
                  <a:latin typeface="Arial"/>
                  <a:ea typeface="+mn-ea"/>
                  <a:cs typeface="+mn-cs"/>
                </a:rPr>
                <a:t> screening layer that validates basic English communicative skills before candidates proceed to live mock call assessments </a:t>
              </a:r>
            </a:p>
          </p:txBody>
        </p:sp>
        <p:sp>
          <p:nvSpPr>
            <p:cNvPr id="185" name="TextBox 184">
              <a:extLst>
                <a:ext uri="{FF2B5EF4-FFF2-40B4-BE49-F238E27FC236}">
                  <a16:creationId xmlns:a16="http://schemas.microsoft.com/office/drawing/2014/main" id="{47283B59-F72B-8933-1AAF-A7E2CCE88D06}"/>
                </a:ext>
              </a:extLst>
            </p:cNvPr>
            <p:cNvSpPr txBox="1"/>
            <p:nvPr/>
          </p:nvSpPr>
          <p:spPr bwMode="gray">
            <a:xfrm>
              <a:off x="3679068" y="5246004"/>
              <a:ext cx="839727" cy="13849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Process Flow</a:t>
              </a:r>
            </a:p>
          </p:txBody>
        </p:sp>
        <p:sp>
          <p:nvSpPr>
            <p:cNvPr id="186" name="Rectangle: Rounded Corners 185">
              <a:extLst>
                <a:ext uri="{FF2B5EF4-FFF2-40B4-BE49-F238E27FC236}">
                  <a16:creationId xmlns:a16="http://schemas.microsoft.com/office/drawing/2014/main" id="{89047EDE-25F8-5A8C-D947-1C82B512773A}"/>
                </a:ext>
              </a:extLst>
            </p:cNvPr>
            <p:cNvSpPr/>
            <p:nvPr/>
          </p:nvSpPr>
          <p:spPr bwMode="gray">
            <a:xfrm>
              <a:off x="7773796" y="5044320"/>
              <a:ext cx="1320398" cy="541866"/>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Aft>
                  <a:spcPts val="0"/>
                </a:spcAft>
                <a:buClrTx/>
                <a:buSzTx/>
                <a:buFontTx/>
                <a:buNone/>
                <a:tabLst/>
                <a:defRPr/>
              </a:pPr>
              <a:r>
                <a:rPr lang="en-US" sz="900">
                  <a:solidFill>
                    <a:srgbClr val="3D3C38"/>
                  </a:solidFill>
                  <a:latin typeface="Arial"/>
                </a:rPr>
                <a:t>Customizable business-specific live mock call assessment </a:t>
              </a:r>
            </a:p>
            <a:p>
              <a:pPr marL="0" marR="0" lvl="0" indent="0" algn="l" defTabSz="914400" rtl="0" eaLnBrk="1" fontAlgn="auto" latinLnBrk="0" hangingPunct="1">
                <a:lnSpc>
                  <a:spcPct val="100000"/>
                </a:lnSpc>
                <a:spcAft>
                  <a:spcPts val="0"/>
                </a:spcAft>
                <a:buClrTx/>
                <a:buSzTx/>
                <a:buFontTx/>
                <a:buNone/>
                <a:tabLst/>
                <a:defRPr/>
              </a:pPr>
              <a:endParaRPr lang="en-US" sz="900">
                <a:solidFill>
                  <a:srgbClr val="3D3C38"/>
                </a:solidFill>
                <a:latin typeface="Arial"/>
              </a:endParaRPr>
            </a:p>
          </p:txBody>
        </p:sp>
        <p:sp>
          <p:nvSpPr>
            <p:cNvPr id="187" name="Rectangle 186">
              <a:extLst>
                <a:ext uri="{FF2B5EF4-FFF2-40B4-BE49-F238E27FC236}">
                  <a16:creationId xmlns:a16="http://schemas.microsoft.com/office/drawing/2014/main" id="{D6187166-EC25-61A2-35AA-C122A5A32F58}"/>
                </a:ext>
              </a:extLst>
            </p:cNvPr>
            <p:cNvSpPr/>
            <p:nvPr/>
          </p:nvSpPr>
          <p:spPr bwMode="gray">
            <a:xfrm>
              <a:off x="2880965" y="6325815"/>
              <a:ext cx="7311240" cy="334923"/>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88" name="TextBox 187">
              <a:extLst>
                <a:ext uri="{FF2B5EF4-FFF2-40B4-BE49-F238E27FC236}">
                  <a16:creationId xmlns:a16="http://schemas.microsoft.com/office/drawing/2014/main" id="{BC217996-595B-6586-5D52-2951A5E29E7A}"/>
                </a:ext>
              </a:extLst>
            </p:cNvPr>
            <p:cNvSpPr txBox="1"/>
            <p:nvPr/>
          </p:nvSpPr>
          <p:spPr bwMode="gray">
            <a:xfrm>
              <a:off x="3679068" y="6350266"/>
              <a:ext cx="839727" cy="276999"/>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900" b="1" i="0" u="none" strike="noStrike" kern="1200" cap="none" spc="0" normalizeH="0" baseline="0" noProof="0">
                  <a:ln>
                    <a:noFill/>
                  </a:ln>
                  <a:solidFill>
                    <a:srgbClr val="3D3C38"/>
                  </a:solidFill>
                  <a:effectLst/>
                  <a:uLnTx/>
                  <a:uFillTx/>
                  <a:latin typeface="Arial"/>
                  <a:ea typeface="+mn-ea"/>
                  <a:cs typeface="+mn-cs"/>
                </a:rPr>
                <a:t>Assessment duration</a:t>
              </a:r>
            </a:p>
          </p:txBody>
        </p:sp>
        <p:sp>
          <p:nvSpPr>
            <p:cNvPr id="189" name="Rectangle: Rounded Corners 188">
              <a:extLst>
                <a:ext uri="{FF2B5EF4-FFF2-40B4-BE49-F238E27FC236}">
                  <a16:creationId xmlns:a16="http://schemas.microsoft.com/office/drawing/2014/main" id="{D109D260-3902-6621-7D3B-D937AE097B1D}"/>
                </a:ext>
              </a:extLst>
            </p:cNvPr>
            <p:cNvSpPr/>
            <p:nvPr/>
          </p:nvSpPr>
          <p:spPr bwMode="gray">
            <a:xfrm>
              <a:off x="5071218" y="6338247"/>
              <a:ext cx="931304" cy="301036"/>
            </a:xfrm>
            <a:prstGeom prst="roundRect">
              <a:avLst/>
            </a:prstGeom>
            <a:no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algn="l" defTabSz="914400" rtl="0" eaLnBrk="1" fontAlgn="auto" latinLnBrk="0" hangingPunct="1">
                <a:lnSpc>
                  <a:spcPct val="100000"/>
                </a:lnSpc>
                <a:spcBef>
                  <a:spcPts val="600"/>
                </a:spcBef>
                <a:spcAft>
                  <a:spcPts val="0"/>
                </a:spcAft>
                <a:buClrTx/>
                <a:buSzTx/>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10 minutes</a:t>
              </a:r>
            </a:p>
          </p:txBody>
        </p:sp>
        <p:sp>
          <p:nvSpPr>
            <p:cNvPr id="190" name="Rectangle: Rounded Corners 189">
              <a:extLst>
                <a:ext uri="{FF2B5EF4-FFF2-40B4-BE49-F238E27FC236}">
                  <a16:creationId xmlns:a16="http://schemas.microsoft.com/office/drawing/2014/main" id="{9ED4AAF0-70E9-5D92-09BF-D66A642077FD}"/>
                </a:ext>
              </a:extLst>
            </p:cNvPr>
            <p:cNvSpPr/>
            <p:nvPr/>
          </p:nvSpPr>
          <p:spPr bwMode="gray">
            <a:xfrm>
              <a:off x="7911736" y="6364256"/>
              <a:ext cx="834723" cy="249019"/>
            </a:xfrm>
            <a:prstGeom prst="roundRect">
              <a:avLst/>
            </a:prstGeom>
            <a:no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Aft>
                  <a:spcPts val="0"/>
                </a:spcAft>
                <a:buClrTx/>
                <a:buSzTx/>
                <a:buFontTx/>
                <a:buNone/>
                <a:tabLst/>
                <a:defRPr/>
              </a:pPr>
              <a:r>
                <a:rPr kumimoji="0" lang="en-US" sz="900" b="0" i="0" u="none" strike="noStrike" kern="1200" cap="none" spc="0" normalizeH="0" baseline="0" noProof="0">
                  <a:ln>
                    <a:noFill/>
                  </a:ln>
                  <a:solidFill>
                    <a:srgbClr val="3D3C38"/>
                  </a:solidFill>
                  <a:effectLst/>
                  <a:uLnTx/>
                  <a:uFillTx/>
                  <a:latin typeface="Arial"/>
                  <a:ea typeface="+mn-ea"/>
                  <a:cs typeface="+mn-cs"/>
                </a:rPr>
                <a:t>5 minutes</a:t>
              </a:r>
              <a:endParaRPr lang="en-US" sz="900">
                <a:solidFill>
                  <a:srgbClr val="3D3C38"/>
                </a:solidFill>
                <a:latin typeface="Arial"/>
              </a:endParaRPr>
            </a:p>
          </p:txBody>
        </p:sp>
        <p:grpSp>
          <p:nvGrpSpPr>
            <p:cNvPr id="191" name="Group 190">
              <a:extLst>
                <a:ext uri="{FF2B5EF4-FFF2-40B4-BE49-F238E27FC236}">
                  <a16:creationId xmlns:a16="http://schemas.microsoft.com/office/drawing/2014/main" id="{456F1717-5BBB-8ABC-6F19-AFAE1D39A1F4}"/>
                </a:ext>
              </a:extLst>
            </p:cNvPr>
            <p:cNvGrpSpPr/>
            <p:nvPr/>
          </p:nvGrpSpPr>
          <p:grpSpPr>
            <a:xfrm>
              <a:off x="3121494" y="5156463"/>
              <a:ext cx="317580" cy="317580"/>
              <a:chOff x="2636196" y="5170199"/>
              <a:chExt cx="533623" cy="533623"/>
            </a:xfrm>
          </p:grpSpPr>
          <p:sp>
            <p:nvSpPr>
              <p:cNvPr id="201" name="Oval 200">
                <a:extLst>
                  <a:ext uri="{FF2B5EF4-FFF2-40B4-BE49-F238E27FC236}">
                    <a16:creationId xmlns:a16="http://schemas.microsoft.com/office/drawing/2014/main" id="{4C20EE68-3A42-7199-E0EE-3BB93D38E8CA}"/>
                  </a:ext>
                </a:extLst>
              </p:cNvPr>
              <p:cNvSpPr/>
              <p:nvPr/>
            </p:nvSpPr>
            <p:spPr bwMode="gray">
              <a:xfrm>
                <a:off x="2636196" y="5170199"/>
                <a:ext cx="533623" cy="533623"/>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202" name="Picture 201">
                <a:extLst>
                  <a:ext uri="{FF2B5EF4-FFF2-40B4-BE49-F238E27FC236}">
                    <a16:creationId xmlns:a16="http://schemas.microsoft.com/office/drawing/2014/main" id="{A0BEFCEE-D6A8-6770-49D4-C799730614B5}"/>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l="156" r="156"/>
              <a:stretch/>
            </p:blipFill>
            <p:spPr bwMode="gray">
              <a:xfrm>
                <a:off x="2703086" y="5236462"/>
                <a:ext cx="399842" cy="401096"/>
              </a:xfrm>
              <a:prstGeom prst="rect">
                <a:avLst/>
              </a:prstGeom>
            </p:spPr>
          </p:pic>
        </p:grpSp>
        <p:grpSp>
          <p:nvGrpSpPr>
            <p:cNvPr id="192" name="Group 191">
              <a:extLst>
                <a:ext uri="{FF2B5EF4-FFF2-40B4-BE49-F238E27FC236}">
                  <a16:creationId xmlns:a16="http://schemas.microsoft.com/office/drawing/2014/main" id="{86736828-B25E-C753-9152-D2D143AFF7DE}"/>
                </a:ext>
              </a:extLst>
            </p:cNvPr>
            <p:cNvGrpSpPr/>
            <p:nvPr/>
          </p:nvGrpSpPr>
          <p:grpSpPr>
            <a:xfrm>
              <a:off x="3121494" y="5860091"/>
              <a:ext cx="317580" cy="317580"/>
              <a:chOff x="2937352" y="5919097"/>
              <a:chExt cx="451325" cy="451325"/>
            </a:xfrm>
          </p:grpSpPr>
          <p:sp>
            <p:nvSpPr>
              <p:cNvPr id="199" name="Oval 198">
                <a:extLst>
                  <a:ext uri="{FF2B5EF4-FFF2-40B4-BE49-F238E27FC236}">
                    <a16:creationId xmlns:a16="http://schemas.microsoft.com/office/drawing/2014/main" id="{FA724788-ACA0-C2BB-5829-EDC941F7F548}"/>
                  </a:ext>
                </a:extLst>
              </p:cNvPr>
              <p:cNvSpPr/>
              <p:nvPr/>
            </p:nvSpPr>
            <p:spPr bwMode="gray">
              <a:xfrm>
                <a:off x="2937352" y="5919097"/>
                <a:ext cx="451325" cy="451325"/>
              </a:xfrm>
              <a:prstGeom prst="ellipse">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200" name="Picture 199">
                <a:extLst>
                  <a:ext uri="{FF2B5EF4-FFF2-40B4-BE49-F238E27FC236}">
                    <a16:creationId xmlns:a16="http://schemas.microsoft.com/office/drawing/2014/main" id="{70D1068C-5D90-5A69-4864-FFD58F523F8B}"/>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Lst>
              </a:blip>
              <a:srcRect l="104" r="104"/>
              <a:stretch/>
            </p:blipFill>
            <p:spPr>
              <a:xfrm>
                <a:off x="2981181" y="5962546"/>
                <a:ext cx="363667" cy="364426"/>
              </a:xfrm>
              <a:prstGeom prst="rect">
                <a:avLst/>
              </a:prstGeom>
            </p:spPr>
          </p:pic>
        </p:grpSp>
        <p:grpSp>
          <p:nvGrpSpPr>
            <p:cNvPr id="193" name="Group 192">
              <a:extLst>
                <a:ext uri="{FF2B5EF4-FFF2-40B4-BE49-F238E27FC236}">
                  <a16:creationId xmlns:a16="http://schemas.microsoft.com/office/drawing/2014/main" id="{239E3CEE-619D-7BE0-F503-2584145466E2}"/>
                </a:ext>
              </a:extLst>
            </p:cNvPr>
            <p:cNvGrpSpPr/>
            <p:nvPr/>
          </p:nvGrpSpPr>
          <p:grpSpPr>
            <a:xfrm>
              <a:off x="3121494" y="6344214"/>
              <a:ext cx="317580" cy="317580"/>
              <a:chOff x="3024018" y="6406675"/>
              <a:chExt cx="451325" cy="451325"/>
            </a:xfrm>
          </p:grpSpPr>
          <p:sp>
            <p:nvSpPr>
              <p:cNvPr id="197" name="Oval 196">
                <a:extLst>
                  <a:ext uri="{FF2B5EF4-FFF2-40B4-BE49-F238E27FC236}">
                    <a16:creationId xmlns:a16="http://schemas.microsoft.com/office/drawing/2014/main" id="{28A04762-9E8D-8CD5-1D85-9038DE1A6A89}"/>
                  </a:ext>
                </a:extLst>
              </p:cNvPr>
              <p:cNvSpPr/>
              <p:nvPr/>
            </p:nvSpPr>
            <p:spPr bwMode="gray">
              <a:xfrm>
                <a:off x="3024018" y="6406675"/>
                <a:ext cx="451325" cy="451325"/>
              </a:xfrm>
              <a:prstGeom prst="ellipse">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198" name="Picture 197">
                <a:extLst>
                  <a:ext uri="{FF2B5EF4-FFF2-40B4-BE49-F238E27FC236}">
                    <a16:creationId xmlns:a16="http://schemas.microsoft.com/office/drawing/2014/main" id="{6B87E6BF-7994-2410-5B3D-CFF313B16695}"/>
                  </a:ext>
                  <a:ext uri="{C183D7F6-B498-43B3-948B-1728B52AA6E4}">
                    <adec:decorative xmlns:adec="http://schemas.microsoft.com/office/drawing/2017/decorative" val="0"/>
                  </a:ext>
                </a:extLst>
              </p:cNvPr>
              <p:cNvPicPr>
                <a:picLocks noChangeAspect="1"/>
              </p:cNvPicPr>
              <p:nvPr/>
            </p:nvPicPr>
            <p:blipFill>
              <a:blip r:embed="rId9">
                <a:extLst>
                  <a:ext uri="{28A0092B-C50C-407E-A947-70E740481C1C}">
                    <a14:useLocalDpi xmlns:a14="http://schemas.microsoft.com/office/drawing/2010/main" val="0"/>
                  </a:ext>
                </a:extLst>
              </a:blip>
              <a:srcRect l="104" r="104"/>
              <a:stretch/>
            </p:blipFill>
            <p:spPr bwMode="gray">
              <a:xfrm>
                <a:off x="3090774" y="6473099"/>
                <a:ext cx="317813" cy="318476"/>
              </a:xfrm>
              <a:prstGeom prst="rect">
                <a:avLst/>
              </a:prstGeom>
            </p:spPr>
          </p:pic>
        </p:grpSp>
        <p:cxnSp>
          <p:nvCxnSpPr>
            <p:cNvPr id="194" name="Straight Connector 193">
              <a:extLst>
                <a:ext uri="{FF2B5EF4-FFF2-40B4-BE49-F238E27FC236}">
                  <a16:creationId xmlns:a16="http://schemas.microsoft.com/office/drawing/2014/main" id="{66D99114-F77D-0CF1-DB7F-AF3A6B7B8515}"/>
                </a:ext>
              </a:extLst>
            </p:cNvPr>
            <p:cNvCxnSpPr>
              <a:cxnSpLocks/>
            </p:cNvCxnSpPr>
            <p:nvPr/>
          </p:nvCxnSpPr>
          <p:spPr bwMode="gray">
            <a:xfrm>
              <a:off x="3551657" y="5183921"/>
              <a:ext cx="0" cy="316104"/>
            </a:xfrm>
            <a:prstGeom prst="line">
              <a:avLst/>
            </a:prstGeom>
            <a:ln w="9525"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0DCD2FE2-A251-B69E-A72D-04DD7522175C}"/>
                </a:ext>
              </a:extLst>
            </p:cNvPr>
            <p:cNvCxnSpPr>
              <a:cxnSpLocks/>
            </p:cNvCxnSpPr>
            <p:nvPr/>
          </p:nvCxnSpPr>
          <p:spPr bwMode="gray">
            <a:xfrm>
              <a:off x="3551657" y="5860828"/>
              <a:ext cx="0" cy="316104"/>
            </a:xfrm>
            <a:prstGeom prst="line">
              <a:avLst/>
            </a:prstGeom>
            <a:ln w="9525"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560BB7E2-2CCD-EEC2-38B4-20AB62E7CB67}"/>
                </a:ext>
              </a:extLst>
            </p:cNvPr>
            <p:cNvCxnSpPr>
              <a:cxnSpLocks/>
            </p:cNvCxnSpPr>
            <p:nvPr/>
          </p:nvCxnSpPr>
          <p:spPr bwMode="gray">
            <a:xfrm>
              <a:off x="3551657" y="6344634"/>
              <a:ext cx="0" cy="316104"/>
            </a:xfrm>
            <a:prstGeom prst="line">
              <a:avLst/>
            </a:prstGeom>
            <a:ln w="9525"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81220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1AFFA7-6904-F941-0619-8249B1F8A764}"/>
            </a:ext>
          </a:extLst>
        </p:cNvPr>
        <p:cNvGrpSpPr/>
        <p:nvPr/>
      </p:nvGrpSpPr>
      <p:grpSpPr>
        <a:xfrm>
          <a:off x="0" y="0"/>
          <a:ext cx="0" cy="0"/>
          <a:chOff x="0" y="0"/>
          <a:chExt cx="0" cy="0"/>
        </a:xfrm>
      </p:grpSpPr>
      <p:sp>
        <p:nvSpPr>
          <p:cNvPr id="12" name="Title 24">
            <a:extLst>
              <a:ext uri="{FF2B5EF4-FFF2-40B4-BE49-F238E27FC236}">
                <a16:creationId xmlns:a16="http://schemas.microsoft.com/office/drawing/2014/main" id="{CDA019D8-D888-B44D-083F-D4E893877A72}"/>
              </a:ext>
            </a:extLst>
          </p:cNvPr>
          <p:cNvSpPr>
            <a:spLocks noGrp="1"/>
          </p:cNvSpPr>
          <p:nvPr>
            <p:ph type="title"/>
          </p:nvPr>
        </p:nvSpPr>
        <p:spPr/>
        <p:txBody>
          <a:bodyPr/>
          <a:lstStyle/>
          <a:p>
            <a:r>
              <a:rPr lang="en-US"/>
              <a:t>CAT Automation</a:t>
            </a:r>
          </a:p>
        </p:txBody>
      </p:sp>
      <p:sp>
        <p:nvSpPr>
          <p:cNvPr id="3" name="Rectangle 2">
            <a:extLst>
              <a:ext uri="{FF2B5EF4-FFF2-40B4-BE49-F238E27FC236}">
                <a16:creationId xmlns:a16="http://schemas.microsoft.com/office/drawing/2014/main" id="{920F6D1C-9BEA-FAEC-7578-C6171151D8EA}"/>
              </a:ext>
            </a:extLst>
          </p:cNvPr>
          <p:cNvSpPr/>
          <p:nvPr/>
        </p:nvSpPr>
        <p:spPr>
          <a:xfrm>
            <a:off x="467925" y="1591202"/>
            <a:ext cx="6857107" cy="1401602"/>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Limited number of calls per shift (20 calls/assessor/day)</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1200">
                <a:solidFill>
                  <a:srgbClr val="4B4D4F"/>
                </a:solidFill>
                <a:latin typeface="Arial"/>
                <a:cs typeface="Arial" panose="020B0604020202020204" pitchFamily="34" charset="0"/>
              </a:rPr>
              <a:t>15 minutes average handling time per assessment </a:t>
            </a:r>
            <a:endPar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endParaRP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High dependency on assessor availability</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1200">
                <a:solidFill>
                  <a:srgbClr val="4B4D4F"/>
                </a:solidFill>
                <a:latin typeface="Arial"/>
                <a:cs typeface="Arial" panose="020B0604020202020204" pitchFamily="34" charset="0"/>
              </a:rPr>
              <a:t>Hiring surges strain the CAT team</a:t>
            </a:r>
            <a:endPar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endParaRP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Fixed operating hours </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Assessors have limited time for development and other projects </a:t>
            </a:r>
          </a:p>
        </p:txBody>
      </p:sp>
      <p:sp>
        <p:nvSpPr>
          <p:cNvPr id="4" name="Rounded Rectangle 87">
            <a:extLst>
              <a:ext uri="{FF2B5EF4-FFF2-40B4-BE49-F238E27FC236}">
                <a16:creationId xmlns:a16="http://schemas.microsoft.com/office/drawing/2014/main" id="{2D4E9F61-172E-D0E1-FCC0-52E121E60F0E}"/>
              </a:ext>
            </a:extLst>
          </p:cNvPr>
          <p:cNvSpPr/>
          <p:nvPr/>
        </p:nvSpPr>
        <p:spPr>
          <a:xfrm>
            <a:off x="467926" y="1117124"/>
            <a:ext cx="3523972" cy="377384"/>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3D3C38"/>
                </a:solidFill>
                <a:latin typeface="Arial"/>
              </a:rPr>
              <a:t>What problem are we trying to solve?</a:t>
            </a:r>
          </a:p>
        </p:txBody>
      </p:sp>
      <p:sp>
        <p:nvSpPr>
          <p:cNvPr id="2" name="Rounded Rectangle 87">
            <a:extLst>
              <a:ext uri="{FF2B5EF4-FFF2-40B4-BE49-F238E27FC236}">
                <a16:creationId xmlns:a16="http://schemas.microsoft.com/office/drawing/2014/main" id="{D7397625-589D-2F2F-A582-DD2BED9D2CED}"/>
              </a:ext>
            </a:extLst>
          </p:cNvPr>
          <p:cNvSpPr/>
          <p:nvPr/>
        </p:nvSpPr>
        <p:spPr>
          <a:xfrm>
            <a:off x="477759" y="3029499"/>
            <a:ext cx="3523972" cy="377384"/>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3D3C38"/>
                </a:solidFill>
                <a:latin typeface="Arial"/>
              </a:rPr>
              <a:t>What is the solution?</a:t>
            </a:r>
          </a:p>
        </p:txBody>
      </p:sp>
      <p:sp>
        <p:nvSpPr>
          <p:cNvPr id="13" name="Rectangle 12">
            <a:extLst>
              <a:ext uri="{FF2B5EF4-FFF2-40B4-BE49-F238E27FC236}">
                <a16:creationId xmlns:a16="http://schemas.microsoft.com/office/drawing/2014/main" id="{30E372D3-A3E9-CD2A-2994-17704B743DB8}"/>
              </a:ext>
            </a:extLst>
          </p:cNvPr>
          <p:cNvSpPr/>
          <p:nvPr/>
        </p:nvSpPr>
        <p:spPr>
          <a:xfrm>
            <a:off x="467924" y="3513152"/>
            <a:ext cx="6857107" cy="1401602"/>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Increase the number of assessments handled per shift </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Reduce phone assessment time by 40-50%</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Reduce dependency on assessor availability especially during hiring peaks</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Continuous assessment without proportionally increasing headcount</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Flexible operating hours </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Enable assessors to focus on other projects like design and class facilitation</a:t>
            </a:r>
          </a:p>
        </p:txBody>
      </p:sp>
      <p:sp>
        <p:nvSpPr>
          <p:cNvPr id="14" name="Rounded Rectangle 87">
            <a:extLst>
              <a:ext uri="{FF2B5EF4-FFF2-40B4-BE49-F238E27FC236}">
                <a16:creationId xmlns:a16="http://schemas.microsoft.com/office/drawing/2014/main" id="{30C65B9D-B05C-2DD7-5125-234D608094FA}"/>
              </a:ext>
            </a:extLst>
          </p:cNvPr>
          <p:cNvSpPr/>
          <p:nvPr/>
        </p:nvSpPr>
        <p:spPr>
          <a:xfrm>
            <a:off x="477759" y="4986493"/>
            <a:ext cx="3523972" cy="377384"/>
          </a:xfrm>
          <a:prstGeom prst="roundRect">
            <a:avLst/>
          </a:prstGeom>
          <a:solidFill>
            <a:srgbClr val="D9F6F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3D3C38"/>
                </a:solidFill>
                <a:latin typeface="Arial"/>
              </a:rPr>
              <a:t>What are the challenges?</a:t>
            </a:r>
          </a:p>
        </p:txBody>
      </p:sp>
      <p:sp>
        <p:nvSpPr>
          <p:cNvPr id="16" name="Rectangle 15">
            <a:extLst>
              <a:ext uri="{FF2B5EF4-FFF2-40B4-BE49-F238E27FC236}">
                <a16:creationId xmlns:a16="http://schemas.microsoft.com/office/drawing/2014/main" id="{84D2C9B1-8B7D-9F1B-9E0A-3B64DD24C8D5}"/>
              </a:ext>
            </a:extLst>
          </p:cNvPr>
          <p:cNvSpPr/>
          <p:nvPr/>
        </p:nvSpPr>
        <p:spPr>
          <a:xfrm>
            <a:off x="467923" y="5454762"/>
            <a:ext cx="6857107" cy="515206"/>
          </a:xfrm>
          <a:prstGeom prst="rect">
            <a:avLst/>
          </a:prstGeom>
        </p:spPr>
        <p:txBody>
          <a:bodyPr wrap="square">
            <a:spAutoFit/>
          </a:bodyPr>
          <a:lstStyle/>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lang="en-US" sz="1200">
                <a:solidFill>
                  <a:srgbClr val="4B4D4F"/>
                </a:solidFill>
                <a:latin typeface="Arial"/>
                <a:cs typeface="Arial" panose="020B0604020202020204" pitchFamily="34" charset="0"/>
              </a:rPr>
              <a:t>Software or Application to be used</a:t>
            </a:r>
          </a:p>
          <a:p>
            <a:pPr marL="0" marR="0" lvl="0" indent="-171450" algn="l" defTabSz="914400" rtl="0" eaLnBrk="1" fontAlgn="auto" latinLnBrk="0" hangingPunct="1">
              <a:lnSpc>
                <a:spcPct val="12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4B4D4F"/>
                </a:solidFill>
                <a:effectLst/>
                <a:uLnTx/>
                <a:uFillTx/>
                <a:latin typeface="Arial"/>
                <a:ea typeface="+mn-ea"/>
                <a:cs typeface="Arial" panose="020B0604020202020204" pitchFamily="34" charset="0"/>
              </a:rPr>
              <a:t>Accessibility for virtual candidates</a:t>
            </a:r>
          </a:p>
        </p:txBody>
      </p:sp>
    </p:spTree>
    <p:extLst>
      <p:ext uri="{BB962C8B-B14F-4D97-AF65-F5344CB8AC3E}">
        <p14:creationId xmlns:p14="http://schemas.microsoft.com/office/powerpoint/2010/main" val="2109675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F7CA-6A14-47A3-A73A-673FB8DF7553}"/>
              </a:ext>
            </a:extLst>
          </p:cNvPr>
          <p:cNvSpPr>
            <a:spLocks noGrp="1"/>
          </p:cNvSpPr>
          <p:nvPr>
            <p:ph type="title"/>
          </p:nvPr>
        </p:nvSpPr>
        <p:spPr/>
        <p:txBody>
          <a:bodyPr/>
          <a:lstStyle/>
          <a:p>
            <a:r>
              <a:rPr lang="en-US"/>
              <a:t>Hiring Journey</a:t>
            </a:r>
          </a:p>
        </p:txBody>
      </p:sp>
      <p:sp>
        <p:nvSpPr>
          <p:cNvPr id="3" name="Freeform 7">
            <a:extLst>
              <a:ext uri="{FF2B5EF4-FFF2-40B4-BE49-F238E27FC236}">
                <a16:creationId xmlns:a16="http://schemas.microsoft.com/office/drawing/2014/main" id="{CF4667B8-AC5E-4341-9143-23FDCDFCAA37}"/>
              </a:ext>
            </a:extLst>
          </p:cNvPr>
          <p:cNvSpPr/>
          <p:nvPr/>
        </p:nvSpPr>
        <p:spPr bwMode="gray">
          <a:xfrm flipV="1">
            <a:off x="806743" y="1746144"/>
            <a:ext cx="9676959" cy="1220297"/>
          </a:xfrm>
          <a:custGeom>
            <a:avLst/>
            <a:gdLst>
              <a:gd name="connsiteX0" fmla="*/ 0 w 8511540"/>
              <a:gd name="connsiteY0" fmla="*/ 0 h 15240"/>
              <a:gd name="connsiteX1" fmla="*/ 8511540 w 8511540"/>
              <a:gd name="connsiteY1" fmla="*/ 15240 h 15240"/>
              <a:gd name="connsiteX2" fmla="*/ 8511540 w 8511540"/>
              <a:gd name="connsiteY2" fmla="*/ 15240 h 15240"/>
              <a:gd name="connsiteX0" fmla="*/ 0 w 8511540"/>
              <a:gd name="connsiteY0" fmla="*/ 0 h 15240"/>
              <a:gd name="connsiteX1" fmla="*/ 4274820 w 8511540"/>
              <a:gd name="connsiteY1" fmla="*/ 0 h 15240"/>
              <a:gd name="connsiteX2" fmla="*/ 8511540 w 8511540"/>
              <a:gd name="connsiteY2" fmla="*/ 15240 h 15240"/>
              <a:gd name="connsiteX3" fmla="*/ 8511540 w 8511540"/>
              <a:gd name="connsiteY3" fmla="*/ 15240 h 15240"/>
              <a:gd name="connsiteX0" fmla="*/ 0 w 8511540"/>
              <a:gd name="connsiteY0" fmla="*/ 0 h 15240"/>
              <a:gd name="connsiteX1" fmla="*/ 4274820 w 8511540"/>
              <a:gd name="connsiteY1" fmla="*/ 0 h 15240"/>
              <a:gd name="connsiteX2" fmla="*/ 6400800 w 8511540"/>
              <a:gd name="connsiteY2" fmla="*/ 0 h 15240"/>
              <a:gd name="connsiteX3" fmla="*/ 8511540 w 8511540"/>
              <a:gd name="connsiteY3" fmla="*/ 15240 h 15240"/>
              <a:gd name="connsiteX4" fmla="*/ 8511540 w 8511540"/>
              <a:gd name="connsiteY4" fmla="*/ 15240 h 15240"/>
              <a:gd name="connsiteX0" fmla="*/ 0 w 8511540"/>
              <a:gd name="connsiteY0" fmla="*/ 0 h 990600"/>
              <a:gd name="connsiteX1" fmla="*/ 4274820 w 8511540"/>
              <a:gd name="connsiteY1" fmla="*/ 0 h 990600"/>
              <a:gd name="connsiteX2" fmla="*/ 6477000 w 8511540"/>
              <a:gd name="connsiteY2" fmla="*/ 990600 h 990600"/>
              <a:gd name="connsiteX3" fmla="*/ 8511540 w 8511540"/>
              <a:gd name="connsiteY3" fmla="*/ 15240 h 990600"/>
              <a:gd name="connsiteX4" fmla="*/ 8511540 w 8511540"/>
              <a:gd name="connsiteY4" fmla="*/ 15240 h 990600"/>
              <a:gd name="connsiteX0" fmla="*/ 0 w 8511540"/>
              <a:gd name="connsiteY0" fmla="*/ 0 h 990605"/>
              <a:gd name="connsiteX1" fmla="*/ 4274820 w 8511540"/>
              <a:gd name="connsiteY1" fmla="*/ 0 h 990605"/>
              <a:gd name="connsiteX2" fmla="*/ 6477000 w 8511540"/>
              <a:gd name="connsiteY2" fmla="*/ 990600 h 990605"/>
              <a:gd name="connsiteX3" fmla="*/ 8511540 w 8511540"/>
              <a:gd name="connsiteY3" fmla="*/ 15240 h 990605"/>
              <a:gd name="connsiteX4" fmla="*/ 8511540 w 8511540"/>
              <a:gd name="connsiteY4" fmla="*/ 15240 h 990605"/>
              <a:gd name="connsiteX0" fmla="*/ 0 w 8511540"/>
              <a:gd name="connsiteY0" fmla="*/ 7620 h 998225"/>
              <a:gd name="connsiteX1" fmla="*/ 2133600 w 8511540"/>
              <a:gd name="connsiteY1" fmla="*/ 0 h 998225"/>
              <a:gd name="connsiteX2" fmla="*/ 4274820 w 8511540"/>
              <a:gd name="connsiteY2" fmla="*/ 7620 h 998225"/>
              <a:gd name="connsiteX3" fmla="*/ 6477000 w 8511540"/>
              <a:gd name="connsiteY3" fmla="*/ 998220 h 998225"/>
              <a:gd name="connsiteX4" fmla="*/ 8511540 w 8511540"/>
              <a:gd name="connsiteY4" fmla="*/ 22860 h 998225"/>
              <a:gd name="connsiteX5" fmla="*/ 8511540 w 8511540"/>
              <a:gd name="connsiteY5" fmla="*/ 22860 h 998225"/>
              <a:gd name="connsiteX0" fmla="*/ 0 w 8511540"/>
              <a:gd name="connsiteY0" fmla="*/ 1059180 h 2049785"/>
              <a:gd name="connsiteX1" fmla="*/ 2164080 w 8511540"/>
              <a:gd name="connsiteY1" fmla="*/ 0 h 2049785"/>
              <a:gd name="connsiteX2" fmla="*/ 4274820 w 8511540"/>
              <a:gd name="connsiteY2" fmla="*/ 1059180 h 2049785"/>
              <a:gd name="connsiteX3" fmla="*/ 6477000 w 8511540"/>
              <a:gd name="connsiteY3" fmla="*/ 2049780 h 2049785"/>
              <a:gd name="connsiteX4" fmla="*/ 8511540 w 8511540"/>
              <a:gd name="connsiteY4" fmla="*/ 1074420 h 2049785"/>
              <a:gd name="connsiteX5" fmla="*/ 8511540 w 8511540"/>
              <a:gd name="connsiteY5" fmla="*/ 1074420 h 2049785"/>
              <a:gd name="connsiteX0" fmla="*/ 0 w 8511540"/>
              <a:gd name="connsiteY0" fmla="*/ 1059180 h 2049785"/>
              <a:gd name="connsiteX1" fmla="*/ 2164080 w 8511540"/>
              <a:gd name="connsiteY1" fmla="*/ 0 h 2049785"/>
              <a:gd name="connsiteX2" fmla="*/ 4274820 w 8511540"/>
              <a:gd name="connsiteY2" fmla="*/ 1059180 h 2049785"/>
              <a:gd name="connsiteX3" fmla="*/ 6477000 w 8511540"/>
              <a:gd name="connsiteY3" fmla="*/ 2049780 h 2049785"/>
              <a:gd name="connsiteX4" fmla="*/ 8511540 w 8511540"/>
              <a:gd name="connsiteY4" fmla="*/ 1074420 h 2049785"/>
              <a:gd name="connsiteX5" fmla="*/ 8511540 w 8511540"/>
              <a:gd name="connsiteY5" fmla="*/ 1074420 h 2049785"/>
              <a:gd name="connsiteX0" fmla="*/ 0 w 8511540"/>
              <a:gd name="connsiteY0" fmla="*/ 1079772 h 2070377"/>
              <a:gd name="connsiteX1" fmla="*/ 2164080 w 8511540"/>
              <a:gd name="connsiteY1" fmla="*/ 20592 h 2070377"/>
              <a:gd name="connsiteX2" fmla="*/ 6477000 w 8511540"/>
              <a:gd name="connsiteY2" fmla="*/ 2070372 h 2070377"/>
              <a:gd name="connsiteX3" fmla="*/ 8511540 w 8511540"/>
              <a:gd name="connsiteY3" fmla="*/ 1095012 h 2070377"/>
              <a:gd name="connsiteX4" fmla="*/ 8511540 w 8511540"/>
              <a:gd name="connsiteY4" fmla="*/ 1095012 h 2070377"/>
              <a:gd name="connsiteX0" fmla="*/ 0 w 8511540"/>
              <a:gd name="connsiteY0" fmla="*/ 1079772 h 2070377"/>
              <a:gd name="connsiteX1" fmla="*/ 2164080 w 8511540"/>
              <a:gd name="connsiteY1" fmla="*/ 20592 h 2070377"/>
              <a:gd name="connsiteX2" fmla="*/ 6477000 w 8511540"/>
              <a:gd name="connsiteY2" fmla="*/ 2070372 h 2070377"/>
              <a:gd name="connsiteX3" fmla="*/ 8511540 w 8511540"/>
              <a:gd name="connsiteY3" fmla="*/ 1095012 h 2070377"/>
              <a:gd name="connsiteX4" fmla="*/ 8511540 w 8511540"/>
              <a:gd name="connsiteY4" fmla="*/ 1095012 h 2070377"/>
              <a:gd name="connsiteX0" fmla="*/ 0 w 8511540"/>
              <a:gd name="connsiteY0" fmla="*/ 1079772 h 2070377"/>
              <a:gd name="connsiteX1" fmla="*/ 2164080 w 8511540"/>
              <a:gd name="connsiteY1" fmla="*/ 20592 h 2070377"/>
              <a:gd name="connsiteX2" fmla="*/ 6477000 w 8511540"/>
              <a:gd name="connsiteY2" fmla="*/ 2070372 h 2070377"/>
              <a:gd name="connsiteX3" fmla="*/ 8511540 w 8511540"/>
              <a:gd name="connsiteY3" fmla="*/ 1095012 h 2070377"/>
              <a:gd name="connsiteX4" fmla="*/ 8511540 w 8511540"/>
              <a:gd name="connsiteY4" fmla="*/ 1095012 h 2070377"/>
              <a:gd name="connsiteX0" fmla="*/ 0 w 8511540"/>
              <a:gd name="connsiteY0" fmla="*/ 1059267 h 2049872"/>
              <a:gd name="connsiteX1" fmla="*/ 2164080 w 8511540"/>
              <a:gd name="connsiteY1" fmla="*/ 87 h 2049872"/>
              <a:gd name="connsiteX2" fmla="*/ 6477000 w 8511540"/>
              <a:gd name="connsiteY2" fmla="*/ 2049867 h 2049872"/>
              <a:gd name="connsiteX3" fmla="*/ 8511540 w 8511540"/>
              <a:gd name="connsiteY3" fmla="*/ 1074507 h 2049872"/>
              <a:gd name="connsiteX4" fmla="*/ 8511540 w 8511540"/>
              <a:gd name="connsiteY4" fmla="*/ 1074507 h 2049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1540" h="2049872">
                <a:moveTo>
                  <a:pt x="0" y="1059267"/>
                </a:moveTo>
                <a:cubicBezTo>
                  <a:pt x="721360" y="706207"/>
                  <a:pt x="1054100" y="-9048"/>
                  <a:pt x="2164080" y="87"/>
                </a:cubicBezTo>
                <a:cubicBezTo>
                  <a:pt x="3256095" y="9074"/>
                  <a:pt x="5404049" y="2046007"/>
                  <a:pt x="6477000" y="2049867"/>
                </a:cubicBezTo>
                <a:cubicBezTo>
                  <a:pt x="7183120" y="2052407"/>
                  <a:pt x="8172450" y="1237067"/>
                  <a:pt x="8511540" y="1074507"/>
                </a:cubicBezTo>
                <a:lnTo>
                  <a:pt x="8511540" y="1074507"/>
                </a:lnTo>
              </a:path>
            </a:pathLst>
          </a:custGeom>
          <a:noFill/>
          <a:ln w="31750" cap="rnd">
            <a:solidFill>
              <a:schemeClr val="tx2"/>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7325A859-DE9B-47B0-AA83-5E1D0EE82558}"/>
              </a:ext>
            </a:extLst>
          </p:cNvPr>
          <p:cNvPicPr>
            <a:picLocks noChangeAspect="1"/>
          </p:cNvPicPr>
          <p:nvPr/>
        </p:nvPicPr>
        <p:blipFill rotWithShape="1">
          <a:blip r:embed="rId2">
            <a:extLst>
              <a:ext uri="{28A0092B-C50C-407E-A947-70E740481C1C}">
                <a14:useLocalDpi xmlns:a14="http://schemas.microsoft.com/office/drawing/2010/main" val="0"/>
              </a:ext>
            </a:extLst>
          </a:blip>
          <a:srcRect l="4104" t="5869" r="4444" b="2679"/>
          <a:stretch/>
        </p:blipFill>
        <p:spPr bwMode="gray">
          <a:xfrm>
            <a:off x="469224" y="1747276"/>
            <a:ext cx="978408" cy="1013906"/>
          </a:xfrm>
          <a:prstGeom prst="ellipse">
            <a:avLst/>
          </a:prstGeom>
        </p:spPr>
      </p:pic>
      <p:sp>
        <p:nvSpPr>
          <p:cNvPr id="53" name="TextBox 52">
            <a:extLst>
              <a:ext uri="{FF2B5EF4-FFF2-40B4-BE49-F238E27FC236}">
                <a16:creationId xmlns:a16="http://schemas.microsoft.com/office/drawing/2014/main" id="{680C6418-6F99-4816-AC8C-786D2AFA6068}"/>
              </a:ext>
            </a:extLst>
          </p:cNvPr>
          <p:cNvSpPr txBox="1"/>
          <p:nvPr/>
        </p:nvSpPr>
        <p:spPr bwMode="gray">
          <a:xfrm>
            <a:off x="467218" y="2905909"/>
            <a:ext cx="1311820" cy="215444"/>
          </a:xfrm>
          <a:prstGeom prst="rect">
            <a:avLst/>
          </a:prstGeom>
          <a:noFill/>
        </p:spPr>
        <p:txBody>
          <a:bodyPr vert="horz" wrap="square" lIns="0" tIns="0" rIns="0" bIns="0" rtlCol="0">
            <a:spAutoFit/>
          </a:bodyPr>
          <a:lstStyle/>
          <a:p>
            <a:pPr>
              <a:spcBef>
                <a:spcPts val="600"/>
              </a:spcBef>
            </a:pPr>
            <a:r>
              <a:rPr lang="en-US" sz="1400" b="1">
                <a:solidFill>
                  <a:schemeClr val="accent6"/>
                </a:solidFill>
              </a:rPr>
              <a:t>Candidate</a:t>
            </a:r>
          </a:p>
        </p:txBody>
      </p:sp>
      <p:pic>
        <p:nvPicPr>
          <p:cNvPr id="13" name="Picture 12" descr="A black and white circle with a clipboard and red lines&#10;&#10;AI-generated content may be incorrect.">
            <a:extLst>
              <a:ext uri="{FF2B5EF4-FFF2-40B4-BE49-F238E27FC236}">
                <a16:creationId xmlns:a16="http://schemas.microsoft.com/office/drawing/2014/main" id="{56009632-64F5-04A2-B9FC-280616457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4520" y="2569983"/>
            <a:ext cx="609600" cy="609600"/>
          </a:xfrm>
          <a:prstGeom prst="rect">
            <a:avLst/>
          </a:prstGeom>
        </p:spPr>
      </p:pic>
      <p:cxnSp>
        <p:nvCxnSpPr>
          <p:cNvPr id="60" name="Straight Connector 59">
            <a:extLst>
              <a:ext uri="{FF2B5EF4-FFF2-40B4-BE49-F238E27FC236}">
                <a16:creationId xmlns:a16="http://schemas.microsoft.com/office/drawing/2014/main" id="{2516BBE5-0085-4075-B32B-D19FBE0A3063}"/>
              </a:ext>
            </a:extLst>
          </p:cNvPr>
          <p:cNvCxnSpPr/>
          <p:nvPr/>
        </p:nvCxnSpPr>
        <p:spPr bwMode="gray">
          <a:xfrm>
            <a:off x="2419739" y="3341017"/>
            <a:ext cx="0" cy="1333036"/>
          </a:xfrm>
          <a:prstGeom prst="line">
            <a:avLst/>
          </a:prstGeom>
          <a:ln w="19050"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6E500FB-82CC-4527-81A6-30A42D96DC58}"/>
              </a:ext>
            </a:extLst>
          </p:cNvPr>
          <p:cNvSpPr txBox="1"/>
          <p:nvPr/>
        </p:nvSpPr>
        <p:spPr bwMode="gray">
          <a:xfrm>
            <a:off x="1960230" y="4783286"/>
            <a:ext cx="1376013" cy="646331"/>
          </a:xfrm>
          <a:prstGeom prst="rect">
            <a:avLst/>
          </a:prstGeom>
          <a:noFill/>
        </p:spPr>
        <p:txBody>
          <a:bodyPr vert="horz" wrap="square" lIns="0" tIns="0" rIns="0" bIns="0" rtlCol="0">
            <a:spAutoFit/>
          </a:bodyPr>
          <a:lstStyle/>
          <a:p>
            <a:pPr>
              <a:spcBef>
                <a:spcPts val="600"/>
              </a:spcBef>
            </a:pPr>
            <a:r>
              <a:rPr lang="en-US" sz="1300" b="1">
                <a:solidFill>
                  <a:schemeClr val="accent6"/>
                </a:solidFill>
              </a:rPr>
              <a:t>Profile Creation</a:t>
            </a:r>
          </a:p>
          <a:p>
            <a:pPr>
              <a:spcBef>
                <a:spcPts val="600"/>
              </a:spcBef>
            </a:pPr>
            <a:r>
              <a:rPr lang="en-US" sz="1200"/>
              <a:t>TA will create profile and encode</a:t>
            </a:r>
          </a:p>
        </p:txBody>
      </p:sp>
      <p:sp>
        <p:nvSpPr>
          <p:cNvPr id="55" name="TextBox 54">
            <a:extLst>
              <a:ext uri="{FF2B5EF4-FFF2-40B4-BE49-F238E27FC236}">
                <a16:creationId xmlns:a16="http://schemas.microsoft.com/office/drawing/2014/main" id="{7F3D52B6-CDE2-4156-83FE-68B2BC89D7BD}"/>
              </a:ext>
            </a:extLst>
          </p:cNvPr>
          <p:cNvSpPr txBox="1"/>
          <p:nvPr/>
        </p:nvSpPr>
        <p:spPr bwMode="gray">
          <a:xfrm>
            <a:off x="3336246" y="3359005"/>
            <a:ext cx="1530220" cy="400110"/>
          </a:xfrm>
          <a:prstGeom prst="rect">
            <a:avLst/>
          </a:prstGeom>
          <a:noFill/>
        </p:spPr>
        <p:txBody>
          <a:bodyPr vert="horz" wrap="square" lIns="0" tIns="0" rIns="0" bIns="0" rtlCol="0">
            <a:spAutoFit/>
          </a:bodyPr>
          <a:lstStyle/>
          <a:p>
            <a:pPr>
              <a:spcBef>
                <a:spcPts val="600"/>
              </a:spcBef>
            </a:pPr>
            <a:r>
              <a:rPr lang="en-US" sz="1300" b="1">
                <a:solidFill>
                  <a:schemeClr val="accent6"/>
                </a:solidFill>
              </a:rPr>
              <a:t>Automated Pre-screening Test</a:t>
            </a:r>
          </a:p>
        </p:txBody>
      </p:sp>
      <p:cxnSp>
        <p:nvCxnSpPr>
          <p:cNvPr id="61" name="Straight Connector 60">
            <a:extLst>
              <a:ext uri="{FF2B5EF4-FFF2-40B4-BE49-F238E27FC236}">
                <a16:creationId xmlns:a16="http://schemas.microsoft.com/office/drawing/2014/main" id="{7E2B42FE-1F26-4240-81E3-27FB70B5BB6B}"/>
              </a:ext>
            </a:extLst>
          </p:cNvPr>
          <p:cNvCxnSpPr>
            <a:cxnSpLocks/>
          </p:cNvCxnSpPr>
          <p:nvPr/>
        </p:nvCxnSpPr>
        <p:spPr bwMode="gray">
          <a:xfrm>
            <a:off x="5659695" y="2836506"/>
            <a:ext cx="0" cy="1837547"/>
          </a:xfrm>
          <a:prstGeom prst="line">
            <a:avLst/>
          </a:prstGeom>
          <a:ln w="19050"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F95B48E-FD6B-4EE9-B296-AE061CAC79D0}"/>
              </a:ext>
            </a:extLst>
          </p:cNvPr>
          <p:cNvSpPr txBox="1"/>
          <p:nvPr/>
        </p:nvSpPr>
        <p:spPr bwMode="gray">
          <a:xfrm>
            <a:off x="5316205" y="4783286"/>
            <a:ext cx="1566375" cy="1200329"/>
          </a:xfrm>
          <a:prstGeom prst="rect">
            <a:avLst/>
          </a:prstGeom>
          <a:noFill/>
        </p:spPr>
        <p:txBody>
          <a:bodyPr vert="horz" wrap="square" lIns="0" tIns="0" rIns="0" bIns="0" rtlCol="0">
            <a:spAutoFit/>
          </a:bodyPr>
          <a:lstStyle/>
          <a:p>
            <a:pPr>
              <a:spcBef>
                <a:spcPts val="600"/>
              </a:spcBef>
            </a:pPr>
            <a:r>
              <a:rPr lang="en-US" sz="1300" b="1">
                <a:solidFill>
                  <a:schemeClr val="accent6"/>
                </a:solidFill>
              </a:rPr>
              <a:t>Score/Report</a:t>
            </a:r>
          </a:p>
          <a:p>
            <a:pPr>
              <a:spcBef>
                <a:spcPts val="600"/>
              </a:spcBef>
            </a:pPr>
            <a:r>
              <a:rPr lang="en-US" sz="1200"/>
              <a:t>Candidates who cleared the automated test will be endorsed to the CAT Center for mock call </a:t>
            </a:r>
          </a:p>
        </p:txBody>
      </p:sp>
      <p:sp>
        <p:nvSpPr>
          <p:cNvPr id="56" name="TextBox 55">
            <a:extLst>
              <a:ext uri="{FF2B5EF4-FFF2-40B4-BE49-F238E27FC236}">
                <a16:creationId xmlns:a16="http://schemas.microsoft.com/office/drawing/2014/main" id="{36FF9DB9-A0F5-4C11-AAD4-5039B48CD5A2}"/>
              </a:ext>
            </a:extLst>
          </p:cNvPr>
          <p:cNvSpPr txBox="1"/>
          <p:nvPr/>
        </p:nvSpPr>
        <p:spPr bwMode="gray">
          <a:xfrm>
            <a:off x="6216634" y="2492611"/>
            <a:ext cx="2152528" cy="646331"/>
          </a:xfrm>
          <a:prstGeom prst="rect">
            <a:avLst/>
          </a:prstGeom>
          <a:noFill/>
        </p:spPr>
        <p:txBody>
          <a:bodyPr vert="horz" wrap="square" lIns="0" tIns="0" rIns="0" bIns="0" rtlCol="0">
            <a:spAutoFit/>
          </a:bodyPr>
          <a:lstStyle/>
          <a:p>
            <a:pPr>
              <a:spcBef>
                <a:spcPts val="600"/>
              </a:spcBef>
            </a:pPr>
            <a:r>
              <a:rPr lang="en-US" sz="1300" b="1">
                <a:solidFill>
                  <a:schemeClr val="accent6"/>
                </a:solidFill>
              </a:rPr>
              <a:t>Job Audition Assessment</a:t>
            </a:r>
          </a:p>
          <a:p>
            <a:pPr>
              <a:spcBef>
                <a:spcPts val="600"/>
              </a:spcBef>
            </a:pPr>
            <a:r>
              <a:rPr lang="en-US" sz="1200"/>
              <a:t>Call simulation with CAT assessor</a:t>
            </a:r>
          </a:p>
        </p:txBody>
      </p:sp>
      <p:cxnSp>
        <p:nvCxnSpPr>
          <p:cNvPr id="62" name="Straight Connector 61">
            <a:extLst>
              <a:ext uri="{FF2B5EF4-FFF2-40B4-BE49-F238E27FC236}">
                <a16:creationId xmlns:a16="http://schemas.microsoft.com/office/drawing/2014/main" id="{008EE6DA-E253-40F5-82A1-406C1EC60F8C}"/>
              </a:ext>
            </a:extLst>
          </p:cNvPr>
          <p:cNvCxnSpPr>
            <a:cxnSpLocks/>
          </p:cNvCxnSpPr>
          <p:nvPr/>
        </p:nvCxnSpPr>
        <p:spPr bwMode="gray">
          <a:xfrm>
            <a:off x="8898851" y="2198258"/>
            <a:ext cx="0" cy="2475795"/>
          </a:xfrm>
          <a:prstGeom prst="line">
            <a:avLst/>
          </a:prstGeom>
          <a:ln w="19050" cap="rnd">
            <a:solidFill>
              <a:schemeClr val="accent6"/>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12D265CF-5E50-470E-8EAE-61E247ADFDC3}"/>
              </a:ext>
            </a:extLst>
          </p:cNvPr>
          <p:cNvSpPr txBox="1"/>
          <p:nvPr/>
        </p:nvSpPr>
        <p:spPr bwMode="gray">
          <a:xfrm>
            <a:off x="8431577" y="4783286"/>
            <a:ext cx="1800193" cy="1015663"/>
          </a:xfrm>
          <a:prstGeom prst="rect">
            <a:avLst/>
          </a:prstGeom>
          <a:noFill/>
        </p:spPr>
        <p:txBody>
          <a:bodyPr vert="horz" wrap="square" lIns="0" tIns="0" rIns="0" bIns="0" rtlCol="0">
            <a:spAutoFit/>
          </a:bodyPr>
          <a:lstStyle/>
          <a:p>
            <a:pPr>
              <a:spcBef>
                <a:spcPts val="600"/>
              </a:spcBef>
            </a:pPr>
            <a:r>
              <a:rPr lang="en-US" sz="1300" b="1">
                <a:solidFill>
                  <a:schemeClr val="accent6"/>
                </a:solidFill>
              </a:rPr>
              <a:t>Score/Report</a:t>
            </a:r>
          </a:p>
          <a:p>
            <a:pPr>
              <a:spcBef>
                <a:spcPts val="600"/>
              </a:spcBef>
            </a:pPr>
            <a:r>
              <a:rPr lang="en-US" sz="1200"/>
              <a:t>Candidates who cleared the job audition will be endorsed to hiring manager </a:t>
            </a:r>
          </a:p>
        </p:txBody>
      </p:sp>
      <p:sp>
        <p:nvSpPr>
          <p:cNvPr id="57" name="TextBox 56">
            <a:extLst>
              <a:ext uri="{FF2B5EF4-FFF2-40B4-BE49-F238E27FC236}">
                <a16:creationId xmlns:a16="http://schemas.microsoft.com/office/drawing/2014/main" id="{D8454947-48F1-4121-A881-9D9F95BFB817}"/>
              </a:ext>
            </a:extLst>
          </p:cNvPr>
          <p:cNvSpPr txBox="1"/>
          <p:nvPr/>
        </p:nvSpPr>
        <p:spPr bwMode="gray">
          <a:xfrm>
            <a:off x="9487629" y="2749675"/>
            <a:ext cx="2114540" cy="200055"/>
          </a:xfrm>
          <a:prstGeom prst="rect">
            <a:avLst/>
          </a:prstGeom>
          <a:noFill/>
        </p:spPr>
        <p:txBody>
          <a:bodyPr vert="horz" wrap="square" lIns="0" tIns="0" rIns="0" bIns="0" rtlCol="0">
            <a:spAutoFit/>
          </a:bodyPr>
          <a:lstStyle/>
          <a:p>
            <a:pPr>
              <a:spcBef>
                <a:spcPts val="600"/>
              </a:spcBef>
            </a:pPr>
            <a:r>
              <a:rPr lang="en-US" sz="1300" b="1">
                <a:solidFill>
                  <a:schemeClr val="accent6"/>
                </a:solidFill>
              </a:rPr>
              <a:t>Domain Interview</a:t>
            </a:r>
          </a:p>
        </p:txBody>
      </p:sp>
      <p:sp>
        <p:nvSpPr>
          <p:cNvPr id="52" name="TextBox 51">
            <a:extLst>
              <a:ext uri="{FF2B5EF4-FFF2-40B4-BE49-F238E27FC236}">
                <a16:creationId xmlns:a16="http://schemas.microsoft.com/office/drawing/2014/main" id="{AA3B8215-BC0C-4339-931D-12438FA6132D}"/>
              </a:ext>
            </a:extLst>
          </p:cNvPr>
          <p:cNvSpPr txBox="1"/>
          <p:nvPr/>
        </p:nvSpPr>
        <p:spPr bwMode="gray">
          <a:xfrm>
            <a:off x="463293" y="5886678"/>
            <a:ext cx="3657600" cy="107722"/>
          </a:xfrm>
          <a:prstGeom prst="rect">
            <a:avLst/>
          </a:prstGeom>
          <a:noFill/>
        </p:spPr>
        <p:txBody>
          <a:bodyPr vert="horz" wrap="square" lIns="0" tIns="0" rIns="0" bIns="0" rtlCol="0" anchor="b">
            <a:spAutoFit/>
          </a:bodyPr>
          <a:lstStyle/>
          <a:p>
            <a:pPr algn="l">
              <a:spcBef>
                <a:spcPts val="200"/>
              </a:spcBef>
            </a:pPr>
            <a:r>
              <a:rPr lang="en-US" sz="700"/>
              <a:t>Stock photo used.</a:t>
            </a:r>
          </a:p>
        </p:txBody>
      </p:sp>
      <p:pic>
        <p:nvPicPr>
          <p:cNvPr id="4" name="Picture 3">
            <a:extLst>
              <a:ext uri="{FF2B5EF4-FFF2-40B4-BE49-F238E27FC236}">
                <a16:creationId xmlns:a16="http://schemas.microsoft.com/office/drawing/2014/main" id="{4C01A11E-81A4-7E9B-FC68-868C64C013D8}"/>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3685314" y="2677309"/>
            <a:ext cx="456249" cy="457200"/>
          </a:xfrm>
          <a:prstGeom prst="rect">
            <a:avLst/>
          </a:prstGeom>
        </p:spPr>
      </p:pic>
      <p:pic>
        <p:nvPicPr>
          <p:cNvPr id="6" name="Picture 5">
            <a:extLst>
              <a:ext uri="{FF2B5EF4-FFF2-40B4-BE49-F238E27FC236}">
                <a16:creationId xmlns:a16="http://schemas.microsoft.com/office/drawing/2014/main" id="{AF928DF7-BF60-44B2-4717-C967BFF16A06}"/>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5431571" y="2147329"/>
            <a:ext cx="456248" cy="457200"/>
          </a:xfrm>
          <a:prstGeom prst="rect">
            <a:avLst/>
          </a:prstGeom>
        </p:spPr>
      </p:pic>
      <p:pic>
        <p:nvPicPr>
          <p:cNvPr id="7" name="Picture 6">
            <a:extLst>
              <a:ext uri="{FF2B5EF4-FFF2-40B4-BE49-F238E27FC236}">
                <a16:creationId xmlns:a16="http://schemas.microsoft.com/office/drawing/2014/main" id="{B88FCB20-C8C3-CDFA-989A-015AD6395AA7}"/>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a:xfrm>
            <a:off x="6948768" y="1690129"/>
            <a:ext cx="456248" cy="457200"/>
          </a:xfrm>
          <a:prstGeom prst="rect">
            <a:avLst/>
          </a:prstGeom>
        </p:spPr>
      </p:pic>
      <p:pic>
        <p:nvPicPr>
          <p:cNvPr id="8" name="Picture 7">
            <a:extLst>
              <a:ext uri="{FF2B5EF4-FFF2-40B4-BE49-F238E27FC236}">
                <a16:creationId xmlns:a16="http://schemas.microsoft.com/office/drawing/2014/main" id="{D9BFF4A2-BD6A-5F36-5FCA-6FA338235412}"/>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8670727" y="1595097"/>
            <a:ext cx="456248" cy="457200"/>
          </a:xfrm>
          <a:prstGeom prst="rect">
            <a:avLst/>
          </a:prstGeom>
        </p:spPr>
      </p:pic>
      <p:pic>
        <p:nvPicPr>
          <p:cNvPr id="9" name="Picture 8">
            <a:extLst>
              <a:ext uri="{FF2B5EF4-FFF2-40B4-BE49-F238E27FC236}">
                <a16:creationId xmlns:a16="http://schemas.microsoft.com/office/drawing/2014/main" id="{AAF9D746-71B0-FD9C-19E7-7622621B8A0C}"/>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l="104" r="104"/>
          <a:stretch/>
        </p:blipFill>
        <p:spPr bwMode="gray">
          <a:xfrm>
            <a:off x="10231770" y="2025629"/>
            <a:ext cx="456248" cy="457200"/>
          </a:xfrm>
          <a:prstGeom prst="rect">
            <a:avLst/>
          </a:prstGeom>
        </p:spPr>
      </p:pic>
    </p:spTree>
    <p:extLst>
      <p:ext uri="{BB962C8B-B14F-4D97-AF65-F5344CB8AC3E}">
        <p14:creationId xmlns:p14="http://schemas.microsoft.com/office/powerpoint/2010/main" val="2940567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7255DA-B73C-C1E1-06DA-29D31317E8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995107" y="451591"/>
            <a:ext cx="10201786" cy="5738505"/>
          </a:xfrm>
          <a:prstGeom prst="rect">
            <a:avLst/>
          </a:prstGeom>
        </p:spPr>
      </p:pic>
    </p:spTree>
    <p:extLst>
      <p:ext uri="{BB962C8B-B14F-4D97-AF65-F5344CB8AC3E}">
        <p14:creationId xmlns:p14="http://schemas.microsoft.com/office/powerpoint/2010/main" val="1981952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438C-423B-641F-C53E-F0A021F58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B4090D-1545-0A39-FB6C-0C9646F8106B}"/>
              </a:ext>
            </a:extLst>
          </p:cNvPr>
          <p:cNvSpPr>
            <a:spLocks noGrp="1"/>
          </p:cNvSpPr>
          <p:nvPr>
            <p:ph type="title"/>
          </p:nvPr>
        </p:nvSpPr>
        <p:spPr/>
        <p:txBody>
          <a:bodyPr/>
          <a:lstStyle/>
          <a:p>
            <a:r>
              <a:rPr lang="en-US"/>
              <a:t>Pronunciation</a:t>
            </a:r>
          </a:p>
        </p:txBody>
      </p:sp>
      <p:sp>
        <p:nvSpPr>
          <p:cNvPr id="3" name="Rectangle 2">
            <a:extLst>
              <a:ext uri="{FF2B5EF4-FFF2-40B4-BE49-F238E27FC236}">
                <a16:creationId xmlns:a16="http://schemas.microsoft.com/office/drawing/2014/main" id="{2FB54080-4BF6-BBDB-BC56-D04C08AD563F}"/>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B6725D6A-C4EA-24CC-E51C-900FE34E6B5C}"/>
              </a:ext>
            </a:extLst>
          </p:cNvPr>
          <p:cNvSpPr/>
          <p:nvPr/>
        </p:nvSpPr>
        <p:spPr>
          <a:xfrm>
            <a:off x="2218068" y="1904888"/>
            <a:ext cx="2471918" cy="37738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READ WHAT YOU SEE</a:t>
            </a:r>
          </a:p>
        </p:txBody>
      </p:sp>
      <p:pic>
        <p:nvPicPr>
          <p:cNvPr id="6" name="Picture 5">
            <a:extLst>
              <a:ext uri="{FF2B5EF4-FFF2-40B4-BE49-F238E27FC236}">
                <a16:creationId xmlns:a16="http://schemas.microsoft.com/office/drawing/2014/main" id="{E9C93934-8ACF-C247-8469-25D95A1677D4}"/>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1321661" y="1644441"/>
            <a:ext cx="896407" cy="898277"/>
          </a:xfrm>
          <a:prstGeom prst="rect">
            <a:avLst/>
          </a:prstGeom>
        </p:spPr>
      </p:pic>
      <p:pic>
        <p:nvPicPr>
          <p:cNvPr id="7" name="Picture 6">
            <a:extLst>
              <a:ext uri="{FF2B5EF4-FFF2-40B4-BE49-F238E27FC236}">
                <a16:creationId xmlns:a16="http://schemas.microsoft.com/office/drawing/2014/main" id="{A9F7B8DE-6FFB-D2D0-BEDF-8A09D271531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2A2E70F4-8D7D-996A-0F9B-E7986591697C}"/>
              </a:ext>
            </a:extLst>
          </p:cNvPr>
          <p:cNvSpPr/>
          <p:nvPr/>
        </p:nvSpPr>
        <p:spPr bwMode="gray">
          <a:xfrm>
            <a:off x="2910347" y="2807109"/>
            <a:ext cx="6371303" cy="1356852"/>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r>
              <a:rPr lang="en-US" sz="1400" b="0" i="0" u="none" baseline="0">
                <a:solidFill>
                  <a:srgbClr val="3D3C38"/>
                </a:solidFill>
              </a:rPr>
              <a:t>Pharmaceutical</a:t>
            </a:r>
          </a:p>
        </p:txBody>
      </p:sp>
    </p:spTree>
    <p:extLst>
      <p:ext uri="{BB962C8B-B14F-4D97-AF65-F5344CB8AC3E}">
        <p14:creationId xmlns:p14="http://schemas.microsoft.com/office/powerpoint/2010/main" val="2278011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7763-620C-DC46-0228-9AC208723D0D}"/>
              </a:ext>
            </a:extLst>
          </p:cNvPr>
          <p:cNvSpPr>
            <a:spLocks noGrp="1"/>
          </p:cNvSpPr>
          <p:nvPr>
            <p:ph type="title"/>
          </p:nvPr>
        </p:nvSpPr>
        <p:spPr/>
        <p:txBody>
          <a:bodyPr/>
          <a:lstStyle/>
          <a:p>
            <a:r>
              <a:rPr lang="en-US"/>
              <a:t>Pronunciation</a:t>
            </a:r>
          </a:p>
        </p:txBody>
      </p:sp>
      <p:sp>
        <p:nvSpPr>
          <p:cNvPr id="3" name="Rectangle 2">
            <a:extLst>
              <a:ext uri="{FF2B5EF4-FFF2-40B4-BE49-F238E27FC236}">
                <a16:creationId xmlns:a16="http://schemas.microsoft.com/office/drawing/2014/main" id="{238E399A-CD84-F3D8-AC3C-F1B978AFE1BA}"/>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9B2F5848-DF93-1C37-DF9E-2EA2F722F500}"/>
              </a:ext>
            </a:extLst>
          </p:cNvPr>
          <p:cNvSpPr/>
          <p:nvPr/>
        </p:nvSpPr>
        <p:spPr>
          <a:xfrm>
            <a:off x="2218068" y="1904888"/>
            <a:ext cx="2471918" cy="37738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READ WHAT YOU SEE</a:t>
            </a:r>
          </a:p>
        </p:txBody>
      </p:sp>
      <p:pic>
        <p:nvPicPr>
          <p:cNvPr id="6" name="Picture 5">
            <a:extLst>
              <a:ext uri="{FF2B5EF4-FFF2-40B4-BE49-F238E27FC236}">
                <a16:creationId xmlns:a16="http://schemas.microsoft.com/office/drawing/2014/main" id="{B549B502-5956-C641-FEA0-91F1F72D14C7}"/>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rcRect l="104" r="104"/>
          <a:stretch/>
        </p:blipFill>
        <p:spPr bwMode="gray">
          <a:xfrm>
            <a:off x="1321661" y="1644441"/>
            <a:ext cx="896407" cy="898277"/>
          </a:xfrm>
          <a:prstGeom prst="rect">
            <a:avLst/>
          </a:prstGeom>
        </p:spPr>
      </p:pic>
      <p:pic>
        <p:nvPicPr>
          <p:cNvPr id="7" name="Picture 6">
            <a:extLst>
              <a:ext uri="{FF2B5EF4-FFF2-40B4-BE49-F238E27FC236}">
                <a16:creationId xmlns:a16="http://schemas.microsoft.com/office/drawing/2014/main" id="{7C2413F7-6B6C-D431-F986-F190E9B9EAE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F15EBAC9-97E5-C141-1517-E027103C96DC}"/>
              </a:ext>
            </a:extLst>
          </p:cNvPr>
          <p:cNvSpPr/>
          <p:nvPr/>
        </p:nvSpPr>
        <p:spPr bwMode="gray">
          <a:xfrm>
            <a:off x="2910347" y="2807109"/>
            <a:ext cx="6371303" cy="1356852"/>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r>
              <a:rPr lang="en-US" sz="1400" b="0" i="0" u="none" baseline="0">
                <a:solidFill>
                  <a:srgbClr val="3D3C38"/>
                </a:solidFill>
              </a:rPr>
              <a:t>I arrive at the office at 8:30 AM. I say good morning to all my workmates then I get a big cup of hot coffee. I turn on my computer and read my email. Some days I have a lot to read. Soon I need another cup of coffee.</a:t>
            </a:r>
          </a:p>
        </p:txBody>
      </p:sp>
    </p:spTree>
    <p:extLst>
      <p:ext uri="{BB962C8B-B14F-4D97-AF65-F5344CB8AC3E}">
        <p14:creationId xmlns:p14="http://schemas.microsoft.com/office/powerpoint/2010/main" val="473759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85511-9C26-3537-EE8A-C1B297B4CE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1B5BF-036B-62D1-E01A-C49F7E86D38B}"/>
              </a:ext>
            </a:extLst>
          </p:cNvPr>
          <p:cNvSpPr>
            <a:spLocks noGrp="1"/>
          </p:cNvSpPr>
          <p:nvPr>
            <p:ph type="title"/>
          </p:nvPr>
        </p:nvSpPr>
        <p:spPr>
          <a:xfrm>
            <a:off x="467926" y="555639"/>
            <a:ext cx="9601200" cy="609398"/>
          </a:xfrm>
        </p:spPr>
        <p:txBody>
          <a:bodyPr/>
          <a:lstStyle/>
          <a:p>
            <a:r>
              <a:rPr lang="en-US"/>
              <a:t>Vocabulary</a:t>
            </a:r>
            <a:br>
              <a:rPr lang="en-US"/>
            </a:br>
            <a:r>
              <a:rPr lang="en-US"/>
              <a:t> </a:t>
            </a:r>
          </a:p>
        </p:txBody>
      </p:sp>
      <p:sp>
        <p:nvSpPr>
          <p:cNvPr id="3" name="Rectangle 2">
            <a:extLst>
              <a:ext uri="{FF2B5EF4-FFF2-40B4-BE49-F238E27FC236}">
                <a16:creationId xmlns:a16="http://schemas.microsoft.com/office/drawing/2014/main" id="{4BFA1906-71FA-ADB6-2565-C9AF49967974}"/>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D9785897-C253-5A63-A407-48991B06C477}"/>
              </a:ext>
            </a:extLst>
          </p:cNvPr>
          <p:cNvSpPr/>
          <p:nvPr/>
        </p:nvSpPr>
        <p:spPr>
          <a:xfrm>
            <a:off x="2218068" y="1767822"/>
            <a:ext cx="2875042" cy="65151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CHOOSE AND READ THE CORRECT SENTENCE</a:t>
            </a:r>
            <a:endParaRPr lang="en-US" sz="1400" b="1" i="1">
              <a:solidFill>
                <a:srgbClr val="3D3C38"/>
              </a:solidFill>
              <a:latin typeface="Arial"/>
            </a:endParaRPr>
          </a:p>
        </p:txBody>
      </p:sp>
      <p:pic>
        <p:nvPicPr>
          <p:cNvPr id="7" name="Picture 6">
            <a:extLst>
              <a:ext uri="{FF2B5EF4-FFF2-40B4-BE49-F238E27FC236}">
                <a16:creationId xmlns:a16="http://schemas.microsoft.com/office/drawing/2014/main" id="{3C204DBC-1AF8-49EC-4C63-F7E57142A1B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015B1102-8E70-346A-9CAF-39843DDC31DF}"/>
              </a:ext>
            </a:extLst>
          </p:cNvPr>
          <p:cNvSpPr/>
          <p:nvPr/>
        </p:nvSpPr>
        <p:spPr bwMode="gray">
          <a:xfrm>
            <a:off x="2910347" y="2974742"/>
            <a:ext cx="6371303" cy="1356852"/>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eaLnBrk="1" fontAlgn="auto" hangingPunct="1">
              <a:lnSpc>
                <a:spcPct val="100000"/>
              </a:lnSpc>
              <a:spcBef>
                <a:spcPts val="600"/>
              </a:spcBef>
              <a:spcAft>
                <a:spcPts val="0"/>
              </a:spcAft>
            </a:pPr>
            <a:r>
              <a:rPr lang="en-US" sz="1400" b="0" i="0" u="none" baseline="0">
                <a:solidFill>
                  <a:srgbClr val="3D3C38"/>
                </a:solidFill>
              </a:rPr>
              <a:t>a. This book makes me inspire to do better.</a:t>
            </a:r>
          </a:p>
          <a:p>
            <a:pPr rtl="0" eaLnBrk="1" fontAlgn="auto" hangingPunct="1">
              <a:lnSpc>
                <a:spcPct val="100000"/>
              </a:lnSpc>
              <a:spcBef>
                <a:spcPts val="600"/>
              </a:spcBef>
              <a:spcAft>
                <a:spcPts val="0"/>
              </a:spcAft>
            </a:pPr>
            <a:r>
              <a:rPr lang="en-US" sz="1400" b="0" i="0" u="none" baseline="0">
                <a:solidFill>
                  <a:srgbClr val="3D3C38"/>
                </a:solidFill>
              </a:rPr>
              <a:t>b. This book gives me the inspiration to do better. </a:t>
            </a:r>
          </a:p>
          <a:p>
            <a:pPr rtl="0" eaLnBrk="1" fontAlgn="auto" hangingPunct="1">
              <a:lnSpc>
                <a:spcPct val="100000"/>
              </a:lnSpc>
              <a:spcBef>
                <a:spcPts val="600"/>
              </a:spcBef>
              <a:spcAft>
                <a:spcPts val="0"/>
              </a:spcAft>
            </a:pPr>
            <a:r>
              <a:rPr lang="en-US" sz="1400" b="0" i="0" u="none" baseline="0">
                <a:solidFill>
                  <a:srgbClr val="3D3C38"/>
                </a:solidFill>
              </a:rPr>
              <a:t>c. The book allows me inspiring to do better. </a:t>
            </a:r>
          </a:p>
        </p:txBody>
      </p:sp>
      <p:pic>
        <p:nvPicPr>
          <p:cNvPr id="5" name="Picture 4">
            <a:extLst>
              <a:ext uri="{FF2B5EF4-FFF2-40B4-BE49-F238E27FC236}">
                <a16:creationId xmlns:a16="http://schemas.microsoft.com/office/drawing/2014/main" id="{3287C20C-7905-D398-4635-32F27374C72F}"/>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1426412" y="1696926"/>
            <a:ext cx="791656" cy="793307"/>
          </a:xfrm>
          <a:prstGeom prst="rect">
            <a:avLst/>
          </a:prstGeom>
        </p:spPr>
      </p:pic>
    </p:spTree>
    <p:extLst>
      <p:ext uri="{BB962C8B-B14F-4D97-AF65-F5344CB8AC3E}">
        <p14:creationId xmlns:p14="http://schemas.microsoft.com/office/powerpoint/2010/main" val="2288239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07FE4-879A-4D36-6115-091317B0A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00995-379E-AEA2-3F36-258F808C59F3}"/>
              </a:ext>
            </a:extLst>
          </p:cNvPr>
          <p:cNvSpPr>
            <a:spLocks noGrp="1"/>
          </p:cNvSpPr>
          <p:nvPr>
            <p:ph type="title"/>
          </p:nvPr>
        </p:nvSpPr>
        <p:spPr>
          <a:xfrm>
            <a:off x="467926" y="555639"/>
            <a:ext cx="9601200" cy="609398"/>
          </a:xfrm>
        </p:spPr>
        <p:txBody>
          <a:bodyPr/>
          <a:lstStyle/>
          <a:p>
            <a:r>
              <a:rPr lang="en-US"/>
              <a:t>Vocabulary</a:t>
            </a:r>
            <a:br>
              <a:rPr lang="en-US"/>
            </a:br>
            <a:r>
              <a:rPr lang="en-US"/>
              <a:t> </a:t>
            </a:r>
          </a:p>
        </p:txBody>
      </p:sp>
      <p:sp>
        <p:nvSpPr>
          <p:cNvPr id="3" name="Rectangle 2">
            <a:extLst>
              <a:ext uri="{FF2B5EF4-FFF2-40B4-BE49-F238E27FC236}">
                <a16:creationId xmlns:a16="http://schemas.microsoft.com/office/drawing/2014/main" id="{846D6D6B-F11C-FC15-169A-808FC0783A86}"/>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81BF023F-A43E-38A8-C968-EE51A9C7AF89}"/>
              </a:ext>
            </a:extLst>
          </p:cNvPr>
          <p:cNvSpPr/>
          <p:nvPr/>
        </p:nvSpPr>
        <p:spPr>
          <a:xfrm>
            <a:off x="2218067" y="1767822"/>
            <a:ext cx="3779609" cy="65151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CHOOSE THE CORRECT IDIOM TO COMPLETE THE SENTENCE</a:t>
            </a:r>
            <a:endParaRPr lang="en-US" sz="1400" b="1" i="1">
              <a:solidFill>
                <a:srgbClr val="3D3C38"/>
              </a:solidFill>
              <a:latin typeface="Arial"/>
            </a:endParaRPr>
          </a:p>
        </p:txBody>
      </p:sp>
      <p:pic>
        <p:nvPicPr>
          <p:cNvPr id="7" name="Picture 6">
            <a:extLst>
              <a:ext uri="{FF2B5EF4-FFF2-40B4-BE49-F238E27FC236}">
                <a16:creationId xmlns:a16="http://schemas.microsoft.com/office/drawing/2014/main" id="{03CD0C14-1DD7-490D-F708-27DCA624315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D326287E-5B35-5E64-9EDE-851C515EF484}"/>
              </a:ext>
            </a:extLst>
          </p:cNvPr>
          <p:cNvSpPr/>
          <p:nvPr/>
        </p:nvSpPr>
        <p:spPr bwMode="gray">
          <a:xfrm>
            <a:off x="2910347" y="2713704"/>
            <a:ext cx="6371303" cy="1961536"/>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eaLnBrk="1" fontAlgn="auto" hangingPunct="1">
              <a:lnSpc>
                <a:spcPct val="100000"/>
              </a:lnSpc>
              <a:spcBef>
                <a:spcPts val="600"/>
              </a:spcBef>
              <a:spcAft>
                <a:spcPts val="0"/>
              </a:spcAft>
            </a:pPr>
            <a:r>
              <a:rPr lang="en-US" sz="1400" b="0" i="1" u="none" baseline="0">
                <a:solidFill>
                  <a:srgbClr val="3D3C38"/>
                </a:solidFill>
              </a:rPr>
              <a:t>"I really want to help you but my ___. You should ask Colin for assistance."</a:t>
            </a:r>
          </a:p>
          <a:p>
            <a:pPr rtl="0" eaLnBrk="1" fontAlgn="auto" hangingPunct="1">
              <a:lnSpc>
                <a:spcPct val="100000"/>
              </a:lnSpc>
              <a:spcBef>
                <a:spcPts val="600"/>
              </a:spcBef>
              <a:spcAft>
                <a:spcPts val="0"/>
              </a:spcAft>
            </a:pPr>
            <a:endParaRPr lang="en-US" sz="1400" b="0" i="0" u="none" baseline="0">
              <a:solidFill>
                <a:srgbClr val="3D3C38"/>
              </a:solidFill>
            </a:endParaRPr>
          </a:p>
          <a:p>
            <a:pPr rtl="0" eaLnBrk="1" fontAlgn="auto" hangingPunct="1">
              <a:lnSpc>
                <a:spcPct val="100000"/>
              </a:lnSpc>
              <a:spcBef>
                <a:spcPts val="600"/>
              </a:spcBef>
              <a:spcAft>
                <a:spcPts val="0"/>
              </a:spcAft>
            </a:pPr>
            <a:r>
              <a:rPr lang="en-US" sz="1400" b="0" i="0" u="none" baseline="0">
                <a:solidFill>
                  <a:srgbClr val="3D3C38"/>
                </a:solidFill>
              </a:rPr>
              <a:t>a. hands are tied</a:t>
            </a:r>
          </a:p>
          <a:p>
            <a:pPr rtl="0" eaLnBrk="1" fontAlgn="auto" hangingPunct="1">
              <a:lnSpc>
                <a:spcPct val="100000"/>
              </a:lnSpc>
              <a:spcBef>
                <a:spcPts val="600"/>
              </a:spcBef>
              <a:spcAft>
                <a:spcPts val="0"/>
              </a:spcAft>
            </a:pPr>
            <a:r>
              <a:rPr lang="en-US" sz="1400" b="0" i="0" u="none" baseline="0">
                <a:solidFill>
                  <a:srgbClr val="3D3C38"/>
                </a:solidFill>
              </a:rPr>
              <a:t>b. fingers are crossed</a:t>
            </a:r>
          </a:p>
          <a:p>
            <a:pPr rtl="0" eaLnBrk="1" fontAlgn="auto" hangingPunct="1">
              <a:lnSpc>
                <a:spcPct val="100000"/>
              </a:lnSpc>
              <a:spcBef>
                <a:spcPts val="600"/>
              </a:spcBef>
              <a:spcAft>
                <a:spcPts val="0"/>
              </a:spcAft>
            </a:pPr>
            <a:r>
              <a:rPr lang="en-US" sz="1400" b="0" i="0" u="none" baseline="0">
                <a:solidFill>
                  <a:srgbClr val="3D3C38"/>
                </a:solidFill>
              </a:rPr>
              <a:t>c. nose is looking down</a:t>
            </a:r>
          </a:p>
        </p:txBody>
      </p:sp>
      <p:pic>
        <p:nvPicPr>
          <p:cNvPr id="5" name="Picture 4">
            <a:extLst>
              <a:ext uri="{FF2B5EF4-FFF2-40B4-BE49-F238E27FC236}">
                <a16:creationId xmlns:a16="http://schemas.microsoft.com/office/drawing/2014/main" id="{FEBF796E-8125-B7C9-7A6D-E725F3B7EA9E}"/>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1426412" y="1696926"/>
            <a:ext cx="791656" cy="793307"/>
          </a:xfrm>
          <a:prstGeom prst="rect">
            <a:avLst/>
          </a:prstGeom>
        </p:spPr>
      </p:pic>
    </p:spTree>
    <p:extLst>
      <p:ext uri="{BB962C8B-B14F-4D97-AF65-F5344CB8AC3E}">
        <p14:creationId xmlns:p14="http://schemas.microsoft.com/office/powerpoint/2010/main" val="920188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AF629-962C-272E-AC83-7CA3E0B65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0B6A8-4DED-5DC2-DEBC-8F0E0A55FB96}"/>
              </a:ext>
            </a:extLst>
          </p:cNvPr>
          <p:cNvSpPr>
            <a:spLocks noGrp="1"/>
          </p:cNvSpPr>
          <p:nvPr>
            <p:ph type="title"/>
          </p:nvPr>
        </p:nvSpPr>
        <p:spPr/>
        <p:txBody>
          <a:bodyPr/>
          <a:lstStyle/>
          <a:p>
            <a:r>
              <a:rPr lang="en-US"/>
              <a:t>Grammar</a:t>
            </a:r>
          </a:p>
        </p:txBody>
      </p:sp>
      <p:sp>
        <p:nvSpPr>
          <p:cNvPr id="3" name="Rectangle 2">
            <a:extLst>
              <a:ext uri="{FF2B5EF4-FFF2-40B4-BE49-F238E27FC236}">
                <a16:creationId xmlns:a16="http://schemas.microsoft.com/office/drawing/2014/main" id="{C41CE013-A03C-A9C5-38B9-0177C79531EC}"/>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EAA6865F-8EE6-62FE-4102-E8453CEBE3D4}"/>
              </a:ext>
            </a:extLst>
          </p:cNvPr>
          <p:cNvSpPr/>
          <p:nvPr/>
        </p:nvSpPr>
        <p:spPr>
          <a:xfrm>
            <a:off x="2218068" y="1767822"/>
            <a:ext cx="2875042" cy="65151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COMPLETE THE SENTENCE</a:t>
            </a:r>
          </a:p>
        </p:txBody>
      </p:sp>
      <p:pic>
        <p:nvPicPr>
          <p:cNvPr id="7" name="Picture 6">
            <a:extLst>
              <a:ext uri="{FF2B5EF4-FFF2-40B4-BE49-F238E27FC236}">
                <a16:creationId xmlns:a16="http://schemas.microsoft.com/office/drawing/2014/main" id="{45BC71CD-BD37-FDEA-CABC-E54D430498D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5529F077-88C1-5411-B074-E47FE5711DF0}"/>
              </a:ext>
            </a:extLst>
          </p:cNvPr>
          <p:cNvSpPr/>
          <p:nvPr/>
        </p:nvSpPr>
        <p:spPr bwMode="gray">
          <a:xfrm>
            <a:off x="2910347" y="2693439"/>
            <a:ext cx="6371303" cy="1745226"/>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eaLnBrk="1" fontAlgn="auto" hangingPunct="1">
              <a:lnSpc>
                <a:spcPct val="100000"/>
              </a:lnSpc>
              <a:spcBef>
                <a:spcPts val="600"/>
              </a:spcBef>
              <a:spcAft>
                <a:spcPts val="0"/>
              </a:spcAft>
            </a:pPr>
            <a:r>
              <a:rPr lang="en-US" sz="1400" b="0" i="0" u="none" baseline="0">
                <a:solidFill>
                  <a:srgbClr val="3D3C38"/>
                </a:solidFill>
              </a:rPr>
              <a:t>Jean’s birthday is _____ November. </a:t>
            </a:r>
          </a:p>
          <a:p>
            <a:pPr rtl="0" eaLnBrk="1" fontAlgn="auto" hangingPunct="1">
              <a:lnSpc>
                <a:spcPct val="100000"/>
              </a:lnSpc>
              <a:spcBef>
                <a:spcPts val="600"/>
              </a:spcBef>
              <a:spcAft>
                <a:spcPts val="0"/>
              </a:spcAft>
            </a:pPr>
            <a:endParaRPr lang="en-US" sz="1400" b="0" i="0" u="none" baseline="0">
              <a:solidFill>
                <a:srgbClr val="3D3C38"/>
              </a:solidFill>
            </a:endParaRPr>
          </a:p>
          <a:p>
            <a:pPr rtl="0" eaLnBrk="1" fontAlgn="auto" hangingPunct="1">
              <a:lnSpc>
                <a:spcPct val="100000"/>
              </a:lnSpc>
              <a:spcBef>
                <a:spcPts val="600"/>
              </a:spcBef>
              <a:spcAft>
                <a:spcPts val="0"/>
              </a:spcAft>
            </a:pPr>
            <a:r>
              <a:rPr lang="en-US" sz="1400" b="0" i="0" u="none" baseline="0">
                <a:solidFill>
                  <a:srgbClr val="3D3C38"/>
                </a:solidFill>
              </a:rPr>
              <a:t>a. in </a:t>
            </a:r>
          </a:p>
          <a:p>
            <a:pPr rtl="0" eaLnBrk="1" fontAlgn="auto" hangingPunct="1">
              <a:lnSpc>
                <a:spcPct val="100000"/>
              </a:lnSpc>
              <a:spcBef>
                <a:spcPts val="600"/>
              </a:spcBef>
              <a:spcAft>
                <a:spcPts val="0"/>
              </a:spcAft>
            </a:pPr>
            <a:r>
              <a:rPr lang="en-US" sz="1400" b="0" i="0" u="none" baseline="0">
                <a:solidFill>
                  <a:srgbClr val="3D3C38"/>
                </a:solidFill>
              </a:rPr>
              <a:t>b. on </a:t>
            </a:r>
          </a:p>
          <a:p>
            <a:pPr rtl="0" eaLnBrk="1" fontAlgn="auto" hangingPunct="1">
              <a:lnSpc>
                <a:spcPct val="100000"/>
              </a:lnSpc>
              <a:spcBef>
                <a:spcPts val="600"/>
              </a:spcBef>
              <a:spcAft>
                <a:spcPts val="0"/>
              </a:spcAft>
            </a:pPr>
            <a:r>
              <a:rPr lang="en-US" sz="1400" b="0" i="0" u="none" baseline="0">
                <a:solidFill>
                  <a:srgbClr val="3D3C38"/>
                </a:solidFill>
              </a:rPr>
              <a:t>c. at </a:t>
            </a:r>
          </a:p>
        </p:txBody>
      </p:sp>
      <p:pic>
        <p:nvPicPr>
          <p:cNvPr id="5" name="Picture 4">
            <a:extLst>
              <a:ext uri="{FF2B5EF4-FFF2-40B4-BE49-F238E27FC236}">
                <a16:creationId xmlns:a16="http://schemas.microsoft.com/office/drawing/2014/main" id="{D822B557-6445-9BF4-6544-A76EEB835F91}"/>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1426412" y="1696926"/>
            <a:ext cx="791656" cy="793307"/>
          </a:xfrm>
          <a:prstGeom prst="rect">
            <a:avLst/>
          </a:prstGeom>
        </p:spPr>
      </p:pic>
    </p:spTree>
    <p:extLst>
      <p:ext uri="{BB962C8B-B14F-4D97-AF65-F5344CB8AC3E}">
        <p14:creationId xmlns:p14="http://schemas.microsoft.com/office/powerpoint/2010/main" val="365980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3B246-FF66-10F9-C076-8ACF43865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2A4C6-3656-C870-D209-A682272588D5}"/>
              </a:ext>
            </a:extLst>
          </p:cNvPr>
          <p:cNvSpPr>
            <a:spLocks noGrp="1"/>
          </p:cNvSpPr>
          <p:nvPr>
            <p:ph type="title"/>
          </p:nvPr>
        </p:nvSpPr>
        <p:spPr/>
        <p:txBody>
          <a:bodyPr/>
          <a:lstStyle/>
          <a:p>
            <a:r>
              <a:rPr lang="en-US"/>
              <a:t>Active Listening and Comprehension</a:t>
            </a:r>
          </a:p>
        </p:txBody>
      </p:sp>
      <p:sp>
        <p:nvSpPr>
          <p:cNvPr id="3" name="Rectangle 2">
            <a:extLst>
              <a:ext uri="{FF2B5EF4-FFF2-40B4-BE49-F238E27FC236}">
                <a16:creationId xmlns:a16="http://schemas.microsoft.com/office/drawing/2014/main" id="{C52024BD-59E6-DC73-BC80-B4E89DAF8F37}"/>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ADB0B39A-DC48-0B65-4652-7FDC9E04E5E4}"/>
              </a:ext>
            </a:extLst>
          </p:cNvPr>
          <p:cNvSpPr/>
          <p:nvPr/>
        </p:nvSpPr>
        <p:spPr>
          <a:xfrm>
            <a:off x="2218068" y="1904888"/>
            <a:ext cx="2471918" cy="37738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LISTEN AND REPEAT</a:t>
            </a:r>
          </a:p>
        </p:txBody>
      </p:sp>
      <p:pic>
        <p:nvPicPr>
          <p:cNvPr id="7" name="Picture 6">
            <a:extLst>
              <a:ext uri="{FF2B5EF4-FFF2-40B4-BE49-F238E27FC236}">
                <a16:creationId xmlns:a16="http://schemas.microsoft.com/office/drawing/2014/main" id="{3F9D3B59-1ABF-4988-45D0-C6318918842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pic>
        <p:nvPicPr>
          <p:cNvPr id="9" name="Picture 8">
            <a:extLst>
              <a:ext uri="{FF2B5EF4-FFF2-40B4-BE49-F238E27FC236}">
                <a16:creationId xmlns:a16="http://schemas.microsoft.com/office/drawing/2014/main" id="{A3BEFE19-9AB1-B061-8C55-94E8B74C1FB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681" b="89362" l="1045" r="97463">
                        <a14:foregroundMark x1="82388" y1="50213" x2="25970" y2="27234"/>
                        <a14:foregroundMark x1="25970" y1="27234" x2="10896" y2="34043"/>
                        <a14:foregroundMark x1="10896" y1="34043" x2="17761" y2="58298"/>
                        <a14:foregroundMark x1="17761" y1="58298" x2="80597" y2="66809"/>
                        <a14:foregroundMark x1="97612" y1="17447" x2="68657" y2="6809"/>
                        <a14:foregroundMark x1="68657" y1="6809" x2="52388" y2="21702"/>
                        <a14:foregroundMark x1="52388" y1="21702" x2="59104" y2="50213"/>
                        <a14:foregroundMark x1="59104" y1="50213" x2="89851" y2="72766"/>
                        <a14:foregroundMark x1="89851" y1="72766" x2="97164" y2="46809"/>
                        <a14:foregroundMark x1="97164" y1="46809" x2="97463" y2="25532"/>
                        <a14:foregroundMark x1="8806" y1="7234" x2="1343" y2="36596"/>
                        <a14:foregroundMark x1="1343" y1="36596" x2="4776" y2="78298"/>
                        <a14:foregroundMark x1="4776" y1="78298" x2="21045" y2="73191"/>
                        <a14:foregroundMark x1="21045" y1="73191" x2="25672" y2="47660"/>
                        <a14:foregroundMark x1="25672" y1="47660" x2="11045" y2="4681"/>
                        <a14:foregroundMark x1="7612" y1="6809" x2="4627" y2="39149"/>
                        <a14:foregroundMark x1="4627" y1="39149" x2="5373" y2="73191"/>
                        <a14:foregroundMark x1="5373" y1="73191" x2="10746" y2="47660"/>
                        <a14:foregroundMark x1="10746" y1="47660" x2="11493" y2="23830"/>
                        <a14:foregroundMark x1="17015" y1="74894" x2="18657" y2="77021"/>
                        <a14:foregroundMark x1="13284" y1="77447" x2="14478" y2="83830"/>
                        <a14:foregroundMark x1="15224" y1="83404" x2="15224" y2="83404"/>
                        <a14:foregroundMark x1="15075" y1="83404" x2="15075" y2="83404"/>
                        <a14:foregroundMark x1="15075" y1="82128" x2="15522" y2="89362"/>
                        <a14:foregroundMark x1="1493" y1="8936" x2="1045" y2="40426"/>
                        <a14:foregroundMark x1="1045" y1="40426" x2="1194" y2="41702"/>
                      </a14:backgroundRemoval>
                    </a14:imgEffect>
                  </a14:imgLayer>
                </a14:imgProps>
              </a:ext>
            </a:extLst>
          </a:blip>
          <a:stretch>
            <a:fillRect/>
          </a:stretch>
        </p:blipFill>
        <p:spPr>
          <a:xfrm>
            <a:off x="2895816" y="2532979"/>
            <a:ext cx="6400368" cy="2244905"/>
          </a:xfrm>
          <a:prstGeom prst="rect">
            <a:avLst/>
          </a:prstGeom>
        </p:spPr>
      </p:pic>
      <p:pic>
        <p:nvPicPr>
          <p:cNvPr id="10" name="Picture 9">
            <a:extLst>
              <a:ext uri="{FF2B5EF4-FFF2-40B4-BE49-F238E27FC236}">
                <a16:creationId xmlns:a16="http://schemas.microsoft.com/office/drawing/2014/main" id="{B8536F55-F0C7-02B0-647C-8AAD8D5C4F8F}"/>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1505835" y="1736720"/>
            <a:ext cx="712233" cy="713719"/>
          </a:xfrm>
          <a:prstGeom prst="rect">
            <a:avLst/>
          </a:prstGeom>
        </p:spPr>
      </p:pic>
    </p:spTree>
    <p:extLst>
      <p:ext uri="{BB962C8B-B14F-4D97-AF65-F5344CB8AC3E}">
        <p14:creationId xmlns:p14="http://schemas.microsoft.com/office/powerpoint/2010/main" val="2663218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D1D20-D2B1-4D62-873E-33CF9113D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29884-9700-FF37-2856-0132C94E9F57}"/>
              </a:ext>
            </a:extLst>
          </p:cNvPr>
          <p:cNvSpPr>
            <a:spLocks noGrp="1"/>
          </p:cNvSpPr>
          <p:nvPr>
            <p:ph type="title"/>
          </p:nvPr>
        </p:nvSpPr>
        <p:spPr/>
        <p:txBody>
          <a:bodyPr/>
          <a:lstStyle/>
          <a:p>
            <a:r>
              <a:rPr lang="en-US"/>
              <a:t>Conversation </a:t>
            </a:r>
          </a:p>
        </p:txBody>
      </p:sp>
      <p:sp>
        <p:nvSpPr>
          <p:cNvPr id="3" name="Rectangle 2">
            <a:extLst>
              <a:ext uri="{FF2B5EF4-FFF2-40B4-BE49-F238E27FC236}">
                <a16:creationId xmlns:a16="http://schemas.microsoft.com/office/drawing/2014/main" id="{F842EFBC-5416-52B9-3346-79CCA55A847C}"/>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11CAE6B2-2386-A3E7-F534-727F7EA3E85C}"/>
              </a:ext>
            </a:extLst>
          </p:cNvPr>
          <p:cNvSpPr/>
          <p:nvPr/>
        </p:nvSpPr>
        <p:spPr>
          <a:xfrm>
            <a:off x="2218068" y="1767822"/>
            <a:ext cx="2875042" cy="65151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RESPOND TO THE CALLER</a:t>
            </a:r>
            <a:endParaRPr lang="en-US" sz="1400" b="1" i="1">
              <a:solidFill>
                <a:srgbClr val="3D3C38"/>
              </a:solidFill>
              <a:latin typeface="Arial"/>
            </a:endParaRPr>
          </a:p>
        </p:txBody>
      </p:sp>
      <p:pic>
        <p:nvPicPr>
          <p:cNvPr id="7" name="Picture 6">
            <a:extLst>
              <a:ext uri="{FF2B5EF4-FFF2-40B4-BE49-F238E27FC236}">
                <a16:creationId xmlns:a16="http://schemas.microsoft.com/office/drawing/2014/main" id="{AA064CE7-42F8-F197-B9CA-4637F1F0442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pic>
        <p:nvPicPr>
          <p:cNvPr id="6" name="Picture 5">
            <a:extLst>
              <a:ext uri="{FF2B5EF4-FFF2-40B4-BE49-F238E27FC236}">
                <a16:creationId xmlns:a16="http://schemas.microsoft.com/office/drawing/2014/main" id="{6F1F2B22-0EB1-B536-6CD6-56CC2E5D0FF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4681" b="89362" l="1045" r="97463">
                        <a14:foregroundMark x1="82388" y1="50213" x2="25970" y2="27234"/>
                        <a14:foregroundMark x1="25970" y1="27234" x2="10896" y2="34043"/>
                        <a14:foregroundMark x1="10896" y1="34043" x2="17761" y2="58298"/>
                        <a14:foregroundMark x1="17761" y1="58298" x2="80597" y2="66809"/>
                        <a14:foregroundMark x1="97612" y1="17447" x2="68657" y2="6809"/>
                        <a14:foregroundMark x1="68657" y1="6809" x2="52388" y2="21702"/>
                        <a14:foregroundMark x1="52388" y1="21702" x2="59104" y2="50213"/>
                        <a14:foregroundMark x1="59104" y1="50213" x2="89851" y2="72766"/>
                        <a14:foregroundMark x1="89851" y1="72766" x2="97164" y2="46809"/>
                        <a14:foregroundMark x1="97164" y1="46809" x2="97463" y2="25532"/>
                        <a14:foregroundMark x1="8806" y1="7234" x2="1343" y2="36596"/>
                        <a14:foregroundMark x1="1343" y1="36596" x2="4776" y2="78298"/>
                        <a14:foregroundMark x1="4776" y1="78298" x2="21045" y2="73191"/>
                        <a14:foregroundMark x1="21045" y1="73191" x2="25672" y2="47660"/>
                        <a14:foregroundMark x1="25672" y1="47660" x2="11045" y2="4681"/>
                        <a14:foregroundMark x1="7612" y1="6809" x2="4627" y2="39149"/>
                        <a14:foregroundMark x1="4627" y1="39149" x2="5373" y2="73191"/>
                        <a14:foregroundMark x1="5373" y1="73191" x2="10746" y2="47660"/>
                        <a14:foregroundMark x1="10746" y1="47660" x2="11493" y2="23830"/>
                        <a14:foregroundMark x1="17015" y1="74894" x2="18657" y2="77021"/>
                        <a14:foregroundMark x1="13284" y1="77447" x2="14478" y2="83830"/>
                        <a14:foregroundMark x1="15224" y1="83404" x2="15224" y2="83404"/>
                        <a14:foregroundMark x1="15075" y1="83404" x2="15075" y2="83404"/>
                        <a14:foregroundMark x1="15075" y1="82128" x2="15522" y2="89362"/>
                        <a14:foregroundMark x1="1493" y1="8936" x2="1045" y2="40426"/>
                        <a14:foregroundMark x1="1045" y1="40426" x2="1194" y2="41702"/>
                      </a14:backgroundRemoval>
                    </a14:imgEffect>
                  </a14:imgLayer>
                </a14:imgProps>
              </a:ext>
            </a:extLst>
          </a:blip>
          <a:stretch>
            <a:fillRect/>
          </a:stretch>
        </p:blipFill>
        <p:spPr>
          <a:xfrm>
            <a:off x="2895816" y="2532979"/>
            <a:ext cx="6400368" cy="2244905"/>
          </a:xfrm>
          <a:prstGeom prst="rect">
            <a:avLst/>
          </a:prstGeom>
        </p:spPr>
      </p:pic>
      <p:pic>
        <p:nvPicPr>
          <p:cNvPr id="10" name="Picture 9">
            <a:extLst>
              <a:ext uri="{FF2B5EF4-FFF2-40B4-BE49-F238E27FC236}">
                <a16:creationId xmlns:a16="http://schemas.microsoft.com/office/drawing/2014/main" id="{DC127773-EC3A-CA12-F851-5E86ECFE0646}"/>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1284294" y="1682195"/>
            <a:ext cx="849013" cy="850784"/>
          </a:xfrm>
          <a:prstGeom prst="rect">
            <a:avLst/>
          </a:prstGeom>
        </p:spPr>
      </p:pic>
    </p:spTree>
    <p:extLst>
      <p:ext uri="{BB962C8B-B14F-4D97-AF65-F5344CB8AC3E}">
        <p14:creationId xmlns:p14="http://schemas.microsoft.com/office/powerpoint/2010/main" val="2875330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200E3-8C50-F931-26D0-BF6980029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B037E-2334-D000-260E-AA7B76C46AD9}"/>
              </a:ext>
            </a:extLst>
          </p:cNvPr>
          <p:cNvSpPr>
            <a:spLocks noGrp="1"/>
          </p:cNvSpPr>
          <p:nvPr>
            <p:ph type="title"/>
          </p:nvPr>
        </p:nvSpPr>
        <p:spPr/>
        <p:txBody>
          <a:bodyPr/>
          <a:lstStyle/>
          <a:p>
            <a:r>
              <a:rPr lang="en-US"/>
              <a:t>Coherence</a:t>
            </a:r>
          </a:p>
        </p:txBody>
      </p:sp>
      <p:sp>
        <p:nvSpPr>
          <p:cNvPr id="3" name="Rectangle 2">
            <a:extLst>
              <a:ext uri="{FF2B5EF4-FFF2-40B4-BE49-F238E27FC236}">
                <a16:creationId xmlns:a16="http://schemas.microsoft.com/office/drawing/2014/main" id="{694B4C94-F8DB-8F0F-62D9-187A456F5F79}"/>
              </a:ext>
            </a:extLst>
          </p:cNvPr>
          <p:cNvSpPr/>
          <p:nvPr/>
        </p:nvSpPr>
        <p:spPr bwMode="gray">
          <a:xfrm>
            <a:off x="1081548" y="1111045"/>
            <a:ext cx="10028903" cy="4748981"/>
          </a:xfrm>
          <a:prstGeom prst="rect">
            <a:avLst/>
          </a:prstGeom>
          <a:solidFill>
            <a:srgbClr val="D9F6FC"/>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 name="Rounded Rectangle 87">
            <a:extLst>
              <a:ext uri="{FF2B5EF4-FFF2-40B4-BE49-F238E27FC236}">
                <a16:creationId xmlns:a16="http://schemas.microsoft.com/office/drawing/2014/main" id="{07FAFD86-3CB8-4227-3D5F-A5E3FDFFA95F}"/>
              </a:ext>
            </a:extLst>
          </p:cNvPr>
          <p:cNvSpPr/>
          <p:nvPr/>
        </p:nvSpPr>
        <p:spPr>
          <a:xfrm>
            <a:off x="2218068" y="1767822"/>
            <a:ext cx="4566190" cy="651514"/>
          </a:xfrm>
          <a:prstGeom prst="roundRect">
            <a:avLst/>
          </a:prstGeom>
          <a:solidFill>
            <a:srgbClr val="FBFAF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rgbClr val="3D3C38"/>
                </a:solidFill>
                <a:latin typeface="Arial"/>
              </a:rPr>
              <a:t>COMPLETE THE INSTRUCTIONS BY USING THE CORRECT SEQUENCE MARKERS</a:t>
            </a:r>
            <a:endParaRPr lang="en-US" sz="1400" b="1" i="1">
              <a:solidFill>
                <a:srgbClr val="3D3C38"/>
              </a:solidFill>
              <a:latin typeface="Arial"/>
            </a:endParaRPr>
          </a:p>
        </p:txBody>
      </p:sp>
      <p:pic>
        <p:nvPicPr>
          <p:cNvPr id="7" name="Picture 6">
            <a:extLst>
              <a:ext uri="{FF2B5EF4-FFF2-40B4-BE49-F238E27FC236}">
                <a16:creationId xmlns:a16="http://schemas.microsoft.com/office/drawing/2014/main" id="{8211E3BC-73D2-71E9-E8EA-DB144F55E49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216" b="89691" l="4000" r="93455">
                        <a14:foregroundMark x1="20727" y1="42268" x2="20727" y2="42268"/>
                        <a14:foregroundMark x1="21091" y1="27835" x2="21091" y2="27835"/>
                        <a14:foregroundMark x1="21091" y1="25773" x2="21091" y2="25773"/>
                        <a14:foregroundMark x1="19636" y1="24742" x2="19636" y2="24742"/>
                        <a14:foregroundMark x1="19273" y1="24742" x2="19273" y2="24742"/>
                        <a14:foregroundMark x1="21091" y1="45361" x2="21091" y2="45361"/>
                        <a14:foregroundMark x1="48364" y1="21649" x2="48364" y2="21649"/>
                        <a14:foregroundMark x1="66545" y1="37113" x2="66545" y2="37113"/>
                        <a14:foregroundMark x1="46545" y1="56701" x2="46545" y2="56701"/>
                        <a14:foregroundMark x1="42909" y1="42268" x2="42909" y2="42268"/>
                        <a14:foregroundMark x1="54182" y1="52577" x2="54182" y2="52577"/>
                        <a14:foregroundMark x1="62545" y1="55670" x2="62545" y2="55670"/>
                        <a14:foregroundMark x1="70182" y1="55670" x2="70182" y2="55670"/>
                        <a14:foregroundMark x1="77455" y1="58763" x2="77455" y2="58763"/>
                        <a14:foregroundMark x1="85455" y1="56701" x2="85455" y2="56701"/>
                        <a14:foregroundMark x1="81818" y1="82474" x2="81818" y2="82474"/>
                        <a14:foregroundMark x1="93818" y1="50515" x2="93818" y2="50515"/>
                        <a14:foregroundMark x1="32000" y1="35052" x2="32000" y2="35052"/>
                        <a14:foregroundMark x1="26182" y1="27835" x2="26182" y2="27835"/>
                        <a14:foregroundMark x1="9818" y1="32990" x2="9818" y2="32990"/>
                        <a14:foregroundMark x1="29455" y1="81443" x2="29455" y2="81443"/>
                        <a14:foregroundMark x1="32364" y1="57732" x2="32364" y2="57732"/>
                        <a14:foregroundMark x1="13455" y1="54639" x2="13455" y2="54639"/>
                        <a14:foregroundMark x1="19273" y1="42268" x2="25455" y2="45361"/>
                        <a14:foregroundMark x1="12364" y1="27835" x2="13091" y2="87629"/>
                        <a14:foregroundMark x1="4727" y1="22680" x2="5455" y2="79381"/>
                        <a14:foregroundMark x1="4000" y1="25773" x2="4000" y2="25773"/>
                        <a14:foregroundMark x1="4000" y1="22680" x2="4000" y2="22680"/>
                        <a14:foregroundMark x1="5091" y1="17526" x2="4364" y2="34021"/>
                        <a14:foregroundMark x1="5091" y1="41237" x2="4364" y2="27835"/>
                      </a14:backgroundRemoval>
                    </a14:imgEffect>
                  </a14:imgLayer>
                </a14:imgProps>
              </a:ext>
            </a:extLst>
          </a:blip>
          <a:stretch>
            <a:fillRect/>
          </a:stretch>
        </p:blipFill>
        <p:spPr>
          <a:xfrm>
            <a:off x="7801192" y="4898031"/>
            <a:ext cx="2095682" cy="739204"/>
          </a:xfrm>
          <a:prstGeom prst="rect">
            <a:avLst/>
          </a:prstGeom>
        </p:spPr>
      </p:pic>
      <p:sp>
        <p:nvSpPr>
          <p:cNvPr id="8" name="Rectangle: Rounded Corners 7">
            <a:extLst>
              <a:ext uri="{FF2B5EF4-FFF2-40B4-BE49-F238E27FC236}">
                <a16:creationId xmlns:a16="http://schemas.microsoft.com/office/drawing/2014/main" id="{3090443D-50CB-2ABE-0586-0268CBF1191E}"/>
              </a:ext>
            </a:extLst>
          </p:cNvPr>
          <p:cNvSpPr/>
          <p:nvPr/>
        </p:nvSpPr>
        <p:spPr bwMode="gray">
          <a:xfrm>
            <a:off x="3081707" y="2670043"/>
            <a:ext cx="6170448" cy="1853382"/>
          </a:xfrm>
          <a:prstGeom prst="round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rtl="0" eaLnBrk="1" fontAlgn="auto" hangingPunct="1">
              <a:lnSpc>
                <a:spcPct val="100000"/>
              </a:lnSpc>
              <a:spcBef>
                <a:spcPts val="600"/>
              </a:spcBef>
              <a:spcAft>
                <a:spcPts val="0"/>
              </a:spcAft>
            </a:pPr>
            <a:r>
              <a:rPr lang="en-US" sz="1400" b="0" i="0" u="none" baseline="0">
                <a:solidFill>
                  <a:srgbClr val="3D3C38"/>
                </a:solidFill>
              </a:rPr>
              <a:t>___, cut a dozen lemons in half and squeeze all the juice out of them. ___, pour the juice into a container with a half cup of sugar. Add a very small amount of water into your container, ___ stir until the sugar dissolves. ___ stirring, add more water and ice. ___, pour into glasses and serve.</a:t>
            </a:r>
          </a:p>
          <a:p>
            <a:pPr rtl="0" eaLnBrk="1" fontAlgn="auto" hangingPunct="1">
              <a:lnSpc>
                <a:spcPct val="100000"/>
              </a:lnSpc>
              <a:spcBef>
                <a:spcPts val="600"/>
              </a:spcBef>
              <a:spcAft>
                <a:spcPts val="0"/>
              </a:spcAft>
            </a:pPr>
            <a:endParaRPr lang="en-US" sz="1400">
              <a:solidFill>
                <a:srgbClr val="3D3C38"/>
              </a:solidFill>
            </a:endParaRPr>
          </a:p>
          <a:p>
            <a:pPr>
              <a:spcBef>
                <a:spcPts val="600"/>
              </a:spcBef>
            </a:pPr>
            <a:r>
              <a:rPr lang="en-US" sz="1400">
                <a:solidFill>
                  <a:srgbClr val="3D3C38"/>
                </a:solidFill>
              </a:rPr>
              <a:t>then, finally, next, first, after</a:t>
            </a:r>
          </a:p>
        </p:txBody>
      </p:sp>
      <p:pic>
        <p:nvPicPr>
          <p:cNvPr id="5" name="Picture 4">
            <a:extLst>
              <a:ext uri="{FF2B5EF4-FFF2-40B4-BE49-F238E27FC236}">
                <a16:creationId xmlns:a16="http://schemas.microsoft.com/office/drawing/2014/main" id="{6D78267A-4A67-CC34-6B32-8AEFD2AE0238}"/>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1426412" y="1696926"/>
            <a:ext cx="791656" cy="793307"/>
          </a:xfrm>
          <a:prstGeom prst="rect">
            <a:avLst/>
          </a:prstGeom>
        </p:spPr>
      </p:pic>
    </p:spTree>
    <p:extLst>
      <p:ext uri="{BB962C8B-B14F-4D97-AF65-F5344CB8AC3E}">
        <p14:creationId xmlns:p14="http://schemas.microsoft.com/office/powerpoint/2010/main" val="2102828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E27F3D54-9A81-64EA-D0C5-A1C2E52FFEAD}"/>
              </a:ext>
            </a:extLst>
          </p:cNvPr>
          <p:cNvSpPr/>
          <p:nvPr/>
        </p:nvSpPr>
        <p:spPr bwMode="gray">
          <a:xfrm>
            <a:off x="-3" y="6136350"/>
            <a:ext cx="12192001" cy="584361"/>
          </a:xfrm>
          <a:prstGeom prst="rect">
            <a:avLst/>
          </a:prstGeom>
          <a:solidFill>
            <a:schemeClr val="bg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2" name="Title 1">
            <a:extLst>
              <a:ext uri="{FF2B5EF4-FFF2-40B4-BE49-F238E27FC236}">
                <a16:creationId xmlns:a16="http://schemas.microsoft.com/office/drawing/2014/main" id="{BFFB472E-2F61-036D-C05F-D22738DDDFFE}"/>
              </a:ext>
            </a:extLst>
          </p:cNvPr>
          <p:cNvSpPr>
            <a:spLocks noGrp="1"/>
          </p:cNvSpPr>
          <p:nvPr>
            <p:ph type="title"/>
          </p:nvPr>
        </p:nvSpPr>
        <p:spPr>
          <a:xfrm>
            <a:off x="467926" y="555639"/>
            <a:ext cx="6255171" cy="304699"/>
          </a:xfrm>
        </p:spPr>
        <p:txBody>
          <a:bodyPr/>
          <a:lstStyle/>
          <a:p>
            <a:r>
              <a:rPr lang="en-US" dirty="0"/>
              <a:t>AURA (AI Unified Recruitment Assistant) </a:t>
            </a:r>
          </a:p>
        </p:txBody>
      </p:sp>
      <p:sp>
        <p:nvSpPr>
          <p:cNvPr id="3" name="Rectangle 2">
            <a:extLst>
              <a:ext uri="{FF2B5EF4-FFF2-40B4-BE49-F238E27FC236}">
                <a16:creationId xmlns:a16="http://schemas.microsoft.com/office/drawing/2014/main" id="{891A0ED0-842E-B8E0-FBE6-CB2B6D389E9D}"/>
              </a:ext>
            </a:extLst>
          </p:cNvPr>
          <p:cNvSpPr/>
          <p:nvPr/>
        </p:nvSpPr>
        <p:spPr bwMode="gray">
          <a:xfrm>
            <a:off x="0" y="1187267"/>
            <a:ext cx="12192000" cy="1215150"/>
          </a:xfrm>
          <a:prstGeom prst="rect">
            <a:avLst/>
          </a:prstGeom>
          <a:solidFill>
            <a:srgbClr val="FAF8F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200" b="0" i="0" u="none" baseline="0">
              <a:solidFill>
                <a:srgbClr val="FFFFFF"/>
              </a:solidFill>
              <a:latin typeface="Enterprise Sans" pitchFamily="2" charset="0"/>
              <a:ea typeface="Enterprise Sans" pitchFamily="2" charset="0"/>
            </a:endParaRPr>
          </a:p>
        </p:txBody>
      </p:sp>
      <p:pic>
        <p:nvPicPr>
          <p:cNvPr id="13" name="Picture 12" descr="A group of orange and grey stars&#10;&#10;AI-generated content may be incorrect.">
            <a:extLst>
              <a:ext uri="{FF2B5EF4-FFF2-40B4-BE49-F238E27FC236}">
                <a16:creationId xmlns:a16="http://schemas.microsoft.com/office/drawing/2014/main" id="{801F7515-D221-0867-EEE0-05BD2BD397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959" y="1492960"/>
            <a:ext cx="609600" cy="609600"/>
          </a:xfrm>
          <a:prstGeom prst="rect">
            <a:avLst/>
          </a:prstGeom>
        </p:spPr>
      </p:pic>
      <p:sp>
        <p:nvSpPr>
          <p:cNvPr id="14" name="TextBox 13">
            <a:extLst>
              <a:ext uri="{FF2B5EF4-FFF2-40B4-BE49-F238E27FC236}">
                <a16:creationId xmlns:a16="http://schemas.microsoft.com/office/drawing/2014/main" id="{8FE5BE01-454B-AD4F-57E2-6B908B5F58D2}"/>
              </a:ext>
            </a:extLst>
          </p:cNvPr>
          <p:cNvSpPr txBox="1"/>
          <p:nvPr/>
        </p:nvSpPr>
        <p:spPr bwMode="gray">
          <a:xfrm>
            <a:off x="937574" y="2565665"/>
            <a:ext cx="1813763" cy="507831"/>
          </a:xfrm>
          <a:prstGeom prst="rect">
            <a:avLst/>
          </a:prstGeom>
          <a:noFill/>
        </p:spPr>
        <p:txBody>
          <a:bodyPr vert="horz" wrap="square" lIns="0" tIns="0" rIns="0" bIns="0" rtlCol="0">
            <a:spAutoFit/>
          </a:bodyPr>
          <a:lstStyle/>
          <a:p>
            <a:pPr>
              <a:spcBef>
                <a:spcPts val="600"/>
              </a:spcBef>
              <a:buClr>
                <a:schemeClr val="tx1"/>
              </a:buClr>
            </a:pPr>
            <a:r>
              <a:rPr lang="en-US" sz="1100" b="1">
                <a:solidFill>
                  <a:schemeClr val="tx2"/>
                </a:solidFill>
                <a:latin typeface="Enterprise Sans" pitchFamily="2" charset="0"/>
                <a:ea typeface="Enterprise Sans" pitchFamily="2" charset="0"/>
              </a:rPr>
              <a:t>Phase 1:</a:t>
            </a:r>
            <a:r>
              <a:rPr lang="en-US" sz="1100" b="1">
                <a:solidFill>
                  <a:schemeClr val="accent6"/>
                </a:solidFill>
                <a:latin typeface="Enterprise Sans" pitchFamily="2" charset="0"/>
                <a:ea typeface="Enterprise Sans" pitchFamily="2" charset="0"/>
              </a:rPr>
              <a:t> </a:t>
            </a:r>
            <a:r>
              <a:rPr lang="en-US" sz="1100">
                <a:solidFill>
                  <a:schemeClr val="accent6"/>
                </a:solidFill>
                <a:latin typeface="Enterprise Sans" pitchFamily="2" charset="0"/>
                <a:ea typeface="Enterprise Sans" pitchFamily="2" charset="0"/>
              </a:rPr>
              <a:t>Voice language and communication assessment</a:t>
            </a:r>
          </a:p>
        </p:txBody>
      </p:sp>
      <p:sp>
        <p:nvSpPr>
          <p:cNvPr id="15" name="TextBox 14">
            <a:extLst>
              <a:ext uri="{FF2B5EF4-FFF2-40B4-BE49-F238E27FC236}">
                <a16:creationId xmlns:a16="http://schemas.microsoft.com/office/drawing/2014/main" id="{05969AD0-0886-AF70-D6D6-C84B53831244}"/>
              </a:ext>
            </a:extLst>
          </p:cNvPr>
          <p:cNvSpPr txBox="1"/>
          <p:nvPr/>
        </p:nvSpPr>
        <p:spPr bwMode="gray">
          <a:xfrm>
            <a:off x="401304" y="3151784"/>
            <a:ext cx="2170747" cy="923330"/>
          </a:xfrm>
          <a:prstGeom prst="rect">
            <a:avLst/>
          </a:prstGeom>
          <a:noFill/>
        </p:spPr>
        <p:txBody>
          <a:bodyPr vert="horz" wrap="square" lIns="0" tIns="0" rIns="0" bIns="0" rtlCol="0">
            <a:spAutoFit/>
          </a:bodyPr>
          <a:lstStyle/>
          <a:p>
            <a:pPr>
              <a:spcBef>
                <a:spcPts val="600"/>
              </a:spcBef>
              <a:buClr>
                <a:schemeClr val="tx1"/>
              </a:buClr>
            </a:pPr>
            <a:r>
              <a:rPr lang="en-US" sz="1000">
                <a:latin typeface="Enterprise Sans" pitchFamily="2" charset="0"/>
                <a:ea typeface="Enterprise Sans" pitchFamily="2" charset="0"/>
              </a:rPr>
              <a:t>Assess an individual’s ability to understand and use English in everyday and workplace situations. It evaluates how effectively a person can communicate in spoken English at a natural, fluent pace. </a:t>
            </a:r>
          </a:p>
        </p:txBody>
      </p:sp>
      <p:sp>
        <p:nvSpPr>
          <p:cNvPr id="18" name="TextBox 17">
            <a:extLst>
              <a:ext uri="{FF2B5EF4-FFF2-40B4-BE49-F238E27FC236}">
                <a16:creationId xmlns:a16="http://schemas.microsoft.com/office/drawing/2014/main" id="{C485AD3A-1C51-7388-7E13-9CB4859A49F3}"/>
              </a:ext>
            </a:extLst>
          </p:cNvPr>
          <p:cNvSpPr txBox="1"/>
          <p:nvPr/>
        </p:nvSpPr>
        <p:spPr bwMode="gray">
          <a:xfrm>
            <a:off x="3141478" y="3154955"/>
            <a:ext cx="2248647" cy="615553"/>
          </a:xfrm>
          <a:prstGeom prst="rect">
            <a:avLst/>
          </a:prstGeom>
          <a:noFill/>
        </p:spPr>
        <p:txBody>
          <a:bodyPr vert="horz" wrap="square" lIns="0" tIns="0" rIns="0" bIns="0" rtlCol="0">
            <a:spAutoFit/>
          </a:bodyPr>
          <a:lstStyle/>
          <a:p>
            <a:pPr>
              <a:spcBef>
                <a:spcPts val="600"/>
              </a:spcBef>
              <a:buClr>
                <a:schemeClr val="tx1"/>
              </a:buClr>
            </a:pPr>
            <a:r>
              <a:rPr lang="en-US" sz="1000">
                <a:latin typeface="Enterprise Sans" pitchFamily="2" charset="0"/>
                <a:ea typeface="Enterprise Sans" pitchFamily="2" charset="0"/>
              </a:rPr>
              <a:t>Online assessment that measures an individual’s ability to communicate effectively in written everyday and workplace situation in English. </a:t>
            </a:r>
            <a:endParaRPr lang="en-US" sz="1000" b="1">
              <a:latin typeface="Enterprise Sans" pitchFamily="2" charset="0"/>
              <a:ea typeface="Enterprise Sans" pitchFamily="2" charset="0"/>
            </a:endParaRPr>
          </a:p>
        </p:txBody>
      </p:sp>
      <p:sp>
        <p:nvSpPr>
          <p:cNvPr id="22" name="TextBox 21">
            <a:extLst>
              <a:ext uri="{FF2B5EF4-FFF2-40B4-BE49-F238E27FC236}">
                <a16:creationId xmlns:a16="http://schemas.microsoft.com/office/drawing/2014/main" id="{F074D9BE-596F-083A-39A4-3DE6D1A04D4C}"/>
              </a:ext>
            </a:extLst>
          </p:cNvPr>
          <p:cNvSpPr txBox="1"/>
          <p:nvPr/>
        </p:nvSpPr>
        <p:spPr bwMode="gray">
          <a:xfrm>
            <a:off x="3726013" y="2557198"/>
            <a:ext cx="1895226" cy="507831"/>
          </a:xfrm>
          <a:prstGeom prst="rect">
            <a:avLst/>
          </a:prstGeom>
          <a:noFill/>
        </p:spPr>
        <p:txBody>
          <a:bodyPr vert="horz" wrap="square" lIns="0" tIns="0" rIns="0" bIns="0" rtlCol="0">
            <a:spAutoFit/>
          </a:bodyPr>
          <a:lstStyle/>
          <a:p>
            <a:pPr>
              <a:spcBef>
                <a:spcPts val="600"/>
              </a:spcBef>
              <a:buClr>
                <a:schemeClr val="tx1"/>
              </a:buClr>
            </a:pPr>
            <a:r>
              <a:rPr lang="en-US" sz="1100" b="1">
                <a:solidFill>
                  <a:schemeClr val="tx2"/>
                </a:solidFill>
                <a:latin typeface="Enterprise Sans" pitchFamily="2" charset="0"/>
                <a:ea typeface="Enterprise Sans" pitchFamily="2" charset="0"/>
              </a:rPr>
              <a:t>Phase 2:</a:t>
            </a:r>
            <a:r>
              <a:rPr lang="en-US" sz="1100" b="1">
                <a:solidFill>
                  <a:schemeClr val="accent6"/>
                </a:solidFill>
                <a:latin typeface="Enterprise Sans" pitchFamily="2" charset="0"/>
                <a:ea typeface="Enterprise Sans" pitchFamily="2" charset="0"/>
              </a:rPr>
              <a:t> </a:t>
            </a:r>
            <a:r>
              <a:rPr lang="en-US" sz="1100">
                <a:solidFill>
                  <a:schemeClr val="accent6"/>
                </a:solidFill>
                <a:latin typeface="Enterprise Sans" pitchFamily="2" charset="0"/>
                <a:ea typeface="Enterprise Sans" pitchFamily="2" charset="0"/>
              </a:rPr>
              <a:t>Written language and communication assessment</a:t>
            </a:r>
          </a:p>
        </p:txBody>
      </p:sp>
      <p:sp>
        <p:nvSpPr>
          <p:cNvPr id="26" name="Text Placeholder 6">
            <a:extLst>
              <a:ext uri="{FF2B5EF4-FFF2-40B4-BE49-F238E27FC236}">
                <a16:creationId xmlns:a16="http://schemas.microsoft.com/office/drawing/2014/main" id="{9390D80B-3F9A-F508-BB92-902E51B7D9AF}"/>
              </a:ext>
            </a:extLst>
          </p:cNvPr>
          <p:cNvSpPr txBox="1">
            <a:spLocks/>
          </p:cNvSpPr>
          <p:nvPr/>
        </p:nvSpPr>
        <p:spPr>
          <a:xfrm>
            <a:off x="467926" y="802727"/>
            <a:ext cx="9601200" cy="246221"/>
          </a:xfrm>
          <a:prstGeom prst="rect">
            <a:avLst/>
          </a:prstGeom>
        </p:spPr>
        <p:txBody>
          <a:bodyPr/>
          <a:lstStyle>
            <a:lvl1pPr marL="0" indent="0" algn="l" defTabSz="914400"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1pPr>
            <a:lvl2pPr marL="171450" indent="-17145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2pPr>
            <a:lvl3pPr marL="171450" indent="0" algn="l" defTabSz="914400" rtl="0" eaLnBrk="1" latinLnBrk="0" hangingPunct="1">
              <a:lnSpc>
                <a:spcPct val="100000"/>
              </a:lnSpc>
              <a:spcBef>
                <a:spcPts val="600"/>
              </a:spcBef>
              <a:buFontTx/>
              <a:buNone/>
              <a:defRPr sz="1600" kern="1200">
                <a:solidFill>
                  <a:schemeClr val="tx1"/>
                </a:solidFill>
                <a:latin typeface="+mn-lt"/>
                <a:ea typeface="+mn-ea"/>
                <a:cs typeface="+mn-cs"/>
              </a:defRPr>
            </a:lvl3pPr>
            <a:lvl4pPr marL="400050" indent="-228600" algn="l" defTabSz="914400" rtl="0" eaLnBrk="1" latinLnBrk="0" hangingPunct="1">
              <a:lnSpc>
                <a:spcPct val="100000"/>
              </a:lnSpc>
              <a:spcBef>
                <a:spcPts val="600"/>
              </a:spcBef>
              <a:buClr>
                <a:schemeClr val="tx1"/>
              </a:buClr>
              <a:buFont typeface="Arial" panose="020B0604020202020204" pitchFamily="34" charset="0"/>
              <a:buChar char="–"/>
              <a:defRPr sz="1600" kern="1200">
                <a:solidFill>
                  <a:schemeClr val="tx1"/>
                </a:solidFill>
                <a:latin typeface="+mn-lt"/>
                <a:ea typeface="+mn-ea"/>
                <a:cs typeface="+mn-cs"/>
              </a:defRPr>
            </a:lvl4pPr>
            <a:lvl5pPr marL="571500" indent="-17145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AI-based talent intelligence platform</a:t>
            </a:r>
          </a:p>
        </p:txBody>
      </p:sp>
      <p:cxnSp>
        <p:nvCxnSpPr>
          <p:cNvPr id="8" name="Straight Connector 7">
            <a:extLst>
              <a:ext uri="{FF2B5EF4-FFF2-40B4-BE49-F238E27FC236}">
                <a16:creationId xmlns:a16="http://schemas.microsoft.com/office/drawing/2014/main" id="{546C3EB1-205D-FB46-BD9A-ED55A5F80ED8}"/>
              </a:ext>
            </a:extLst>
          </p:cNvPr>
          <p:cNvCxnSpPr/>
          <p:nvPr/>
        </p:nvCxnSpPr>
        <p:spPr bwMode="gray">
          <a:xfrm>
            <a:off x="2788460" y="2732468"/>
            <a:ext cx="0" cy="4023360"/>
          </a:xfrm>
          <a:prstGeom prst="line">
            <a:avLst/>
          </a:prstGeom>
          <a:ln w="15875" cap="rnd">
            <a:solidFill>
              <a:schemeClr val="accent2">
                <a:lumMod val="40000"/>
                <a:lumOff val="60000"/>
              </a:schemeClr>
            </a:solidFill>
            <a:prstDash val="sysDash"/>
            <a:round/>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947C6B-FEAA-B818-6BEB-39CA2308DED6}"/>
              </a:ext>
            </a:extLst>
          </p:cNvPr>
          <p:cNvCxnSpPr/>
          <p:nvPr/>
        </p:nvCxnSpPr>
        <p:spPr bwMode="gray">
          <a:xfrm>
            <a:off x="5715580" y="2654543"/>
            <a:ext cx="0" cy="4114800"/>
          </a:xfrm>
          <a:prstGeom prst="line">
            <a:avLst/>
          </a:prstGeom>
          <a:ln w="15875" cap="rnd">
            <a:solidFill>
              <a:schemeClr val="accent2">
                <a:lumMod val="40000"/>
                <a:lumOff val="60000"/>
              </a:schemeClr>
            </a:solidFill>
            <a:prstDash val="sysDash"/>
            <a:round/>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C9A6BE8-1CA6-7CB7-EB09-FB0A3E343C40}"/>
              </a:ext>
            </a:extLst>
          </p:cNvPr>
          <p:cNvCxnSpPr/>
          <p:nvPr/>
        </p:nvCxnSpPr>
        <p:spPr bwMode="gray">
          <a:xfrm>
            <a:off x="8813322" y="2603552"/>
            <a:ext cx="0" cy="4206240"/>
          </a:xfrm>
          <a:prstGeom prst="line">
            <a:avLst/>
          </a:prstGeom>
          <a:ln w="15875" cap="rnd">
            <a:solidFill>
              <a:schemeClr val="accent2">
                <a:lumMod val="40000"/>
                <a:lumOff val="60000"/>
              </a:schemeClr>
            </a:solidFill>
            <a:prstDash val="sysDash"/>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2AE47D9-1515-DD6F-8320-0FF360259D5B}"/>
              </a:ext>
            </a:extLst>
          </p:cNvPr>
          <p:cNvSpPr txBox="1"/>
          <p:nvPr/>
        </p:nvSpPr>
        <p:spPr bwMode="gray">
          <a:xfrm>
            <a:off x="5932079" y="3150154"/>
            <a:ext cx="2731046" cy="923330"/>
          </a:xfrm>
          <a:prstGeom prst="rect">
            <a:avLst/>
          </a:prstGeom>
          <a:noFill/>
        </p:spPr>
        <p:txBody>
          <a:bodyPr vert="horz" wrap="square" lIns="0" tIns="0" rIns="0" bIns="0" rtlCol="0">
            <a:spAutoFit/>
          </a:bodyPr>
          <a:lstStyle/>
          <a:p>
            <a:pPr>
              <a:spcBef>
                <a:spcPts val="600"/>
              </a:spcBef>
              <a:buClr>
                <a:schemeClr val="tx1"/>
              </a:buClr>
            </a:pPr>
            <a:r>
              <a:rPr lang="en-US" sz="1000" dirty="0">
                <a:latin typeface="Enterprise Sans" pitchFamily="2" charset="0"/>
                <a:ea typeface="Enterprise Sans" pitchFamily="2" charset="0"/>
              </a:rPr>
              <a:t>Predicts job success by assessing critical hard and soft skills required for specific roles. Candidates complete a brief, engaging job-relevant assessment which provides a comprehensive view of their role readiness, cultural and team fit, and long-term potential. </a:t>
            </a:r>
          </a:p>
        </p:txBody>
      </p:sp>
      <p:sp>
        <p:nvSpPr>
          <p:cNvPr id="28" name="TextBox 27">
            <a:extLst>
              <a:ext uri="{FF2B5EF4-FFF2-40B4-BE49-F238E27FC236}">
                <a16:creationId xmlns:a16="http://schemas.microsoft.com/office/drawing/2014/main" id="{1D986FE2-7447-F6D5-85F6-3D4F2502208A}"/>
              </a:ext>
            </a:extLst>
          </p:cNvPr>
          <p:cNvSpPr txBox="1"/>
          <p:nvPr/>
        </p:nvSpPr>
        <p:spPr bwMode="gray">
          <a:xfrm>
            <a:off x="6390721" y="2595122"/>
            <a:ext cx="1813763" cy="338554"/>
          </a:xfrm>
          <a:prstGeom prst="rect">
            <a:avLst/>
          </a:prstGeom>
          <a:noFill/>
        </p:spPr>
        <p:txBody>
          <a:bodyPr vert="horz" wrap="square" lIns="0" tIns="0" rIns="0" bIns="0" rtlCol="0">
            <a:spAutoFit/>
          </a:bodyPr>
          <a:lstStyle/>
          <a:p>
            <a:pPr>
              <a:spcBef>
                <a:spcPts val="600"/>
              </a:spcBef>
              <a:buClr>
                <a:schemeClr val="tx1"/>
              </a:buClr>
            </a:pPr>
            <a:r>
              <a:rPr lang="en-US" sz="1100" b="1" dirty="0">
                <a:solidFill>
                  <a:schemeClr val="tx2"/>
                </a:solidFill>
                <a:latin typeface="Enterprise Sans" pitchFamily="2" charset="0"/>
                <a:ea typeface="Enterprise Sans" pitchFamily="2" charset="0"/>
              </a:rPr>
              <a:t>Phase 3: </a:t>
            </a:r>
            <a:r>
              <a:rPr lang="en-US" sz="1100" dirty="0">
                <a:solidFill>
                  <a:schemeClr val="accent6"/>
                </a:solidFill>
                <a:latin typeface="Enterprise Sans" pitchFamily="2" charset="0"/>
                <a:ea typeface="Enterprise Sans" pitchFamily="2" charset="0"/>
              </a:rPr>
              <a:t>Role-based assessment </a:t>
            </a:r>
          </a:p>
        </p:txBody>
      </p:sp>
      <p:sp>
        <p:nvSpPr>
          <p:cNvPr id="32" name="TextBox 31">
            <a:extLst>
              <a:ext uri="{FF2B5EF4-FFF2-40B4-BE49-F238E27FC236}">
                <a16:creationId xmlns:a16="http://schemas.microsoft.com/office/drawing/2014/main" id="{F8A373FD-0048-D64C-FE48-1AD11A322C61}"/>
              </a:ext>
            </a:extLst>
          </p:cNvPr>
          <p:cNvSpPr txBox="1"/>
          <p:nvPr/>
        </p:nvSpPr>
        <p:spPr bwMode="gray">
          <a:xfrm>
            <a:off x="937574" y="1334635"/>
            <a:ext cx="10867087" cy="1015663"/>
          </a:xfrm>
          <a:prstGeom prst="rect">
            <a:avLst/>
          </a:prstGeom>
          <a:noFill/>
        </p:spPr>
        <p:txBody>
          <a:bodyPr wrap="square">
            <a:spAutoFit/>
          </a:bodyPr>
          <a:lstStyle/>
          <a:p>
            <a:r>
              <a:rPr lang="en-US" sz="1200" dirty="0">
                <a:latin typeface="Enterprise Sans" pitchFamily="2" charset="0"/>
                <a:ea typeface="Enterprise Sans" pitchFamily="2" charset="0"/>
              </a:rPr>
              <a:t>AURA  is an </a:t>
            </a:r>
            <a:r>
              <a:rPr lang="en-US" sz="1200" b="1" dirty="0">
                <a:latin typeface="Enterprise Sans" pitchFamily="2" charset="0"/>
                <a:ea typeface="Enterprise Sans" pitchFamily="2" charset="0"/>
              </a:rPr>
              <a:t>AI-powered hiring assessment platform </a:t>
            </a:r>
            <a:r>
              <a:rPr lang="en-US" sz="1200" dirty="0">
                <a:latin typeface="Enterprise Sans" pitchFamily="2" charset="0"/>
                <a:ea typeface="Enterprise Sans" pitchFamily="2" charset="0"/>
              </a:rPr>
              <a:t>that evaluates </a:t>
            </a:r>
            <a:r>
              <a:rPr lang="en-US" sz="1200" b="1" dirty="0">
                <a:latin typeface="Enterprise Sans" pitchFamily="2" charset="0"/>
                <a:ea typeface="Enterprise Sans" pitchFamily="2" charset="0"/>
              </a:rPr>
              <a:t>communication skills utilizing CEFR, workplace readiness, learning agility, and role-specific competencies</a:t>
            </a:r>
            <a:r>
              <a:rPr lang="en-US" sz="1200" dirty="0">
                <a:latin typeface="Enterprise Sans" pitchFamily="2" charset="0"/>
                <a:ea typeface="Enterprise Sans" pitchFamily="2" charset="0"/>
              </a:rPr>
              <a:t>. Through AI-driven assessments and advanced analytics, it identifies talent potential and enhances hiring outcomes across the entire employee lifecycle—from </a:t>
            </a:r>
            <a:r>
              <a:rPr lang="en-US" sz="1200" b="1" dirty="0">
                <a:latin typeface="Enterprise Sans" pitchFamily="2" charset="0"/>
                <a:ea typeface="Enterprise Sans" pitchFamily="2" charset="0"/>
              </a:rPr>
              <a:t>pre-hire screening and selection to onboarding, role certification, internal mobility, leadership readiness, and ongoing workforce development</a:t>
            </a:r>
            <a:r>
              <a:rPr lang="en-US" sz="1200" dirty="0">
                <a:latin typeface="Enterprise Sans" pitchFamily="2" charset="0"/>
                <a:ea typeface="Enterprise Sans" pitchFamily="2" charset="0"/>
              </a:rPr>
              <a:t>. By delivering objective, data-driven, and actionable insights, AURA empowers to make informed talent decisions and build a high-performing workforce.</a:t>
            </a:r>
          </a:p>
        </p:txBody>
      </p:sp>
      <p:sp>
        <p:nvSpPr>
          <p:cNvPr id="35" name="Rectangle: Rounded Corners 34">
            <a:extLst>
              <a:ext uri="{FF2B5EF4-FFF2-40B4-BE49-F238E27FC236}">
                <a16:creationId xmlns:a16="http://schemas.microsoft.com/office/drawing/2014/main" id="{F36CEFB2-D326-4D77-B18A-837A7E823EFE}"/>
              </a:ext>
            </a:extLst>
          </p:cNvPr>
          <p:cNvSpPr/>
          <p:nvPr/>
        </p:nvSpPr>
        <p:spPr bwMode="gray">
          <a:xfrm>
            <a:off x="-1" y="4141103"/>
            <a:ext cx="12191999" cy="231362"/>
          </a:xfrm>
          <a:prstGeom prst="roundRect">
            <a:avLst>
              <a:gd name="adj" fmla="val 0"/>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36" name="TextBox 35">
            <a:extLst>
              <a:ext uri="{FF2B5EF4-FFF2-40B4-BE49-F238E27FC236}">
                <a16:creationId xmlns:a16="http://schemas.microsoft.com/office/drawing/2014/main" id="{FAB9461B-3CA6-35FB-9E5B-50953ECC1BE1}"/>
              </a:ext>
            </a:extLst>
          </p:cNvPr>
          <p:cNvSpPr txBox="1"/>
          <p:nvPr/>
        </p:nvSpPr>
        <p:spPr bwMode="gray">
          <a:xfrm>
            <a:off x="5282762" y="4182400"/>
            <a:ext cx="878446" cy="169277"/>
          </a:xfrm>
          <a:prstGeom prst="rect">
            <a:avLst/>
          </a:prstGeom>
          <a:noFill/>
        </p:spPr>
        <p:txBody>
          <a:bodyPr vert="horz" wrap="none" lIns="0" tIns="0" rIns="0" bIns="0" rtlCol="0">
            <a:spAutoFit/>
          </a:bodyPr>
          <a:lstStyle/>
          <a:p>
            <a:pPr algn="l">
              <a:spcBef>
                <a:spcPts val="600"/>
              </a:spcBef>
            </a:pPr>
            <a:r>
              <a:rPr lang="en-US" sz="1100" b="1">
                <a:solidFill>
                  <a:schemeClr val="accent4"/>
                </a:solidFill>
                <a:latin typeface="Enterprise Sans" pitchFamily="2" charset="0"/>
                <a:ea typeface="Enterprise Sans" pitchFamily="2" charset="0"/>
              </a:rPr>
              <a:t>How it Works</a:t>
            </a:r>
          </a:p>
        </p:txBody>
      </p:sp>
      <p:sp>
        <p:nvSpPr>
          <p:cNvPr id="38" name="TextBox 37">
            <a:extLst>
              <a:ext uri="{FF2B5EF4-FFF2-40B4-BE49-F238E27FC236}">
                <a16:creationId xmlns:a16="http://schemas.microsoft.com/office/drawing/2014/main" id="{C91E4CB3-863B-E153-6709-B8E4101CD2F5}"/>
              </a:ext>
            </a:extLst>
          </p:cNvPr>
          <p:cNvSpPr txBox="1"/>
          <p:nvPr/>
        </p:nvSpPr>
        <p:spPr bwMode="gray">
          <a:xfrm>
            <a:off x="279221" y="4367169"/>
            <a:ext cx="2475554" cy="1554272"/>
          </a:xfrm>
          <a:prstGeom prst="rect">
            <a:avLst/>
          </a:prstGeom>
          <a:noFill/>
        </p:spPr>
        <p:txBody>
          <a:bodyPr wrap="square">
            <a:spAutoFit/>
          </a:bodyPr>
          <a:lstStyle/>
          <a:p>
            <a:pPr>
              <a:spcBef>
                <a:spcPts val="600"/>
              </a:spcBef>
              <a:buClr>
                <a:schemeClr val="tx1"/>
              </a:buClr>
            </a:pPr>
            <a:r>
              <a:rPr lang="en-US" sz="1000">
                <a:latin typeface="Enterprise Sans" pitchFamily="2" charset="0"/>
                <a:ea typeface="Enterprise Sans" pitchFamily="2" charset="0"/>
              </a:rPr>
              <a:t>The test is composed of various assessment sections designed to evaluate different aspects of language proficiency, such as Read and Speak, Listen and Repeat, and Listening Comprehension. </a:t>
            </a:r>
          </a:p>
          <a:p>
            <a:pPr>
              <a:spcBef>
                <a:spcPts val="600"/>
              </a:spcBef>
              <a:buClr>
                <a:schemeClr val="tx1"/>
              </a:buClr>
            </a:pPr>
            <a:r>
              <a:rPr lang="en-US" sz="1000">
                <a:latin typeface="Enterprise Sans" pitchFamily="2" charset="0"/>
                <a:ea typeface="Enterprise Sans" pitchFamily="2" charset="0"/>
              </a:rPr>
              <a:t>Results include an overall score as well as detailed scores for Speaking, Listening, and Reading.</a:t>
            </a:r>
            <a:endParaRPr lang="en-US" sz="1000" b="1">
              <a:latin typeface="Enterprise Sans" pitchFamily="2" charset="0"/>
              <a:ea typeface="Enterprise Sans" pitchFamily="2" charset="0"/>
            </a:endParaRPr>
          </a:p>
        </p:txBody>
      </p:sp>
      <p:sp>
        <p:nvSpPr>
          <p:cNvPr id="39" name="Rectangle 38">
            <a:extLst>
              <a:ext uri="{FF2B5EF4-FFF2-40B4-BE49-F238E27FC236}">
                <a16:creationId xmlns:a16="http://schemas.microsoft.com/office/drawing/2014/main" id="{3993C481-8455-AA4B-034F-41BED9E2E1DE}"/>
              </a:ext>
            </a:extLst>
          </p:cNvPr>
          <p:cNvSpPr/>
          <p:nvPr/>
        </p:nvSpPr>
        <p:spPr bwMode="gray">
          <a:xfrm>
            <a:off x="1" y="5876925"/>
            <a:ext cx="12192000" cy="183225"/>
          </a:xfrm>
          <a:prstGeom prst="rect">
            <a:avLst/>
          </a:prstGeom>
          <a:solidFill>
            <a:schemeClr val="bg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0" name="TextBox 39">
            <a:extLst>
              <a:ext uri="{FF2B5EF4-FFF2-40B4-BE49-F238E27FC236}">
                <a16:creationId xmlns:a16="http://schemas.microsoft.com/office/drawing/2014/main" id="{B7C16C8B-D927-16C1-2514-27262EC19D45}"/>
              </a:ext>
            </a:extLst>
          </p:cNvPr>
          <p:cNvSpPr txBox="1"/>
          <p:nvPr/>
        </p:nvSpPr>
        <p:spPr bwMode="gray">
          <a:xfrm>
            <a:off x="4980021" y="5876925"/>
            <a:ext cx="1638269" cy="169277"/>
          </a:xfrm>
          <a:prstGeom prst="rect">
            <a:avLst/>
          </a:prstGeom>
          <a:noFill/>
        </p:spPr>
        <p:txBody>
          <a:bodyPr vert="horz" wrap="none" lIns="0" tIns="0" rIns="0" bIns="0" rtlCol="0">
            <a:spAutoFit/>
          </a:bodyPr>
          <a:lstStyle/>
          <a:p>
            <a:pPr algn="l">
              <a:spcBef>
                <a:spcPts val="600"/>
              </a:spcBef>
            </a:pPr>
            <a:r>
              <a:rPr lang="en-US" sz="1100" b="1">
                <a:solidFill>
                  <a:schemeClr val="accent4"/>
                </a:solidFill>
                <a:latin typeface="Enterprise Sans" pitchFamily="2" charset="0"/>
                <a:ea typeface="Enterprise Sans" pitchFamily="2" charset="0"/>
              </a:rPr>
              <a:t>Skills and Competencies</a:t>
            </a:r>
          </a:p>
        </p:txBody>
      </p:sp>
      <p:sp>
        <p:nvSpPr>
          <p:cNvPr id="42" name="TextBox 41">
            <a:extLst>
              <a:ext uri="{FF2B5EF4-FFF2-40B4-BE49-F238E27FC236}">
                <a16:creationId xmlns:a16="http://schemas.microsoft.com/office/drawing/2014/main" id="{C8F67727-FCD2-C272-DFAF-95D8AD3136BA}"/>
              </a:ext>
            </a:extLst>
          </p:cNvPr>
          <p:cNvSpPr txBox="1"/>
          <p:nvPr/>
        </p:nvSpPr>
        <p:spPr bwMode="gray">
          <a:xfrm>
            <a:off x="3004608" y="4389102"/>
            <a:ext cx="2687472" cy="1246495"/>
          </a:xfrm>
          <a:prstGeom prst="rect">
            <a:avLst/>
          </a:prstGeom>
          <a:noFill/>
        </p:spPr>
        <p:txBody>
          <a:bodyPr wrap="square">
            <a:spAutoFit/>
          </a:bodyPr>
          <a:lstStyle/>
          <a:p>
            <a:pPr>
              <a:spcBef>
                <a:spcPts val="600"/>
              </a:spcBef>
              <a:buClr>
                <a:schemeClr val="tx1"/>
              </a:buClr>
            </a:pPr>
            <a:r>
              <a:rPr lang="en-US" sz="1000">
                <a:latin typeface="Enterprise Sans" pitchFamily="2" charset="0"/>
                <a:ea typeface="Enterprise Sans" pitchFamily="2" charset="0"/>
              </a:rPr>
              <a:t>The test comprises several assessment components, such as Sentence Completion, Listen and Write, Writing, and Email Writing, designed to evaluate a range of workplace communication skills. </a:t>
            </a:r>
          </a:p>
          <a:p>
            <a:pPr>
              <a:spcBef>
                <a:spcPts val="600"/>
              </a:spcBef>
              <a:buClr>
                <a:schemeClr val="tx1"/>
              </a:buClr>
            </a:pPr>
            <a:r>
              <a:rPr lang="en-US" sz="1000">
                <a:latin typeface="Enterprise Sans" pitchFamily="2" charset="0"/>
                <a:ea typeface="Enterprise Sans" pitchFamily="2" charset="0"/>
              </a:rPr>
              <a:t>Candidates receive an overall score as well as detailed scores for each section.</a:t>
            </a:r>
            <a:endParaRPr lang="en-US" sz="1000" b="1">
              <a:latin typeface="Enterprise Sans" pitchFamily="2" charset="0"/>
              <a:ea typeface="Enterprise Sans" pitchFamily="2" charset="0"/>
            </a:endParaRPr>
          </a:p>
        </p:txBody>
      </p:sp>
      <p:sp>
        <p:nvSpPr>
          <p:cNvPr id="44" name="TextBox 43">
            <a:extLst>
              <a:ext uri="{FF2B5EF4-FFF2-40B4-BE49-F238E27FC236}">
                <a16:creationId xmlns:a16="http://schemas.microsoft.com/office/drawing/2014/main" id="{BB11E758-671C-67A6-0C7C-FA526AF5A445}"/>
              </a:ext>
            </a:extLst>
          </p:cNvPr>
          <p:cNvSpPr txBox="1"/>
          <p:nvPr/>
        </p:nvSpPr>
        <p:spPr bwMode="gray">
          <a:xfrm>
            <a:off x="5858693" y="4385656"/>
            <a:ext cx="2804432" cy="1246495"/>
          </a:xfrm>
          <a:prstGeom prst="rect">
            <a:avLst/>
          </a:prstGeom>
          <a:noFill/>
        </p:spPr>
        <p:txBody>
          <a:bodyPr wrap="square">
            <a:spAutoFit/>
          </a:bodyPr>
          <a:lstStyle/>
          <a:p>
            <a:pPr>
              <a:spcBef>
                <a:spcPts val="600"/>
              </a:spcBef>
              <a:buClr>
                <a:schemeClr val="tx1"/>
              </a:buClr>
            </a:pPr>
            <a:r>
              <a:rPr lang="en-US" sz="1000">
                <a:latin typeface="Enterprise Sans" pitchFamily="2" charset="0"/>
                <a:ea typeface="Enterprise Sans" pitchFamily="2" charset="0"/>
              </a:rPr>
              <a:t>Assesses functional, technical, soft skills, and behavioral competencies aligned with the CMF requirements of a specific role. </a:t>
            </a:r>
          </a:p>
          <a:p>
            <a:pPr>
              <a:spcBef>
                <a:spcPts val="600"/>
              </a:spcBef>
              <a:buClr>
                <a:schemeClr val="tx1"/>
              </a:buClr>
            </a:pPr>
            <a:r>
              <a:rPr lang="en-US" sz="1000">
                <a:latin typeface="Enterprise Sans" pitchFamily="2" charset="0"/>
                <a:ea typeface="Enterprise Sans" pitchFamily="2" charset="0"/>
              </a:rPr>
              <a:t>Candidates participates in targeted assessment activities tailored to the role being evaluated, providing a comprehensive view of their capabilities and job fit. </a:t>
            </a:r>
          </a:p>
        </p:txBody>
      </p:sp>
      <p:sp>
        <p:nvSpPr>
          <p:cNvPr id="47" name="Rectangle: Rounded Corners 46">
            <a:extLst>
              <a:ext uri="{FF2B5EF4-FFF2-40B4-BE49-F238E27FC236}">
                <a16:creationId xmlns:a16="http://schemas.microsoft.com/office/drawing/2014/main" id="{A90B318A-762A-878E-1020-B421464E9F52}"/>
              </a:ext>
            </a:extLst>
          </p:cNvPr>
          <p:cNvSpPr/>
          <p:nvPr/>
        </p:nvSpPr>
        <p:spPr bwMode="gray">
          <a:xfrm>
            <a:off x="89629" y="6188374"/>
            <a:ext cx="1429924" cy="210035"/>
          </a:xfrm>
          <a:prstGeom prst="roundRect">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8" name="TextBox 47">
            <a:extLst>
              <a:ext uri="{FF2B5EF4-FFF2-40B4-BE49-F238E27FC236}">
                <a16:creationId xmlns:a16="http://schemas.microsoft.com/office/drawing/2014/main" id="{B409E31D-6890-29A3-BCE4-15B25505776B}"/>
              </a:ext>
            </a:extLst>
          </p:cNvPr>
          <p:cNvSpPr txBox="1"/>
          <p:nvPr/>
        </p:nvSpPr>
        <p:spPr bwMode="gray">
          <a:xfrm>
            <a:off x="147667" y="6210461"/>
            <a:ext cx="1292020"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Phonological Control</a:t>
            </a:r>
          </a:p>
        </p:txBody>
      </p:sp>
      <p:sp>
        <p:nvSpPr>
          <p:cNvPr id="49" name="Rectangle: Rounded Corners 48">
            <a:extLst>
              <a:ext uri="{FF2B5EF4-FFF2-40B4-BE49-F238E27FC236}">
                <a16:creationId xmlns:a16="http://schemas.microsoft.com/office/drawing/2014/main" id="{F83F5B86-07B0-419C-B562-600ECF75FFFC}"/>
              </a:ext>
            </a:extLst>
          </p:cNvPr>
          <p:cNvSpPr/>
          <p:nvPr/>
        </p:nvSpPr>
        <p:spPr bwMode="gray">
          <a:xfrm>
            <a:off x="1574906" y="6202181"/>
            <a:ext cx="1097280" cy="210035"/>
          </a:xfrm>
          <a:prstGeom prst="roundRect">
            <a:avLst/>
          </a:prstGeom>
          <a:solidFill>
            <a:srgbClr val="F9A66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0" name="TextBox 49">
            <a:extLst>
              <a:ext uri="{FF2B5EF4-FFF2-40B4-BE49-F238E27FC236}">
                <a16:creationId xmlns:a16="http://schemas.microsoft.com/office/drawing/2014/main" id="{E9962698-5DBC-B94D-277F-5D123AC242C3}"/>
              </a:ext>
            </a:extLst>
          </p:cNvPr>
          <p:cNvSpPr txBox="1"/>
          <p:nvPr/>
        </p:nvSpPr>
        <p:spPr bwMode="gray">
          <a:xfrm>
            <a:off x="1613894" y="6224268"/>
            <a:ext cx="1032334"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Lexical Resource</a:t>
            </a:r>
          </a:p>
        </p:txBody>
      </p:sp>
      <p:sp>
        <p:nvSpPr>
          <p:cNvPr id="51" name="Rectangle: Rounded Corners 50">
            <a:extLst>
              <a:ext uri="{FF2B5EF4-FFF2-40B4-BE49-F238E27FC236}">
                <a16:creationId xmlns:a16="http://schemas.microsoft.com/office/drawing/2014/main" id="{90D5E8F0-E192-EED0-82DF-8066870F2360}"/>
              </a:ext>
            </a:extLst>
          </p:cNvPr>
          <p:cNvSpPr/>
          <p:nvPr/>
        </p:nvSpPr>
        <p:spPr bwMode="gray">
          <a:xfrm>
            <a:off x="108680" y="6430021"/>
            <a:ext cx="929051" cy="309740"/>
          </a:xfrm>
          <a:prstGeom prst="roundRect">
            <a:avLst/>
          </a:prstGeom>
          <a:solidFill>
            <a:srgbClr val="D7412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2" name="TextBox 51">
            <a:extLst>
              <a:ext uri="{FF2B5EF4-FFF2-40B4-BE49-F238E27FC236}">
                <a16:creationId xmlns:a16="http://schemas.microsoft.com/office/drawing/2014/main" id="{BA4A3F73-606E-63D3-03F6-316CED4A438C}"/>
              </a:ext>
            </a:extLst>
          </p:cNvPr>
          <p:cNvSpPr txBox="1"/>
          <p:nvPr/>
        </p:nvSpPr>
        <p:spPr bwMode="gray">
          <a:xfrm>
            <a:off x="152729" y="6435658"/>
            <a:ext cx="859060" cy="307777"/>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Grammatical Accuracy</a:t>
            </a:r>
          </a:p>
        </p:txBody>
      </p:sp>
      <p:sp>
        <p:nvSpPr>
          <p:cNvPr id="53" name="Rectangle: Rounded Corners 52">
            <a:extLst>
              <a:ext uri="{FF2B5EF4-FFF2-40B4-BE49-F238E27FC236}">
                <a16:creationId xmlns:a16="http://schemas.microsoft.com/office/drawing/2014/main" id="{7CA2EA0D-92AC-6E3A-BDC9-F5905FCB9778}"/>
              </a:ext>
            </a:extLst>
          </p:cNvPr>
          <p:cNvSpPr/>
          <p:nvPr/>
        </p:nvSpPr>
        <p:spPr bwMode="gray">
          <a:xfrm>
            <a:off x="1113636" y="6464398"/>
            <a:ext cx="731520" cy="210035"/>
          </a:xfrm>
          <a:prstGeom prst="round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4" name="TextBox 53">
            <a:extLst>
              <a:ext uri="{FF2B5EF4-FFF2-40B4-BE49-F238E27FC236}">
                <a16:creationId xmlns:a16="http://schemas.microsoft.com/office/drawing/2014/main" id="{C6EA1648-498C-9FBC-913B-120E429BCA39}"/>
              </a:ext>
            </a:extLst>
          </p:cNvPr>
          <p:cNvSpPr txBox="1"/>
          <p:nvPr/>
        </p:nvSpPr>
        <p:spPr bwMode="gray">
          <a:xfrm>
            <a:off x="1152624" y="6486485"/>
            <a:ext cx="671659"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Coherence</a:t>
            </a:r>
          </a:p>
        </p:txBody>
      </p:sp>
      <p:sp>
        <p:nvSpPr>
          <p:cNvPr id="55" name="Rectangle: Rounded Corners 54">
            <a:extLst>
              <a:ext uri="{FF2B5EF4-FFF2-40B4-BE49-F238E27FC236}">
                <a16:creationId xmlns:a16="http://schemas.microsoft.com/office/drawing/2014/main" id="{50867404-0D48-44A2-DED9-569D2D11F860}"/>
              </a:ext>
            </a:extLst>
          </p:cNvPr>
          <p:cNvSpPr/>
          <p:nvPr/>
        </p:nvSpPr>
        <p:spPr bwMode="gray">
          <a:xfrm>
            <a:off x="1923239" y="6465575"/>
            <a:ext cx="467906" cy="241140"/>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6" name="TextBox 55">
            <a:extLst>
              <a:ext uri="{FF2B5EF4-FFF2-40B4-BE49-F238E27FC236}">
                <a16:creationId xmlns:a16="http://schemas.microsoft.com/office/drawing/2014/main" id="{C28913AD-5264-9798-B134-C4C7F82C5335}"/>
              </a:ext>
            </a:extLst>
          </p:cNvPr>
          <p:cNvSpPr txBox="1"/>
          <p:nvPr/>
        </p:nvSpPr>
        <p:spPr bwMode="gray">
          <a:xfrm>
            <a:off x="1996705" y="6503078"/>
            <a:ext cx="297890" cy="153888"/>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IDM</a:t>
            </a:r>
          </a:p>
        </p:txBody>
      </p:sp>
      <p:sp>
        <p:nvSpPr>
          <p:cNvPr id="57" name="Rectangle: Rounded Corners 56">
            <a:extLst>
              <a:ext uri="{FF2B5EF4-FFF2-40B4-BE49-F238E27FC236}">
                <a16:creationId xmlns:a16="http://schemas.microsoft.com/office/drawing/2014/main" id="{B977BC27-E3F0-0BCB-33A8-C1DF09E04F67}"/>
              </a:ext>
            </a:extLst>
          </p:cNvPr>
          <p:cNvSpPr/>
          <p:nvPr/>
        </p:nvSpPr>
        <p:spPr bwMode="gray">
          <a:xfrm>
            <a:off x="4046021" y="6190527"/>
            <a:ext cx="1055336" cy="353490"/>
          </a:xfrm>
          <a:prstGeom prst="roundRect">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58" name="TextBox 57">
            <a:extLst>
              <a:ext uri="{FF2B5EF4-FFF2-40B4-BE49-F238E27FC236}">
                <a16:creationId xmlns:a16="http://schemas.microsoft.com/office/drawing/2014/main" id="{8D301A06-500C-6D6E-BBEE-E52EFC7F1685}"/>
              </a:ext>
            </a:extLst>
          </p:cNvPr>
          <p:cNvSpPr txBox="1"/>
          <p:nvPr/>
        </p:nvSpPr>
        <p:spPr bwMode="gray">
          <a:xfrm>
            <a:off x="4087965" y="6202181"/>
            <a:ext cx="1013392" cy="307776"/>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Professionalism &amp; Formality</a:t>
            </a:r>
          </a:p>
        </p:txBody>
      </p:sp>
      <p:sp>
        <p:nvSpPr>
          <p:cNvPr id="59" name="Rectangle: Rounded Corners 58">
            <a:extLst>
              <a:ext uri="{FF2B5EF4-FFF2-40B4-BE49-F238E27FC236}">
                <a16:creationId xmlns:a16="http://schemas.microsoft.com/office/drawing/2014/main" id="{045E6A39-99CB-1BF1-C604-AA328DBB3721}"/>
              </a:ext>
            </a:extLst>
          </p:cNvPr>
          <p:cNvSpPr/>
          <p:nvPr/>
        </p:nvSpPr>
        <p:spPr bwMode="gray">
          <a:xfrm>
            <a:off x="3076351" y="6557021"/>
            <a:ext cx="1463040" cy="210035"/>
          </a:xfrm>
          <a:prstGeom prst="roundRect">
            <a:avLst/>
          </a:prstGeom>
          <a:solidFill>
            <a:srgbClr val="F9A66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0" name="TextBox 59">
            <a:extLst>
              <a:ext uri="{FF2B5EF4-FFF2-40B4-BE49-F238E27FC236}">
                <a16:creationId xmlns:a16="http://schemas.microsoft.com/office/drawing/2014/main" id="{E78DCF97-4A2B-13A6-08D0-47B816AB2370}"/>
              </a:ext>
            </a:extLst>
          </p:cNvPr>
          <p:cNvSpPr txBox="1"/>
          <p:nvPr/>
        </p:nvSpPr>
        <p:spPr bwMode="gray">
          <a:xfrm>
            <a:off x="3115339" y="6579108"/>
            <a:ext cx="1384995"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Coherence of Thought</a:t>
            </a:r>
          </a:p>
        </p:txBody>
      </p:sp>
      <p:sp>
        <p:nvSpPr>
          <p:cNvPr id="61" name="Rectangle: Rounded Corners 60">
            <a:extLst>
              <a:ext uri="{FF2B5EF4-FFF2-40B4-BE49-F238E27FC236}">
                <a16:creationId xmlns:a16="http://schemas.microsoft.com/office/drawing/2014/main" id="{8513BC4F-3CC9-9D87-34B0-D9DB3A30E040}"/>
              </a:ext>
            </a:extLst>
          </p:cNvPr>
          <p:cNvSpPr/>
          <p:nvPr/>
        </p:nvSpPr>
        <p:spPr bwMode="gray">
          <a:xfrm>
            <a:off x="3070228" y="6204824"/>
            <a:ext cx="929051" cy="309740"/>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2" name="TextBox 61">
            <a:extLst>
              <a:ext uri="{FF2B5EF4-FFF2-40B4-BE49-F238E27FC236}">
                <a16:creationId xmlns:a16="http://schemas.microsoft.com/office/drawing/2014/main" id="{B9E7634E-16C8-BE45-4D6F-26F452A82371}"/>
              </a:ext>
            </a:extLst>
          </p:cNvPr>
          <p:cNvSpPr txBox="1"/>
          <p:nvPr/>
        </p:nvSpPr>
        <p:spPr bwMode="gray">
          <a:xfrm>
            <a:off x="3114277" y="6210461"/>
            <a:ext cx="859060" cy="307777"/>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Spelling &amp; Punctuation</a:t>
            </a:r>
          </a:p>
        </p:txBody>
      </p:sp>
      <p:sp>
        <p:nvSpPr>
          <p:cNvPr id="63" name="Rectangle: Rounded Corners 62">
            <a:extLst>
              <a:ext uri="{FF2B5EF4-FFF2-40B4-BE49-F238E27FC236}">
                <a16:creationId xmlns:a16="http://schemas.microsoft.com/office/drawing/2014/main" id="{CBF45866-B234-88BD-84A4-F7A34EFAD62D}"/>
              </a:ext>
            </a:extLst>
          </p:cNvPr>
          <p:cNvSpPr/>
          <p:nvPr/>
        </p:nvSpPr>
        <p:spPr bwMode="gray">
          <a:xfrm>
            <a:off x="4601615" y="6563786"/>
            <a:ext cx="731520" cy="210035"/>
          </a:xfrm>
          <a:prstGeom prst="round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4" name="TextBox 63">
            <a:extLst>
              <a:ext uri="{FF2B5EF4-FFF2-40B4-BE49-F238E27FC236}">
                <a16:creationId xmlns:a16="http://schemas.microsoft.com/office/drawing/2014/main" id="{FAD511CD-A695-1487-83A2-D7EF2D347A68}"/>
              </a:ext>
            </a:extLst>
          </p:cNvPr>
          <p:cNvSpPr txBox="1"/>
          <p:nvPr/>
        </p:nvSpPr>
        <p:spPr bwMode="gray">
          <a:xfrm>
            <a:off x="4640603" y="6585873"/>
            <a:ext cx="585097"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Grammar</a:t>
            </a:r>
          </a:p>
        </p:txBody>
      </p:sp>
      <p:sp>
        <p:nvSpPr>
          <p:cNvPr id="80" name="Rectangle: Rounded Corners 79">
            <a:extLst>
              <a:ext uri="{FF2B5EF4-FFF2-40B4-BE49-F238E27FC236}">
                <a16:creationId xmlns:a16="http://schemas.microsoft.com/office/drawing/2014/main" id="{52E8CDEE-8921-FF98-C7AA-8BB15CC915D7}"/>
              </a:ext>
            </a:extLst>
          </p:cNvPr>
          <p:cNvSpPr/>
          <p:nvPr/>
        </p:nvSpPr>
        <p:spPr bwMode="gray">
          <a:xfrm>
            <a:off x="5956905" y="6437183"/>
            <a:ext cx="726841" cy="229804"/>
          </a:xfrm>
          <a:prstGeom prst="roundRect">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1" name="TextBox 80">
            <a:extLst>
              <a:ext uri="{FF2B5EF4-FFF2-40B4-BE49-F238E27FC236}">
                <a16:creationId xmlns:a16="http://schemas.microsoft.com/office/drawing/2014/main" id="{BB14F96A-6EC4-1386-A8E2-B5C37DFFBD29}"/>
              </a:ext>
            </a:extLst>
          </p:cNvPr>
          <p:cNvSpPr txBox="1"/>
          <p:nvPr/>
        </p:nvSpPr>
        <p:spPr bwMode="gray">
          <a:xfrm>
            <a:off x="5998850" y="6467887"/>
            <a:ext cx="726843" cy="153888"/>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Soft Skills</a:t>
            </a:r>
          </a:p>
        </p:txBody>
      </p:sp>
      <p:sp>
        <p:nvSpPr>
          <p:cNvPr id="82" name="Rectangle: Rounded Corners 81">
            <a:extLst>
              <a:ext uri="{FF2B5EF4-FFF2-40B4-BE49-F238E27FC236}">
                <a16:creationId xmlns:a16="http://schemas.microsoft.com/office/drawing/2014/main" id="{26CB749B-6531-3CAE-B7E2-4F7037EB0B3C}"/>
              </a:ext>
            </a:extLst>
          </p:cNvPr>
          <p:cNvSpPr/>
          <p:nvPr/>
        </p:nvSpPr>
        <p:spPr bwMode="gray">
          <a:xfrm>
            <a:off x="5953320" y="6216458"/>
            <a:ext cx="1070643" cy="183225"/>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3" name="TextBox 82">
            <a:extLst>
              <a:ext uri="{FF2B5EF4-FFF2-40B4-BE49-F238E27FC236}">
                <a16:creationId xmlns:a16="http://schemas.microsoft.com/office/drawing/2014/main" id="{C5E449DA-B34E-BEEC-C542-964D2BE3C620}"/>
              </a:ext>
            </a:extLst>
          </p:cNvPr>
          <p:cNvSpPr txBox="1"/>
          <p:nvPr/>
        </p:nvSpPr>
        <p:spPr bwMode="gray">
          <a:xfrm>
            <a:off x="5992308" y="6228883"/>
            <a:ext cx="997068"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Functional Skills</a:t>
            </a:r>
          </a:p>
        </p:txBody>
      </p:sp>
      <p:sp>
        <p:nvSpPr>
          <p:cNvPr id="86" name="Rectangle: Rounded Corners 85">
            <a:extLst>
              <a:ext uri="{FF2B5EF4-FFF2-40B4-BE49-F238E27FC236}">
                <a16:creationId xmlns:a16="http://schemas.microsoft.com/office/drawing/2014/main" id="{CD8162B9-DB52-67C2-FD18-E777872F15FF}"/>
              </a:ext>
            </a:extLst>
          </p:cNvPr>
          <p:cNvSpPr/>
          <p:nvPr/>
        </p:nvSpPr>
        <p:spPr bwMode="gray">
          <a:xfrm>
            <a:off x="6723097" y="6445654"/>
            <a:ext cx="741880" cy="211312"/>
          </a:xfrm>
          <a:prstGeom prst="round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8" name="Rectangle: Rounded Corners 87">
            <a:extLst>
              <a:ext uri="{FF2B5EF4-FFF2-40B4-BE49-F238E27FC236}">
                <a16:creationId xmlns:a16="http://schemas.microsoft.com/office/drawing/2014/main" id="{AED94E69-B70A-1763-1BFB-1140C80ABC65}"/>
              </a:ext>
            </a:extLst>
          </p:cNvPr>
          <p:cNvSpPr/>
          <p:nvPr/>
        </p:nvSpPr>
        <p:spPr bwMode="gray">
          <a:xfrm>
            <a:off x="7062951" y="6209681"/>
            <a:ext cx="1112172" cy="192887"/>
          </a:xfrm>
          <a:prstGeom prst="roundRect">
            <a:avLst/>
          </a:prstGeom>
          <a:solidFill>
            <a:srgbClr val="F9A66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89" name="TextBox 88">
            <a:extLst>
              <a:ext uri="{FF2B5EF4-FFF2-40B4-BE49-F238E27FC236}">
                <a16:creationId xmlns:a16="http://schemas.microsoft.com/office/drawing/2014/main" id="{AC903255-9605-EBFF-5585-5A886665CC84}"/>
              </a:ext>
            </a:extLst>
          </p:cNvPr>
          <p:cNvSpPr txBox="1"/>
          <p:nvPr/>
        </p:nvSpPr>
        <p:spPr bwMode="gray">
          <a:xfrm>
            <a:off x="7101939" y="6231768"/>
            <a:ext cx="929742"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Technical Skills</a:t>
            </a:r>
          </a:p>
        </p:txBody>
      </p:sp>
      <p:sp>
        <p:nvSpPr>
          <p:cNvPr id="91" name="TextBox 90">
            <a:extLst>
              <a:ext uri="{FF2B5EF4-FFF2-40B4-BE49-F238E27FC236}">
                <a16:creationId xmlns:a16="http://schemas.microsoft.com/office/drawing/2014/main" id="{E59B5189-7E58-241E-CB50-E0BC33AEFD40}"/>
              </a:ext>
            </a:extLst>
          </p:cNvPr>
          <p:cNvSpPr txBox="1"/>
          <p:nvPr/>
        </p:nvSpPr>
        <p:spPr bwMode="gray">
          <a:xfrm>
            <a:off x="6779941" y="6466618"/>
            <a:ext cx="649217"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Behavioral</a:t>
            </a:r>
          </a:p>
        </p:txBody>
      </p:sp>
      <p:pic>
        <p:nvPicPr>
          <p:cNvPr id="92" name="Picture 91">
            <a:extLst>
              <a:ext uri="{FF2B5EF4-FFF2-40B4-BE49-F238E27FC236}">
                <a16:creationId xmlns:a16="http://schemas.microsoft.com/office/drawing/2014/main" id="{8F8BACF4-7D59-BF9F-4DF1-7BF238ACE00A}"/>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a:xfrm>
            <a:off x="338009" y="2553408"/>
            <a:ext cx="547498" cy="548640"/>
          </a:xfrm>
          <a:prstGeom prst="rect">
            <a:avLst/>
          </a:prstGeom>
        </p:spPr>
      </p:pic>
      <p:pic>
        <p:nvPicPr>
          <p:cNvPr id="93" name="Picture 92">
            <a:extLst>
              <a:ext uri="{FF2B5EF4-FFF2-40B4-BE49-F238E27FC236}">
                <a16:creationId xmlns:a16="http://schemas.microsoft.com/office/drawing/2014/main" id="{47B9C6CB-7284-EC17-6E32-63F6C6E4DC66}"/>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3141391" y="2506789"/>
            <a:ext cx="456248" cy="457200"/>
          </a:xfrm>
          <a:prstGeom prst="rect">
            <a:avLst/>
          </a:prstGeom>
        </p:spPr>
      </p:pic>
      <p:sp>
        <p:nvSpPr>
          <p:cNvPr id="21" name="TextBox 20">
            <a:extLst>
              <a:ext uri="{FF2B5EF4-FFF2-40B4-BE49-F238E27FC236}">
                <a16:creationId xmlns:a16="http://schemas.microsoft.com/office/drawing/2014/main" id="{C445D1C2-6A77-00B9-1693-0A6B9CD2BD48}"/>
              </a:ext>
            </a:extLst>
          </p:cNvPr>
          <p:cNvSpPr txBox="1"/>
          <p:nvPr/>
        </p:nvSpPr>
        <p:spPr bwMode="gray">
          <a:xfrm>
            <a:off x="8995299" y="3147714"/>
            <a:ext cx="3069292" cy="923330"/>
          </a:xfrm>
          <a:prstGeom prst="rect">
            <a:avLst/>
          </a:prstGeom>
          <a:noFill/>
        </p:spPr>
        <p:txBody>
          <a:bodyPr vert="horz" wrap="square" lIns="0" tIns="0" rIns="0" bIns="0" rtlCol="0">
            <a:spAutoFit/>
          </a:bodyPr>
          <a:lstStyle/>
          <a:p>
            <a:pPr>
              <a:spcBef>
                <a:spcPts val="600"/>
              </a:spcBef>
              <a:buClr>
                <a:schemeClr val="tx1"/>
              </a:buClr>
            </a:pPr>
            <a:r>
              <a:rPr lang="en-US" sz="1000" dirty="0">
                <a:latin typeface="Enterprise Sans" pitchFamily="2" charset="0"/>
                <a:ea typeface="Enterprise Sans" pitchFamily="2" charset="0"/>
              </a:rPr>
              <a:t>A multimodal AI assessment that evaluates cognitive ability, workplace readiness and learning agility while generating hiring recommendations, development plans, and workforce analytics. It’s a one-stop shop, built around several assessment domain, all measured from one interview.</a:t>
            </a:r>
            <a:endParaRPr lang="en-US" sz="1000" b="1" dirty="0">
              <a:latin typeface="Enterprise Sans" pitchFamily="2" charset="0"/>
              <a:ea typeface="Enterprise Sans" pitchFamily="2" charset="0"/>
            </a:endParaRPr>
          </a:p>
        </p:txBody>
      </p:sp>
      <p:sp>
        <p:nvSpPr>
          <p:cNvPr id="23" name="TextBox 22">
            <a:extLst>
              <a:ext uri="{FF2B5EF4-FFF2-40B4-BE49-F238E27FC236}">
                <a16:creationId xmlns:a16="http://schemas.microsoft.com/office/drawing/2014/main" id="{26B773FC-40B9-7B52-858E-F4E127A3B07D}"/>
              </a:ext>
            </a:extLst>
          </p:cNvPr>
          <p:cNvSpPr txBox="1"/>
          <p:nvPr/>
        </p:nvSpPr>
        <p:spPr bwMode="gray">
          <a:xfrm>
            <a:off x="9609316" y="2561763"/>
            <a:ext cx="1813763" cy="338554"/>
          </a:xfrm>
          <a:prstGeom prst="rect">
            <a:avLst/>
          </a:prstGeom>
          <a:noFill/>
        </p:spPr>
        <p:txBody>
          <a:bodyPr vert="horz" wrap="square" lIns="0" tIns="0" rIns="0" bIns="0" rtlCol="0">
            <a:spAutoFit/>
          </a:bodyPr>
          <a:lstStyle/>
          <a:p>
            <a:pPr>
              <a:spcBef>
                <a:spcPts val="600"/>
              </a:spcBef>
              <a:buClr>
                <a:schemeClr val="tx1"/>
              </a:buClr>
            </a:pPr>
            <a:r>
              <a:rPr lang="en-US" sz="1100" b="1" dirty="0">
                <a:solidFill>
                  <a:schemeClr val="tx2"/>
                </a:solidFill>
                <a:latin typeface="Enterprise Sans" pitchFamily="2" charset="0"/>
                <a:ea typeface="Enterprise Sans" pitchFamily="2" charset="0"/>
              </a:rPr>
              <a:t>Phase 4: </a:t>
            </a:r>
            <a:r>
              <a:rPr lang="en-US" sz="1100" dirty="0">
                <a:solidFill>
                  <a:schemeClr val="accent6"/>
                </a:solidFill>
                <a:latin typeface="Enterprise Sans" pitchFamily="2" charset="0"/>
                <a:ea typeface="Enterprise Sans" pitchFamily="2" charset="0"/>
              </a:rPr>
              <a:t>Adaptive AI interview and aptitude test</a:t>
            </a:r>
          </a:p>
        </p:txBody>
      </p:sp>
      <p:sp>
        <p:nvSpPr>
          <p:cNvPr id="46" name="TextBox 45">
            <a:extLst>
              <a:ext uri="{FF2B5EF4-FFF2-40B4-BE49-F238E27FC236}">
                <a16:creationId xmlns:a16="http://schemas.microsoft.com/office/drawing/2014/main" id="{006B7753-12DC-57A5-A16C-28EF1CCCFF48}"/>
              </a:ext>
            </a:extLst>
          </p:cNvPr>
          <p:cNvSpPr txBox="1"/>
          <p:nvPr/>
        </p:nvSpPr>
        <p:spPr bwMode="gray">
          <a:xfrm>
            <a:off x="8860447" y="4380544"/>
            <a:ext cx="3218231" cy="1477328"/>
          </a:xfrm>
          <a:prstGeom prst="rect">
            <a:avLst/>
          </a:prstGeom>
          <a:noFill/>
        </p:spPr>
        <p:txBody>
          <a:bodyPr wrap="square">
            <a:spAutoFit/>
          </a:bodyPr>
          <a:lstStyle/>
          <a:p>
            <a:r>
              <a:rPr lang="en-US" sz="1000">
                <a:latin typeface="Enterprise Sans" pitchFamily="2" charset="0"/>
                <a:ea typeface="Enterprise Sans" pitchFamily="2" charset="0"/>
              </a:rPr>
              <a:t>Includes a variety of assessment activities designed to support both external hiring and internal talent mobility, such as domain interviews, business conversations, role simulations, and more, all facilitated by an AI-powered avatar. </a:t>
            </a:r>
          </a:p>
          <a:p>
            <a:endParaRPr lang="en-US" sz="1000">
              <a:latin typeface="Enterprise Sans" pitchFamily="2" charset="0"/>
              <a:ea typeface="Enterprise Sans" pitchFamily="2" charset="0"/>
            </a:endParaRPr>
          </a:p>
          <a:p>
            <a:r>
              <a:rPr lang="en-US" sz="1000">
                <a:latin typeface="Enterprise Sans" pitchFamily="2" charset="0"/>
                <a:ea typeface="Enterprise Sans" pitchFamily="2" charset="0"/>
              </a:rPr>
              <a:t>The assessment generates competency-based scores and recommendations aligned with the requirements of the role being evaluated.</a:t>
            </a:r>
          </a:p>
        </p:txBody>
      </p:sp>
      <p:sp>
        <p:nvSpPr>
          <p:cNvPr id="67" name="Rectangle: Rounded Corners 66">
            <a:extLst>
              <a:ext uri="{FF2B5EF4-FFF2-40B4-BE49-F238E27FC236}">
                <a16:creationId xmlns:a16="http://schemas.microsoft.com/office/drawing/2014/main" id="{E996FB36-B393-D045-07D4-B0799A6AB1F4}"/>
              </a:ext>
            </a:extLst>
          </p:cNvPr>
          <p:cNvSpPr/>
          <p:nvPr/>
        </p:nvSpPr>
        <p:spPr bwMode="gray">
          <a:xfrm>
            <a:off x="11350589" y="6426557"/>
            <a:ext cx="594582" cy="353490"/>
          </a:xfrm>
          <a:prstGeom prst="roundRect">
            <a:avLst/>
          </a:prstGeom>
          <a:solidFill>
            <a:srgbClr val="FFD1AB"/>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68" name="TextBox 67">
            <a:extLst>
              <a:ext uri="{FF2B5EF4-FFF2-40B4-BE49-F238E27FC236}">
                <a16:creationId xmlns:a16="http://schemas.microsoft.com/office/drawing/2014/main" id="{6A5105A1-A6CF-17DF-AB98-37E4B5A7ADF9}"/>
              </a:ext>
            </a:extLst>
          </p:cNvPr>
          <p:cNvSpPr txBox="1"/>
          <p:nvPr/>
        </p:nvSpPr>
        <p:spPr bwMode="gray">
          <a:xfrm>
            <a:off x="11392533" y="6438211"/>
            <a:ext cx="672058" cy="307777"/>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Rapport Building</a:t>
            </a:r>
          </a:p>
        </p:txBody>
      </p:sp>
      <p:sp>
        <p:nvSpPr>
          <p:cNvPr id="69" name="Rectangle: Rounded Corners 68">
            <a:extLst>
              <a:ext uri="{FF2B5EF4-FFF2-40B4-BE49-F238E27FC236}">
                <a16:creationId xmlns:a16="http://schemas.microsoft.com/office/drawing/2014/main" id="{68126374-0B24-F8A0-5572-9F1BC0919B5A}"/>
              </a:ext>
            </a:extLst>
          </p:cNvPr>
          <p:cNvSpPr/>
          <p:nvPr/>
        </p:nvSpPr>
        <p:spPr bwMode="gray">
          <a:xfrm>
            <a:off x="8976425" y="6538606"/>
            <a:ext cx="1070643" cy="183225"/>
          </a:xfrm>
          <a:prstGeom prst="roundRect">
            <a:avLst/>
          </a:prstGeom>
          <a:solidFill>
            <a:srgbClr val="D7412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0" name="TextBox 69">
            <a:extLst>
              <a:ext uri="{FF2B5EF4-FFF2-40B4-BE49-F238E27FC236}">
                <a16:creationId xmlns:a16="http://schemas.microsoft.com/office/drawing/2014/main" id="{E0F5C413-C37E-6541-6566-15225510C0D9}"/>
              </a:ext>
            </a:extLst>
          </p:cNvPr>
          <p:cNvSpPr txBox="1"/>
          <p:nvPr/>
        </p:nvSpPr>
        <p:spPr bwMode="gray">
          <a:xfrm>
            <a:off x="9015413" y="6551031"/>
            <a:ext cx="974626"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Professionalism</a:t>
            </a:r>
          </a:p>
        </p:txBody>
      </p:sp>
      <p:sp>
        <p:nvSpPr>
          <p:cNvPr id="71" name="Rectangle: Rounded Corners 70">
            <a:extLst>
              <a:ext uri="{FF2B5EF4-FFF2-40B4-BE49-F238E27FC236}">
                <a16:creationId xmlns:a16="http://schemas.microsoft.com/office/drawing/2014/main" id="{C18E5F79-1C38-E0CD-0BAF-FBE396EF55EE}"/>
              </a:ext>
            </a:extLst>
          </p:cNvPr>
          <p:cNvSpPr/>
          <p:nvPr/>
        </p:nvSpPr>
        <p:spPr bwMode="gray">
          <a:xfrm>
            <a:off x="8941365" y="6168935"/>
            <a:ext cx="594582" cy="309740"/>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2" name="TextBox 71">
            <a:extLst>
              <a:ext uri="{FF2B5EF4-FFF2-40B4-BE49-F238E27FC236}">
                <a16:creationId xmlns:a16="http://schemas.microsoft.com/office/drawing/2014/main" id="{E681BC14-857B-EEC7-9480-643C766C135B}"/>
              </a:ext>
            </a:extLst>
          </p:cNvPr>
          <p:cNvSpPr txBox="1"/>
          <p:nvPr/>
        </p:nvSpPr>
        <p:spPr bwMode="gray">
          <a:xfrm>
            <a:off x="8985413" y="6174572"/>
            <a:ext cx="594582" cy="307777"/>
          </a:xfrm>
          <a:prstGeom prst="rect">
            <a:avLst/>
          </a:prstGeom>
          <a:noFill/>
        </p:spPr>
        <p:txBody>
          <a:bodyPr vert="horz" wrap="squar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Problem Solving</a:t>
            </a:r>
          </a:p>
        </p:txBody>
      </p:sp>
      <p:sp>
        <p:nvSpPr>
          <p:cNvPr id="73" name="Rectangle: Rounded Corners 72">
            <a:extLst>
              <a:ext uri="{FF2B5EF4-FFF2-40B4-BE49-F238E27FC236}">
                <a16:creationId xmlns:a16="http://schemas.microsoft.com/office/drawing/2014/main" id="{57E246CA-E28B-ED06-0C7A-0843A617D4CB}"/>
              </a:ext>
            </a:extLst>
          </p:cNvPr>
          <p:cNvSpPr/>
          <p:nvPr/>
        </p:nvSpPr>
        <p:spPr bwMode="gray">
          <a:xfrm>
            <a:off x="9593006" y="6215947"/>
            <a:ext cx="872783" cy="229804"/>
          </a:xfrm>
          <a:prstGeom prst="roundRect">
            <a:avLst/>
          </a:prstGeom>
          <a:solidFill>
            <a:schemeClr val="tx2"/>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4" name="TextBox 73">
            <a:extLst>
              <a:ext uri="{FF2B5EF4-FFF2-40B4-BE49-F238E27FC236}">
                <a16:creationId xmlns:a16="http://schemas.microsoft.com/office/drawing/2014/main" id="{6BF4C463-7F6C-A993-29BF-4AA9E8D6AC6B}"/>
              </a:ext>
            </a:extLst>
          </p:cNvPr>
          <p:cNvSpPr txBox="1"/>
          <p:nvPr/>
        </p:nvSpPr>
        <p:spPr bwMode="gray">
          <a:xfrm>
            <a:off x="9664201" y="6251037"/>
            <a:ext cx="718145"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Judgement</a:t>
            </a:r>
          </a:p>
        </p:txBody>
      </p:sp>
      <p:sp>
        <p:nvSpPr>
          <p:cNvPr id="75" name="Rectangle: Rounded Corners 74">
            <a:extLst>
              <a:ext uri="{FF2B5EF4-FFF2-40B4-BE49-F238E27FC236}">
                <a16:creationId xmlns:a16="http://schemas.microsoft.com/office/drawing/2014/main" id="{37EBC03D-C8C6-4C0C-BF3D-330789CEBCAE}"/>
              </a:ext>
            </a:extLst>
          </p:cNvPr>
          <p:cNvSpPr/>
          <p:nvPr/>
        </p:nvSpPr>
        <p:spPr bwMode="gray">
          <a:xfrm>
            <a:off x="10179369" y="6549759"/>
            <a:ext cx="1112172" cy="192887"/>
          </a:xfrm>
          <a:prstGeom prst="roundRect">
            <a:avLst/>
          </a:prstGeom>
          <a:solidFill>
            <a:srgbClr val="F9A667"/>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6" name="TextBox 75">
            <a:extLst>
              <a:ext uri="{FF2B5EF4-FFF2-40B4-BE49-F238E27FC236}">
                <a16:creationId xmlns:a16="http://schemas.microsoft.com/office/drawing/2014/main" id="{5F5F51AA-6A84-E114-2240-08830D399DA1}"/>
              </a:ext>
            </a:extLst>
          </p:cNvPr>
          <p:cNvSpPr txBox="1"/>
          <p:nvPr/>
        </p:nvSpPr>
        <p:spPr bwMode="gray">
          <a:xfrm>
            <a:off x="10218357" y="6571846"/>
            <a:ext cx="1001877"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Decision Making</a:t>
            </a:r>
          </a:p>
        </p:txBody>
      </p:sp>
      <p:sp>
        <p:nvSpPr>
          <p:cNvPr id="77" name="Rectangle: Rounded Corners 76">
            <a:extLst>
              <a:ext uri="{FF2B5EF4-FFF2-40B4-BE49-F238E27FC236}">
                <a16:creationId xmlns:a16="http://schemas.microsoft.com/office/drawing/2014/main" id="{8490D8DD-C563-E5AE-9B08-66E5E27E4FA8}"/>
              </a:ext>
            </a:extLst>
          </p:cNvPr>
          <p:cNvSpPr/>
          <p:nvPr/>
        </p:nvSpPr>
        <p:spPr bwMode="gray">
          <a:xfrm>
            <a:off x="10541128" y="6209722"/>
            <a:ext cx="1112172" cy="192887"/>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78" name="TextBox 77">
            <a:extLst>
              <a:ext uri="{FF2B5EF4-FFF2-40B4-BE49-F238E27FC236}">
                <a16:creationId xmlns:a16="http://schemas.microsoft.com/office/drawing/2014/main" id="{07517273-226A-F959-7EA7-61B9CE1239B9}"/>
              </a:ext>
            </a:extLst>
          </p:cNvPr>
          <p:cNvSpPr txBox="1"/>
          <p:nvPr/>
        </p:nvSpPr>
        <p:spPr bwMode="gray">
          <a:xfrm>
            <a:off x="10580116" y="6231809"/>
            <a:ext cx="989053" cy="153888"/>
          </a:xfrm>
          <a:prstGeom prst="rect">
            <a:avLst/>
          </a:prstGeom>
          <a:noFill/>
        </p:spPr>
        <p:txBody>
          <a:bodyPr vert="horz" wrap="none" lIns="0" tIns="0" rIns="0" bIns="0" rtlCol="0">
            <a:spAutoFit/>
          </a:bodyPr>
          <a:lstStyle/>
          <a:p>
            <a:pPr algn="l">
              <a:spcBef>
                <a:spcPts val="600"/>
              </a:spcBef>
            </a:pPr>
            <a:r>
              <a:rPr lang="en-US" sz="1000" b="1">
                <a:solidFill>
                  <a:schemeClr val="accent1"/>
                </a:solidFill>
                <a:latin typeface="Enterprise Sans" pitchFamily="2" charset="0"/>
                <a:ea typeface="Enterprise Sans" pitchFamily="2" charset="0"/>
              </a:rPr>
              <a:t>Communication</a:t>
            </a:r>
          </a:p>
        </p:txBody>
      </p:sp>
      <p:sp>
        <p:nvSpPr>
          <p:cNvPr id="90" name="Rectangle: Rounded Corners 89">
            <a:extLst>
              <a:ext uri="{FF2B5EF4-FFF2-40B4-BE49-F238E27FC236}">
                <a16:creationId xmlns:a16="http://schemas.microsoft.com/office/drawing/2014/main" id="{C03A6448-E3C9-7CA8-59CB-7208AADAB7E3}"/>
              </a:ext>
            </a:extLst>
          </p:cNvPr>
          <p:cNvSpPr/>
          <p:nvPr/>
        </p:nvSpPr>
        <p:spPr bwMode="gray">
          <a:xfrm>
            <a:off x="10800697" y="6964243"/>
            <a:ext cx="1112172" cy="192887"/>
          </a:xfrm>
          <a:prstGeom prst="roundRect">
            <a:avLst/>
          </a:prstGeom>
          <a:solidFill>
            <a:srgbClr val="EDE8E0"/>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pic>
        <p:nvPicPr>
          <p:cNvPr id="94" name="Picture 93">
            <a:extLst>
              <a:ext uri="{FF2B5EF4-FFF2-40B4-BE49-F238E27FC236}">
                <a16:creationId xmlns:a16="http://schemas.microsoft.com/office/drawing/2014/main" id="{F200283E-6687-1615-AEE1-198326CF06C8}"/>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9000712" y="2486431"/>
            <a:ext cx="547498" cy="548640"/>
          </a:xfrm>
          <a:prstGeom prst="rect">
            <a:avLst/>
          </a:prstGeom>
        </p:spPr>
      </p:pic>
      <p:pic>
        <p:nvPicPr>
          <p:cNvPr id="96" name="Picture 95">
            <a:extLst>
              <a:ext uri="{FF2B5EF4-FFF2-40B4-BE49-F238E27FC236}">
                <a16:creationId xmlns:a16="http://schemas.microsoft.com/office/drawing/2014/main" id="{3C52892C-287A-8369-A0B3-B56877E0388E}"/>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l="104" r="104"/>
          <a:stretch/>
        </p:blipFill>
        <p:spPr bwMode="gray">
          <a:xfrm>
            <a:off x="5806768" y="2486431"/>
            <a:ext cx="547498" cy="548640"/>
          </a:xfrm>
          <a:prstGeom prst="rect">
            <a:avLst/>
          </a:prstGeom>
        </p:spPr>
      </p:pic>
    </p:spTree>
    <p:extLst>
      <p:ext uri="{BB962C8B-B14F-4D97-AF65-F5344CB8AC3E}">
        <p14:creationId xmlns:p14="http://schemas.microsoft.com/office/powerpoint/2010/main" val="1521255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E430-96F2-FCD8-2474-F781FBFA034C}"/>
              </a:ext>
            </a:extLst>
          </p:cNvPr>
          <p:cNvSpPr>
            <a:spLocks noGrp="1"/>
          </p:cNvSpPr>
          <p:nvPr>
            <p:ph type="title"/>
          </p:nvPr>
        </p:nvSpPr>
        <p:spPr>
          <a:xfrm>
            <a:off x="467926" y="514350"/>
            <a:ext cx="3427799" cy="304699"/>
          </a:xfrm>
        </p:spPr>
        <p:txBody>
          <a:bodyPr/>
          <a:lstStyle/>
          <a:p>
            <a:r>
              <a:rPr lang="en-US"/>
              <a:t>Assessment Overview</a:t>
            </a:r>
          </a:p>
        </p:txBody>
      </p:sp>
      <p:graphicFrame>
        <p:nvGraphicFramePr>
          <p:cNvPr id="3" name="Table 2">
            <a:extLst>
              <a:ext uri="{FF2B5EF4-FFF2-40B4-BE49-F238E27FC236}">
                <a16:creationId xmlns:a16="http://schemas.microsoft.com/office/drawing/2014/main" id="{D642DEBD-1F10-6661-348C-900FFCD535E7}"/>
              </a:ext>
            </a:extLst>
          </p:cNvPr>
          <p:cNvGraphicFramePr>
            <a:graphicFrameLocks noGrp="1"/>
          </p:cNvGraphicFramePr>
          <p:nvPr>
            <p:extLst>
              <p:ext uri="{D42A27DB-BD31-4B8C-83A1-F6EECF244321}">
                <p14:modId xmlns:p14="http://schemas.microsoft.com/office/powerpoint/2010/main" val="1920170678"/>
              </p:ext>
            </p:extLst>
          </p:nvPr>
        </p:nvGraphicFramePr>
        <p:xfrm>
          <a:off x="467923" y="1070469"/>
          <a:ext cx="11326144" cy="4815783"/>
        </p:xfrm>
        <a:graphic>
          <a:graphicData uri="http://schemas.openxmlformats.org/drawingml/2006/table">
            <a:tbl>
              <a:tblPr firstRow="1" bandRow="1">
                <a:tableStyleId>{5C22544A-7EE6-4342-B048-85BDC9FD1C3A}</a:tableStyleId>
              </a:tblPr>
              <a:tblGrid>
                <a:gridCol w="1374551">
                  <a:extLst>
                    <a:ext uri="{9D8B030D-6E8A-4147-A177-3AD203B41FA5}">
                      <a16:colId xmlns:a16="http://schemas.microsoft.com/office/drawing/2014/main" val="2595482740"/>
                    </a:ext>
                  </a:extLst>
                </a:gridCol>
                <a:gridCol w="1680992">
                  <a:extLst>
                    <a:ext uri="{9D8B030D-6E8A-4147-A177-3AD203B41FA5}">
                      <a16:colId xmlns:a16="http://schemas.microsoft.com/office/drawing/2014/main" val="2444920805"/>
                    </a:ext>
                  </a:extLst>
                </a:gridCol>
                <a:gridCol w="2597934">
                  <a:extLst>
                    <a:ext uri="{9D8B030D-6E8A-4147-A177-3AD203B41FA5}">
                      <a16:colId xmlns:a16="http://schemas.microsoft.com/office/drawing/2014/main" val="1234409266"/>
                    </a:ext>
                  </a:extLst>
                </a:gridCol>
                <a:gridCol w="1951568">
                  <a:extLst>
                    <a:ext uri="{9D8B030D-6E8A-4147-A177-3AD203B41FA5}">
                      <a16:colId xmlns:a16="http://schemas.microsoft.com/office/drawing/2014/main" val="3338884902"/>
                    </a:ext>
                  </a:extLst>
                </a:gridCol>
                <a:gridCol w="844867">
                  <a:extLst>
                    <a:ext uri="{9D8B030D-6E8A-4147-A177-3AD203B41FA5}">
                      <a16:colId xmlns:a16="http://schemas.microsoft.com/office/drawing/2014/main" val="1217751626"/>
                    </a:ext>
                  </a:extLst>
                </a:gridCol>
                <a:gridCol w="1722330">
                  <a:extLst>
                    <a:ext uri="{9D8B030D-6E8A-4147-A177-3AD203B41FA5}">
                      <a16:colId xmlns:a16="http://schemas.microsoft.com/office/drawing/2014/main" val="771897395"/>
                    </a:ext>
                  </a:extLst>
                </a:gridCol>
                <a:gridCol w="1153902">
                  <a:extLst>
                    <a:ext uri="{9D8B030D-6E8A-4147-A177-3AD203B41FA5}">
                      <a16:colId xmlns:a16="http://schemas.microsoft.com/office/drawing/2014/main" val="2629766453"/>
                    </a:ext>
                  </a:extLst>
                </a:gridCol>
              </a:tblGrid>
              <a:tr h="426663">
                <a:tc>
                  <a:txBody>
                    <a:bodyPr/>
                    <a:lstStyle/>
                    <a:p>
                      <a:pPr algn="ctr"/>
                      <a:r>
                        <a:rPr lang="en-US" sz="1000">
                          <a:latin typeface="Enterprise Sans" pitchFamily="2" charset="0"/>
                          <a:ea typeface="Enterprise Sans" pitchFamily="2" charset="0"/>
                        </a:rPr>
                        <a:t>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a:latin typeface="Enterprise Sans" pitchFamily="2" charset="0"/>
                          <a:ea typeface="Enterprise Sans" pitchFamily="2" charset="0"/>
                        </a:rPr>
                        <a:t>Purpose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Activities</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a:latin typeface="Enterprise Sans" pitchFamily="2" charset="0"/>
                          <a:ea typeface="Enterprise Sans" pitchFamily="2" charset="0"/>
                        </a:rPr>
                        <a:t>Skills/Competencies Assessed</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a:latin typeface="Enterprise Sans" pitchFamily="2" charset="0"/>
                          <a:ea typeface="Enterprise Sans" pitchFamily="2" charset="0"/>
                        </a:rPr>
                        <a:t>Duration (m)</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a:latin typeface="Enterprise Sans" pitchFamily="2" charset="0"/>
                          <a:ea typeface="Enterprise Sans" pitchFamily="2" charset="0"/>
                        </a:rPr>
                        <a:t>Best Used For</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a:latin typeface="Enterprise Sans" pitchFamily="2" charset="0"/>
                          <a:ea typeface="Enterprise Sans" pitchFamily="2" charset="0"/>
                        </a:rPr>
                        <a:t>Development Phase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extLst>
                  <a:ext uri="{0D108BD9-81ED-4DB2-BD59-A6C34878D82A}">
                    <a16:rowId xmlns:a16="http://schemas.microsoft.com/office/drawing/2014/main" val="1621889230"/>
                  </a:ext>
                </a:extLst>
              </a:tr>
              <a:tr h="1167326">
                <a:tc>
                  <a:txBody>
                    <a:bodyPr/>
                    <a:lstStyle/>
                    <a:p>
                      <a:r>
                        <a:rPr lang="en-US" sz="1000" dirty="0">
                          <a:latin typeface="Enterprise Sans" pitchFamily="2" charset="0"/>
                          <a:ea typeface="Enterprise Sans" pitchFamily="2" charset="0"/>
                        </a:rPr>
                        <a:t>Communication Proficiency 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r>
                        <a:rPr lang="en-US" sz="1000" dirty="0">
                          <a:latin typeface="Enterprise Sans" pitchFamily="2" charset="0"/>
                          <a:ea typeface="Enterprise Sans" pitchFamily="2" charset="0"/>
                        </a:rPr>
                        <a:t>Measures the ability to understand and  communicate spoken English at a native like pace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Read and Speak (Reading &amp; Speaking)</a:t>
                      </a:r>
                    </a:p>
                    <a:p>
                      <a:pPr marL="171450" indent="-171450">
                        <a:buFont typeface="Arial" panose="020B0604020202020204" pitchFamily="34" charset="0"/>
                        <a:buChar char="•"/>
                      </a:pPr>
                      <a:r>
                        <a:rPr lang="en-US" sz="1000" dirty="0">
                          <a:latin typeface="Enterprise Sans" pitchFamily="2" charset="0"/>
                          <a:ea typeface="Enterprise Sans" pitchFamily="2" charset="0"/>
                        </a:rPr>
                        <a:t>Listen and Repeat (Speaking)</a:t>
                      </a:r>
                    </a:p>
                    <a:p>
                      <a:pPr marL="171450" indent="-171450">
                        <a:buFont typeface="Arial" panose="020B0604020202020204" pitchFamily="34" charset="0"/>
                        <a:buChar char="•"/>
                      </a:pPr>
                      <a:r>
                        <a:rPr lang="en-US" sz="1000" dirty="0">
                          <a:latin typeface="Enterprise Sans" pitchFamily="2" charset="0"/>
                          <a:ea typeface="Enterprise Sans" pitchFamily="2" charset="0"/>
                        </a:rPr>
                        <a:t>Sentence Construction (Speaking)</a:t>
                      </a:r>
                    </a:p>
                    <a:p>
                      <a:pPr marL="171450" indent="-171450">
                        <a:buFont typeface="Arial" panose="020B0604020202020204" pitchFamily="34" charset="0"/>
                        <a:buChar char="•"/>
                      </a:pPr>
                      <a:r>
                        <a:rPr lang="en-US" sz="1000" dirty="0">
                          <a:latin typeface="Enterprise Sans" pitchFamily="2" charset="0"/>
                          <a:ea typeface="Enterprise Sans" pitchFamily="2" charset="0"/>
                        </a:rPr>
                        <a:t>Listening Comprehension (Listening)</a:t>
                      </a:r>
                    </a:p>
                    <a:p>
                      <a:pPr marL="171450" indent="-171450">
                        <a:buFont typeface="Arial" panose="020B0604020202020204" pitchFamily="34" charset="0"/>
                        <a:buChar char="•"/>
                      </a:pPr>
                      <a:r>
                        <a:rPr lang="en-US" sz="1000" dirty="0">
                          <a:latin typeface="Enterprise Sans" pitchFamily="2" charset="0"/>
                          <a:ea typeface="Enterprise Sans" pitchFamily="2" charset="0"/>
                        </a:rPr>
                        <a:t>Sentence Completion (Reading)</a:t>
                      </a:r>
                    </a:p>
                    <a:p>
                      <a:pPr marL="171450" indent="-171450">
                        <a:buFont typeface="Arial" panose="020B0604020202020204" pitchFamily="34" charset="0"/>
                        <a:buChar char="•"/>
                      </a:pPr>
                      <a:r>
                        <a:rPr lang="en-US" sz="1000" dirty="0">
                          <a:latin typeface="Enterprise Sans" pitchFamily="2" charset="0"/>
                          <a:ea typeface="Enterprise Sans" pitchFamily="2" charset="0"/>
                        </a:rPr>
                        <a:t>Reading Comprehension (Reading)</a:t>
                      </a:r>
                    </a:p>
                    <a:p>
                      <a:pPr marL="171450" indent="-171450">
                        <a:buFont typeface="Arial" panose="020B0604020202020204" pitchFamily="34" charset="0"/>
                        <a:buChar char="•"/>
                      </a:pPr>
                      <a:r>
                        <a:rPr lang="en-US" sz="1000" dirty="0">
                          <a:latin typeface="Enterprise Sans" pitchFamily="2" charset="0"/>
                          <a:ea typeface="Enterprise Sans" pitchFamily="2" charset="0"/>
                        </a:rPr>
                        <a:t>Conversations (Listening)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Read and Reconstruct (Writing)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Opinion (Writing)</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Phonological control</a:t>
                      </a:r>
                    </a:p>
                    <a:p>
                      <a:pPr marL="171450" indent="-171450">
                        <a:buFont typeface="Arial" panose="020B0604020202020204" pitchFamily="34" charset="0"/>
                        <a:buChar char="•"/>
                      </a:pPr>
                      <a:r>
                        <a:rPr lang="en-US" sz="1000" dirty="0">
                          <a:latin typeface="Enterprise Sans" pitchFamily="2" charset="0"/>
                          <a:ea typeface="Enterprise Sans" pitchFamily="2" charset="0"/>
                        </a:rPr>
                        <a:t>Lexical resource</a:t>
                      </a:r>
                    </a:p>
                    <a:p>
                      <a:pPr marL="171450" indent="-171450">
                        <a:buFont typeface="Arial" panose="020B0604020202020204" pitchFamily="34" charset="0"/>
                        <a:buChar char="•"/>
                      </a:pPr>
                      <a:r>
                        <a:rPr lang="en-US" sz="1000" dirty="0">
                          <a:latin typeface="Enterprise Sans" pitchFamily="2" charset="0"/>
                          <a:ea typeface="Enterprise Sans" pitchFamily="2" charset="0"/>
                        </a:rPr>
                        <a:t>Grammatical accuracy</a:t>
                      </a:r>
                    </a:p>
                    <a:p>
                      <a:pPr marL="171450" indent="-171450">
                        <a:buFont typeface="Arial" panose="020B0604020202020204" pitchFamily="34" charset="0"/>
                        <a:buChar char="•"/>
                      </a:pPr>
                      <a:r>
                        <a:rPr lang="en-US" sz="1000" dirty="0">
                          <a:latin typeface="Enterprise Sans" pitchFamily="2" charset="0"/>
                          <a:ea typeface="Enterprise Sans" pitchFamily="2" charset="0"/>
                        </a:rPr>
                        <a:t>IDM: Comprehension</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60 </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External placement</a:t>
                      </a:r>
                    </a:p>
                    <a:p>
                      <a:pPr marL="171450" indent="-171450">
                        <a:buFont typeface="Arial" panose="020B0604020202020204" pitchFamily="34" charset="0"/>
                        <a:buChar char="•"/>
                      </a:pPr>
                      <a:r>
                        <a:rPr lang="en-US" sz="1000" dirty="0">
                          <a:latin typeface="Enterprise Sans" pitchFamily="2" charset="0"/>
                          <a:ea typeface="Enterprise Sans" pitchFamily="2" charset="0"/>
                        </a:rPr>
                        <a:t>Determining learner proficiency</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Phase 1</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extLst>
                  <a:ext uri="{0D108BD9-81ED-4DB2-BD59-A6C34878D82A}">
                    <a16:rowId xmlns:a16="http://schemas.microsoft.com/office/drawing/2014/main" val="3254049806"/>
                  </a:ext>
                </a:extLst>
              </a:tr>
              <a:tr h="696809">
                <a:tc>
                  <a:txBody>
                    <a:bodyPr/>
                    <a:lstStyle/>
                    <a:p>
                      <a:r>
                        <a:rPr lang="en-US" sz="1000" dirty="0">
                          <a:latin typeface="Enterprise Sans" pitchFamily="2" charset="0"/>
                          <a:ea typeface="Enterprise Sans" pitchFamily="2" charset="0"/>
                        </a:rPr>
                        <a:t>Professional Communication 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r>
                        <a:rPr lang="en-US" sz="1000" dirty="0">
                          <a:latin typeface="Enterprise Sans" pitchFamily="2" charset="0"/>
                          <a:ea typeface="Enterprise Sans" pitchFamily="2" charset="0"/>
                        </a:rPr>
                        <a:t>Measures workplace English proficiency and business communication readiness</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Sentence Completion (Reading &amp; Writing)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Read and Reconstruct (Writing)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Reading Comprehension (Reading)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Email Writing (Writing)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Listen and Write (Listening &amp; Writing)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Listening Comprehension (Listening)</a:t>
                      </a:r>
                    </a:p>
                    <a:p>
                      <a:pPr marL="171450" indent="-171450">
                        <a:buFont typeface="Arial" panose="020B0604020202020204" pitchFamily="34" charset="0"/>
                        <a:buChar char="•"/>
                      </a:pPr>
                      <a:r>
                        <a:rPr lang="en-US" sz="1000" dirty="0">
                          <a:latin typeface="Enterprise Sans" pitchFamily="2" charset="0"/>
                          <a:ea typeface="Enterprise Sans" pitchFamily="2" charset="0"/>
                        </a:rPr>
                        <a:t>Listen and Repeat (Speaking)</a:t>
                      </a:r>
                    </a:p>
                    <a:p>
                      <a:pPr marL="171450" indent="-171450">
                        <a:buFont typeface="Arial" panose="020B0604020202020204" pitchFamily="34" charset="0"/>
                        <a:buChar char="•"/>
                      </a:pPr>
                      <a:r>
                        <a:rPr lang="en-US" sz="1000" dirty="0">
                          <a:latin typeface="Enterprise Sans" pitchFamily="2" charset="0"/>
                          <a:ea typeface="Enterprise Sans" pitchFamily="2" charset="0"/>
                        </a:rPr>
                        <a:t>Sentence Construction (Speaking)</a:t>
                      </a:r>
                    </a:p>
                    <a:p>
                      <a:pPr marL="171450" indent="-171450">
                        <a:buFont typeface="Arial" panose="020B0604020202020204" pitchFamily="34" charset="0"/>
                        <a:buChar char="•"/>
                      </a:pPr>
                      <a:r>
                        <a:rPr lang="en-US" sz="1000" dirty="0">
                          <a:latin typeface="Enterprise Sans" pitchFamily="2" charset="0"/>
                          <a:ea typeface="Enterprise Sans" pitchFamily="2" charset="0"/>
                        </a:rPr>
                        <a:t>Storytelling (Speaking)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latin typeface="Enterprise Sans" pitchFamily="2" charset="0"/>
                          <a:ea typeface="Enterprise Sans" pitchFamily="2" charset="0"/>
                        </a:rPr>
                        <a:t>Opinion (Writing)</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Phonological control</a:t>
                      </a:r>
                    </a:p>
                    <a:p>
                      <a:pPr marL="171450" indent="-171450">
                        <a:buFont typeface="Arial" panose="020B0604020202020204" pitchFamily="34" charset="0"/>
                        <a:buChar char="•"/>
                      </a:pPr>
                      <a:r>
                        <a:rPr lang="en-US" sz="1000" dirty="0">
                          <a:latin typeface="Enterprise Sans" pitchFamily="2" charset="0"/>
                          <a:ea typeface="Enterprise Sans" pitchFamily="2" charset="0"/>
                        </a:rPr>
                        <a:t>Lexical resource</a:t>
                      </a:r>
                    </a:p>
                    <a:p>
                      <a:pPr marL="171450" indent="-171450">
                        <a:buFont typeface="Arial" panose="020B0604020202020204" pitchFamily="34" charset="0"/>
                        <a:buChar char="•"/>
                      </a:pPr>
                      <a:r>
                        <a:rPr lang="en-US" sz="1000" dirty="0">
                          <a:latin typeface="Enterprise Sans" pitchFamily="2" charset="0"/>
                          <a:ea typeface="Enterprise Sans" pitchFamily="2" charset="0"/>
                        </a:rPr>
                        <a:t>Grammatical accuracy</a:t>
                      </a:r>
                    </a:p>
                    <a:p>
                      <a:pPr marL="171450" indent="-171450">
                        <a:buFont typeface="Arial" panose="020B0604020202020204" pitchFamily="34" charset="0"/>
                        <a:buChar char="•"/>
                      </a:pPr>
                      <a:r>
                        <a:rPr lang="en-US" sz="1000" dirty="0">
                          <a:latin typeface="Enterprise Sans" pitchFamily="2" charset="0"/>
                          <a:ea typeface="Enterprise Sans" pitchFamily="2" charset="0"/>
                        </a:rPr>
                        <a:t>IDM</a:t>
                      </a:r>
                    </a:p>
                    <a:p>
                      <a:pPr marL="171450" indent="-171450">
                        <a:buFont typeface="Arial" panose="020B0604020202020204" pitchFamily="34" charset="0"/>
                        <a:buChar char="•"/>
                      </a:pPr>
                      <a:r>
                        <a:rPr lang="en-US" sz="1000" dirty="0">
                          <a:latin typeface="Enterprise Sans" pitchFamily="2" charset="0"/>
                          <a:ea typeface="Enterprise Sans" pitchFamily="2" charset="0"/>
                        </a:rPr>
                        <a:t>Coherence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algn="ctr"/>
                      <a:r>
                        <a:rPr lang="en-US" sz="1000" dirty="0">
                          <a:latin typeface="Enterprise Sans" pitchFamily="2" charset="0"/>
                          <a:ea typeface="Enterprise Sans" pitchFamily="2" charset="0"/>
                        </a:rPr>
                        <a:t>60</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Internal talent mobility</a:t>
                      </a:r>
                    </a:p>
                    <a:p>
                      <a:pPr marL="171450" indent="-171450">
                        <a:buFont typeface="Arial" panose="020B0604020202020204" pitchFamily="34" charset="0"/>
                        <a:buChar char="•"/>
                      </a:pPr>
                      <a:r>
                        <a:rPr lang="en-US" sz="1000" dirty="0">
                          <a:latin typeface="Enterprise Sans" pitchFamily="2" charset="0"/>
                          <a:ea typeface="Enterprise Sans" pitchFamily="2" charset="0"/>
                        </a:rPr>
                        <a:t>Workforce cross skilling</a:t>
                      </a:r>
                    </a:p>
                    <a:p>
                      <a:pPr marL="171450" indent="-171450">
                        <a:buFont typeface="Arial" panose="020B0604020202020204" pitchFamily="34" charset="0"/>
                        <a:buChar char="•"/>
                      </a:pPr>
                      <a:r>
                        <a:rPr lang="en-US" sz="1000" dirty="0">
                          <a:latin typeface="Enterprise Sans" pitchFamily="2" charset="0"/>
                          <a:ea typeface="Enterprise Sans" pitchFamily="2" charset="0"/>
                        </a:rPr>
                        <a:t>Workforce upskilling and development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Enterprise Sans" pitchFamily="2" charset="0"/>
                          <a:ea typeface="Enterprise Sans" pitchFamily="2" charset="0"/>
                        </a:rPr>
                        <a:t>Phase 1</a:t>
                      </a:r>
                    </a:p>
                    <a:p>
                      <a:pPr algn="ctr"/>
                      <a:endParaRPr lang="en-US" sz="1000" dirty="0">
                        <a:latin typeface="Enterprise Sans" pitchFamily="2" charset="0"/>
                        <a:ea typeface="Enterprise Sans" pitchFamily="2" charset="0"/>
                      </a:endParaRP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extLst>
                  <a:ext uri="{0D108BD9-81ED-4DB2-BD59-A6C34878D82A}">
                    <a16:rowId xmlns:a16="http://schemas.microsoft.com/office/drawing/2014/main" val="960946947"/>
                  </a:ext>
                </a:extLst>
              </a:tr>
              <a:tr h="897943">
                <a:tc>
                  <a:txBody>
                    <a:bodyPr/>
                    <a:lstStyle/>
                    <a:p>
                      <a:r>
                        <a:rPr lang="en-US" sz="1000" dirty="0">
                          <a:latin typeface="Enterprise Sans" pitchFamily="2" charset="0"/>
                          <a:ea typeface="Enterprise Sans" pitchFamily="2" charset="0"/>
                        </a:rPr>
                        <a:t>Written Communication 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r>
                        <a:rPr lang="en-US" sz="1000" dirty="0">
                          <a:latin typeface="Enterprise Sans" pitchFamily="2" charset="0"/>
                          <a:ea typeface="Enterprise Sans" pitchFamily="2" charset="0"/>
                        </a:rPr>
                        <a:t>Measures the ability to communicate in commonly used written workplace English</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Sentence Completion </a:t>
                      </a:r>
                    </a:p>
                    <a:p>
                      <a:pPr marL="171450" indent="-171450">
                        <a:buFont typeface="Arial" panose="020B0604020202020204" pitchFamily="34" charset="0"/>
                        <a:buChar char="•"/>
                      </a:pPr>
                      <a:r>
                        <a:rPr lang="en-US" sz="1000" dirty="0">
                          <a:latin typeface="Enterprise Sans" pitchFamily="2" charset="0"/>
                          <a:ea typeface="Enterprise Sans" pitchFamily="2" charset="0"/>
                        </a:rPr>
                        <a:t>Listen and Write</a:t>
                      </a:r>
                    </a:p>
                    <a:p>
                      <a:pPr marL="171450" indent="-171450">
                        <a:buFont typeface="Arial" panose="020B0604020202020204" pitchFamily="34" charset="0"/>
                        <a:buChar char="•"/>
                      </a:pPr>
                      <a:r>
                        <a:rPr lang="en-US" sz="1000" dirty="0">
                          <a:latin typeface="Enterprise Sans" pitchFamily="2" charset="0"/>
                          <a:ea typeface="Enterprise Sans" pitchFamily="2" charset="0"/>
                        </a:rPr>
                        <a:t>Read and Reconstruct</a:t>
                      </a:r>
                    </a:p>
                    <a:p>
                      <a:pPr marL="171450" indent="-171450">
                        <a:buFont typeface="Arial" panose="020B0604020202020204" pitchFamily="34" charset="0"/>
                        <a:buChar char="•"/>
                      </a:pPr>
                      <a:r>
                        <a:rPr lang="en-US" sz="1000" dirty="0">
                          <a:latin typeface="Enterprise Sans" pitchFamily="2" charset="0"/>
                          <a:ea typeface="Enterprise Sans" pitchFamily="2" charset="0"/>
                        </a:rPr>
                        <a:t>Interpret and Write</a:t>
                      </a:r>
                    </a:p>
                    <a:p>
                      <a:pPr marL="171450" indent="-171450">
                        <a:buFont typeface="Arial" panose="020B0604020202020204" pitchFamily="34" charset="0"/>
                        <a:buChar char="•"/>
                      </a:pPr>
                      <a:r>
                        <a:rPr lang="en-US" sz="1000" dirty="0">
                          <a:latin typeface="Enterprise Sans" pitchFamily="2" charset="0"/>
                          <a:ea typeface="Enterprise Sans" pitchFamily="2" charset="0"/>
                        </a:rPr>
                        <a:t>Email Writing</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Spelling and punctuation</a:t>
                      </a:r>
                    </a:p>
                    <a:p>
                      <a:pPr marL="171450" indent="-171450">
                        <a:buFont typeface="Arial" panose="020B0604020202020204" pitchFamily="34" charset="0"/>
                        <a:buChar char="•"/>
                      </a:pPr>
                      <a:r>
                        <a:rPr lang="en-US" sz="1000" dirty="0">
                          <a:latin typeface="Enterprise Sans" pitchFamily="2" charset="0"/>
                          <a:ea typeface="Enterprise Sans" pitchFamily="2" charset="0"/>
                        </a:rPr>
                        <a:t>Professionalism and formality</a:t>
                      </a:r>
                    </a:p>
                    <a:p>
                      <a:pPr marL="171450" indent="-171450">
                        <a:buFont typeface="Arial" panose="020B0604020202020204" pitchFamily="34" charset="0"/>
                        <a:buChar char="•"/>
                      </a:pPr>
                      <a:r>
                        <a:rPr lang="en-US" sz="1000" dirty="0">
                          <a:latin typeface="Enterprise Sans" pitchFamily="2" charset="0"/>
                          <a:ea typeface="Enterprise Sans" pitchFamily="2" charset="0"/>
                        </a:rPr>
                        <a:t>Coherence of thought</a:t>
                      </a:r>
                    </a:p>
                    <a:p>
                      <a:pPr marL="171450" indent="-171450">
                        <a:buFont typeface="Arial" panose="020B0604020202020204" pitchFamily="34" charset="0"/>
                        <a:buChar char="•"/>
                      </a:pPr>
                      <a:r>
                        <a:rPr lang="en-US" sz="1000" dirty="0">
                          <a:latin typeface="Enterprise Sans" pitchFamily="2" charset="0"/>
                          <a:ea typeface="Enterprise Sans" pitchFamily="2" charset="0"/>
                        </a:rPr>
                        <a:t>Grammar</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60</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External placement,</a:t>
                      </a:r>
                    </a:p>
                    <a:p>
                      <a:pPr marL="171450" indent="-171450">
                        <a:buFont typeface="Arial" panose="020B0604020202020204" pitchFamily="34" charset="0"/>
                        <a:buChar char="•"/>
                      </a:pPr>
                      <a:r>
                        <a:rPr lang="en-US" sz="1000" dirty="0">
                          <a:latin typeface="Enterprise Sans" pitchFamily="2" charset="0"/>
                          <a:ea typeface="Enterprise Sans" pitchFamily="2" charset="0"/>
                        </a:rPr>
                        <a:t>Determining learner proficiency</a:t>
                      </a:r>
                    </a:p>
                    <a:p>
                      <a:pPr marL="171450" indent="-171450">
                        <a:buFont typeface="Arial" panose="020B0604020202020204" pitchFamily="34" charset="0"/>
                        <a:buChar char="•"/>
                      </a:pPr>
                      <a:r>
                        <a:rPr lang="en-US" sz="1000" dirty="0">
                          <a:latin typeface="Enterprise Sans" pitchFamily="2" charset="0"/>
                          <a:ea typeface="Enterprise Sans" pitchFamily="2" charset="0"/>
                        </a:rPr>
                        <a:t>Workforce cross skilling</a:t>
                      </a:r>
                    </a:p>
                    <a:p>
                      <a:pPr marL="171450" indent="-171450">
                        <a:buFont typeface="Arial" panose="020B0604020202020204" pitchFamily="34" charset="0"/>
                        <a:buChar char="•"/>
                      </a:pPr>
                      <a:r>
                        <a:rPr lang="en-US" sz="1000" dirty="0">
                          <a:latin typeface="Enterprise Sans" pitchFamily="2" charset="0"/>
                          <a:ea typeface="Enterprise Sans" pitchFamily="2" charset="0"/>
                        </a:rPr>
                        <a:t>Workforce upskilling and development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Phase 2</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extLst>
                  <a:ext uri="{0D108BD9-81ED-4DB2-BD59-A6C34878D82A}">
                    <a16:rowId xmlns:a16="http://schemas.microsoft.com/office/drawing/2014/main" val="2988758377"/>
                  </a:ext>
                </a:extLst>
              </a:tr>
            </a:tbl>
          </a:graphicData>
        </a:graphic>
      </p:graphicFrame>
    </p:spTree>
    <p:extLst>
      <p:ext uri="{BB962C8B-B14F-4D97-AF65-F5344CB8AC3E}">
        <p14:creationId xmlns:p14="http://schemas.microsoft.com/office/powerpoint/2010/main" val="3367583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1B402-2385-6F8C-84C8-E24D6A0337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4E538-33F8-0DDF-8D49-F899F2EC61F3}"/>
              </a:ext>
            </a:extLst>
          </p:cNvPr>
          <p:cNvSpPr>
            <a:spLocks noGrp="1"/>
          </p:cNvSpPr>
          <p:nvPr>
            <p:ph type="title"/>
          </p:nvPr>
        </p:nvSpPr>
        <p:spPr>
          <a:xfrm>
            <a:off x="467926" y="514350"/>
            <a:ext cx="3427799" cy="304699"/>
          </a:xfrm>
        </p:spPr>
        <p:txBody>
          <a:bodyPr/>
          <a:lstStyle/>
          <a:p>
            <a:r>
              <a:rPr lang="en-US" dirty="0"/>
              <a:t>Assessment Overview</a:t>
            </a:r>
          </a:p>
        </p:txBody>
      </p:sp>
      <p:graphicFrame>
        <p:nvGraphicFramePr>
          <p:cNvPr id="3" name="Table 2">
            <a:extLst>
              <a:ext uri="{FF2B5EF4-FFF2-40B4-BE49-F238E27FC236}">
                <a16:creationId xmlns:a16="http://schemas.microsoft.com/office/drawing/2014/main" id="{F43FD06B-E548-9215-8A70-5598BA35E6E7}"/>
              </a:ext>
            </a:extLst>
          </p:cNvPr>
          <p:cNvGraphicFramePr>
            <a:graphicFrameLocks noGrp="1"/>
          </p:cNvGraphicFramePr>
          <p:nvPr/>
        </p:nvGraphicFramePr>
        <p:xfrm>
          <a:off x="467923" y="972495"/>
          <a:ext cx="11158020" cy="5310144"/>
        </p:xfrm>
        <a:graphic>
          <a:graphicData uri="http://schemas.openxmlformats.org/drawingml/2006/table">
            <a:tbl>
              <a:tblPr firstRow="1" bandRow="1">
                <a:tableStyleId>{5C22544A-7EE6-4342-B048-85BDC9FD1C3A}</a:tableStyleId>
              </a:tblPr>
              <a:tblGrid>
                <a:gridCol w="1354147">
                  <a:extLst>
                    <a:ext uri="{9D8B030D-6E8A-4147-A177-3AD203B41FA5}">
                      <a16:colId xmlns:a16="http://schemas.microsoft.com/office/drawing/2014/main" val="2595482740"/>
                    </a:ext>
                  </a:extLst>
                </a:gridCol>
                <a:gridCol w="1721455">
                  <a:extLst>
                    <a:ext uri="{9D8B030D-6E8A-4147-A177-3AD203B41FA5}">
                      <a16:colId xmlns:a16="http://schemas.microsoft.com/office/drawing/2014/main" val="2444920805"/>
                    </a:ext>
                  </a:extLst>
                </a:gridCol>
                <a:gridCol w="2493955">
                  <a:extLst>
                    <a:ext uri="{9D8B030D-6E8A-4147-A177-3AD203B41FA5}">
                      <a16:colId xmlns:a16="http://schemas.microsoft.com/office/drawing/2014/main" val="1234409266"/>
                    </a:ext>
                  </a:extLst>
                </a:gridCol>
                <a:gridCol w="1922599">
                  <a:extLst>
                    <a:ext uri="{9D8B030D-6E8A-4147-A177-3AD203B41FA5}">
                      <a16:colId xmlns:a16="http://schemas.microsoft.com/office/drawing/2014/main" val="3338884902"/>
                    </a:ext>
                  </a:extLst>
                </a:gridCol>
                <a:gridCol w="832326">
                  <a:extLst>
                    <a:ext uri="{9D8B030D-6E8A-4147-A177-3AD203B41FA5}">
                      <a16:colId xmlns:a16="http://schemas.microsoft.com/office/drawing/2014/main" val="1217751626"/>
                    </a:ext>
                  </a:extLst>
                </a:gridCol>
                <a:gridCol w="1696764">
                  <a:extLst>
                    <a:ext uri="{9D8B030D-6E8A-4147-A177-3AD203B41FA5}">
                      <a16:colId xmlns:a16="http://schemas.microsoft.com/office/drawing/2014/main" val="771897395"/>
                    </a:ext>
                  </a:extLst>
                </a:gridCol>
                <a:gridCol w="1136774">
                  <a:extLst>
                    <a:ext uri="{9D8B030D-6E8A-4147-A177-3AD203B41FA5}">
                      <a16:colId xmlns:a16="http://schemas.microsoft.com/office/drawing/2014/main" val="2629766453"/>
                    </a:ext>
                  </a:extLst>
                </a:gridCol>
              </a:tblGrid>
              <a:tr h="402864">
                <a:tc>
                  <a:txBody>
                    <a:bodyPr/>
                    <a:lstStyle/>
                    <a:p>
                      <a:pPr algn="ctr"/>
                      <a:r>
                        <a:rPr lang="en-US" sz="1000" dirty="0">
                          <a:latin typeface="Enterprise Sans" pitchFamily="2" charset="0"/>
                          <a:ea typeface="Enterprise Sans" pitchFamily="2" charset="0"/>
                        </a:rPr>
                        <a:t>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Purpose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Activities</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Skills/Competencies Assessed</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Duration (m)</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Best Used For</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tc>
                  <a:txBody>
                    <a:bodyPr/>
                    <a:lstStyle/>
                    <a:p>
                      <a:pPr algn="ctr"/>
                      <a:r>
                        <a:rPr lang="en-US" sz="1000" dirty="0">
                          <a:latin typeface="Enterprise Sans" pitchFamily="2" charset="0"/>
                          <a:ea typeface="Enterprise Sans" pitchFamily="2" charset="0"/>
                        </a:rPr>
                        <a:t>Development Phase</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tcPr>
                </a:tc>
                <a:extLst>
                  <a:ext uri="{0D108BD9-81ED-4DB2-BD59-A6C34878D82A}">
                    <a16:rowId xmlns:a16="http://schemas.microsoft.com/office/drawing/2014/main" val="1621889230"/>
                  </a:ext>
                </a:extLst>
              </a:tr>
              <a:tr h="1669230">
                <a:tc>
                  <a:txBody>
                    <a:bodyPr/>
                    <a:lstStyle/>
                    <a:p>
                      <a:r>
                        <a:rPr lang="en-US" sz="1000" dirty="0">
                          <a:latin typeface="Enterprise Sans" pitchFamily="2" charset="0"/>
                          <a:ea typeface="Enterprise Sans" pitchFamily="2" charset="0"/>
                        </a:rPr>
                        <a:t>Role-Based Assessment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r>
                        <a:rPr lang="en-US" sz="1000" dirty="0">
                          <a:latin typeface="Enterprise Sans" pitchFamily="2" charset="0"/>
                          <a:ea typeface="Enterprise Sans" pitchFamily="2" charset="0"/>
                        </a:rPr>
                        <a:t>A competency-driven role assessment that predicts job success by evaluating candidates through realistic work simulations, technical challenges, behavioral interviews, situational judgement tests, and AI-assisted role-pays customized for every position. </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Knowledge validation</a:t>
                      </a:r>
                    </a:p>
                    <a:p>
                      <a:pPr marL="171450" indent="-171450">
                        <a:buFont typeface="Arial" panose="020B0604020202020204" pitchFamily="34" charset="0"/>
                        <a:buChar char="•"/>
                      </a:pPr>
                      <a:r>
                        <a:rPr lang="en-US" sz="1000" dirty="0">
                          <a:latin typeface="Enterprise Sans" pitchFamily="2" charset="0"/>
                          <a:ea typeface="Enterprise Sans" pitchFamily="2" charset="0"/>
                        </a:rPr>
                        <a:t>Technical demonstration</a:t>
                      </a:r>
                    </a:p>
                    <a:p>
                      <a:pPr marL="171450" indent="-171450">
                        <a:buFont typeface="Arial" panose="020B0604020202020204" pitchFamily="34" charset="0"/>
                        <a:buChar char="•"/>
                      </a:pPr>
                      <a:r>
                        <a:rPr lang="en-US" sz="1000" dirty="0">
                          <a:latin typeface="Enterprise Sans" pitchFamily="2" charset="0"/>
                          <a:ea typeface="Enterprise Sans" pitchFamily="2" charset="0"/>
                        </a:rPr>
                        <a:t>Job simulation</a:t>
                      </a:r>
                    </a:p>
                    <a:p>
                      <a:pPr marL="171450" indent="-171450">
                        <a:buFont typeface="Arial" panose="020B0604020202020204" pitchFamily="34" charset="0"/>
                        <a:buChar char="•"/>
                      </a:pPr>
                      <a:r>
                        <a:rPr lang="en-US" sz="1000" dirty="0">
                          <a:latin typeface="Enterprise Sans" pitchFamily="2" charset="0"/>
                          <a:ea typeface="Enterprise Sans" pitchFamily="2" charset="0"/>
                        </a:rPr>
                        <a:t>Situational scenarios</a:t>
                      </a:r>
                    </a:p>
                    <a:p>
                      <a:pPr marL="171450" indent="-171450">
                        <a:buFont typeface="Arial" panose="020B0604020202020204" pitchFamily="34" charset="0"/>
                        <a:buChar char="•"/>
                      </a:pPr>
                      <a:r>
                        <a:rPr lang="en-US" sz="1000" dirty="0">
                          <a:latin typeface="Enterprise Sans" pitchFamily="2" charset="0"/>
                          <a:ea typeface="Enterprise Sans" pitchFamily="2" charset="0"/>
                        </a:rPr>
                        <a:t>Role-plays</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r>
                        <a:rPr lang="en-US" sz="1000" dirty="0">
                          <a:latin typeface="Enterprise Sans" pitchFamily="2" charset="0"/>
                          <a:ea typeface="Enterprise Sans" pitchFamily="2" charset="0"/>
                        </a:rPr>
                        <a:t>Role-dependent; to be aligned to each role’s CMF functional, technical and soft skills </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60</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External placement</a:t>
                      </a:r>
                    </a:p>
                    <a:p>
                      <a:pPr marL="171450" indent="-171450">
                        <a:buFont typeface="Arial" panose="020B0604020202020204" pitchFamily="34" charset="0"/>
                        <a:buChar char="•"/>
                      </a:pPr>
                      <a:r>
                        <a:rPr lang="en-US" sz="1000" dirty="0">
                          <a:latin typeface="Enterprise Sans" pitchFamily="2" charset="0"/>
                          <a:ea typeface="Enterprise Sans" pitchFamily="2" charset="0"/>
                        </a:rPr>
                        <a:t>Internal promotion</a:t>
                      </a:r>
                    </a:p>
                    <a:p>
                      <a:pPr marL="171450" indent="-171450">
                        <a:buFont typeface="Arial" panose="020B0604020202020204" pitchFamily="34" charset="0"/>
                        <a:buChar char="•"/>
                      </a:pPr>
                      <a:r>
                        <a:rPr lang="en-US" sz="1000" dirty="0">
                          <a:latin typeface="Enterprise Sans" pitchFamily="2" charset="0"/>
                          <a:ea typeface="Enterprise Sans" pitchFamily="2" charset="0"/>
                        </a:rPr>
                        <a:t>Talent mobility</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tc>
                  <a:txBody>
                    <a:bodyPr/>
                    <a:lstStyle/>
                    <a:p>
                      <a:pPr algn="ctr"/>
                      <a:r>
                        <a:rPr lang="en-US" sz="1000" dirty="0">
                          <a:latin typeface="Enterprise Sans" pitchFamily="2" charset="0"/>
                          <a:ea typeface="Enterprise Sans" pitchFamily="2" charset="0"/>
                        </a:rPr>
                        <a:t>Phase 3</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2"/>
                    </a:solidFill>
                  </a:tcPr>
                </a:tc>
                <a:extLst>
                  <a:ext uri="{0D108BD9-81ED-4DB2-BD59-A6C34878D82A}">
                    <a16:rowId xmlns:a16="http://schemas.microsoft.com/office/drawing/2014/main" val="84768372"/>
                  </a:ext>
                </a:extLst>
              </a:tr>
              <a:tr h="2964323">
                <a:tc>
                  <a:txBody>
                    <a:bodyPr/>
                    <a:lstStyle/>
                    <a:p>
                      <a:r>
                        <a:rPr lang="en-US" sz="1000" dirty="0">
                          <a:latin typeface="Enterprise Sans" pitchFamily="2" charset="0"/>
                          <a:ea typeface="Enterprise Sans" pitchFamily="2" charset="0"/>
                        </a:rPr>
                        <a:t>Adaptive AI Interview and Aptitude Test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r>
                        <a:rPr lang="en-US" sz="1000" dirty="0">
                          <a:latin typeface="Enterprise Sans" pitchFamily="2" charset="0"/>
                          <a:ea typeface="Enterprise Sans" pitchFamily="2" charset="0"/>
                        </a:rPr>
                        <a:t>Measures a candidate’s cognitive ability, workplace agility, learning agility, cultural fit, leadership readiness, and other role-specific competencies. The assessment provides a comprehensive evaluation of the skills and behaviors required for success in the role, offering hiring managers deeper insights into a candidate’s suitability, potential, and overall job fit.</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Domain interview</a:t>
                      </a:r>
                    </a:p>
                    <a:p>
                      <a:pPr marL="171450" indent="-171450">
                        <a:buFont typeface="Arial" panose="020B0604020202020204" pitchFamily="34" charset="0"/>
                        <a:buChar char="•"/>
                      </a:pPr>
                      <a:r>
                        <a:rPr lang="en-US" sz="1000" dirty="0">
                          <a:latin typeface="Enterprise Sans" pitchFamily="2" charset="0"/>
                          <a:ea typeface="Enterprise Sans" pitchFamily="2" charset="0"/>
                        </a:rPr>
                        <a:t>Role simulations</a:t>
                      </a:r>
                    </a:p>
                    <a:p>
                      <a:pPr marL="171450" indent="-171450">
                        <a:buFont typeface="Arial" panose="020B0604020202020204" pitchFamily="34" charset="0"/>
                        <a:buChar char="•"/>
                      </a:pPr>
                      <a:r>
                        <a:rPr lang="en-US" sz="1000" dirty="0">
                          <a:latin typeface="Enterprise Sans" pitchFamily="2" charset="0"/>
                          <a:ea typeface="Enterprise Sans" pitchFamily="2" charset="0"/>
                        </a:rPr>
                        <a:t>Scenario-based questions</a:t>
                      </a:r>
                    </a:p>
                    <a:p>
                      <a:pPr marL="171450" indent="-171450">
                        <a:buFont typeface="Arial" panose="020B0604020202020204" pitchFamily="34" charset="0"/>
                        <a:buChar char="•"/>
                      </a:pPr>
                      <a:r>
                        <a:rPr lang="en-US" sz="1000" dirty="0">
                          <a:latin typeface="Enterprise Sans" pitchFamily="2" charset="0"/>
                          <a:ea typeface="Enterprise Sans" pitchFamily="2" charset="0"/>
                        </a:rPr>
                        <a:t>Cognitive problem-solving</a:t>
                      </a:r>
                    </a:p>
                    <a:p>
                      <a:pPr marL="171450" indent="-171450">
                        <a:buFont typeface="Arial" panose="020B0604020202020204" pitchFamily="34" charset="0"/>
                        <a:buChar char="•"/>
                      </a:pPr>
                      <a:r>
                        <a:rPr lang="en-US" sz="1000" dirty="0">
                          <a:latin typeface="Enterprise Sans" pitchFamily="2" charset="0"/>
                          <a:ea typeface="Enterprise Sans" pitchFamily="2" charset="0"/>
                        </a:rPr>
                        <a:t>Summarizing an information</a:t>
                      </a:r>
                    </a:p>
                    <a:p>
                      <a:pPr marL="171450" indent="-171450">
                        <a:buFont typeface="Arial" panose="020B0604020202020204" pitchFamily="34" charset="0"/>
                        <a:buChar char="•"/>
                      </a:pPr>
                      <a:r>
                        <a:rPr lang="en-US" sz="1000" dirty="0">
                          <a:latin typeface="Enterprise Sans" pitchFamily="2" charset="0"/>
                          <a:ea typeface="Enterprise Sans" pitchFamily="2" charset="0"/>
                        </a:rPr>
                        <a:t>Explain complex idea in simple term</a:t>
                      </a:r>
                    </a:p>
                    <a:p>
                      <a:pPr marL="171450" indent="-171450">
                        <a:buFont typeface="Arial" panose="020B0604020202020204" pitchFamily="34" charset="0"/>
                        <a:buChar char="•"/>
                      </a:pPr>
                      <a:r>
                        <a:rPr lang="en-US" sz="1000" dirty="0">
                          <a:latin typeface="Enterprise Sans" pitchFamily="2" charset="0"/>
                          <a:ea typeface="Enterprise Sans" pitchFamily="2" charset="0"/>
                        </a:rPr>
                        <a:t>Storytelling activity</a:t>
                      </a:r>
                    </a:p>
                    <a:p>
                      <a:pPr marL="171450" indent="-171450">
                        <a:buFont typeface="Arial" panose="020B0604020202020204" pitchFamily="34" charset="0"/>
                        <a:buChar char="•"/>
                      </a:pPr>
                      <a:r>
                        <a:rPr lang="en-US" sz="1000" dirty="0">
                          <a:latin typeface="Enterprise Sans" pitchFamily="2" charset="0"/>
                          <a:ea typeface="Enterprise Sans" pitchFamily="2" charset="0"/>
                        </a:rPr>
                        <a:t>Prioritization challenge </a:t>
                      </a:r>
                    </a:p>
                    <a:p>
                      <a:pPr marL="171450" indent="-171450">
                        <a:buFont typeface="Arial" panose="020B0604020202020204" pitchFamily="34" charset="0"/>
                        <a:buChar char="•"/>
                      </a:pPr>
                      <a:r>
                        <a:rPr lang="en-US" sz="1000" dirty="0">
                          <a:latin typeface="Enterprise Sans" pitchFamily="2" charset="0"/>
                          <a:ea typeface="Enterprise Sans" pitchFamily="2" charset="0"/>
                        </a:rPr>
                        <a:t>Pattern recognition</a:t>
                      </a:r>
                    </a:p>
                    <a:p>
                      <a:pPr marL="171450" indent="-171450">
                        <a:buFont typeface="Arial" panose="020B0604020202020204" pitchFamily="34" charset="0"/>
                        <a:buChar char="•"/>
                      </a:pPr>
                      <a:r>
                        <a:rPr lang="en-US" sz="1000" dirty="0">
                          <a:latin typeface="Enterprise Sans" pitchFamily="2" charset="0"/>
                          <a:ea typeface="Enterprise Sans" pitchFamily="2" charset="0"/>
                        </a:rPr>
                        <a:t>Behavioral and leadership scenarios</a:t>
                      </a:r>
                    </a:p>
                    <a:p>
                      <a:pPr marL="171450" indent="-171450">
                        <a:buFont typeface="Arial" panose="020B0604020202020204" pitchFamily="34" charset="0"/>
                        <a:buChar char="•"/>
                      </a:pPr>
                      <a:r>
                        <a:rPr lang="en-US" sz="1000" dirty="0">
                          <a:latin typeface="Enterprise Sans" pitchFamily="2" charset="0"/>
                          <a:ea typeface="Enterprise Sans" pitchFamily="2" charset="0"/>
                        </a:rPr>
                        <a:t>Situational judgement</a:t>
                      </a:r>
                    </a:p>
                    <a:p>
                      <a:pPr marL="171450" indent="-171450">
                        <a:buFont typeface="Arial" panose="020B0604020202020204" pitchFamily="34" charset="0"/>
                        <a:buChar char="•"/>
                      </a:pPr>
                      <a:r>
                        <a:rPr lang="en-US" sz="1000" dirty="0">
                          <a:latin typeface="Enterprise Sans" pitchFamily="2" charset="0"/>
                          <a:ea typeface="Enterprise Sans" pitchFamily="2" charset="0"/>
                        </a:rPr>
                        <a:t>Ethical dilemma</a:t>
                      </a:r>
                    </a:p>
                    <a:p>
                      <a:pPr marL="171450" indent="-171450">
                        <a:buFont typeface="Arial" panose="020B0604020202020204" pitchFamily="34" charset="0"/>
                        <a:buChar char="•"/>
                      </a:pPr>
                      <a:r>
                        <a:rPr lang="en-US" sz="1000" dirty="0">
                          <a:latin typeface="Enterprise Sans" pitchFamily="2" charset="0"/>
                          <a:ea typeface="Enterprise Sans" pitchFamily="2" charset="0"/>
                        </a:rPr>
                        <a:t>Coaching conversation</a:t>
                      </a:r>
                    </a:p>
                    <a:p>
                      <a:pPr marL="171450" indent="-171450">
                        <a:buFont typeface="Arial" panose="020B0604020202020204" pitchFamily="34" charset="0"/>
                        <a:buChar char="•"/>
                      </a:pPr>
                      <a:r>
                        <a:rPr lang="en-US" sz="1000" dirty="0">
                          <a:latin typeface="Enterprise Sans" pitchFamily="2" charset="0"/>
                          <a:ea typeface="Enterprise Sans" pitchFamily="2" charset="0"/>
                        </a:rPr>
                        <a:t>Performance feedback exercise</a:t>
                      </a:r>
                    </a:p>
                    <a:p>
                      <a:pPr marL="171450" indent="-171450">
                        <a:buFont typeface="Arial" panose="020B0604020202020204" pitchFamily="34" charset="0"/>
                        <a:buChar char="•"/>
                      </a:pPr>
                      <a:endParaRPr lang="en-US" sz="1000" dirty="0">
                        <a:latin typeface="Enterprise Sans" pitchFamily="2" charset="0"/>
                        <a:ea typeface="Enterprise Sans" pitchFamily="2"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i="1" dirty="0">
                          <a:latin typeface="Enterprise Sans" pitchFamily="2" charset="0"/>
                          <a:ea typeface="Enterprise Sans" pitchFamily="2" charset="0"/>
                        </a:rPr>
                        <a:t>Interview questions and activities to be aligned to a role (i.e., PM or IC, training manager, project manager)</a:t>
                      </a:r>
                    </a:p>
                    <a:p>
                      <a:pPr marL="0" indent="0">
                        <a:buFont typeface="Arial" panose="020B0604020202020204" pitchFamily="34" charset="0"/>
                        <a:buNone/>
                      </a:pPr>
                      <a:endParaRPr lang="en-US" sz="1000" dirty="0">
                        <a:latin typeface="Enterprise Sans" pitchFamily="2" charset="0"/>
                        <a:ea typeface="Enterprise Sans" pitchFamily="2" charset="0"/>
                      </a:endParaRP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Domain-specific competencies</a:t>
                      </a:r>
                    </a:p>
                    <a:p>
                      <a:pPr marL="171450" indent="-171450">
                        <a:buFont typeface="Arial" panose="020B0604020202020204" pitchFamily="34" charset="0"/>
                        <a:buChar char="•"/>
                      </a:pPr>
                      <a:r>
                        <a:rPr lang="en-US" sz="1000" dirty="0">
                          <a:latin typeface="Enterprise Sans" pitchFamily="2" charset="0"/>
                          <a:ea typeface="Enterprise Sans" pitchFamily="2" charset="0"/>
                        </a:rPr>
                        <a:t>Critical thinking</a:t>
                      </a:r>
                    </a:p>
                    <a:p>
                      <a:pPr marL="171450" indent="-171450">
                        <a:buFont typeface="Arial" panose="020B0604020202020204" pitchFamily="34" charset="0"/>
                        <a:buChar char="•"/>
                      </a:pPr>
                      <a:r>
                        <a:rPr lang="en-US" sz="1000" dirty="0">
                          <a:latin typeface="Enterprise Sans" pitchFamily="2" charset="0"/>
                          <a:ea typeface="Enterprise Sans" pitchFamily="2" charset="0"/>
                        </a:rPr>
                        <a:t>Decision-making</a:t>
                      </a:r>
                    </a:p>
                    <a:p>
                      <a:pPr marL="171450" indent="-171450">
                        <a:buFont typeface="Arial" panose="020B0604020202020204" pitchFamily="34" charset="0"/>
                        <a:buChar char="•"/>
                      </a:pPr>
                      <a:r>
                        <a:rPr lang="en-US" sz="1000" dirty="0">
                          <a:latin typeface="Enterprise Sans" pitchFamily="2" charset="0"/>
                          <a:ea typeface="Enterprise Sans" pitchFamily="2" charset="0"/>
                        </a:rPr>
                        <a:t>Business judgement</a:t>
                      </a:r>
                    </a:p>
                    <a:p>
                      <a:pPr marL="171450" indent="-171450">
                        <a:buFont typeface="Arial" panose="020B0604020202020204" pitchFamily="34" charset="0"/>
                        <a:buChar char="•"/>
                      </a:pPr>
                      <a:r>
                        <a:rPr lang="en-US" sz="1000" dirty="0">
                          <a:latin typeface="Enterprise Sans" pitchFamily="2" charset="0"/>
                          <a:ea typeface="Enterprise Sans" pitchFamily="2" charset="0"/>
                        </a:rPr>
                        <a:t>Time management</a:t>
                      </a:r>
                    </a:p>
                    <a:p>
                      <a:pPr marL="171450" indent="-171450">
                        <a:buFont typeface="Arial" panose="020B0604020202020204" pitchFamily="34" charset="0"/>
                        <a:buChar char="•"/>
                      </a:pPr>
                      <a:r>
                        <a:rPr lang="en-US" sz="1000" dirty="0">
                          <a:latin typeface="Enterprise Sans" pitchFamily="2" charset="0"/>
                          <a:ea typeface="Enterprise Sans" pitchFamily="2" charset="0"/>
                        </a:rPr>
                        <a:t>Analytical thinking</a:t>
                      </a:r>
                    </a:p>
                    <a:p>
                      <a:pPr marL="171450" indent="-171450">
                        <a:buFont typeface="Arial" panose="020B0604020202020204" pitchFamily="34" charset="0"/>
                        <a:buChar char="•"/>
                      </a:pPr>
                      <a:r>
                        <a:rPr lang="en-US" sz="1000" dirty="0">
                          <a:latin typeface="Enterprise Sans" pitchFamily="2" charset="0"/>
                          <a:ea typeface="Enterprise Sans" pitchFamily="2" charset="0"/>
                        </a:rPr>
                        <a:t>Problem-solving</a:t>
                      </a:r>
                    </a:p>
                    <a:p>
                      <a:pPr marL="171450" indent="-171450">
                        <a:buFont typeface="Arial" panose="020B0604020202020204" pitchFamily="34" charset="0"/>
                        <a:buChar char="•"/>
                      </a:pPr>
                      <a:r>
                        <a:rPr lang="en-US" sz="1000" dirty="0">
                          <a:latin typeface="Enterprise Sans" pitchFamily="2" charset="0"/>
                          <a:ea typeface="Enterprise Sans" pitchFamily="2" charset="0"/>
                        </a:rPr>
                        <a:t>Logical thinking </a:t>
                      </a:r>
                    </a:p>
                    <a:p>
                      <a:pPr marL="171450" indent="-171450">
                        <a:buFont typeface="Arial" panose="020B0604020202020204" pitchFamily="34" charset="0"/>
                        <a:buChar char="•"/>
                      </a:pPr>
                      <a:r>
                        <a:rPr lang="en-US" sz="1000" dirty="0">
                          <a:latin typeface="Enterprise Sans" pitchFamily="2" charset="0"/>
                          <a:ea typeface="Enterprise Sans" pitchFamily="2" charset="0"/>
                        </a:rPr>
                        <a:t>Ownership</a:t>
                      </a:r>
                    </a:p>
                    <a:p>
                      <a:pPr marL="171450" indent="-171450">
                        <a:buFont typeface="Arial" panose="020B0604020202020204" pitchFamily="34" charset="0"/>
                        <a:buChar char="•"/>
                      </a:pPr>
                      <a:r>
                        <a:rPr lang="en-US" sz="1000" dirty="0">
                          <a:latin typeface="Enterprise Sans" pitchFamily="2" charset="0"/>
                          <a:ea typeface="Enterprise Sans" pitchFamily="2" charset="0"/>
                        </a:rPr>
                        <a:t>Integrity</a:t>
                      </a:r>
                    </a:p>
                    <a:p>
                      <a:pPr marL="171450" indent="-171450">
                        <a:buFont typeface="Arial" panose="020B0604020202020204" pitchFamily="34" charset="0"/>
                        <a:buChar char="•"/>
                      </a:pPr>
                      <a:r>
                        <a:rPr lang="en-US" sz="1000" dirty="0">
                          <a:latin typeface="Enterprise Sans" pitchFamily="2" charset="0"/>
                          <a:ea typeface="Enterprise Sans" pitchFamily="2" charset="0"/>
                        </a:rPr>
                        <a:t>Self-awareness</a:t>
                      </a:r>
                    </a:p>
                    <a:p>
                      <a:pPr marL="171450" indent="-171450">
                        <a:buFont typeface="Arial" panose="020B0604020202020204" pitchFamily="34" charset="0"/>
                        <a:buChar char="•"/>
                      </a:pPr>
                      <a:r>
                        <a:rPr lang="en-US" sz="1000" dirty="0">
                          <a:latin typeface="Enterprise Sans" pitchFamily="2" charset="0"/>
                          <a:ea typeface="Enterprise Sans" pitchFamily="2" charset="0"/>
                        </a:rPr>
                        <a:t>Adaptability</a:t>
                      </a:r>
                    </a:p>
                    <a:p>
                      <a:pPr marL="171450" indent="-171450">
                        <a:buFont typeface="Arial" panose="020B0604020202020204" pitchFamily="34" charset="0"/>
                        <a:buChar char="•"/>
                      </a:pPr>
                      <a:r>
                        <a:rPr lang="en-US" sz="1000" dirty="0">
                          <a:latin typeface="Enterprise Sans" pitchFamily="2" charset="0"/>
                          <a:ea typeface="Enterprise Sans" pitchFamily="2" charset="0"/>
                        </a:rPr>
                        <a:t>Stress tolerance</a:t>
                      </a:r>
                    </a:p>
                    <a:p>
                      <a:pPr marL="171450" indent="-171450">
                        <a:buFont typeface="Arial" panose="020B0604020202020204" pitchFamily="34" charset="0"/>
                        <a:buChar char="•"/>
                      </a:pPr>
                      <a:r>
                        <a:rPr lang="en-US" sz="1000" dirty="0">
                          <a:latin typeface="Enterprise Sans" pitchFamily="2" charset="0"/>
                          <a:ea typeface="Enterprise Sans" pitchFamily="2" charset="0"/>
                        </a:rPr>
                        <a:t>Resilience</a:t>
                      </a:r>
                    </a:p>
                    <a:p>
                      <a:pPr marL="171450" indent="-171450">
                        <a:buFont typeface="Arial" panose="020B0604020202020204" pitchFamily="34" charset="0"/>
                        <a:buChar char="•"/>
                      </a:pPr>
                      <a:r>
                        <a:rPr lang="en-US" sz="1000" dirty="0">
                          <a:latin typeface="Enterprise Sans" pitchFamily="2" charset="0"/>
                          <a:ea typeface="Enterprise Sans" pitchFamily="2" charset="0"/>
                        </a:rPr>
                        <a:t>Collaboration </a:t>
                      </a:r>
                    </a:p>
                    <a:p>
                      <a:pPr marL="171450" indent="-171450">
                        <a:buFont typeface="Arial" panose="020B0604020202020204" pitchFamily="34" charset="0"/>
                        <a:buChar char="•"/>
                      </a:pPr>
                      <a:r>
                        <a:rPr lang="en-US" sz="1000" dirty="0">
                          <a:latin typeface="Enterprise Sans" pitchFamily="2" charset="0"/>
                          <a:ea typeface="Enterprise Sans" pitchFamily="2" charset="0"/>
                        </a:rPr>
                        <a:t>Conflict resolution</a:t>
                      </a:r>
                    </a:p>
                    <a:p>
                      <a:pPr marL="171450" indent="-171450">
                        <a:buFont typeface="Arial" panose="020B0604020202020204" pitchFamily="34" charset="0"/>
                        <a:buChar char="•"/>
                      </a:pPr>
                      <a:r>
                        <a:rPr lang="en-US" sz="1000" dirty="0">
                          <a:latin typeface="Enterprise Sans" pitchFamily="2" charset="0"/>
                          <a:ea typeface="Enterprise Sans" pitchFamily="2" charset="0"/>
                        </a:rPr>
                        <a:t>Professional maturity</a:t>
                      </a:r>
                    </a:p>
                    <a:p>
                      <a:pPr marL="171450" indent="-171450">
                        <a:buFont typeface="Arial" panose="020B0604020202020204" pitchFamily="34" charset="0"/>
                        <a:buChar char="•"/>
                      </a:pPr>
                      <a:r>
                        <a:rPr lang="en-US" sz="1000" dirty="0">
                          <a:latin typeface="Enterprise Sans" pitchFamily="2" charset="0"/>
                          <a:ea typeface="Enterprise Sans" pitchFamily="2" charset="0"/>
                        </a:rPr>
                        <a:t>Empathy</a:t>
                      </a:r>
                    </a:p>
                    <a:p>
                      <a:pPr marL="171450" indent="-171450">
                        <a:buFont typeface="Arial" panose="020B0604020202020204" pitchFamily="34" charset="0"/>
                        <a:buChar char="•"/>
                      </a:pPr>
                      <a:r>
                        <a:rPr lang="en-US" sz="1000" dirty="0">
                          <a:latin typeface="Enterprise Sans" pitchFamily="2" charset="0"/>
                          <a:ea typeface="Enterprise Sans" pitchFamily="2" charset="0"/>
                        </a:rPr>
                        <a:t>Accountability</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algn="ctr"/>
                      <a:r>
                        <a:rPr lang="en-US" sz="1000" dirty="0">
                          <a:latin typeface="Enterprise Sans" pitchFamily="2" charset="0"/>
                          <a:ea typeface="Enterprise Sans" pitchFamily="2" charset="0"/>
                        </a:rPr>
                        <a:t>60</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US" sz="1000" dirty="0">
                          <a:latin typeface="Enterprise Sans" pitchFamily="2" charset="0"/>
                          <a:ea typeface="Enterprise Sans" pitchFamily="2" charset="0"/>
                        </a:rPr>
                        <a:t>Promotion readiness</a:t>
                      </a:r>
                    </a:p>
                    <a:p>
                      <a:pPr marL="171450" indent="-171450">
                        <a:buFont typeface="Arial" panose="020B0604020202020204" pitchFamily="34" charset="0"/>
                        <a:buChar char="•"/>
                      </a:pPr>
                      <a:r>
                        <a:rPr lang="en-US" sz="1000" dirty="0">
                          <a:latin typeface="Enterprise Sans" pitchFamily="2" charset="0"/>
                          <a:ea typeface="Enterprise Sans" pitchFamily="2" charset="0"/>
                        </a:rPr>
                        <a:t>Leadership assessment</a:t>
                      </a:r>
                    </a:p>
                    <a:p>
                      <a:pPr marL="171450" indent="-171450">
                        <a:buFont typeface="Arial" panose="020B0604020202020204" pitchFamily="34" charset="0"/>
                        <a:buChar char="•"/>
                      </a:pPr>
                      <a:r>
                        <a:rPr lang="en-US" sz="1000" dirty="0">
                          <a:latin typeface="Enterprise Sans" pitchFamily="2" charset="0"/>
                          <a:ea typeface="Enterprise Sans" pitchFamily="2" charset="0"/>
                        </a:rPr>
                        <a:t>Talent mobility</a:t>
                      </a:r>
                    </a:p>
                    <a:p>
                      <a:pPr marL="171450" indent="-171450">
                        <a:buFont typeface="Arial" panose="020B0604020202020204" pitchFamily="34" charset="0"/>
                        <a:buChar char="•"/>
                      </a:pPr>
                      <a:endParaRPr lang="en-US" sz="1000" dirty="0">
                        <a:latin typeface="Enterprise Sans" pitchFamily="2" charset="0"/>
                        <a:ea typeface="Enterprise Sans" pitchFamily="2" charset="0"/>
                      </a:endParaRP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tc>
                  <a:txBody>
                    <a:bodyPr/>
                    <a:lstStyle/>
                    <a:p>
                      <a:pPr algn="ctr"/>
                      <a:r>
                        <a:rPr lang="en-US" sz="1000" dirty="0">
                          <a:latin typeface="Enterprise Sans" pitchFamily="2" charset="0"/>
                          <a:ea typeface="Enterprise Sans" pitchFamily="2" charset="0"/>
                        </a:rPr>
                        <a:t>Phase 4</a:t>
                      </a:r>
                    </a:p>
                  </a:txBody>
                  <a:tcPr>
                    <a:lnL w="6350" cap="flat" cmpd="sng" algn="ctr">
                      <a:solidFill>
                        <a:srgbClr val="B1B2B4"/>
                      </a:solidFill>
                      <a:prstDash val="sysDot"/>
                      <a:round/>
                      <a:headEnd type="none" w="med" len="med"/>
                      <a:tailEnd type="none" w="med" len="med"/>
                    </a:lnL>
                    <a:lnR w="6350" cap="flat" cmpd="sng" algn="ctr">
                      <a:solidFill>
                        <a:srgbClr val="B1B2B4"/>
                      </a:solidFill>
                      <a:prstDash val="sysDot"/>
                      <a:round/>
                      <a:headEnd type="none" w="med" len="med"/>
                      <a:tailEnd type="none" w="med" len="med"/>
                    </a:lnR>
                    <a:lnT w="6350" cap="flat" cmpd="sng" algn="ctr">
                      <a:solidFill>
                        <a:srgbClr val="B1B2B4"/>
                      </a:solidFill>
                      <a:prstDash val="sysDot"/>
                      <a:round/>
                      <a:headEnd type="none" w="med" len="med"/>
                      <a:tailEnd type="none" w="med" len="med"/>
                    </a:lnT>
                    <a:lnB w="6350" cap="flat" cmpd="sng" algn="ctr">
                      <a:solidFill>
                        <a:srgbClr val="B1B2B4"/>
                      </a:solidFill>
                      <a:prstDash val="sysDot"/>
                      <a:round/>
                      <a:headEnd type="none" w="med" len="med"/>
                      <a:tailEnd type="none" w="med" len="med"/>
                    </a:lnB>
                    <a:solidFill>
                      <a:schemeClr val="bg1"/>
                    </a:solidFill>
                  </a:tcPr>
                </a:tc>
                <a:extLst>
                  <a:ext uri="{0D108BD9-81ED-4DB2-BD59-A6C34878D82A}">
                    <a16:rowId xmlns:a16="http://schemas.microsoft.com/office/drawing/2014/main" val="347517655"/>
                  </a:ext>
                </a:extLst>
              </a:tr>
            </a:tbl>
          </a:graphicData>
        </a:graphic>
      </p:graphicFrame>
    </p:spTree>
    <p:extLst>
      <p:ext uri="{BB962C8B-B14F-4D97-AF65-F5344CB8AC3E}">
        <p14:creationId xmlns:p14="http://schemas.microsoft.com/office/powerpoint/2010/main" val="1774709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0AA5-293F-1D09-A6D3-0D4B2E9A0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AA661-679F-87AF-D750-13D946FB4ED2}"/>
              </a:ext>
            </a:extLst>
          </p:cNvPr>
          <p:cNvSpPr>
            <a:spLocks noGrp="1"/>
          </p:cNvSpPr>
          <p:nvPr>
            <p:ph type="title"/>
          </p:nvPr>
        </p:nvSpPr>
        <p:spPr/>
        <p:txBody>
          <a:bodyPr/>
          <a:lstStyle/>
          <a:p>
            <a:r>
              <a:rPr lang="en-US"/>
              <a:t>Voice CAT Parameters</a:t>
            </a:r>
          </a:p>
        </p:txBody>
      </p:sp>
      <p:sp>
        <p:nvSpPr>
          <p:cNvPr id="41" name="TextBox 40">
            <a:extLst>
              <a:ext uri="{FF2B5EF4-FFF2-40B4-BE49-F238E27FC236}">
                <a16:creationId xmlns:a16="http://schemas.microsoft.com/office/drawing/2014/main" id="{1DDF3BF8-9B1E-0441-B220-48FA275FE76F}"/>
              </a:ext>
            </a:extLst>
          </p:cNvPr>
          <p:cNvSpPr txBox="1"/>
          <p:nvPr/>
        </p:nvSpPr>
        <p:spPr bwMode="gray">
          <a:xfrm>
            <a:off x="446533" y="2595672"/>
            <a:ext cx="1884784" cy="1092607"/>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Pronunciation</a:t>
            </a:r>
          </a:p>
          <a:p>
            <a:pPr marL="285750" indent="-285750">
              <a:spcBef>
                <a:spcPts val="600"/>
              </a:spcBef>
              <a:buFont typeface="Arial" panose="020B0604020202020204" pitchFamily="34" charset="0"/>
              <a:buChar char="•"/>
            </a:pPr>
            <a:r>
              <a:rPr lang="en-US" sz="1400"/>
              <a:t>Speech Clarity</a:t>
            </a:r>
          </a:p>
          <a:p>
            <a:pPr marL="285750" indent="-285750">
              <a:spcBef>
                <a:spcPts val="600"/>
              </a:spcBef>
              <a:buFont typeface="Arial" panose="020B0604020202020204" pitchFamily="34" charset="0"/>
              <a:buChar char="•"/>
            </a:pPr>
            <a:r>
              <a:rPr lang="en-US" sz="1400"/>
              <a:t>Pace</a:t>
            </a:r>
          </a:p>
          <a:p>
            <a:pPr marL="285750" indent="-285750">
              <a:spcBef>
                <a:spcPts val="600"/>
              </a:spcBef>
              <a:buFont typeface="Arial" panose="020B0604020202020204" pitchFamily="34" charset="0"/>
              <a:buChar char="•"/>
            </a:pPr>
            <a:endParaRPr lang="en-US" sz="1400"/>
          </a:p>
        </p:txBody>
      </p:sp>
      <p:sp>
        <p:nvSpPr>
          <p:cNvPr id="65" name="Rectangle 64">
            <a:extLst>
              <a:ext uri="{FF2B5EF4-FFF2-40B4-BE49-F238E27FC236}">
                <a16:creationId xmlns:a16="http://schemas.microsoft.com/office/drawing/2014/main" id="{CDD62F94-3BED-F8C1-4B2B-D34734478C42}"/>
              </a:ext>
            </a:extLst>
          </p:cNvPr>
          <p:cNvSpPr/>
          <p:nvPr/>
        </p:nvSpPr>
        <p:spPr bwMode="gray">
          <a:xfrm>
            <a:off x="2525487" y="1258888"/>
            <a:ext cx="2282890"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TextBox 41">
            <a:extLst>
              <a:ext uri="{FF2B5EF4-FFF2-40B4-BE49-F238E27FC236}">
                <a16:creationId xmlns:a16="http://schemas.microsoft.com/office/drawing/2014/main" id="{77314767-602D-0E6B-D0F5-F88FC578EE9F}"/>
              </a:ext>
            </a:extLst>
          </p:cNvPr>
          <p:cNvSpPr txBox="1"/>
          <p:nvPr/>
        </p:nvSpPr>
        <p:spPr bwMode="gray">
          <a:xfrm>
            <a:off x="2715287" y="2595672"/>
            <a:ext cx="1884784" cy="14465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Vocabulary</a:t>
            </a:r>
          </a:p>
          <a:p>
            <a:pPr marL="285750" indent="-285750">
              <a:spcBef>
                <a:spcPts val="600"/>
              </a:spcBef>
              <a:buFont typeface="Arial" panose="020B0604020202020204" pitchFamily="34" charset="0"/>
              <a:buChar char="•"/>
            </a:pPr>
            <a:r>
              <a:rPr lang="en-US" sz="1400"/>
              <a:t>Sentence Structure</a:t>
            </a:r>
          </a:p>
          <a:p>
            <a:pPr marL="285750" indent="-285750">
              <a:spcBef>
                <a:spcPts val="600"/>
              </a:spcBef>
              <a:buFont typeface="Arial" panose="020B0604020202020204" pitchFamily="34" charset="0"/>
              <a:buChar char="•"/>
            </a:pPr>
            <a:r>
              <a:rPr lang="en-US" sz="1400"/>
              <a:t>Use and Understanding of Idiomatic Expressions</a:t>
            </a:r>
          </a:p>
        </p:txBody>
      </p:sp>
      <p:sp>
        <p:nvSpPr>
          <p:cNvPr id="43" name="TextBox 42">
            <a:extLst>
              <a:ext uri="{FF2B5EF4-FFF2-40B4-BE49-F238E27FC236}">
                <a16:creationId xmlns:a16="http://schemas.microsoft.com/office/drawing/2014/main" id="{01556A9C-B44B-518E-5821-0E12CC42E763}"/>
              </a:ext>
            </a:extLst>
          </p:cNvPr>
          <p:cNvSpPr txBox="1"/>
          <p:nvPr/>
        </p:nvSpPr>
        <p:spPr bwMode="gray">
          <a:xfrm>
            <a:off x="4984041" y="2595672"/>
            <a:ext cx="1974980" cy="13080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Subject-Verb Agreement</a:t>
            </a:r>
          </a:p>
          <a:p>
            <a:pPr marL="285750" indent="-285750">
              <a:spcBef>
                <a:spcPts val="600"/>
              </a:spcBef>
              <a:buFont typeface="Arial" panose="020B0604020202020204" pitchFamily="34" charset="0"/>
              <a:buChar char="•"/>
            </a:pPr>
            <a:r>
              <a:rPr lang="en-US" sz="1400"/>
              <a:t>Verb Tenses</a:t>
            </a:r>
          </a:p>
          <a:p>
            <a:pPr marL="285750" indent="-285750">
              <a:spcBef>
                <a:spcPts val="600"/>
              </a:spcBef>
              <a:buFont typeface="Arial" panose="020B0604020202020204" pitchFamily="34" charset="0"/>
              <a:buChar char="•"/>
            </a:pPr>
            <a:r>
              <a:rPr lang="en-US" sz="1400"/>
              <a:t>Prepositions</a:t>
            </a:r>
          </a:p>
          <a:p>
            <a:pPr marL="285750" indent="-285750">
              <a:spcBef>
                <a:spcPts val="600"/>
              </a:spcBef>
              <a:buFont typeface="Arial" panose="020B0604020202020204" pitchFamily="34" charset="0"/>
              <a:buChar char="•"/>
            </a:pPr>
            <a:r>
              <a:rPr lang="en-US" sz="1400"/>
              <a:t>Articles</a:t>
            </a:r>
          </a:p>
        </p:txBody>
      </p:sp>
      <p:sp>
        <p:nvSpPr>
          <p:cNvPr id="66" name="Rectangle 65">
            <a:extLst>
              <a:ext uri="{FF2B5EF4-FFF2-40B4-BE49-F238E27FC236}">
                <a16:creationId xmlns:a16="http://schemas.microsoft.com/office/drawing/2014/main" id="{1831EAEF-2325-A36C-DA74-8A8C2D2F55A9}"/>
              </a:ext>
            </a:extLst>
          </p:cNvPr>
          <p:cNvSpPr/>
          <p:nvPr/>
        </p:nvSpPr>
        <p:spPr bwMode="gray">
          <a:xfrm>
            <a:off x="7141029" y="1258888"/>
            <a:ext cx="2282890"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TextBox 43">
            <a:extLst>
              <a:ext uri="{FF2B5EF4-FFF2-40B4-BE49-F238E27FC236}">
                <a16:creationId xmlns:a16="http://schemas.microsoft.com/office/drawing/2014/main" id="{9B88CCCC-A221-C4EC-FE65-585402DBDF8F}"/>
              </a:ext>
            </a:extLst>
          </p:cNvPr>
          <p:cNvSpPr txBox="1"/>
          <p:nvPr/>
        </p:nvSpPr>
        <p:spPr bwMode="gray">
          <a:xfrm>
            <a:off x="7342991" y="2595672"/>
            <a:ext cx="1884784" cy="341632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Conversational Skills</a:t>
            </a:r>
          </a:p>
          <a:p>
            <a:pPr marL="285750" indent="-285750">
              <a:spcBef>
                <a:spcPts val="600"/>
              </a:spcBef>
              <a:buFont typeface="Arial" panose="020B0604020202020204" pitchFamily="34" charset="0"/>
              <a:buChar char="•"/>
            </a:pPr>
            <a:r>
              <a:rPr lang="en-US" sz="1400"/>
              <a:t>Empathy and Rapport</a:t>
            </a:r>
          </a:p>
          <a:p>
            <a:pPr marL="285750" indent="-285750">
              <a:spcBef>
                <a:spcPts val="600"/>
              </a:spcBef>
              <a:buFont typeface="Arial" panose="020B0604020202020204" pitchFamily="34" charset="0"/>
              <a:buChar char="•"/>
            </a:pPr>
            <a:r>
              <a:rPr lang="en-US" sz="1400"/>
              <a:t>Probing</a:t>
            </a:r>
          </a:p>
          <a:p>
            <a:pPr marL="285750" indent="-285750">
              <a:spcBef>
                <a:spcPts val="600"/>
              </a:spcBef>
              <a:buFont typeface="Arial" panose="020B0604020202020204" pitchFamily="34" charset="0"/>
              <a:buChar char="•"/>
            </a:pPr>
            <a:r>
              <a:rPr lang="en-US" sz="1400"/>
              <a:t>Critical Thinking and Decision Making </a:t>
            </a:r>
          </a:p>
          <a:p>
            <a:pPr marL="285750" indent="-285750">
              <a:spcBef>
                <a:spcPts val="600"/>
              </a:spcBef>
              <a:buFont typeface="Arial" panose="020B0604020202020204" pitchFamily="34" charset="0"/>
              <a:buChar char="•"/>
            </a:pPr>
            <a:r>
              <a:rPr lang="en-US" sz="1400"/>
              <a:t>Problem Solving</a:t>
            </a:r>
          </a:p>
          <a:p>
            <a:pPr marL="285750" indent="-285750">
              <a:spcBef>
                <a:spcPts val="600"/>
              </a:spcBef>
              <a:buFont typeface="Arial" panose="020B0604020202020204" pitchFamily="34" charset="0"/>
              <a:buChar char="•"/>
            </a:pPr>
            <a:r>
              <a:rPr lang="en-US" sz="1400"/>
              <a:t>Positive Scripting</a:t>
            </a:r>
          </a:p>
          <a:p>
            <a:pPr marL="285750" indent="-285750">
              <a:spcBef>
                <a:spcPts val="600"/>
              </a:spcBef>
              <a:buFont typeface="Arial" panose="020B0604020202020204" pitchFamily="34" charset="0"/>
              <a:buChar char="•"/>
            </a:pPr>
            <a:r>
              <a:rPr lang="en-US" sz="1400"/>
              <a:t>Tone </a:t>
            </a:r>
          </a:p>
          <a:p>
            <a:pPr marL="285750" indent="-285750">
              <a:spcBef>
                <a:spcPts val="600"/>
              </a:spcBef>
              <a:buFont typeface="Arial" panose="020B0604020202020204" pitchFamily="34" charset="0"/>
              <a:buChar char="•"/>
            </a:pPr>
            <a:r>
              <a:rPr lang="en-US" sz="1400"/>
              <a:t>Comprehension</a:t>
            </a:r>
          </a:p>
          <a:p>
            <a:pPr marL="285750" indent="-285750">
              <a:spcBef>
                <a:spcPts val="600"/>
              </a:spcBef>
              <a:buFont typeface="Arial" panose="020B0604020202020204" pitchFamily="34" charset="0"/>
              <a:buChar char="•"/>
            </a:pPr>
            <a:endParaRPr lang="en-US" sz="1400"/>
          </a:p>
        </p:txBody>
      </p:sp>
      <p:sp>
        <p:nvSpPr>
          <p:cNvPr id="45" name="TextBox 44">
            <a:extLst>
              <a:ext uri="{FF2B5EF4-FFF2-40B4-BE49-F238E27FC236}">
                <a16:creationId xmlns:a16="http://schemas.microsoft.com/office/drawing/2014/main" id="{E8DBE81D-A4DD-B535-EE34-834189958DEC}"/>
              </a:ext>
            </a:extLst>
          </p:cNvPr>
          <p:cNvSpPr txBox="1"/>
          <p:nvPr/>
        </p:nvSpPr>
        <p:spPr bwMode="gray">
          <a:xfrm>
            <a:off x="9611744" y="2595672"/>
            <a:ext cx="2127379" cy="1446550"/>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Logical Presentation of Ideas</a:t>
            </a:r>
          </a:p>
          <a:p>
            <a:pPr marL="285750" indent="-285750">
              <a:spcBef>
                <a:spcPts val="600"/>
              </a:spcBef>
              <a:buFont typeface="Arial" panose="020B0604020202020204" pitchFamily="34" charset="0"/>
              <a:buChar char="•"/>
            </a:pPr>
            <a:r>
              <a:rPr lang="en-US" sz="1400"/>
              <a:t>Clear and Easy to Follow Instructions</a:t>
            </a:r>
          </a:p>
          <a:p>
            <a:pPr marL="285750" indent="-285750">
              <a:spcBef>
                <a:spcPts val="600"/>
              </a:spcBef>
              <a:buFont typeface="Arial" panose="020B0604020202020204" pitchFamily="34" charset="0"/>
              <a:buChar char="•"/>
            </a:pPr>
            <a:r>
              <a:rPr lang="en-US" sz="1400"/>
              <a:t>Directness of Responses</a:t>
            </a:r>
          </a:p>
        </p:txBody>
      </p:sp>
      <p:pic>
        <p:nvPicPr>
          <p:cNvPr id="3" name="Picture 2">
            <a:extLst>
              <a:ext uri="{FF2B5EF4-FFF2-40B4-BE49-F238E27FC236}">
                <a16:creationId xmlns:a16="http://schemas.microsoft.com/office/drawing/2014/main" id="{AF94F532-DFB2-7AA5-8217-708CE240C77C}"/>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bwMode="gray">
          <a:xfrm>
            <a:off x="467926" y="1478884"/>
            <a:ext cx="611373" cy="612648"/>
          </a:xfrm>
          <a:prstGeom prst="rect">
            <a:avLst/>
          </a:prstGeom>
        </p:spPr>
      </p:pic>
      <p:pic>
        <p:nvPicPr>
          <p:cNvPr id="8" name="Picture 7" descr="A white and black magnifying glass&#10;&#10;AI-generated content may be incorrect.">
            <a:extLst>
              <a:ext uri="{FF2B5EF4-FFF2-40B4-BE49-F238E27FC236}">
                <a16:creationId xmlns:a16="http://schemas.microsoft.com/office/drawing/2014/main" id="{C4DFE1D2-06CE-E895-68BE-C994BCD7D2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2990" y="1481932"/>
            <a:ext cx="609600" cy="609600"/>
          </a:xfrm>
          <a:prstGeom prst="rect">
            <a:avLst/>
          </a:prstGeom>
        </p:spPr>
      </p:pic>
      <p:pic>
        <p:nvPicPr>
          <p:cNvPr id="5" name="Picture 4">
            <a:extLst>
              <a:ext uri="{FF2B5EF4-FFF2-40B4-BE49-F238E27FC236}">
                <a16:creationId xmlns:a16="http://schemas.microsoft.com/office/drawing/2014/main" id="{1D0BA2F2-08D3-B636-9162-E9D0966BFCC0}"/>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2715287" y="1475836"/>
            <a:ext cx="611373" cy="612648"/>
          </a:xfrm>
          <a:prstGeom prst="rect">
            <a:avLst/>
          </a:prstGeom>
        </p:spPr>
      </p:pic>
      <p:pic>
        <p:nvPicPr>
          <p:cNvPr id="7" name="Picture 6">
            <a:extLst>
              <a:ext uri="{FF2B5EF4-FFF2-40B4-BE49-F238E27FC236}">
                <a16:creationId xmlns:a16="http://schemas.microsoft.com/office/drawing/2014/main" id="{894604A3-21C6-9620-4E6F-5A1768B8E08B}"/>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Lst>
          </a:blip>
          <a:srcRect l="104" r="104"/>
          <a:stretch/>
        </p:blipFill>
        <p:spPr bwMode="gray">
          <a:xfrm>
            <a:off x="5010338" y="1475836"/>
            <a:ext cx="611373" cy="612648"/>
          </a:xfrm>
          <a:prstGeom prst="rect">
            <a:avLst/>
          </a:prstGeom>
        </p:spPr>
      </p:pic>
      <p:pic>
        <p:nvPicPr>
          <p:cNvPr id="10" name="Picture 9">
            <a:extLst>
              <a:ext uri="{FF2B5EF4-FFF2-40B4-BE49-F238E27FC236}">
                <a16:creationId xmlns:a16="http://schemas.microsoft.com/office/drawing/2014/main" id="{4CF2376E-B40C-78FD-4C7F-356008754C93}"/>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Lst>
          </a:blip>
          <a:srcRect l="104" r="104"/>
          <a:stretch/>
        </p:blipFill>
        <p:spPr bwMode="gray">
          <a:xfrm>
            <a:off x="9666873" y="1475836"/>
            <a:ext cx="611373" cy="612648"/>
          </a:xfrm>
          <a:prstGeom prst="rect">
            <a:avLst/>
          </a:prstGeom>
        </p:spPr>
      </p:pic>
      <p:sp>
        <p:nvSpPr>
          <p:cNvPr id="11" name="TextBox 10">
            <a:extLst>
              <a:ext uri="{FF2B5EF4-FFF2-40B4-BE49-F238E27FC236}">
                <a16:creationId xmlns:a16="http://schemas.microsoft.com/office/drawing/2014/main" id="{09B227F3-D370-E352-1B5C-DED021691891}"/>
              </a:ext>
            </a:extLst>
          </p:cNvPr>
          <p:cNvSpPr txBox="1"/>
          <p:nvPr/>
        </p:nvSpPr>
        <p:spPr bwMode="gray">
          <a:xfrm>
            <a:off x="1176668" y="1589481"/>
            <a:ext cx="1295665" cy="400110"/>
          </a:xfrm>
          <a:prstGeom prst="rect">
            <a:avLst/>
          </a:prstGeom>
          <a:noFill/>
        </p:spPr>
        <p:txBody>
          <a:bodyPr vert="horz" wrap="square" lIns="0" tIns="0" rIns="0" bIns="0" rtlCol="0">
            <a:spAutoFit/>
          </a:bodyPr>
          <a:lstStyle/>
          <a:p>
            <a:pPr>
              <a:spcBef>
                <a:spcPts val="600"/>
              </a:spcBef>
            </a:pPr>
            <a:r>
              <a:rPr lang="en-US" sz="1300"/>
              <a:t>Phonological Control</a:t>
            </a:r>
          </a:p>
        </p:txBody>
      </p:sp>
      <p:sp>
        <p:nvSpPr>
          <p:cNvPr id="12" name="TextBox 11">
            <a:extLst>
              <a:ext uri="{FF2B5EF4-FFF2-40B4-BE49-F238E27FC236}">
                <a16:creationId xmlns:a16="http://schemas.microsoft.com/office/drawing/2014/main" id="{E5BF78CC-128F-1DD5-6701-B0D45B67D9D3}"/>
              </a:ext>
            </a:extLst>
          </p:cNvPr>
          <p:cNvSpPr txBox="1"/>
          <p:nvPr/>
        </p:nvSpPr>
        <p:spPr bwMode="gray">
          <a:xfrm>
            <a:off x="3429925" y="1589481"/>
            <a:ext cx="1180385" cy="400110"/>
          </a:xfrm>
          <a:prstGeom prst="rect">
            <a:avLst/>
          </a:prstGeom>
          <a:noFill/>
        </p:spPr>
        <p:txBody>
          <a:bodyPr vert="horz" wrap="square" lIns="0" tIns="0" rIns="0" bIns="0" rtlCol="0">
            <a:spAutoFit/>
          </a:bodyPr>
          <a:lstStyle/>
          <a:p>
            <a:pPr>
              <a:spcBef>
                <a:spcPts val="600"/>
              </a:spcBef>
            </a:pPr>
            <a:r>
              <a:rPr lang="en-US" sz="1300"/>
              <a:t>Lexical Resource</a:t>
            </a:r>
          </a:p>
        </p:txBody>
      </p:sp>
      <p:sp>
        <p:nvSpPr>
          <p:cNvPr id="13" name="TextBox 12">
            <a:extLst>
              <a:ext uri="{FF2B5EF4-FFF2-40B4-BE49-F238E27FC236}">
                <a16:creationId xmlns:a16="http://schemas.microsoft.com/office/drawing/2014/main" id="{E317878C-5EBB-D324-438F-060EDC7FA55B}"/>
              </a:ext>
            </a:extLst>
          </p:cNvPr>
          <p:cNvSpPr txBox="1"/>
          <p:nvPr/>
        </p:nvSpPr>
        <p:spPr bwMode="gray">
          <a:xfrm>
            <a:off x="5669700" y="1589481"/>
            <a:ext cx="1180385" cy="400110"/>
          </a:xfrm>
          <a:prstGeom prst="rect">
            <a:avLst/>
          </a:prstGeom>
          <a:noFill/>
        </p:spPr>
        <p:txBody>
          <a:bodyPr vert="horz" wrap="square" lIns="0" tIns="0" rIns="0" bIns="0" rtlCol="0">
            <a:spAutoFit/>
          </a:bodyPr>
          <a:lstStyle/>
          <a:p>
            <a:pPr>
              <a:spcBef>
                <a:spcPts val="600"/>
              </a:spcBef>
            </a:pPr>
            <a:r>
              <a:rPr lang="en-US" sz="1300"/>
              <a:t>Grammatical Accuracy</a:t>
            </a:r>
          </a:p>
        </p:txBody>
      </p:sp>
      <p:sp>
        <p:nvSpPr>
          <p:cNvPr id="15" name="TextBox 14">
            <a:extLst>
              <a:ext uri="{FF2B5EF4-FFF2-40B4-BE49-F238E27FC236}">
                <a16:creationId xmlns:a16="http://schemas.microsoft.com/office/drawing/2014/main" id="{E681A649-0A54-0684-7F3B-59975BEA195F}"/>
              </a:ext>
            </a:extLst>
          </p:cNvPr>
          <p:cNvSpPr txBox="1"/>
          <p:nvPr/>
        </p:nvSpPr>
        <p:spPr bwMode="gray">
          <a:xfrm>
            <a:off x="8057629" y="1589481"/>
            <a:ext cx="1180385" cy="600164"/>
          </a:xfrm>
          <a:prstGeom prst="rect">
            <a:avLst/>
          </a:prstGeom>
          <a:noFill/>
        </p:spPr>
        <p:txBody>
          <a:bodyPr vert="horz" wrap="square" lIns="0" tIns="0" rIns="0" bIns="0" rtlCol="0">
            <a:spAutoFit/>
          </a:bodyPr>
          <a:lstStyle/>
          <a:p>
            <a:pPr>
              <a:spcBef>
                <a:spcPts val="600"/>
              </a:spcBef>
            </a:pPr>
            <a:r>
              <a:rPr lang="en-US" sz="1300"/>
              <a:t>Interaction and Discourse Management</a:t>
            </a:r>
          </a:p>
        </p:txBody>
      </p:sp>
      <p:sp>
        <p:nvSpPr>
          <p:cNvPr id="16" name="TextBox 15">
            <a:extLst>
              <a:ext uri="{FF2B5EF4-FFF2-40B4-BE49-F238E27FC236}">
                <a16:creationId xmlns:a16="http://schemas.microsoft.com/office/drawing/2014/main" id="{4950C1B0-544D-BA05-1999-6203F53549BC}"/>
              </a:ext>
            </a:extLst>
          </p:cNvPr>
          <p:cNvSpPr txBox="1"/>
          <p:nvPr/>
        </p:nvSpPr>
        <p:spPr bwMode="gray">
          <a:xfrm>
            <a:off x="10340519" y="1589481"/>
            <a:ext cx="1180385" cy="200055"/>
          </a:xfrm>
          <a:prstGeom prst="rect">
            <a:avLst/>
          </a:prstGeom>
          <a:noFill/>
        </p:spPr>
        <p:txBody>
          <a:bodyPr vert="horz" wrap="square" lIns="0" tIns="0" rIns="0" bIns="0" rtlCol="0">
            <a:spAutoFit/>
          </a:bodyPr>
          <a:lstStyle/>
          <a:p>
            <a:pPr>
              <a:spcBef>
                <a:spcPts val="600"/>
              </a:spcBef>
            </a:pPr>
            <a:r>
              <a:rPr lang="en-US" sz="1300"/>
              <a:t>Coherence</a:t>
            </a:r>
          </a:p>
        </p:txBody>
      </p:sp>
    </p:spTree>
    <p:extLst>
      <p:ext uri="{BB962C8B-B14F-4D97-AF65-F5344CB8AC3E}">
        <p14:creationId xmlns:p14="http://schemas.microsoft.com/office/powerpoint/2010/main" val="3986777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CF38-3586-DBE5-E57C-997E2E0A5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B4955-2B71-BD75-9BDB-A1A533867AFB}"/>
              </a:ext>
            </a:extLst>
          </p:cNvPr>
          <p:cNvSpPr>
            <a:spLocks noGrp="1"/>
          </p:cNvSpPr>
          <p:nvPr>
            <p:ph type="title"/>
          </p:nvPr>
        </p:nvSpPr>
        <p:spPr/>
        <p:txBody>
          <a:bodyPr/>
          <a:lstStyle/>
          <a:p>
            <a:r>
              <a:rPr lang="en-US"/>
              <a:t>Non-voice CAT Parameters</a:t>
            </a:r>
          </a:p>
        </p:txBody>
      </p:sp>
      <p:sp>
        <p:nvSpPr>
          <p:cNvPr id="41" name="TextBox 40">
            <a:extLst>
              <a:ext uri="{FF2B5EF4-FFF2-40B4-BE49-F238E27FC236}">
                <a16:creationId xmlns:a16="http://schemas.microsoft.com/office/drawing/2014/main" id="{325F61E9-F592-7175-35E1-76DDC63047B9}"/>
              </a:ext>
            </a:extLst>
          </p:cNvPr>
          <p:cNvSpPr txBox="1"/>
          <p:nvPr/>
        </p:nvSpPr>
        <p:spPr bwMode="gray">
          <a:xfrm>
            <a:off x="485863" y="2595672"/>
            <a:ext cx="1884784" cy="1523494"/>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Timeliness</a:t>
            </a:r>
          </a:p>
          <a:p>
            <a:pPr marL="285750" indent="-285750">
              <a:spcBef>
                <a:spcPts val="600"/>
              </a:spcBef>
              <a:buFont typeface="Arial" panose="020B0604020202020204" pitchFamily="34" charset="0"/>
              <a:buChar char="•"/>
            </a:pPr>
            <a:r>
              <a:rPr lang="en-US" sz="1400"/>
              <a:t>Capitalization</a:t>
            </a:r>
          </a:p>
          <a:p>
            <a:pPr marL="285750" indent="-285750">
              <a:spcBef>
                <a:spcPts val="600"/>
              </a:spcBef>
              <a:buFont typeface="Arial" panose="020B0604020202020204" pitchFamily="34" charset="0"/>
              <a:buChar char="•"/>
            </a:pPr>
            <a:r>
              <a:rPr lang="en-US" sz="1400"/>
              <a:t>Appropriate use of acronyms and abbreviations</a:t>
            </a:r>
          </a:p>
          <a:p>
            <a:pPr marL="285750" indent="-285750">
              <a:spcBef>
                <a:spcPts val="600"/>
              </a:spcBef>
              <a:buFont typeface="Arial" panose="020B0604020202020204" pitchFamily="34" charset="0"/>
              <a:buChar char="•"/>
            </a:pPr>
            <a:r>
              <a:rPr lang="en-US" sz="1400"/>
              <a:t>Use of Jargon</a:t>
            </a:r>
          </a:p>
        </p:txBody>
      </p:sp>
      <p:sp>
        <p:nvSpPr>
          <p:cNvPr id="65" name="Rectangle 64">
            <a:extLst>
              <a:ext uri="{FF2B5EF4-FFF2-40B4-BE49-F238E27FC236}">
                <a16:creationId xmlns:a16="http://schemas.microsoft.com/office/drawing/2014/main" id="{0D1D75DA-193E-4304-C224-5421149EE8B4}"/>
              </a:ext>
            </a:extLst>
          </p:cNvPr>
          <p:cNvSpPr/>
          <p:nvPr/>
        </p:nvSpPr>
        <p:spPr bwMode="gray">
          <a:xfrm>
            <a:off x="3105599" y="1258888"/>
            <a:ext cx="2612567"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2" name="TextBox 41">
            <a:extLst>
              <a:ext uri="{FF2B5EF4-FFF2-40B4-BE49-F238E27FC236}">
                <a16:creationId xmlns:a16="http://schemas.microsoft.com/office/drawing/2014/main" id="{89B57846-26AB-1F3C-03F5-3FE656D3544B}"/>
              </a:ext>
            </a:extLst>
          </p:cNvPr>
          <p:cNvSpPr txBox="1"/>
          <p:nvPr/>
        </p:nvSpPr>
        <p:spPr bwMode="gray">
          <a:xfrm>
            <a:off x="3295400" y="2595672"/>
            <a:ext cx="1884784" cy="1600438"/>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Sentence Structure</a:t>
            </a:r>
          </a:p>
          <a:p>
            <a:pPr marL="285750" indent="-285750">
              <a:spcBef>
                <a:spcPts val="600"/>
              </a:spcBef>
              <a:buFont typeface="Arial" panose="020B0604020202020204" pitchFamily="34" charset="0"/>
              <a:buChar char="•"/>
            </a:pPr>
            <a:r>
              <a:rPr lang="en-US" sz="1400"/>
              <a:t>Subject-Verb Agreement</a:t>
            </a:r>
          </a:p>
          <a:p>
            <a:pPr marL="285750" indent="-285750">
              <a:spcBef>
                <a:spcPts val="600"/>
              </a:spcBef>
              <a:buFont typeface="Arial" panose="020B0604020202020204" pitchFamily="34" charset="0"/>
              <a:buChar char="•"/>
            </a:pPr>
            <a:r>
              <a:rPr lang="en-US" sz="1400"/>
              <a:t>Verb Tenses</a:t>
            </a:r>
          </a:p>
          <a:p>
            <a:pPr marL="285750" indent="-285750">
              <a:spcBef>
                <a:spcPts val="600"/>
              </a:spcBef>
              <a:buFont typeface="Arial" panose="020B0604020202020204" pitchFamily="34" charset="0"/>
              <a:buChar char="•"/>
            </a:pPr>
            <a:r>
              <a:rPr lang="en-US" sz="1400"/>
              <a:t>Prepositions</a:t>
            </a:r>
          </a:p>
          <a:p>
            <a:pPr marL="285750" indent="-285750">
              <a:spcBef>
                <a:spcPts val="600"/>
              </a:spcBef>
              <a:buFont typeface="Arial" panose="020B0604020202020204" pitchFamily="34" charset="0"/>
              <a:buChar char="•"/>
            </a:pPr>
            <a:r>
              <a:rPr lang="en-US" sz="1400"/>
              <a:t>Articles</a:t>
            </a:r>
          </a:p>
        </p:txBody>
      </p:sp>
      <p:sp>
        <p:nvSpPr>
          <p:cNvPr id="43" name="TextBox 42">
            <a:extLst>
              <a:ext uri="{FF2B5EF4-FFF2-40B4-BE49-F238E27FC236}">
                <a16:creationId xmlns:a16="http://schemas.microsoft.com/office/drawing/2014/main" id="{00C15516-3BE5-000B-B0D5-3C9605E1A0FA}"/>
              </a:ext>
            </a:extLst>
          </p:cNvPr>
          <p:cNvSpPr txBox="1"/>
          <p:nvPr/>
        </p:nvSpPr>
        <p:spPr bwMode="gray">
          <a:xfrm>
            <a:off x="6183585" y="2595672"/>
            <a:ext cx="1974980" cy="723275"/>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Correctness in spelling</a:t>
            </a:r>
          </a:p>
          <a:p>
            <a:pPr marL="285750" indent="-285750">
              <a:spcBef>
                <a:spcPts val="600"/>
              </a:spcBef>
              <a:buFont typeface="Arial" panose="020B0604020202020204" pitchFamily="34" charset="0"/>
              <a:buChar char="•"/>
            </a:pPr>
            <a:r>
              <a:rPr lang="en-US" sz="1400"/>
              <a:t>Proper Punctuation</a:t>
            </a:r>
          </a:p>
        </p:txBody>
      </p:sp>
      <p:sp>
        <p:nvSpPr>
          <p:cNvPr id="66" name="Rectangle 65">
            <a:extLst>
              <a:ext uri="{FF2B5EF4-FFF2-40B4-BE49-F238E27FC236}">
                <a16:creationId xmlns:a16="http://schemas.microsoft.com/office/drawing/2014/main" id="{DE0148AF-4249-2763-33AC-785D466E03B4}"/>
              </a:ext>
            </a:extLst>
          </p:cNvPr>
          <p:cNvSpPr/>
          <p:nvPr/>
        </p:nvSpPr>
        <p:spPr bwMode="gray">
          <a:xfrm>
            <a:off x="8822356" y="1258888"/>
            <a:ext cx="2612567" cy="4735512"/>
          </a:xfrm>
          <a:prstGeom prst="rect">
            <a:avLst/>
          </a:prstGeom>
          <a:solidFill>
            <a:srgbClr val="FBFAF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44" name="TextBox 43">
            <a:extLst>
              <a:ext uri="{FF2B5EF4-FFF2-40B4-BE49-F238E27FC236}">
                <a16:creationId xmlns:a16="http://schemas.microsoft.com/office/drawing/2014/main" id="{861C05DE-5661-E5B3-3DFC-87EDFDC7B862}"/>
              </a:ext>
            </a:extLst>
          </p:cNvPr>
          <p:cNvSpPr txBox="1"/>
          <p:nvPr/>
        </p:nvSpPr>
        <p:spPr bwMode="gray">
          <a:xfrm>
            <a:off x="9024319" y="2595672"/>
            <a:ext cx="1884784" cy="1954381"/>
          </a:xfrm>
          <a:prstGeom prst="rect">
            <a:avLst/>
          </a:prstGeom>
          <a:noFill/>
        </p:spPr>
        <p:txBody>
          <a:bodyPr vert="horz" wrap="square" lIns="0" tIns="0" rIns="0" bIns="0" rtlCol="0">
            <a:spAutoFit/>
          </a:bodyPr>
          <a:lstStyle/>
          <a:p>
            <a:pPr marL="285750" indent="-285750">
              <a:spcBef>
                <a:spcPts val="600"/>
              </a:spcBef>
              <a:buFont typeface="Arial" panose="020B0604020202020204" pitchFamily="34" charset="0"/>
              <a:buChar char="•"/>
            </a:pPr>
            <a:r>
              <a:rPr lang="en-US" sz="1400"/>
              <a:t>Complete and concise correspondence</a:t>
            </a:r>
          </a:p>
          <a:p>
            <a:pPr marL="285750" indent="-285750">
              <a:spcBef>
                <a:spcPts val="600"/>
              </a:spcBef>
              <a:buFont typeface="Arial" panose="020B0604020202020204" pitchFamily="34" charset="0"/>
              <a:buChar char="•"/>
            </a:pPr>
            <a:r>
              <a:rPr lang="en-US" sz="1400"/>
              <a:t>Correctness and Accuracy of information</a:t>
            </a:r>
          </a:p>
          <a:p>
            <a:pPr marL="285750" indent="-285750">
              <a:spcBef>
                <a:spcPts val="600"/>
              </a:spcBef>
              <a:buFont typeface="Arial" panose="020B0604020202020204" pitchFamily="34" charset="0"/>
              <a:buChar char="•"/>
            </a:pPr>
            <a:r>
              <a:rPr lang="en-US" sz="1400"/>
              <a:t>Comprehension </a:t>
            </a:r>
          </a:p>
          <a:p>
            <a:pPr marL="285750" indent="-285750">
              <a:spcBef>
                <a:spcPts val="600"/>
              </a:spcBef>
              <a:buFont typeface="Arial" panose="020B0604020202020204" pitchFamily="34" charset="0"/>
              <a:buChar char="•"/>
            </a:pPr>
            <a:endParaRPr lang="en-US" sz="1400"/>
          </a:p>
        </p:txBody>
      </p:sp>
      <p:pic>
        <p:nvPicPr>
          <p:cNvPr id="8" name="Picture 7" descr="A white and black magnifying glass&#10;&#10;AI-generated content may be incorrect.">
            <a:extLst>
              <a:ext uri="{FF2B5EF4-FFF2-40B4-BE49-F238E27FC236}">
                <a16:creationId xmlns:a16="http://schemas.microsoft.com/office/drawing/2014/main" id="{4539D16D-6A8A-25DF-C201-0DBDBDEF98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256" y="1423205"/>
            <a:ext cx="609600" cy="609600"/>
          </a:xfrm>
          <a:prstGeom prst="rect">
            <a:avLst/>
          </a:prstGeom>
        </p:spPr>
      </p:pic>
      <p:pic>
        <p:nvPicPr>
          <p:cNvPr id="5" name="Picture 4">
            <a:extLst>
              <a:ext uri="{FF2B5EF4-FFF2-40B4-BE49-F238E27FC236}">
                <a16:creationId xmlns:a16="http://schemas.microsoft.com/office/drawing/2014/main" id="{2E81F98B-7FB1-E6FD-96E4-7C35F6D764E3}"/>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rcRect l="104" r="104"/>
          <a:stretch/>
        </p:blipFill>
        <p:spPr bwMode="gray">
          <a:xfrm>
            <a:off x="3295400" y="1475836"/>
            <a:ext cx="611373" cy="612648"/>
          </a:xfrm>
          <a:prstGeom prst="rect">
            <a:avLst/>
          </a:prstGeom>
        </p:spPr>
      </p:pic>
      <p:pic>
        <p:nvPicPr>
          <p:cNvPr id="7" name="Picture 6">
            <a:extLst>
              <a:ext uri="{FF2B5EF4-FFF2-40B4-BE49-F238E27FC236}">
                <a16:creationId xmlns:a16="http://schemas.microsoft.com/office/drawing/2014/main" id="{529B13D6-3446-4D11-232E-217AEBD99FFC}"/>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rcRect l="104" r="104"/>
          <a:stretch/>
        </p:blipFill>
        <p:spPr bwMode="gray">
          <a:xfrm>
            <a:off x="6209882" y="1475836"/>
            <a:ext cx="611373" cy="612648"/>
          </a:xfrm>
          <a:prstGeom prst="rect">
            <a:avLst/>
          </a:prstGeom>
        </p:spPr>
      </p:pic>
      <p:pic>
        <p:nvPicPr>
          <p:cNvPr id="10" name="Picture 9">
            <a:extLst>
              <a:ext uri="{FF2B5EF4-FFF2-40B4-BE49-F238E27FC236}">
                <a16:creationId xmlns:a16="http://schemas.microsoft.com/office/drawing/2014/main" id="{A484E23C-7EC7-E44B-E801-A8822AF2F49F}"/>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rcRect l="104" r="104"/>
          <a:stretch/>
        </p:blipFill>
        <p:spPr bwMode="gray">
          <a:xfrm>
            <a:off x="9047450" y="1475836"/>
            <a:ext cx="611373" cy="612648"/>
          </a:xfrm>
          <a:prstGeom prst="rect">
            <a:avLst/>
          </a:prstGeom>
        </p:spPr>
      </p:pic>
      <p:sp>
        <p:nvSpPr>
          <p:cNvPr id="11" name="TextBox 10">
            <a:extLst>
              <a:ext uri="{FF2B5EF4-FFF2-40B4-BE49-F238E27FC236}">
                <a16:creationId xmlns:a16="http://schemas.microsoft.com/office/drawing/2014/main" id="{C30449AF-B114-C9B6-4830-4B2CA61DD0D1}"/>
              </a:ext>
            </a:extLst>
          </p:cNvPr>
          <p:cNvSpPr txBox="1"/>
          <p:nvPr/>
        </p:nvSpPr>
        <p:spPr bwMode="gray">
          <a:xfrm>
            <a:off x="1215998" y="1589481"/>
            <a:ext cx="1295665" cy="400110"/>
          </a:xfrm>
          <a:prstGeom prst="rect">
            <a:avLst/>
          </a:prstGeom>
          <a:noFill/>
        </p:spPr>
        <p:txBody>
          <a:bodyPr vert="horz" wrap="square" lIns="0" tIns="0" rIns="0" bIns="0" rtlCol="0">
            <a:spAutoFit/>
          </a:bodyPr>
          <a:lstStyle/>
          <a:p>
            <a:pPr>
              <a:spcBef>
                <a:spcPts val="600"/>
              </a:spcBef>
            </a:pPr>
            <a:r>
              <a:rPr lang="en-US" sz="1300"/>
              <a:t>Professionalism and Formality</a:t>
            </a:r>
          </a:p>
        </p:txBody>
      </p:sp>
      <p:sp>
        <p:nvSpPr>
          <p:cNvPr id="12" name="TextBox 11">
            <a:extLst>
              <a:ext uri="{FF2B5EF4-FFF2-40B4-BE49-F238E27FC236}">
                <a16:creationId xmlns:a16="http://schemas.microsoft.com/office/drawing/2014/main" id="{4E830B4E-1934-68C1-EF73-FE915170F54D}"/>
              </a:ext>
            </a:extLst>
          </p:cNvPr>
          <p:cNvSpPr txBox="1"/>
          <p:nvPr/>
        </p:nvSpPr>
        <p:spPr bwMode="gray">
          <a:xfrm>
            <a:off x="4010038" y="1589481"/>
            <a:ext cx="1180385" cy="400110"/>
          </a:xfrm>
          <a:prstGeom prst="rect">
            <a:avLst/>
          </a:prstGeom>
          <a:noFill/>
        </p:spPr>
        <p:txBody>
          <a:bodyPr vert="horz" wrap="square" lIns="0" tIns="0" rIns="0" bIns="0" rtlCol="0">
            <a:spAutoFit/>
          </a:bodyPr>
          <a:lstStyle/>
          <a:p>
            <a:pPr>
              <a:spcBef>
                <a:spcPts val="600"/>
              </a:spcBef>
            </a:pPr>
            <a:r>
              <a:rPr lang="en-US" sz="1300"/>
              <a:t>Correctness of Grammar</a:t>
            </a:r>
          </a:p>
        </p:txBody>
      </p:sp>
      <p:sp>
        <p:nvSpPr>
          <p:cNvPr id="13" name="TextBox 12">
            <a:extLst>
              <a:ext uri="{FF2B5EF4-FFF2-40B4-BE49-F238E27FC236}">
                <a16:creationId xmlns:a16="http://schemas.microsoft.com/office/drawing/2014/main" id="{0D0E793B-C5BE-2313-5EA2-B0CCBEC67C2E}"/>
              </a:ext>
            </a:extLst>
          </p:cNvPr>
          <p:cNvSpPr txBox="1"/>
          <p:nvPr/>
        </p:nvSpPr>
        <p:spPr bwMode="gray">
          <a:xfrm>
            <a:off x="6869244" y="1589481"/>
            <a:ext cx="1180385" cy="400110"/>
          </a:xfrm>
          <a:prstGeom prst="rect">
            <a:avLst/>
          </a:prstGeom>
          <a:noFill/>
        </p:spPr>
        <p:txBody>
          <a:bodyPr vert="horz" wrap="square" lIns="0" tIns="0" rIns="0" bIns="0" rtlCol="0">
            <a:spAutoFit/>
          </a:bodyPr>
          <a:lstStyle/>
          <a:p>
            <a:pPr>
              <a:spcBef>
                <a:spcPts val="600"/>
              </a:spcBef>
            </a:pPr>
            <a:r>
              <a:rPr lang="en-US" sz="1300"/>
              <a:t>Spelling and Punctuation</a:t>
            </a:r>
          </a:p>
        </p:txBody>
      </p:sp>
      <p:sp>
        <p:nvSpPr>
          <p:cNvPr id="15" name="TextBox 14">
            <a:extLst>
              <a:ext uri="{FF2B5EF4-FFF2-40B4-BE49-F238E27FC236}">
                <a16:creationId xmlns:a16="http://schemas.microsoft.com/office/drawing/2014/main" id="{EA8F1E5B-0DAC-A1E1-331A-C3CB29C6BD43}"/>
              </a:ext>
            </a:extLst>
          </p:cNvPr>
          <p:cNvSpPr txBox="1"/>
          <p:nvPr/>
        </p:nvSpPr>
        <p:spPr bwMode="gray">
          <a:xfrm>
            <a:off x="9738957" y="1589481"/>
            <a:ext cx="1180385" cy="400110"/>
          </a:xfrm>
          <a:prstGeom prst="rect">
            <a:avLst/>
          </a:prstGeom>
          <a:noFill/>
        </p:spPr>
        <p:txBody>
          <a:bodyPr vert="horz" wrap="square" lIns="0" tIns="0" rIns="0" bIns="0" rtlCol="0">
            <a:spAutoFit/>
          </a:bodyPr>
          <a:lstStyle/>
          <a:p>
            <a:pPr>
              <a:spcBef>
                <a:spcPts val="600"/>
              </a:spcBef>
            </a:pPr>
            <a:r>
              <a:rPr lang="en-US" sz="1300"/>
              <a:t>Coherence of Thought</a:t>
            </a:r>
          </a:p>
        </p:txBody>
      </p:sp>
    </p:spTree>
    <p:extLst>
      <p:ext uri="{BB962C8B-B14F-4D97-AF65-F5344CB8AC3E}">
        <p14:creationId xmlns:p14="http://schemas.microsoft.com/office/powerpoint/2010/main" val="1956293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E10EC-82E1-42D4-9F33-819201B5B352}"/>
              </a:ext>
            </a:extLst>
          </p:cNvPr>
          <p:cNvSpPr>
            <a:spLocks noGrp="1"/>
          </p:cNvSpPr>
          <p:nvPr>
            <p:ph type="title"/>
          </p:nvPr>
        </p:nvSpPr>
        <p:spPr>
          <a:xfrm>
            <a:off x="467926" y="555639"/>
            <a:ext cx="9601200" cy="332399"/>
          </a:xfrm>
        </p:spPr>
        <p:txBody>
          <a:bodyPr/>
          <a:lstStyle/>
          <a:p>
            <a:r>
              <a:rPr lang="en-US"/>
              <a:t>Phase 1: </a:t>
            </a:r>
            <a:r>
              <a:rPr lang="en-US" sz="2400">
                <a:solidFill>
                  <a:schemeClr val="accent6"/>
                </a:solidFill>
              </a:rPr>
              <a:t>Voice language and communication assessment</a:t>
            </a:r>
            <a:r>
              <a:rPr lang="en-US"/>
              <a:t> </a:t>
            </a:r>
          </a:p>
        </p:txBody>
      </p:sp>
      <p:pic>
        <p:nvPicPr>
          <p:cNvPr id="4" name="Picture 3" descr="A group of orange and grey stars&#10;&#10;AI-generated content may be incorrect.">
            <a:extLst>
              <a:ext uri="{FF2B5EF4-FFF2-40B4-BE49-F238E27FC236}">
                <a16:creationId xmlns:a16="http://schemas.microsoft.com/office/drawing/2014/main" id="{AC97FCB0-0F4B-AF65-9FFC-AF28F7B52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94346"/>
            <a:ext cx="609600" cy="609600"/>
          </a:xfrm>
          <a:prstGeom prst="rect">
            <a:avLst/>
          </a:prstGeom>
        </p:spPr>
      </p:pic>
      <p:sp>
        <p:nvSpPr>
          <p:cNvPr id="35" name="TextBox 34">
            <a:extLst>
              <a:ext uri="{FF2B5EF4-FFF2-40B4-BE49-F238E27FC236}">
                <a16:creationId xmlns:a16="http://schemas.microsoft.com/office/drawing/2014/main" id="{9C13B639-00B0-4C4A-8B21-DC1EAB681EC9}"/>
              </a:ext>
            </a:extLst>
          </p:cNvPr>
          <p:cNvSpPr txBox="1"/>
          <p:nvPr/>
        </p:nvSpPr>
        <p:spPr bwMode="gray">
          <a:xfrm>
            <a:off x="1252802" y="1683702"/>
            <a:ext cx="1171620" cy="215444"/>
          </a:xfrm>
          <a:prstGeom prst="rect">
            <a:avLst/>
          </a:prstGeom>
          <a:noFill/>
        </p:spPr>
        <p:txBody>
          <a:bodyPr vert="horz" wrap="square" lIns="0" tIns="0" rIns="0" bIns="0" rtlCol="0">
            <a:spAutoFit/>
          </a:bodyPr>
          <a:lstStyle/>
          <a:p>
            <a:pPr>
              <a:spcBef>
                <a:spcPts val="600"/>
              </a:spcBef>
              <a:buClr>
                <a:schemeClr val="tx1"/>
              </a:buClr>
            </a:pPr>
            <a:r>
              <a:rPr lang="en-US" sz="1400" b="1">
                <a:solidFill>
                  <a:schemeClr val="accent6"/>
                </a:solidFill>
              </a:rPr>
              <a:t>Part 1</a:t>
            </a:r>
          </a:p>
        </p:txBody>
      </p:sp>
      <p:sp>
        <p:nvSpPr>
          <p:cNvPr id="21" name="TextBox 20">
            <a:extLst>
              <a:ext uri="{FF2B5EF4-FFF2-40B4-BE49-F238E27FC236}">
                <a16:creationId xmlns:a16="http://schemas.microsoft.com/office/drawing/2014/main" id="{5B8B74B6-8853-46AD-8A15-C9638A03D55B}"/>
              </a:ext>
            </a:extLst>
          </p:cNvPr>
          <p:cNvSpPr txBox="1"/>
          <p:nvPr/>
        </p:nvSpPr>
        <p:spPr bwMode="gray">
          <a:xfrm>
            <a:off x="467794" y="2469066"/>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pic>
        <p:nvPicPr>
          <p:cNvPr id="6" name="Picture 5" descr="A brain with a circuit board&#10;&#10;AI-generated content may be incorrect.">
            <a:extLst>
              <a:ext uri="{FF2B5EF4-FFF2-40B4-BE49-F238E27FC236}">
                <a16:creationId xmlns:a16="http://schemas.microsoft.com/office/drawing/2014/main" id="{2D8C03C7-2450-A4F9-889E-A38F79B13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2669" y="1594346"/>
            <a:ext cx="609600" cy="609600"/>
          </a:xfrm>
          <a:prstGeom prst="rect">
            <a:avLst/>
          </a:prstGeom>
        </p:spPr>
      </p:pic>
      <p:sp>
        <p:nvSpPr>
          <p:cNvPr id="50" name="TextBox 49">
            <a:extLst>
              <a:ext uri="{FF2B5EF4-FFF2-40B4-BE49-F238E27FC236}">
                <a16:creationId xmlns:a16="http://schemas.microsoft.com/office/drawing/2014/main" id="{B32C2151-FDD8-42C7-8260-F0AB75B3BAB6}"/>
              </a:ext>
            </a:extLst>
          </p:cNvPr>
          <p:cNvSpPr txBox="1"/>
          <p:nvPr/>
        </p:nvSpPr>
        <p:spPr bwMode="gray">
          <a:xfrm>
            <a:off x="4205507" y="1683702"/>
            <a:ext cx="1171620" cy="215444"/>
          </a:xfrm>
          <a:prstGeom prst="rect">
            <a:avLst/>
          </a:prstGeom>
          <a:noFill/>
        </p:spPr>
        <p:txBody>
          <a:bodyPr vert="horz" wrap="square" lIns="0" tIns="0" rIns="0" bIns="0" rtlCol="0">
            <a:spAutoFit/>
          </a:bodyPr>
          <a:lstStyle/>
          <a:p>
            <a:pPr>
              <a:spcBef>
                <a:spcPts val="600"/>
              </a:spcBef>
              <a:buClr>
                <a:schemeClr val="tx1"/>
              </a:buClr>
            </a:pPr>
            <a:r>
              <a:rPr lang="en-US" sz="1400" b="1">
                <a:solidFill>
                  <a:schemeClr val="accent6"/>
                </a:solidFill>
              </a:rPr>
              <a:t>Part 2</a:t>
            </a:r>
          </a:p>
        </p:txBody>
      </p:sp>
      <p:sp>
        <p:nvSpPr>
          <p:cNvPr id="49" name="TextBox 48">
            <a:extLst>
              <a:ext uri="{FF2B5EF4-FFF2-40B4-BE49-F238E27FC236}">
                <a16:creationId xmlns:a16="http://schemas.microsoft.com/office/drawing/2014/main" id="{A7D370FA-C108-4BE9-9A5A-941CA7BF2EC3}"/>
              </a:ext>
            </a:extLst>
          </p:cNvPr>
          <p:cNvSpPr txBox="1"/>
          <p:nvPr/>
        </p:nvSpPr>
        <p:spPr bwMode="gray">
          <a:xfrm>
            <a:off x="3420499" y="2469066"/>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pic>
        <p:nvPicPr>
          <p:cNvPr id="8" name="Picture 7" descr="A magnifying glass with a pie chart&#10;&#10;AI-generated content may be incorrect.">
            <a:extLst>
              <a:ext uri="{FF2B5EF4-FFF2-40B4-BE49-F238E27FC236}">
                <a16:creationId xmlns:a16="http://schemas.microsoft.com/office/drawing/2014/main" id="{78F5C407-961A-B69C-1140-247C70ABFE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8138" y="1594346"/>
            <a:ext cx="609600" cy="609600"/>
          </a:xfrm>
          <a:prstGeom prst="rect">
            <a:avLst/>
          </a:prstGeom>
        </p:spPr>
      </p:pic>
      <p:sp>
        <p:nvSpPr>
          <p:cNvPr id="47" name="TextBox 46">
            <a:extLst>
              <a:ext uri="{FF2B5EF4-FFF2-40B4-BE49-F238E27FC236}">
                <a16:creationId xmlns:a16="http://schemas.microsoft.com/office/drawing/2014/main" id="{F936EB98-D563-4579-A408-092AF9F5BB7B}"/>
              </a:ext>
            </a:extLst>
          </p:cNvPr>
          <p:cNvSpPr txBox="1"/>
          <p:nvPr/>
        </p:nvSpPr>
        <p:spPr bwMode="gray">
          <a:xfrm>
            <a:off x="7158212" y="1683702"/>
            <a:ext cx="1171620" cy="215444"/>
          </a:xfrm>
          <a:prstGeom prst="rect">
            <a:avLst/>
          </a:prstGeom>
          <a:noFill/>
        </p:spPr>
        <p:txBody>
          <a:bodyPr vert="horz" wrap="square" lIns="0" tIns="0" rIns="0" bIns="0" rtlCol="0">
            <a:spAutoFit/>
          </a:bodyPr>
          <a:lstStyle/>
          <a:p>
            <a:pPr>
              <a:spcBef>
                <a:spcPts val="600"/>
              </a:spcBef>
              <a:buClr>
                <a:schemeClr val="tx1"/>
              </a:buClr>
            </a:pPr>
            <a:r>
              <a:rPr lang="en-US" sz="1400" b="1">
                <a:solidFill>
                  <a:schemeClr val="accent6"/>
                </a:solidFill>
              </a:rPr>
              <a:t>Part 3</a:t>
            </a:r>
          </a:p>
        </p:txBody>
      </p:sp>
      <p:sp>
        <p:nvSpPr>
          <p:cNvPr id="46" name="TextBox 45">
            <a:extLst>
              <a:ext uri="{FF2B5EF4-FFF2-40B4-BE49-F238E27FC236}">
                <a16:creationId xmlns:a16="http://schemas.microsoft.com/office/drawing/2014/main" id="{394B99F0-101E-4538-9859-25E017166CC1}"/>
              </a:ext>
            </a:extLst>
          </p:cNvPr>
          <p:cNvSpPr txBox="1"/>
          <p:nvPr/>
        </p:nvSpPr>
        <p:spPr bwMode="gray">
          <a:xfrm>
            <a:off x="6373204" y="2469066"/>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pic>
        <p:nvPicPr>
          <p:cNvPr id="10" name="Picture 9" descr="A white and orange gear with a chat bubble in the middle&#10;&#10;AI-generated content may be incorrect.">
            <a:extLst>
              <a:ext uri="{FF2B5EF4-FFF2-40B4-BE49-F238E27FC236}">
                <a16:creationId xmlns:a16="http://schemas.microsoft.com/office/drawing/2014/main" id="{3E75786C-8DB4-7E42-7524-DCA0C18CDB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1748" y="1594346"/>
            <a:ext cx="609600" cy="609600"/>
          </a:xfrm>
          <a:prstGeom prst="rect">
            <a:avLst/>
          </a:prstGeom>
        </p:spPr>
      </p:pic>
      <p:sp>
        <p:nvSpPr>
          <p:cNvPr id="44" name="TextBox 43">
            <a:extLst>
              <a:ext uri="{FF2B5EF4-FFF2-40B4-BE49-F238E27FC236}">
                <a16:creationId xmlns:a16="http://schemas.microsoft.com/office/drawing/2014/main" id="{F7B008F7-F857-4F20-8007-C2A9954F928F}"/>
              </a:ext>
            </a:extLst>
          </p:cNvPr>
          <p:cNvSpPr txBox="1"/>
          <p:nvPr/>
        </p:nvSpPr>
        <p:spPr bwMode="gray">
          <a:xfrm>
            <a:off x="10110917" y="1683702"/>
            <a:ext cx="1171620" cy="215444"/>
          </a:xfrm>
          <a:prstGeom prst="rect">
            <a:avLst/>
          </a:prstGeom>
          <a:noFill/>
        </p:spPr>
        <p:txBody>
          <a:bodyPr vert="horz" wrap="square" lIns="0" tIns="0" rIns="0" bIns="0" rtlCol="0">
            <a:spAutoFit/>
          </a:bodyPr>
          <a:lstStyle/>
          <a:p>
            <a:pPr>
              <a:spcBef>
                <a:spcPts val="600"/>
              </a:spcBef>
              <a:buClr>
                <a:schemeClr val="tx1"/>
              </a:buClr>
            </a:pPr>
            <a:r>
              <a:rPr lang="en-US" sz="1400" b="1">
                <a:solidFill>
                  <a:schemeClr val="accent6"/>
                </a:solidFill>
              </a:rPr>
              <a:t>Part 4</a:t>
            </a:r>
          </a:p>
        </p:txBody>
      </p:sp>
      <p:sp>
        <p:nvSpPr>
          <p:cNvPr id="43" name="TextBox 42">
            <a:extLst>
              <a:ext uri="{FF2B5EF4-FFF2-40B4-BE49-F238E27FC236}">
                <a16:creationId xmlns:a16="http://schemas.microsoft.com/office/drawing/2014/main" id="{3E3784E5-1C92-481D-806B-5F4B3C7BF85A}"/>
              </a:ext>
            </a:extLst>
          </p:cNvPr>
          <p:cNvSpPr txBox="1"/>
          <p:nvPr/>
        </p:nvSpPr>
        <p:spPr bwMode="gray">
          <a:xfrm>
            <a:off x="9325909" y="2469066"/>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sp>
        <p:nvSpPr>
          <p:cNvPr id="34" name="TextBox 33">
            <a:extLst>
              <a:ext uri="{FF2B5EF4-FFF2-40B4-BE49-F238E27FC236}">
                <a16:creationId xmlns:a16="http://schemas.microsoft.com/office/drawing/2014/main" id="{C471712A-5967-4EAD-BEAE-BFEF658F1F89}"/>
              </a:ext>
            </a:extLst>
          </p:cNvPr>
          <p:cNvSpPr txBox="1"/>
          <p:nvPr/>
        </p:nvSpPr>
        <p:spPr bwMode="gray">
          <a:xfrm>
            <a:off x="457199" y="3849405"/>
            <a:ext cx="2271108" cy="230832"/>
          </a:xfrm>
          <a:prstGeom prst="rect">
            <a:avLst/>
          </a:prstGeom>
          <a:noFill/>
        </p:spPr>
        <p:txBody>
          <a:bodyPr vert="horz" wrap="square" lIns="0" tIns="0" rIns="0" bIns="0" rtlCol="0">
            <a:spAutoFit/>
          </a:bodyPr>
          <a:lstStyle/>
          <a:p>
            <a:pPr>
              <a:spcBef>
                <a:spcPts val="600"/>
              </a:spcBef>
              <a:buClr>
                <a:schemeClr val="tx1"/>
              </a:buClr>
            </a:pPr>
            <a:r>
              <a:rPr lang="en-US" sz="1500" b="1">
                <a:solidFill>
                  <a:schemeClr val="accent6"/>
                </a:solidFill>
              </a:rPr>
              <a:t>Outcomes</a:t>
            </a:r>
          </a:p>
        </p:txBody>
      </p:sp>
      <p:cxnSp>
        <p:nvCxnSpPr>
          <p:cNvPr id="31" name="Straight Connector 30">
            <a:extLst>
              <a:ext uri="{FF2B5EF4-FFF2-40B4-BE49-F238E27FC236}">
                <a16:creationId xmlns:a16="http://schemas.microsoft.com/office/drawing/2014/main" id="{86A1CA8C-870F-418C-883A-762C73DFD473}"/>
              </a:ext>
            </a:extLst>
          </p:cNvPr>
          <p:cNvCxnSpPr>
            <a:cxnSpLocks/>
          </p:cNvCxnSpPr>
          <p:nvPr/>
        </p:nvCxnSpPr>
        <p:spPr bwMode="gray">
          <a:xfrm>
            <a:off x="457199" y="4186810"/>
            <a:ext cx="11274426" cy="0"/>
          </a:xfrm>
          <a:prstGeom prst="line">
            <a:avLst/>
          </a:prstGeom>
          <a:ln w="19050" cap="rnd">
            <a:solidFill>
              <a:schemeClr val="tx2"/>
            </a:solidFill>
            <a:round/>
            <a:headEnd w="lg" len="med"/>
            <a:tailEnd type="none" w="lg"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E3392A7-302D-4F75-85B5-6DF504F7CBDF}"/>
              </a:ext>
            </a:extLst>
          </p:cNvPr>
          <p:cNvSpPr txBox="1"/>
          <p:nvPr/>
        </p:nvSpPr>
        <p:spPr bwMode="gray">
          <a:xfrm>
            <a:off x="467794" y="4400959"/>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sp>
        <p:nvSpPr>
          <p:cNvPr id="55" name="TextBox 54">
            <a:extLst>
              <a:ext uri="{FF2B5EF4-FFF2-40B4-BE49-F238E27FC236}">
                <a16:creationId xmlns:a16="http://schemas.microsoft.com/office/drawing/2014/main" id="{7B8E3D9B-DC15-4615-9A38-384BB603E3EE}"/>
              </a:ext>
            </a:extLst>
          </p:cNvPr>
          <p:cNvSpPr txBox="1"/>
          <p:nvPr/>
        </p:nvSpPr>
        <p:spPr bwMode="gray">
          <a:xfrm>
            <a:off x="3420499" y="4400959"/>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sp>
        <p:nvSpPr>
          <p:cNvPr id="54" name="TextBox 53">
            <a:extLst>
              <a:ext uri="{FF2B5EF4-FFF2-40B4-BE49-F238E27FC236}">
                <a16:creationId xmlns:a16="http://schemas.microsoft.com/office/drawing/2014/main" id="{5976DBC9-92D2-434A-8059-F843EADCBA2F}"/>
              </a:ext>
            </a:extLst>
          </p:cNvPr>
          <p:cNvSpPr txBox="1"/>
          <p:nvPr/>
        </p:nvSpPr>
        <p:spPr bwMode="gray">
          <a:xfrm>
            <a:off x="6373204" y="4400959"/>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sp>
        <p:nvSpPr>
          <p:cNvPr id="53" name="TextBox 52">
            <a:extLst>
              <a:ext uri="{FF2B5EF4-FFF2-40B4-BE49-F238E27FC236}">
                <a16:creationId xmlns:a16="http://schemas.microsoft.com/office/drawing/2014/main" id="{CA5FFF9D-C6D4-4C6F-8482-2B12E288C0D7}"/>
              </a:ext>
            </a:extLst>
          </p:cNvPr>
          <p:cNvSpPr txBox="1"/>
          <p:nvPr/>
        </p:nvSpPr>
        <p:spPr bwMode="gray">
          <a:xfrm>
            <a:off x="9325909" y="4400959"/>
            <a:ext cx="2398297" cy="646331"/>
          </a:xfrm>
          <a:prstGeom prst="rect">
            <a:avLst/>
          </a:prstGeom>
          <a:noFill/>
        </p:spPr>
        <p:txBody>
          <a:bodyPr vert="horz" wrap="square" lIns="0" tIns="0" rIns="0" bIns="0" rtlCol="0">
            <a:spAutoFit/>
          </a:bodyPr>
          <a:lstStyle/>
          <a:p>
            <a:pPr>
              <a:spcBef>
                <a:spcPts val="600"/>
              </a:spcBef>
              <a:buClr>
                <a:schemeClr val="tx1"/>
              </a:buClr>
            </a:pPr>
            <a:r>
              <a:rPr lang="en-US" sz="1400"/>
              <a:t>Short text description. Arial 14pt, regular. Short text description. Arial 14pt, regular.</a:t>
            </a:r>
            <a:endParaRPr lang="en-US" sz="1400" b="1"/>
          </a:p>
        </p:txBody>
      </p:sp>
    </p:spTree>
    <p:extLst>
      <p:ext uri="{BB962C8B-B14F-4D97-AF65-F5344CB8AC3E}">
        <p14:creationId xmlns:p14="http://schemas.microsoft.com/office/powerpoint/2010/main" val="3037620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8B294-2613-4970-ADD6-C006489404EA}"/>
              </a:ext>
            </a:extLst>
          </p:cNvPr>
          <p:cNvSpPr>
            <a:spLocks noGrp="1"/>
          </p:cNvSpPr>
          <p:nvPr>
            <p:ph type="title"/>
          </p:nvPr>
        </p:nvSpPr>
        <p:spPr/>
        <p:txBody>
          <a:bodyPr/>
          <a:lstStyle/>
          <a:p>
            <a:r>
              <a:rPr lang="en-US"/>
              <a:t>Four items</a:t>
            </a:r>
          </a:p>
        </p:txBody>
      </p:sp>
      <p:pic>
        <p:nvPicPr>
          <p:cNvPr id="4" name="Picture 3" descr="A round object with a star on it&#10;&#10;AI-generated content may be incorrect.">
            <a:extLst>
              <a:ext uri="{FF2B5EF4-FFF2-40B4-BE49-F238E27FC236}">
                <a16:creationId xmlns:a16="http://schemas.microsoft.com/office/drawing/2014/main" id="{3F2B60E1-7483-8DDA-7AB1-EBB615DA7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535" y="2218254"/>
            <a:ext cx="609600" cy="609600"/>
          </a:xfrm>
          <a:prstGeom prst="rect">
            <a:avLst/>
          </a:prstGeom>
        </p:spPr>
      </p:pic>
      <p:sp>
        <p:nvSpPr>
          <p:cNvPr id="13" name="TextBox 12">
            <a:extLst>
              <a:ext uri="{FF2B5EF4-FFF2-40B4-BE49-F238E27FC236}">
                <a16:creationId xmlns:a16="http://schemas.microsoft.com/office/drawing/2014/main" id="{F7651010-1DE6-44A0-B95E-AEBAA3EC3747}"/>
              </a:ext>
            </a:extLst>
          </p:cNvPr>
          <p:cNvSpPr txBox="1"/>
          <p:nvPr/>
        </p:nvSpPr>
        <p:spPr bwMode="gray">
          <a:xfrm>
            <a:off x="1486272" y="3129228"/>
            <a:ext cx="1732128" cy="430887"/>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Experienced and accredited</a:t>
            </a:r>
          </a:p>
        </p:txBody>
      </p:sp>
      <p:pic>
        <p:nvPicPr>
          <p:cNvPr id="20" name="Picture 19" descr="A clipboard with a check mark&#10;&#10;AI-generated content may be incorrect.">
            <a:extLst>
              <a:ext uri="{FF2B5EF4-FFF2-40B4-BE49-F238E27FC236}">
                <a16:creationId xmlns:a16="http://schemas.microsoft.com/office/drawing/2014/main" id="{25E13369-CF61-4DAB-976F-A7375C28B5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3311" y="2218254"/>
            <a:ext cx="609600" cy="609600"/>
          </a:xfrm>
          <a:prstGeom prst="rect">
            <a:avLst/>
          </a:prstGeom>
        </p:spPr>
      </p:pic>
      <p:sp>
        <p:nvSpPr>
          <p:cNvPr id="14" name="TextBox 13">
            <a:extLst>
              <a:ext uri="{FF2B5EF4-FFF2-40B4-BE49-F238E27FC236}">
                <a16:creationId xmlns:a16="http://schemas.microsoft.com/office/drawing/2014/main" id="{96333DAA-54A9-423D-8230-B03A8F789196}"/>
              </a:ext>
            </a:extLst>
          </p:cNvPr>
          <p:cNvSpPr txBox="1"/>
          <p:nvPr/>
        </p:nvSpPr>
        <p:spPr bwMode="gray">
          <a:xfrm>
            <a:off x="3982048" y="3129228"/>
            <a:ext cx="1732128" cy="430887"/>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Solutions </a:t>
            </a:r>
            <a:br>
              <a:rPr lang="en-US" sz="1400" b="1">
                <a:solidFill>
                  <a:schemeClr val="accent6"/>
                </a:solidFill>
              </a:rPr>
            </a:br>
            <a:r>
              <a:rPr lang="en-US" sz="1400" b="1">
                <a:solidFill>
                  <a:schemeClr val="accent6"/>
                </a:solidFill>
              </a:rPr>
              <a:t>for every challenge</a:t>
            </a:r>
          </a:p>
        </p:txBody>
      </p:sp>
      <p:pic>
        <p:nvPicPr>
          <p:cNvPr id="6" name="Picture 5" descr="A computer in a circle&#10;&#10;AI-generated content may be incorrect.">
            <a:extLst>
              <a:ext uri="{FF2B5EF4-FFF2-40B4-BE49-F238E27FC236}">
                <a16:creationId xmlns:a16="http://schemas.microsoft.com/office/drawing/2014/main" id="{04A0E5BE-334F-D795-5FDF-D0CA238C0C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9087" y="2218254"/>
            <a:ext cx="609600" cy="609600"/>
          </a:xfrm>
          <a:prstGeom prst="rect">
            <a:avLst/>
          </a:prstGeom>
        </p:spPr>
      </p:pic>
      <p:sp>
        <p:nvSpPr>
          <p:cNvPr id="15" name="TextBox 14">
            <a:extLst>
              <a:ext uri="{FF2B5EF4-FFF2-40B4-BE49-F238E27FC236}">
                <a16:creationId xmlns:a16="http://schemas.microsoft.com/office/drawing/2014/main" id="{D9D68E55-0633-47A7-AFB8-20B51968FA40}"/>
              </a:ext>
            </a:extLst>
          </p:cNvPr>
          <p:cNvSpPr txBox="1"/>
          <p:nvPr/>
        </p:nvSpPr>
        <p:spPr bwMode="gray">
          <a:xfrm>
            <a:off x="6477824" y="3129228"/>
            <a:ext cx="1732128" cy="430887"/>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Innovative technology</a:t>
            </a:r>
          </a:p>
        </p:txBody>
      </p:sp>
      <p:pic>
        <p:nvPicPr>
          <p:cNvPr id="8" name="Picture 7" descr="A black and orange graph&#10;&#10;AI-generated content may be incorrect.">
            <a:extLst>
              <a:ext uri="{FF2B5EF4-FFF2-40B4-BE49-F238E27FC236}">
                <a16:creationId xmlns:a16="http://schemas.microsoft.com/office/drawing/2014/main" id="{83A4D4DF-8BD3-F7FA-F021-15D65FA76B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34862" y="2218254"/>
            <a:ext cx="609600" cy="609600"/>
          </a:xfrm>
          <a:prstGeom prst="rect">
            <a:avLst/>
          </a:prstGeom>
        </p:spPr>
      </p:pic>
      <p:sp>
        <p:nvSpPr>
          <p:cNvPr id="16" name="TextBox 15">
            <a:extLst>
              <a:ext uri="{FF2B5EF4-FFF2-40B4-BE49-F238E27FC236}">
                <a16:creationId xmlns:a16="http://schemas.microsoft.com/office/drawing/2014/main" id="{9AE418A6-BCBE-4A02-A093-6AC59358CC2E}"/>
              </a:ext>
            </a:extLst>
          </p:cNvPr>
          <p:cNvSpPr txBox="1"/>
          <p:nvPr/>
        </p:nvSpPr>
        <p:spPr bwMode="gray">
          <a:xfrm>
            <a:off x="8973600" y="3129228"/>
            <a:ext cx="1732128" cy="430887"/>
          </a:xfrm>
          <a:prstGeom prst="rect">
            <a:avLst/>
          </a:prstGeom>
          <a:noFill/>
        </p:spPr>
        <p:txBody>
          <a:bodyPr vert="horz" wrap="square" lIns="0" tIns="0" rIns="0" bIns="0" rtlCol="0">
            <a:spAutoFit/>
          </a:bodyPr>
          <a:lstStyle/>
          <a:p>
            <a:pPr algn="ctr">
              <a:spcBef>
                <a:spcPts val="600"/>
              </a:spcBef>
            </a:pPr>
            <a:r>
              <a:rPr lang="en-US" sz="1400" b="1">
                <a:solidFill>
                  <a:schemeClr val="accent6"/>
                </a:solidFill>
              </a:rPr>
              <a:t>Proven </a:t>
            </a:r>
            <a:br>
              <a:rPr lang="en-US" sz="1400" b="1">
                <a:solidFill>
                  <a:schemeClr val="accent6"/>
                </a:solidFill>
              </a:rPr>
            </a:br>
            <a:r>
              <a:rPr lang="en-US" sz="1400" b="1">
                <a:solidFill>
                  <a:schemeClr val="accent6"/>
                </a:solidFill>
              </a:rPr>
              <a:t>value</a:t>
            </a:r>
          </a:p>
        </p:txBody>
      </p:sp>
      <p:sp>
        <p:nvSpPr>
          <p:cNvPr id="18" name="Rectangle: Rounded Corners 17">
            <a:extLst>
              <a:ext uri="{FF2B5EF4-FFF2-40B4-BE49-F238E27FC236}">
                <a16:creationId xmlns:a16="http://schemas.microsoft.com/office/drawing/2014/main" id="{20AD8028-3421-471B-AAD3-69CAA4218620}"/>
              </a:ext>
            </a:extLst>
          </p:cNvPr>
          <p:cNvSpPr/>
          <p:nvPr/>
        </p:nvSpPr>
        <p:spPr bwMode="gray">
          <a:xfrm>
            <a:off x="2398354" y="4675382"/>
            <a:ext cx="7395293" cy="487235"/>
          </a:xfrm>
          <a:prstGeom prst="roundRect">
            <a:avLst>
              <a:gd name="adj" fmla="val 50000"/>
            </a:avLst>
          </a:prstGeom>
          <a:solidFill>
            <a:schemeClr val="accent5"/>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eaLnBrk="1" fontAlgn="auto" hangingPunct="1">
              <a:lnSpc>
                <a:spcPct val="100000"/>
              </a:lnSpc>
              <a:spcBef>
                <a:spcPts val="600"/>
              </a:spcBef>
              <a:spcAft>
                <a:spcPts val="0"/>
              </a:spcAft>
            </a:pPr>
            <a:endParaRPr lang="en-US" sz="1400" b="0" i="0" u="none" baseline="0">
              <a:solidFill>
                <a:srgbClr val="FFFFFF"/>
              </a:solidFill>
            </a:endParaRPr>
          </a:p>
        </p:txBody>
      </p:sp>
      <p:sp>
        <p:nvSpPr>
          <p:cNvPr id="19" name="TextBox 18">
            <a:extLst>
              <a:ext uri="{FF2B5EF4-FFF2-40B4-BE49-F238E27FC236}">
                <a16:creationId xmlns:a16="http://schemas.microsoft.com/office/drawing/2014/main" id="{225B9940-FBCD-4A72-8D75-9B9AB86DA901}"/>
              </a:ext>
            </a:extLst>
          </p:cNvPr>
          <p:cNvSpPr txBox="1"/>
          <p:nvPr/>
        </p:nvSpPr>
        <p:spPr bwMode="gray">
          <a:xfrm>
            <a:off x="3057825" y="4769193"/>
            <a:ext cx="6076351" cy="246221"/>
          </a:xfrm>
          <a:prstGeom prst="rect">
            <a:avLst/>
          </a:prstGeom>
          <a:noFill/>
        </p:spPr>
        <p:txBody>
          <a:bodyPr vert="horz" wrap="square" lIns="0" tIns="0" rIns="0" bIns="0" rtlCol="0">
            <a:spAutoFit/>
          </a:bodyPr>
          <a:lstStyle/>
          <a:p>
            <a:pPr algn="ctr">
              <a:spcBef>
                <a:spcPts val="600"/>
              </a:spcBef>
            </a:pPr>
            <a:r>
              <a:rPr lang="en-US" sz="1600">
                <a:solidFill>
                  <a:schemeClr val="accent6"/>
                </a:solidFill>
              </a:rPr>
              <a:t>A </a:t>
            </a:r>
            <a:r>
              <a:rPr lang="en-US" sz="1600" b="1">
                <a:solidFill>
                  <a:schemeClr val="accent6"/>
                </a:solidFill>
              </a:rPr>
              <a:t>pioneer</a:t>
            </a:r>
            <a:r>
              <a:rPr lang="en-US" sz="1600">
                <a:solidFill>
                  <a:schemeClr val="accent6"/>
                </a:solidFill>
              </a:rPr>
              <a:t> of innovations around virtually every type of population</a:t>
            </a:r>
          </a:p>
        </p:txBody>
      </p:sp>
    </p:spTree>
    <p:extLst>
      <p:ext uri="{BB962C8B-B14F-4D97-AF65-F5344CB8AC3E}">
        <p14:creationId xmlns:p14="http://schemas.microsoft.com/office/powerpoint/2010/main" val="1014662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FF59F-8627-4F67-9E7F-A4933C0A3929}"/>
              </a:ext>
            </a:extLst>
          </p:cNvPr>
          <p:cNvSpPr>
            <a:spLocks noGrp="1"/>
          </p:cNvSpPr>
          <p:nvPr>
            <p:ph type="title"/>
          </p:nvPr>
        </p:nvSpPr>
        <p:spPr/>
        <p:txBody>
          <a:bodyPr/>
          <a:lstStyle/>
          <a:p>
            <a:r>
              <a:rPr lang="en-US"/>
              <a:t>Four items</a:t>
            </a:r>
          </a:p>
        </p:txBody>
      </p:sp>
      <p:pic>
        <p:nvPicPr>
          <p:cNvPr id="19" name="Picture 18" descr="An orange ear with a black background&#10;&#10;AI-generated content may be incorrect.">
            <a:extLst>
              <a:ext uri="{FF2B5EF4-FFF2-40B4-BE49-F238E27FC236}">
                <a16:creationId xmlns:a16="http://schemas.microsoft.com/office/drawing/2014/main" id="{DF8EAC4F-0FFD-0E29-71BF-D44873A4BD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7405" y="1851751"/>
            <a:ext cx="609600" cy="609600"/>
          </a:xfrm>
          <a:prstGeom prst="rect">
            <a:avLst/>
          </a:prstGeom>
        </p:spPr>
      </p:pic>
      <p:sp>
        <p:nvSpPr>
          <p:cNvPr id="11" name="TextBox 10">
            <a:extLst>
              <a:ext uri="{FF2B5EF4-FFF2-40B4-BE49-F238E27FC236}">
                <a16:creationId xmlns:a16="http://schemas.microsoft.com/office/drawing/2014/main" id="{E61F2F0A-6174-41BA-B360-3F1D80C13589}"/>
              </a:ext>
            </a:extLst>
          </p:cNvPr>
          <p:cNvSpPr txBox="1"/>
          <p:nvPr/>
        </p:nvSpPr>
        <p:spPr bwMode="gray">
          <a:xfrm>
            <a:off x="797405" y="2789266"/>
            <a:ext cx="2114938" cy="230832"/>
          </a:xfrm>
          <a:prstGeom prst="rect">
            <a:avLst/>
          </a:prstGeom>
          <a:noFill/>
        </p:spPr>
        <p:txBody>
          <a:bodyPr vert="horz" wrap="square" lIns="0" tIns="0" rIns="0" bIns="0" rtlCol="0">
            <a:spAutoFit/>
          </a:bodyPr>
          <a:lstStyle/>
          <a:p>
            <a:pPr algn="l">
              <a:spcBef>
                <a:spcPts val="600"/>
              </a:spcBef>
            </a:pPr>
            <a:r>
              <a:rPr lang="en-US" sz="1500" b="1">
                <a:solidFill>
                  <a:schemeClr val="accent6"/>
                </a:solidFill>
              </a:rPr>
              <a:t>Listening</a:t>
            </a:r>
          </a:p>
        </p:txBody>
      </p:sp>
      <p:sp>
        <p:nvSpPr>
          <p:cNvPr id="12" name="TextBox 11">
            <a:extLst>
              <a:ext uri="{FF2B5EF4-FFF2-40B4-BE49-F238E27FC236}">
                <a16:creationId xmlns:a16="http://schemas.microsoft.com/office/drawing/2014/main" id="{FC2B7FAA-33D2-4071-A76A-D23827EC9079}"/>
              </a:ext>
            </a:extLst>
          </p:cNvPr>
          <p:cNvSpPr txBox="1"/>
          <p:nvPr/>
        </p:nvSpPr>
        <p:spPr bwMode="gray">
          <a:xfrm>
            <a:off x="797405" y="3213298"/>
            <a:ext cx="2239347" cy="1585049"/>
          </a:xfrm>
          <a:prstGeom prst="rect">
            <a:avLst/>
          </a:prstGeom>
          <a:noFill/>
        </p:spPr>
        <p:txBody>
          <a:bodyPr vert="horz" wrap="square" lIns="0" tIns="0" rIns="0" bIns="0" rtlCol="0">
            <a:spAutoFit/>
          </a:bodyPr>
          <a:lstStyle/>
          <a:p>
            <a:pPr>
              <a:spcBef>
                <a:spcPts val="600"/>
              </a:spcBef>
            </a:pPr>
            <a:r>
              <a:rPr lang="en-US" sz="1400"/>
              <a:t>What are we hearing from our customers – including clients, members, patients and consumers?</a:t>
            </a:r>
          </a:p>
          <a:p>
            <a:pPr>
              <a:spcBef>
                <a:spcPts val="600"/>
              </a:spcBef>
            </a:pPr>
            <a:r>
              <a:rPr lang="en-US" sz="1400"/>
              <a:t>What unique customer needs do we struggle to address today?</a:t>
            </a:r>
          </a:p>
        </p:txBody>
      </p:sp>
      <p:pic>
        <p:nvPicPr>
          <p:cNvPr id="4" name="Picture 3" descr="A orange star with black lines&#10;&#10;AI-generated content may be incorrect.">
            <a:extLst>
              <a:ext uri="{FF2B5EF4-FFF2-40B4-BE49-F238E27FC236}">
                <a16:creationId xmlns:a16="http://schemas.microsoft.com/office/drawing/2014/main" id="{335804E9-8B64-EA57-051F-75011B956A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7854" y="1851751"/>
            <a:ext cx="609600" cy="609600"/>
          </a:xfrm>
          <a:prstGeom prst="rect">
            <a:avLst/>
          </a:prstGeom>
        </p:spPr>
      </p:pic>
      <p:sp>
        <p:nvSpPr>
          <p:cNvPr id="13" name="TextBox 12">
            <a:extLst>
              <a:ext uri="{FF2B5EF4-FFF2-40B4-BE49-F238E27FC236}">
                <a16:creationId xmlns:a16="http://schemas.microsoft.com/office/drawing/2014/main" id="{7EF3BF80-3763-4196-AD70-55F6EF497CD1}"/>
              </a:ext>
            </a:extLst>
          </p:cNvPr>
          <p:cNvSpPr txBox="1"/>
          <p:nvPr/>
        </p:nvSpPr>
        <p:spPr bwMode="gray">
          <a:xfrm>
            <a:off x="3537854" y="2789266"/>
            <a:ext cx="2114938" cy="230832"/>
          </a:xfrm>
          <a:prstGeom prst="rect">
            <a:avLst/>
          </a:prstGeom>
          <a:noFill/>
        </p:spPr>
        <p:txBody>
          <a:bodyPr vert="horz" wrap="square" lIns="0" tIns="0" rIns="0" bIns="0" rtlCol="0">
            <a:spAutoFit/>
          </a:bodyPr>
          <a:lstStyle/>
          <a:p>
            <a:pPr algn="l">
              <a:spcBef>
                <a:spcPts val="600"/>
              </a:spcBef>
            </a:pPr>
            <a:r>
              <a:rPr lang="en-US" sz="1500" b="1">
                <a:solidFill>
                  <a:schemeClr val="accent6"/>
                </a:solidFill>
              </a:rPr>
              <a:t>Empowering</a:t>
            </a:r>
          </a:p>
        </p:txBody>
      </p:sp>
      <p:sp>
        <p:nvSpPr>
          <p:cNvPr id="14" name="TextBox 13">
            <a:extLst>
              <a:ext uri="{FF2B5EF4-FFF2-40B4-BE49-F238E27FC236}">
                <a16:creationId xmlns:a16="http://schemas.microsoft.com/office/drawing/2014/main" id="{CF8898D2-08BF-4288-9C94-08C0E66BFEB9}"/>
              </a:ext>
            </a:extLst>
          </p:cNvPr>
          <p:cNvSpPr txBox="1"/>
          <p:nvPr/>
        </p:nvSpPr>
        <p:spPr bwMode="gray">
          <a:xfrm>
            <a:off x="3537854" y="3213298"/>
            <a:ext cx="2239347" cy="646331"/>
          </a:xfrm>
          <a:prstGeom prst="rect">
            <a:avLst/>
          </a:prstGeom>
          <a:noFill/>
        </p:spPr>
        <p:txBody>
          <a:bodyPr vert="horz" wrap="square" lIns="0" tIns="0" rIns="0" bIns="0" rtlCol="0">
            <a:spAutoFit/>
          </a:bodyPr>
          <a:lstStyle/>
          <a:p>
            <a:pPr>
              <a:spcBef>
                <a:spcPts val="600"/>
              </a:spcBef>
            </a:pPr>
            <a:r>
              <a:rPr lang="en-US" sz="1400"/>
              <a:t>What prevents us from consistently making things better for our customers?</a:t>
            </a:r>
          </a:p>
        </p:txBody>
      </p:sp>
      <p:pic>
        <p:nvPicPr>
          <p:cNvPr id="21" name="Picture 20" descr="A black and orange head with a black background&#10;&#10;AI-generated content may be incorrect.">
            <a:extLst>
              <a:ext uri="{FF2B5EF4-FFF2-40B4-BE49-F238E27FC236}">
                <a16:creationId xmlns:a16="http://schemas.microsoft.com/office/drawing/2014/main" id="{14D59F71-46B7-4403-FE87-5B83AC8FB9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8689" y="1850227"/>
            <a:ext cx="612648" cy="612648"/>
          </a:xfrm>
          <a:prstGeom prst="rect">
            <a:avLst/>
          </a:prstGeom>
        </p:spPr>
      </p:pic>
      <p:sp>
        <p:nvSpPr>
          <p:cNvPr id="15" name="TextBox 14">
            <a:extLst>
              <a:ext uri="{FF2B5EF4-FFF2-40B4-BE49-F238E27FC236}">
                <a16:creationId xmlns:a16="http://schemas.microsoft.com/office/drawing/2014/main" id="{A207BB70-BB0D-47E5-A64B-2CBE8B10EA25}"/>
              </a:ext>
            </a:extLst>
          </p:cNvPr>
          <p:cNvSpPr txBox="1"/>
          <p:nvPr/>
        </p:nvSpPr>
        <p:spPr bwMode="gray">
          <a:xfrm>
            <a:off x="6288689" y="2789266"/>
            <a:ext cx="2114938" cy="230832"/>
          </a:xfrm>
          <a:prstGeom prst="rect">
            <a:avLst/>
          </a:prstGeom>
          <a:noFill/>
        </p:spPr>
        <p:txBody>
          <a:bodyPr vert="horz" wrap="square" lIns="0" tIns="0" rIns="0" bIns="0" rtlCol="0">
            <a:spAutoFit/>
          </a:bodyPr>
          <a:lstStyle/>
          <a:p>
            <a:pPr algn="l">
              <a:spcBef>
                <a:spcPts val="600"/>
              </a:spcBef>
            </a:pPr>
            <a:r>
              <a:rPr lang="en-US" sz="1500" b="1">
                <a:solidFill>
                  <a:schemeClr val="accent6"/>
                </a:solidFill>
              </a:rPr>
              <a:t>Innovating</a:t>
            </a:r>
          </a:p>
        </p:txBody>
      </p:sp>
      <p:sp>
        <p:nvSpPr>
          <p:cNvPr id="16" name="TextBox 15">
            <a:extLst>
              <a:ext uri="{FF2B5EF4-FFF2-40B4-BE49-F238E27FC236}">
                <a16:creationId xmlns:a16="http://schemas.microsoft.com/office/drawing/2014/main" id="{ECC37854-0F23-4DCF-A461-90AC5CCD6B59}"/>
              </a:ext>
            </a:extLst>
          </p:cNvPr>
          <p:cNvSpPr txBox="1"/>
          <p:nvPr/>
        </p:nvSpPr>
        <p:spPr bwMode="gray">
          <a:xfrm>
            <a:off x="6288689" y="3213298"/>
            <a:ext cx="2384007" cy="1800493"/>
          </a:xfrm>
          <a:prstGeom prst="rect">
            <a:avLst/>
          </a:prstGeom>
          <a:noFill/>
        </p:spPr>
        <p:txBody>
          <a:bodyPr vert="horz" wrap="square" lIns="0" tIns="0" rIns="0" bIns="0" rtlCol="0">
            <a:spAutoFit/>
          </a:bodyPr>
          <a:lstStyle/>
          <a:p>
            <a:pPr>
              <a:spcBef>
                <a:spcPts val="600"/>
              </a:spcBef>
            </a:pPr>
            <a:r>
              <a:rPr lang="en-US" sz="1400"/>
              <a:t>How can we change the way we think about our experience or offering to make it simpler and more personal?</a:t>
            </a:r>
          </a:p>
          <a:p>
            <a:pPr>
              <a:spcBef>
                <a:spcPts val="600"/>
              </a:spcBef>
            </a:pPr>
            <a:r>
              <a:rPr lang="en-US" sz="1400"/>
              <a:t>What new offerings or experiences would remove barriers or create a higher level of service?</a:t>
            </a:r>
          </a:p>
        </p:txBody>
      </p:sp>
      <p:pic>
        <p:nvPicPr>
          <p:cNvPr id="23" name="Picture 22" descr="A circle with orange dots&#10;&#10;AI-generated content may be incorrect.">
            <a:extLst>
              <a:ext uri="{FF2B5EF4-FFF2-40B4-BE49-F238E27FC236}">
                <a16:creationId xmlns:a16="http://schemas.microsoft.com/office/drawing/2014/main" id="{8B516F97-2A4D-703F-5398-C048D02298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9138" y="1851751"/>
            <a:ext cx="609600" cy="609600"/>
          </a:xfrm>
          <a:prstGeom prst="rect">
            <a:avLst/>
          </a:prstGeom>
        </p:spPr>
      </p:pic>
      <p:sp>
        <p:nvSpPr>
          <p:cNvPr id="17" name="TextBox 16">
            <a:extLst>
              <a:ext uri="{FF2B5EF4-FFF2-40B4-BE49-F238E27FC236}">
                <a16:creationId xmlns:a16="http://schemas.microsoft.com/office/drawing/2014/main" id="{9E2B34DE-CAA0-4108-82B8-A457BAA55572}"/>
              </a:ext>
            </a:extLst>
          </p:cNvPr>
          <p:cNvSpPr txBox="1"/>
          <p:nvPr/>
        </p:nvSpPr>
        <p:spPr bwMode="gray">
          <a:xfrm>
            <a:off x="9029138" y="2789266"/>
            <a:ext cx="2114938" cy="230832"/>
          </a:xfrm>
          <a:prstGeom prst="rect">
            <a:avLst/>
          </a:prstGeom>
          <a:noFill/>
        </p:spPr>
        <p:txBody>
          <a:bodyPr vert="horz" wrap="square" lIns="0" tIns="0" rIns="0" bIns="0" rtlCol="0">
            <a:spAutoFit/>
          </a:bodyPr>
          <a:lstStyle/>
          <a:p>
            <a:pPr algn="l">
              <a:spcBef>
                <a:spcPts val="600"/>
              </a:spcBef>
            </a:pPr>
            <a:r>
              <a:rPr lang="en-US" sz="1500" b="1">
                <a:solidFill>
                  <a:schemeClr val="accent6"/>
                </a:solidFill>
              </a:rPr>
              <a:t>Reinforcing</a:t>
            </a:r>
          </a:p>
        </p:txBody>
      </p:sp>
      <p:sp>
        <p:nvSpPr>
          <p:cNvPr id="18" name="TextBox 17">
            <a:extLst>
              <a:ext uri="{FF2B5EF4-FFF2-40B4-BE49-F238E27FC236}">
                <a16:creationId xmlns:a16="http://schemas.microsoft.com/office/drawing/2014/main" id="{72F7F779-A287-4510-9D76-FE243DFD6DEF}"/>
              </a:ext>
            </a:extLst>
          </p:cNvPr>
          <p:cNvSpPr txBox="1"/>
          <p:nvPr/>
        </p:nvSpPr>
        <p:spPr bwMode="gray">
          <a:xfrm>
            <a:off x="9029138" y="3213298"/>
            <a:ext cx="2239347" cy="938719"/>
          </a:xfrm>
          <a:prstGeom prst="rect">
            <a:avLst/>
          </a:prstGeom>
          <a:noFill/>
        </p:spPr>
        <p:txBody>
          <a:bodyPr vert="horz" wrap="square" lIns="0" tIns="0" rIns="0" bIns="0" rtlCol="0">
            <a:spAutoFit/>
          </a:bodyPr>
          <a:lstStyle/>
          <a:p>
            <a:pPr>
              <a:spcBef>
                <a:spcPts val="600"/>
              </a:spcBef>
            </a:pPr>
            <a:r>
              <a:rPr lang="en-US" sz="1400"/>
              <a:t>Where have you seen the successful delivery of our promise in action? </a:t>
            </a:r>
          </a:p>
          <a:p>
            <a:pPr>
              <a:spcBef>
                <a:spcPts val="600"/>
              </a:spcBef>
            </a:pPr>
            <a:r>
              <a:rPr lang="en-US" sz="1400"/>
              <a:t>How do we do more of that?</a:t>
            </a:r>
          </a:p>
        </p:txBody>
      </p:sp>
    </p:spTree>
    <p:extLst>
      <p:ext uri="{BB962C8B-B14F-4D97-AF65-F5344CB8AC3E}">
        <p14:creationId xmlns:p14="http://schemas.microsoft.com/office/powerpoint/2010/main" val="61003885"/>
      </p:ext>
    </p:extLst>
  </p:cSld>
  <p:clrMapOvr>
    <a:masterClrMapping/>
  </p:clrMapOvr>
</p:sld>
</file>

<file path=ppt/theme/theme1.xml><?xml version="1.0" encoding="utf-8"?>
<a:theme xmlns:a="http://schemas.openxmlformats.org/drawingml/2006/main" name="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fontScheme name="Optum Microsoft">
      <a:majorFont>
        <a:latin typeface="Georgia Pr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Dawn Orange">
      <a:srgbClr val="FFD1AB"/>
    </a:custClr>
    <a:custClr name="Sunset Orange">
      <a:srgbClr val="F9A667"/>
    </a:custClr>
    <a:custClr name="Dark Orange">
      <a:srgbClr val="D74120"/>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Blank">
      <a:srgbClr val="FFFFFF"/>
    </a:custClr>
    <a:custClr name="Horizon">
      <a:srgbClr val="EDE8E0"/>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Red 80">
      <a:srgbClr val="C40000"/>
    </a:custClr>
    <a:custClr name="Yellow 20">
      <a:srgbClr val="FFF84F"/>
    </a:custClr>
    <a:custClr name="Green 40">
      <a:srgbClr val="61D661"/>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Yellow Outline">
      <a:srgbClr val="AD8D01"/>
    </a:custClr>
    <a:custClr name="Green Outline">
      <a:srgbClr val="03AB03"/>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RESOURCE optum-onscreen-glg-20251215.potx" id="{8A9D9B45-1B82-4AB2-BA72-625342EF3797}" vid="{A2F1233A-C56C-4441-BB44-68EE35CC51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fontScheme name="Optum Microsoft">
      <a:majorFont>
        <a:latin typeface="Georgia Pr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2"/>
        </a:solidFill>
        <a:ln cap="rnd">
          <a:noFill/>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0" eaLnBrk="1" fontAlgn="auto" hangingPunct="1">
          <a:lnSpc>
            <a:spcPct val="100000"/>
          </a:lnSpc>
          <a:spcBef>
            <a:spcPts val="600"/>
          </a:spcBef>
          <a:spcAft>
            <a:spcPts val="0"/>
          </a:spcAft>
          <a:defRPr sz="1400" b="0" i="0" u="none" baseline="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19050" cap="rnd">
          <a:solidFill>
            <a:schemeClr val="accent6"/>
          </a:solidFill>
          <a:round/>
          <a:headEnd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bwMode="gray">
        <a:noFill/>
      </a:spPr>
      <a:bodyPr vert="horz" wrap="square" lIns="0" tIns="0" rIns="0" bIns="0" rtlCol="0">
        <a:spAutoFit/>
      </a:bodyPr>
      <a:lstStyle>
        <a:defPPr algn="l">
          <a:spcBef>
            <a:spcPts val="600"/>
          </a:spcBef>
          <a:defRPr sz="1400" dirty="0"/>
        </a:defPPr>
      </a:lstStyle>
    </a:txDef>
  </a:objectDefaults>
  <a:extraClrSchemeLst>
    <a:extraClrScheme>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extraClrScheme>
  </a:extraClrSchemeLst>
  <a:custClrLst>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Dawn Orange">
      <a:srgbClr val="FFD1AB"/>
    </a:custClr>
    <a:custClr name="Sunset Orange">
      <a:srgbClr val="F9A667"/>
    </a:custClr>
    <a:custClr name="Dark Orange">
      <a:srgbClr val="D74120"/>
    </a:custClr>
    <a:custClr name="Turquoise 20">
      <a:srgbClr val="AEE2D5"/>
    </a:custClr>
    <a:custClr name="Pink 20">
      <a:srgbClr val="F6BCDC"/>
    </a:custClr>
    <a:custClr name="Purple 20">
      <a:srgbClr val="D9CFEB"/>
    </a:custClr>
    <a:custClr name="Tangerine 20">
      <a:srgbClr val="FFD7B3"/>
    </a:custClr>
    <a:custClr name="Sapphire 20">
      <a:srgbClr val="C4DFF6"/>
    </a:custClr>
    <a:custClr name="Gray 20">
      <a:srgbClr val="E5E5E6"/>
    </a:custClr>
    <a:custClr name="Blank">
      <a:srgbClr val="FFFFFF"/>
    </a:custClr>
    <a:custClr name="Blank">
      <a:srgbClr val="FFFFFF"/>
    </a:custClr>
    <a:custClr name="Blank">
      <a:srgbClr val="FFFFFF"/>
    </a:custClr>
    <a:custClr name="Horizon">
      <a:srgbClr val="EDE8E0"/>
    </a:custClr>
    <a:custClr name="Turquoise 50">
      <a:srgbClr val="4EC3AD"/>
    </a:custClr>
    <a:custClr name="Pink 40">
      <a:srgbClr val="E676BA"/>
    </a:custClr>
    <a:custClr name="Purple 40">
      <a:srgbClr val="B3A0D7"/>
    </a:custClr>
    <a:custClr name="Tangerine 40">
      <a:srgbClr val="FFAC61"/>
    </a:custClr>
    <a:custClr name="Sapphire 40">
      <a:srgbClr val="83C0EC"/>
    </a:custClr>
    <a:custClr name="Gray 40">
      <a:srgbClr val="B1B2B4"/>
    </a:custClr>
    <a:custClr name="Blank">
      <a:srgbClr val="FFFFFF"/>
    </a:custClr>
    <a:custClr name="Red 80">
      <a:srgbClr val="C40000"/>
    </a:custClr>
    <a:custClr name="Yellow 20">
      <a:srgbClr val="FFF84F"/>
    </a:custClr>
    <a:custClr name="Green 40">
      <a:srgbClr val="61D661"/>
    </a:custClr>
    <a:custClr name="Turquoise 60">
      <a:srgbClr val="15A796"/>
    </a:custClr>
    <a:custClr name="Pink 60">
      <a:srgbClr val="C72887"/>
    </a:custClr>
    <a:custClr name="Purple 60">
      <a:srgbClr val="8061BC"/>
    </a:custClr>
    <a:custClr name="Tangerine 60">
      <a:srgbClr val="E4780C"/>
    </a:custClr>
    <a:custClr name="Sapphire 60">
      <a:srgbClr val="1E82CB"/>
    </a:custClr>
    <a:custClr name="Gray 60">
      <a:srgbClr val="7D7F81"/>
    </a:custClr>
    <a:custClr name="Blank">
      <a:srgbClr val="FFFFFF"/>
    </a:custClr>
    <a:custClr name="Blank">
      <a:srgbClr val="FFFFFF"/>
    </a:custClr>
    <a:custClr name="Yellow Outline">
      <a:srgbClr val="AD8D01"/>
    </a:custClr>
    <a:custClr name="Green Outline">
      <a:srgbClr val="03AB03"/>
    </a:custClr>
    <a:custClr name="Turquoise 80">
      <a:srgbClr val="218371"/>
    </a:custClr>
    <a:custClr name="Pink 80">
      <a:srgbClr val="8C195E"/>
    </a:custClr>
    <a:custClr name="Purple 80">
      <a:srgbClr val="422C88"/>
    </a:custClr>
    <a:custClr name="Tangerine 80">
      <a:srgbClr val="B85B06"/>
    </a:custClr>
    <a:custClr name="Sapphire 80">
      <a:srgbClr val="155C8E"/>
    </a:custClr>
    <a:custClr name="Gray 80">
      <a:srgbClr val="4B4D4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TEMPLATE optum-onscreen-20251202.potx" id="{4BD4B4EB-F109-42A0-B826-01712775BED2}" vid="{329A95CE-5D0F-40A1-904E-987F85E31B8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D9F6FA"/>
    </a:accent5>
    <a:accent6>
      <a:srgbClr val="3D3C38"/>
    </a:accent6>
    <a:hlink>
      <a:srgbClr val="0C55B8"/>
    </a:hlink>
    <a:folHlink>
      <a:srgbClr val="3D3C3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fa6636d-6b8f-419c-ade7-a155156dcf89">
      <Terms xmlns="http://schemas.microsoft.com/office/infopath/2007/PartnerControls"/>
    </lcf76f155ced4ddcb4097134ff3c332f>
    <TaxCatchAll xmlns="b622aa33-57fa-4880-ad5a-a7ec332fc7b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1E0C5DBC420644BA118E4750EA7514" ma:contentTypeVersion="13" ma:contentTypeDescription="Create a new document." ma:contentTypeScope="" ma:versionID="cdca26b08dae63c81891e44db4681405">
  <xsd:schema xmlns:xsd="http://www.w3.org/2001/XMLSchema" xmlns:xs="http://www.w3.org/2001/XMLSchema" xmlns:p="http://schemas.microsoft.com/office/2006/metadata/properties" xmlns:ns2="9fa6636d-6b8f-419c-ade7-a155156dcf89" xmlns:ns3="b622aa33-57fa-4880-ad5a-a7ec332fc7bb" targetNamespace="http://schemas.microsoft.com/office/2006/metadata/properties" ma:root="true" ma:fieldsID="8c370d5f4d12d345b513f1494c4ccf92" ns2:_="" ns3:_="">
    <xsd:import namespace="9fa6636d-6b8f-419c-ade7-a155156dcf89"/>
    <xsd:import namespace="b622aa33-57fa-4880-ad5a-a7ec332fc7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a6636d-6b8f-419c-ade7-a155156d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BillingMetadata" ma:index="16" nillable="true" ma:displayName="MediaServiceBillingMetadata" ma:hidden="true" ma:internalName="MediaServiceBillingMetadata" ma:readOnly="true">
      <xsd:simpleType>
        <xsd:restriction base="dms:Note"/>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a6b2b66-40d8-4e06-8a39-adc3ecd4519b"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622aa33-57fa-4880-ad5a-a7ec332fc7b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f5996f97-0df1-46bc-b433-efd5449d1d5d}" ma:internalName="TaxCatchAll" ma:showField="CatchAllData" ma:web="b622aa33-57fa-4880-ad5a-a7ec332fc7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F1F174-DFFF-4ECE-B1CD-FBD0A2ED613D}">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b622aa33-57fa-4880-ad5a-a7ec332fc7bb"/>
    <ds:schemaRef ds:uri="http://schemas.microsoft.com/office/2006/metadata/properties"/>
    <ds:schemaRef ds:uri="http://purl.org/dc/terms/"/>
    <ds:schemaRef ds:uri="9fa6636d-6b8f-419c-ade7-a155156dcf89"/>
    <ds:schemaRef ds:uri="http://www.w3.org/XML/1998/namespace"/>
    <ds:schemaRef ds:uri="http://purl.org/dc/dcmitype/"/>
  </ds:schemaRefs>
</ds:datastoreItem>
</file>

<file path=customXml/itemProps2.xml><?xml version="1.0" encoding="utf-8"?>
<ds:datastoreItem xmlns:ds="http://schemas.openxmlformats.org/officeDocument/2006/customXml" ds:itemID="{F1770FAC-ED6F-4381-8FAF-F1C8D0F4525E}">
  <ds:schemaRefs>
    <ds:schemaRef ds:uri="9fa6636d-6b8f-419c-ade7-a155156dcf89"/>
    <ds:schemaRef ds:uri="b622aa33-57fa-4880-ad5a-a7ec332fc7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B8497EF-6EFF-455B-9EB2-0AF77D70BC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3622</Words>
  <Application>Microsoft Office PowerPoint</Application>
  <PresentationFormat>Widescreen</PresentationFormat>
  <Paragraphs>622</Paragraphs>
  <Slides>31</Slides>
  <Notes>6</Notes>
  <HiddenSlides>2</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31</vt:i4>
      </vt:variant>
    </vt:vector>
  </HeadingPairs>
  <TitlesOfParts>
    <vt:vector size="44" baseType="lpstr">
      <vt:lpstr>Aptos</vt:lpstr>
      <vt:lpstr>Arial</vt:lpstr>
      <vt:lpstr>Arial MT Pro</vt:lpstr>
      <vt:lpstr>Arial MT Pro Bold</vt:lpstr>
      <vt:lpstr>Arial MT Pro Italics</vt:lpstr>
      <vt:lpstr>Calibri</vt:lpstr>
      <vt:lpstr>Enterprise Sans</vt:lpstr>
      <vt:lpstr>Georgia Pro</vt:lpstr>
      <vt:lpstr>Times New Roman</vt:lpstr>
      <vt:lpstr>Wingdings</vt:lpstr>
      <vt:lpstr>Optum Theme</vt:lpstr>
      <vt:lpstr>Office Theme</vt:lpstr>
      <vt:lpstr>1_Optum Theme</vt:lpstr>
      <vt:lpstr>Communication Aptitude Test (CAT)</vt:lpstr>
      <vt:lpstr>Communication Aptitude Test (CAT)</vt:lpstr>
      <vt:lpstr>CAT Assessment Structure</vt:lpstr>
      <vt:lpstr>Voice CAT Endorsement Process</vt:lpstr>
      <vt:lpstr>Non-voice CAT Endorsement Process (Email)</vt:lpstr>
      <vt:lpstr>Non-voice CAT Endorsement Process (Chat)</vt:lpstr>
      <vt:lpstr>PowerPoint Presentation</vt:lpstr>
      <vt:lpstr>Scenario Mapping Voice CAT</vt:lpstr>
      <vt:lpstr>Skills Mapping (Voice CAT)</vt:lpstr>
      <vt:lpstr>Skills Mapping (Non-voice CAT)</vt:lpstr>
      <vt:lpstr>CAT Automation Pre-screening Test</vt:lpstr>
      <vt:lpstr>CATalyze AI</vt:lpstr>
      <vt:lpstr>CAT Automation</vt:lpstr>
      <vt:lpstr>Hiring Journey</vt:lpstr>
      <vt:lpstr>PowerPoint Presentation</vt:lpstr>
      <vt:lpstr>Pronunciation</vt:lpstr>
      <vt:lpstr>Pronunciation</vt:lpstr>
      <vt:lpstr>Vocabulary  </vt:lpstr>
      <vt:lpstr>Vocabulary  </vt:lpstr>
      <vt:lpstr>Grammar</vt:lpstr>
      <vt:lpstr>Active Listening and Comprehension</vt:lpstr>
      <vt:lpstr>Conversation </vt:lpstr>
      <vt:lpstr>Coherence</vt:lpstr>
      <vt:lpstr>AURA (AI Unified Recruitment Assistant) </vt:lpstr>
      <vt:lpstr>Assessment Overview</vt:lpstr>
      <vt:lpstr>Assessment Overview</vt:lpstr>
      <vt:lpstr>Voice CAT Parameters</vt:lpstr>
      <vt:lpstr>Non-voice CAT Parameters</vt:lpstr>
      <vt:lpstr>Phase 1: Voice language and communication assessment </vt:lpstr>
      <vt:lpstr>Four items</vt:lpstr>
      <vt:lpstr>Four items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Dimapindan, Kristelle Joy M</dc:creator>
  <cp:lastModifiedBy>Tolosa, Anina</cp:lastModifiedBy>
  <cp:revision>1</cp:revision>
  <dcterms:created xsi:type="dcterms:W3CDTF">2026-03-02T04:34:51Z</dcterms:created>
  <dcterms:modified xsi:type="dcterms:W3CDTF">2026-07-20T14:08:28Z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10eab11-f9db-49ae-a11f-d1cb7a96399a_Enabled">
    <vt:lpwstr>true</vt:lpwstr>
  </property>
  <property fmtid="{D5CDD505-2E9C-101B-9397-08002B2CF9AE}" pid="3" name="MSIP_Label_c10eab11-f9db-49ae-a11f-d1cb7a96399a_SetDate">
    <vt:lpwstr>2026-03-02T04:38:15Z</vt:lpwstr>
  </property>
  <property fmtid="{D5CDD505-2E9C-101B-9397-08002B2CF9AE}" pid="4" name="MSIP_Label_c10eab11-f9db-49ae-a11f-d1cb7a96399a_Method">
    <vt:lpwstr>Standard</vt:lpwstr>
  </property>
  <property fmtid="{D5CDD505-2E9C-101B-9397-08002B2CF9AE}" pid="5" name="MSIP_Label_c10eab11-f9db-49ae-a11f-d1cb7a96399a_Name">
    <vt:lpwstr>Protected Info</vt:lpwstr>
  </property>
  <property fmtid="{D5CDD505-2E9C-101B-9397-08002B2CF9AE}" pid="6" name="MSIP_Label_c10eab11-f9db-49ae-a11f-d1cb7a96399a_SiteId">
    <vt:lpwstr>db05faca-c82a-4b9d-b9c5-0f64b6755421</vt:lpwstr>
  </property>
  <property fmtid="{D5CDD505-2E9C-101B-9397-08002B2CF9AE}" pid="7" name="MSIP_Label_c10eab11-f9db-49ae-a11f-d1cb7a96399a_ActionId">
    <vt:lpwstr>d50f8056-d9a0-4092-a9fe-feacde678539</vt:lpwstr>
  </property>
  <property fmtid="{D5CDD505-2E9C-101B-9397-08002B2CF9AE}" pid="8" name="MSIP_Label_c10eab11-f9db-49ae-a11f-d1cb7a96399a_ContentBits">
    <vt:lpwstr>0</vt:lpwstr>
  </property>
  <property fmtid="{D5CDD505-2E9C-101B-9397-08002B2CF9AE}" pid="9" name="MSIP_Label_c10eab11-f9db-49ae-a11f-d1cb7a96399a_Tag">
    <vt:lpwstr>10, 1, 2, 1</vt:lpwstr>
  </property>
  <property fmtid="{D5CDD505-2E9C-101B-9397-08002B2CF9AE}" pid="10" name="ContentTypeId">
    <vt:lpwstr>0x0101002E1E0C5DBC420644BA118E4750EA7514</vt:lpwstr>
  </property>
  <property fmtid="{D5CDD505-2E9C-101B-9397-08002B2CF9AE}" pid="11" name="MediaServiceImageTags">
    <vt:lpwstr/>
  </property>
</Properties>
</file>